
<file path=[Content_Types].xml><?xml version="1.0" encoding="utf-8"?>
<Types xmlns="http://schemas.openxmlformats.org/package/2006/content-types">
  <Default Extension="emf" ContentType="image/x-emf"/>
  <Default Extension="GIF" ContentType="image/gi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3" r:id="rId3"/>
    <p:sldMasterId id="2147483686" r:id="rId4"/>
  </p:sldMasterIdLst>
  <p:notesMasterIdLst>
    <p:notesMasterId r:id="rId114"/>
  </p:notesMasterIdLst>
  <p:sldIdLst>
    <p:sldId id="256" r:id="rId5"/>
    <p:sldId id="553" r:id="rId6"/>
    <p:sldId id="278" r:id="rId7"/>
    <p:sldId id="281" r:id="rId8"/>
    <p:sldId id="279" r:id="rId9"/>
    <p:sldId id="274" r:id="rId10"/>
    <p:sldId id="275" r:id="rId11"/>
    <p:sldId id="276" r:id="rId12"/>
    <p:sldId id="359" r:id="rId13"/>
    <p:sldId id="277" r:id="rId14"/>
    <p:sldId id="280" r:id="rId15"/>
    <p:sldId id="368" r:id="rId16"/>
    <p:sldId id="555" r:id="rId17"/>
    <p:sldId id="551" r:id="rId18"/>
    <p:sldId id="557" r:id="rId19"/>
    <p:sldId id="261" r:id="rId20"/>
    <p:sldId id="563" r:id="rId21"/>
    <p:sldId id="402" r:id="rId22"/>
    <p:sldId id="396" r:id="rId23"/>
    <p:sldId id="273" r:id="rId24"/>
    <p:sldId id="417" r:id="rId25"/>
    <p:sldId id="421" r:id="rId26"/>
    <p:sldId id="423" r:id="rId27"/>
    <p:sldId id="424" r:id="rId28"/>
    <p:sldId id="432" r:id="rId29"/>
    <p:sldId id="433" r:id="rId30"/>
    <p:sldId id="558" r:id="rId31"/>
    <p:sldId id="445" r:id="rId32"/>
    <p:sldId id="559" r:id="rId33"/>
    <p:sldId id="447" r:id="rId34"/>
    <p:sldId id="448" r:id="rId35"/>
    <p:sldId id="449" r:id="rId36"/>
    <p:sldId id="451" r:id="rId37"/>
    <p:sldId id="267" r:id="rId38"/>
    <p:sldId id="362" r:id="rId39"/>
    <p:sldId id="363" r:id="rId40"/>
    <p:sldId id="560" r:id="rId41"/>
    <p:sldId id="460" r:id="rId42"/>
    <p:sldId id="461" r:id="rId43"/>
    <p:sldId id="561" r:id="rId44"/>
    <p:sldId id="475" r:id="rId45"/>
    <p:sldId id="476" r:id="rId46"/>
    <p:sldId id="477" r:id="rId47"/>
    <p:sldId id="478" r:id="rId48"/>
    <p:sldId id="564" r:id="rId49"/>
    <p:sldId id="562" r:id="rId50"/>
    <p:sldId id="293" r:id="rId51"/>
    <p:sldId id="282" r:id="rId52"/>
    <p:sldId id="283" r:id="rId53"/>
    <p:sldId id="284" r:id="rId54"/>
    <p:sldId id="285" r:id="rId55"/>
    <p:sldId id="286" r:id="rId56"/>
    <p:sldId id="287" r:id="rId57"/>
    <p:sldId id="288" r:id="rId58"/>
    <p:sldId id="289" r:id="rId59"/>
    <p:sldId id="290" r:id="rId60"/>
    <p:sldId id="291" r:id="rId61"/>
    <p:sldId id="292" r:id="rId62"/>
    <p:sldId id="360" r:id="rId63"/>
    <p:sldId id="534" r:id="rId64"/>
    <p:sldId id="662" r:id="rId65"/>
    <p:sldId id="535" r:id="rId66"/>
    <p:sldId id="546" r:id="rId67"/>
    <p:sldId id="301" r:id="rId68"/>
    <p:sldId id="302" r:id="rId69"/>
    <p:sldId id="303" r:id="rId70"/>
    <p:sldId id="307" r:id="rId71"/>
    <p:sldId id="304" r:id="rId72"/>
    <p:sldId id="305" r:id="rId73"/>
    <p:sldId id="306" r:id="rId74"/>
    <p:sldId id="364" r:id="rId75"/>
    <p:sldId id="309" r:id="rId76"/>
    <p:sldId id="310" r:id="rId77"/>
    <p:sldId id="311" r:id="rId78"/>
    <p:sldId id="312" r:id="rId79"/>
    <p:sldId id="313" r:id="rId80"/>
    <p:sldId id="314" r:id="rId81"/>
    <p:sldId id="663" r:id="rId82"/>
    <p:sldId id="664" r:id="rId83"/>
    <p:sldId id="665" r:id="rId84"/>
    <p:sldId id="666" r:id="rId85"/>
    <p:sldId id="667" r:id="rId86"/>
    <p:sldId id="668" r:id="rId87"/>
    <p:sldId id="669" r:id="rId88"/>
    <p:sldId id="670" r:id="rId89"/>
    <p:sldId id="671" r:id="rId90"/>
    <p:sldId id="672" r:id="rId91"/>
    <p:sldId id="673" r:id="rId92"/>
    <p:sldId id="674" r:id="rId93"/>
    <p:sldId id="675" r:id="rId94"/>
    <p:sldId id="676" r:id="rId95"/>
    <p:sldId id="677" r:id="rId96"/>
    <p:sldId id="678" r:id="rId97"/>
    <p:sldId id="679" r:id="rId98"/>
    <p:sldId id="680" r:id="rId99"/>
    <p:sldId id="681" r:id="rId100"/>
    <p:sldId id="682" r:id="rId101"/>
    <p:sldId id="683" r:id="rId102"/>
    <p:sldId id="322" r:id="rId103"/>
    <p:sldId id="323" r:id="rId104"/>
    <p:sldId id="324" r:id="rId105"/>
    <p:sldId id="325" r:id="rId106"/>
    <p:sldId id="326" r:id="rId107"/>
    <p:sldId id="340" r:id="rId108"/>
    <p:sldId id="341" r:id="rId109"/>
    <p:sldId id="342" r:id="rId110"/>
    <p:sldId id="343" r:id="rId111"/>
    <p:sldId id="344" r:id="rId112"/>
    <p:sldId id="348" r:id="rId113"/>
  </p:sldIdLst>
  <p:sldSz cx="9144000" cy="6858000" type="screen4x3"/>
  <p:notesSz cx="6858000" cy="9144000"/>
  <p:custDataLst>
    <p:tags r:id="rId115"/>
  </p:custDataLst>
  <p:defaultTextStyle>
    <a:defPPr>
      <a:defRPr lang="zh-CN"/>
    </a:defPPr>
    <a:lvl1pPr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u="sng"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u="sng"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3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66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32" autoAdjust="0"/>
    <p:restoredTop sz="94733" autoAdjust="0"/>
  </p:normalViewPr>
  <p:slideViewPr>
    <p:cSldViewPr showGuides="1">
      <p:cViewPr varScale="1">
        <p:scale>
          <a:sx n="124" d="100"/>
          <a:sy n="124" d="100"/>
        </p:scale>
        <p:origin x="1128" y="168"/>
      </p:cViewPr>
      <p:guideLst>
        <p:guide orient="horz" pos="2160"/>
        <p:guide pos="2832"/>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viewProps" Target="viewProp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tags" Target="tags/tag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_rels/viewProps.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a:defRPr/>
            </a:pPr>
            <a:endParaRPr lang="en-US" altLang="zh-CN"/>
          </a:p>
        </p:txBody>
      </p:sp>
      <p:sp>
        <p:nvSpPr>
          <p:cNvPr id="7885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a:defRPr/>
            </a:pPr>
            <a:endParaRPr lang="en-US" altLang="zh-CN"/>
          </a:p>
        </p:txBody>
      </p:sp>
      <p:sp>
        <p:nvSpPr>
          <p:cNvPr id="61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885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7885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a:defRPr/>
            </a:pPr>
            <a:endParaRPr lang="en-US" altLang="zh-CN"/>
          </a:p>
        </p:txBody>
      </p:sp>
      <p:sp>
        <p:nvSpPr>
          <p:cNvPr id="7885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smtClean="0"/>
            </a:lvl1pPr>
          </a:lstStyle>
          <a:p>
            <a:pPr>
              <a:defRPr/>
            </a:pPr>
            <a:fld id="{3BB416A1-D3D0-4A02-9103-382A316F4AB8}"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1A100B0-A9A0-47D8-960C-587C31BC02CE}" type="slidenum">
              <a:rPr lang="en-US" altLang="zh-CN"/>
              <a:t>‹#›</a:t>
            </a:fld>
            <a:endParaRPr lang="en-US" altLang="zh-CN"/>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EB55401F-1C27-4BEF-9E14-A0435B025003}" type="slidenum">
              <a:rPr lang="en-US" altLang="zh-CN"/>
              <a:t>‹#›</a:t>
            </a:fld>
            <a:endParaRPr lang="en-US" altLang="zh-CN"/>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7A4D70E-E4C5-42B3-AA28-44788EA72D61}" type="slidenum">
              <a:rPr lang="en-US" altLang="zh-CN"/>
              <a:t>‹#›</a:t>
            </a:fld>
            <a:endParaRPr lang="en-US" altLang="zh-CN"/>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2954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76800" y="1295400"/>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10CE4B4B-DDD2-4214-8886-AC3A034F2311}" type="slidenum">
              <a:rPr lang="en-US" altLang="zh-CN"/>
              <a:t>‹#›</a:t>
            </a:fld>
            <a:endParaRPr lang="en-US" altLang="zh-CN"/>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9271EB11-4BAF-4C61-ABC4-DE0E70CDAB05}" type="slidenum">
              <a:rPr lang="en-US" altLang="zh-CN"/>
              <a:t>‹#›</a:t>
            </a:fld>
            <a:endParaRPr lang="en-US" altLang="zh-CN"/>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089084E6-E94F-455F-8247-96DDD3B88620}" type="slidenum">
              <a:rPr lang="en-US" altLang="zh-CN"/>
              <a:t>‹#›</a:t>
            </a:fld>
            <a:endParaRPr lang="en-US" altLang="zh-CN"/>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79498686-DF38-4CD1-99BD-3B51FFB1D30B}" type="slidenum">
              <a:rPr lang="en-US" altLang="zh-CN"/>
              <a:t>‹#›</a:t>
            </a:fld>
            <a:endParaRPr lang="en-US" altLang="zh-CN"/>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F82D480-89F5-42CA-A536-50796263BBDD}" type="slidenum">
              <a:rPr lang="en-US" altLang="zh-CN"/>
              <a:t>‹#›</a:t>
            </a:fld>
            <a:endParaRPr lang="en-US" altLang="zh-CN"/>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C4F9B5E3-BD95-4204-AC7F-0969D20926B6}" type="slidenum">
              <a:rPr lang="en-US" altLang="zh-CN"/>
              <a:t>‹#›</a:t>
            </a:fld>
            <a:endParaRPr lang="en-US" altLang="zh-CN"/>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C70E5021-2D71-4310-A290-86149C6CC9B0}" type="slidenum">
              <a:rPr lang="en-US" altLang="zh-CN"/>
              <a:t>‹#›</a:t>
            </a:fld>
            <a:endParaRPr lang="en-US" altLang="zh-CN"/>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304800"/>
            <a:ext cx="194310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304800"/>
            <a:ext cx="567690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32ABD50-413E-438F-97A9-CD341D3A823A}" type="slidenum">
              <a:rPr lang="en-US" altLang="zh-CN"/>
              <a:t>‹#›</a:t>
            </a:fld>
            <a:endParaRPr lang="en-US" altLang="zh-CN"/>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7"/>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8543924-A933-40ED-B774-1E2D4BB99E1E}" type="slidenum">
              <a:rPr lang="en-US" altLang="zh-CN"/>
              <a:t>‹#›</a:t>
            </a:fld>
            <a:endParaRPr lang="en-US" altLang="zh-CN"/>
          </a:p>
        </p:txBody>
      </p:sp>
    </p:spTree>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10658DEA-D614-4D77-8F97-C20301787C02}" type="slidenum">
              <a:rPr lang="en-US" altLang="zh-CN"/>
              <a:t>‹#›</a:t>
            </a:fld>
            <a:endParaRPr lang="en-US" altLang="zh-CN"/>
          </a:p>
        </p:txBody>
      </p:sp>
    </p:spTree>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2"/>
            <a:ext cx="7772400" cy="1362075"/>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14FF04C-A25F-4411-BC6A-18C48CB2EA9D}" type="slidenum">
              <a:rPr lang="en-US" altLang="zh-CN"/>
              <a:t>‹#›</a:t>
            </a:fld>
            <a:endParaRPr lang="en-US" altLang="zh-CN"/>
          </a:p>
        </p:txBody>
      </p:sp>
    </p:spTree>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295400"/>
            <a:ext cx="3810000"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76800" y="1295400"/>
            <a:ext cx="3810000" cy="480060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DCB00D3-B764-4A2E-B1F1-8493A1410F90}" type="slidenum">
              <a:rPr lang="en-US" altLang="zh-CN"/>
              <a:t>‹#›</a:t>
            </a:fld>
            <a:endParaRPr lang="en-US" altLang="zh-CN"/>
          </a:p>
        </p:txBody>
      </p:sp>
    </p:spTree>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B2E70C40-BBE8-4935-846F-0B84C6196EAB}" type="slidenum">
              <a:rPr lang="en-US" altLang="zh-CN"/>
              <a:t>‹#›</a:t>
            </a:fld>
            <a:endParaRPr lang="en-US" altLang="zh-CN"/>
          </a:p>
        </p:txBody>
      </p:sp>
    </p:spTree>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547C66D-2563-461B-A1BB-2FC8F4531482}" type="slidenum">
              <a:rPr lang="en-US" altLang="zh-CN"/>
              <a:t>‹#›</a:t>
            </a:fld>
            <a:endParaRPr lang="en-US" altLang="zh-CN"/>
          </a:p>
        </p:txBody>
      </p:sp>
    </p:spTree>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0195093A-7737-41CC-AF0F-A25C40D1AB9C}" type="slidenum">
              <a:rPr lang="en-US" altLang="zh-CN"/>
              <a:t>‹#›</a:t>
            </a:fld>
            <a:endParaRPr lang="en-US" altLang="zh-CN"/>
          </a:p>
        </p:txBody>
      </p:sp>
    </p:spTree>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73050"/>
            <a:ext cx="3008313" cy="1162050"/>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2D6CA3BB-8F73-4B5B-A361-9B53558E39D8}" type="slidenum">
              <a:rPr lang="en-US" altLang="zh-CN"/>
              <a:t>‹#›</a:t>
            </a:fld>
            <a:endParaRPr lang="en-US" altLang="zh-CN"/>
          </a:p>
        </p:txBody>
      </p:sp>
    </p:spTree>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93BDC5E-5819-4792-A80A-D6DBA155B543}" type="slidenum">
              <a:rPr lang="en-US" altLang="zh-CN"/>
              <a:t>‹#›</a:t>
            </a:fld>
            <a:endParaRPr lang="en-US" altLang="zh-CN"/>
          </a:p>
        </p:txBody>
      </p:sp>
    </p:spTree>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BFBB58C-F3C9-47D8-95CA-A17277F482C7}" type="slidenum">
              <a:rPr lang="en-US" altLang="zh-CN"/>
              <a:t>‹#›</a:t>
            </a:fld>
            <a:endParaRPr lang="en-US" altLang="zh-CN"/>
          </a:p>
        </p:txBody>
      </p:sp>
    </p:spTree>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304800"/>
            <a:ext cx="1943100" cy="5791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304800"/>
            <a:ext cx="5676900" cy="5791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DF73700-C5B6-4F6A-9BC0-CE61BFCA5E4B}" type="slidenum">
              <a:rPr lang="en-US" altLang="zh-CN"/>
              <a:t>‹#›</a:t>
            </a:fld>
            <a:endParaRPr lang="en-US" altLang="zh-CN"/>
          </a:p>
        </p:txBody>
      </p:sp>
    </p:spTree>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301625" y="381000"/>
            <a:ext cx="8540750" cy="56419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a:xfrm>
            <a:off x="301625" y="6172200"/>
            <a:ext cx="2289175" cy="476250"/>
          </a:xfrm>
        </p:spPr>
        <p:txBody>
          <a:bodyPr/>
          <a:lstStyle>
            <a:lvl1pPr>
              <a:defRPr/>
            </a:lvl1pPr>
          </a:lstStyle>
          <a:p>
            <a:pPr>
              <a:defRPr/>
            </a:pPr>
            <a:fld id="{EDE2BFB9-B26F-4A07-BEBD-C3A4272DAD0B}" type="datetime1">
              <a:rPr lang="zh-CN" altLang="en-US"/>
              <a:t>2026/1/12</a:t>
            </a:fld>
            <a:endParaRPr lang="en-US" altLang="zh-CN"/>
          </a:p>
        </p:txBody>
      </p:sp>
      <p:sp>
        <p:nvSpPr>
          <p:cNvPr id="4" name="页脚占位符 3"/>
          <p:cNvSpPr>
            <a:spLocks noGrp="1"/>
          </p:cNvSpPr>
          <p:nvPr>
            <p:ph type="ftr" sz="quarter" idx="11"/>
          </p:nvPr>
        </p:nvSpPr>
        <p:spPr>
          <a:xfrm>
            <a:off x="3124200" y="6172200"/>
            <a:ext cx="2895600" cy="476250"/>
          </a:xfrm>
        </p:spPr>
        <p:txBody>
          <a:bodyPr/>
          <a:lstStyle>
            <a:lvl1pPr>
              <a:defRPr/>
            </a:lvl1pPr>
          </a:lstStyle>
          <a:p>
            <a:pPr>
              <a:defRPr/>
            </a:pPr>
            <a:endParaRPr lang="en-US" altLang="zh-CN"/>
          </a:p>
        </p:txBody>
      </p:sp>
      <p:sp>
        <p:nvSpPr>
          <p:cNvPr id="5" name="灯片编号占位符 4"/>
          <p:cNvSpPr>
            <a:spLocks noGrp="1"/>
          </p:cNvSpPr>
          <p:nvPr>
            <p:ph type="sldNum" sz="quarter" idx="12"/>
          </p:nvPr>
        </p:nvSpPr>
        <p:spPr>
          <a:xfrm>
            <a:off x="6553200" y="6172200"/>
            <a:ext cx="2289175" cy="476250"/>
          </a:xfrm>
        </p:spPr>
        <p:txBody>
          <a:bodyPr/>
          <a:lstStyle>
            <a:lvl1pPr>
              <a:defRPr/>
            </a:lvl1pPr>
          </a:lstStyle>
          <a:p>
            <a:pPr>
              <a:defRPr/>
            </a:pPr>
            <a:fld id="{5419CBAE-D2F9-495F-B576-E323F4299B9D}" type="slidenum">
              <a:rPr lang="en-US" altLang="zh-CN"/>
              <a:t>‹#›</a:t>
            </a:fld>
            <a:endParaRPr lang="en-US" altLang="zh-CN"/>
          </a:p>
        </p:txBody>
      </p:sp>
    </p:spTree>
  </p:cSld>
  <p:clrMapOvr>
    <a:masterClrMapping/>
  </p:clrMapOvr>
  <p:transition>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32098"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132099"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4" name="Rectangle 4"/>
          <p:cNvSpPr>
            <a:spLocks noGrp="1" noChangeArrowheads="1"/>
          </p:cNvSpPr>
          <p:nvPr>
            <p:ph type="dt" sz="half" idx="10"/>
          </p:nvPr>
        </p:nvSpPr>
        <p:spPr>
          <a:xfrm>
            <a:off x="301625" y="6245225"/>
            <a:ext cx="2289175" cy="476250"/>
          </a:xfrm>
        </p:spPr>
        <p:txBody>
          <a:bodyPr/>
          <a:lstStyle>
            <a:lvl1pPr>
              <a:defRPr/>
            </a:lvl1pPr>
          </a:lstStyle>
          <a:p>
            <a:pPr>
              <a:defRPr/>
            </a:pPr>
            <a:fld id="{36820543-F07C-47B9-8D4C-4875715DB21E}" type="datetime1">
              <a:rPr lang="zh-CN" altLang="en-US"/>
              <a:t>2026/1/12</a:t>
            </a:fld>
            <a:endParaRPr lang="en-US" altLang="zh-CN"/>
          </a:p>
        </p:txBody>
      </p:sp>
      <p:sp>
        <p:nvSpPr>
          <p:cNvPr id="5"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289175" cy="476250"/>
          </a:xfrm>
        </p:spPr>
        <p:txBody>
          <a:bodyPr/>
          <a:lstStyle>
            <a:lvl1pPr>
              <a:defRPr/>
            </a:lvl1pPr>
          </a:lstStyle>
          <a:p>
            <a:pPr>
              <a:defRPr/>
            </a:pPr>
            <a:fld id="{B7E3735D-B55B-40D3-9E1A-3B24B5764955}" type="slidenum">
              <a:rPr lang="en-US" altLang="zh-CN"/>
              <a:t>‹#›</a:t>
            </a:fld>
            <a:endParaRPr lang="en-US" altLang="zh-CN"/>
          </a:p>
        </p:txBody>
      </p:sp>
    </p:spTree>
  </p:cSld>
  <p:clrMapOvr>
    <a:masterClrMapping/>
  </p:clrMapOvr>
  <p:transition>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5ABB0A4B-22BC-4878-A8A4-027E1CD90CCD}"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6096DDA-D0E9-4C96-9205-F71869AEED33}" type="slidenum">
              <a:rPr lang="en-US" altLang="zh-CN"/>
              <a:t>‹#›</a:t>
            </a:fld>
            <a:endParaRPr lang="en-US" altLang="zh-CN"/>
          </a:p>
        </p:txBody>
      </p:sp>
    </p:spTree>
  </p:cSld>
  <p:clrMapOvr>
    <a:masterClrMapping/>
  </p:clrMapOvr>
  <p:transition>
    <p:zoom/>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p:txBody>
          <a:bodyPr/>
          <a:lstStyle>
            <a:lvl1pPr>
              <a:defRPr/>
            </a:lvl1pPr>
          </a:lstStyle>
          <a:p>
            <a:pPr>
              <a:defRPr/>
            </a:pPr>
            <a:fld id="{8E519BE5-6082-43AF-95FB-76F656423132}"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E53A5C0-91F2-49B5-8889-B9388B684E8F}" type="slidenum">
              <a:rPr lang="en-US" altLang="zh-CN"/>
              <a:t>‹#›</a:t>
            </a:fld>
            <a:endParaRPr lang="en-US" altLang="zh-CN"/>
          </a:p>
        </p:txBody>
      </p:sp>
    </p:spTree>
  </p:cSld>
  <p:clrMapOvr>
    <a:masterClrMapping/>
  </p:clrMapOvr>
  <p:transition>
    <p:zoom/>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301625" y="1752600"/>
            <a:ext cx="4194175" cy="42703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752600"/>
            <a:ext cx="4194175" cy="42703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38C2585D-EC45-48D3-89EB-C6769143F2F3}" type="datetime1">
              <a:rPr lang="zh-CN" altLang="en-US"/>
              <a:t>2026/1/12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C541A4C-A861-41DC-A61D-BFCB564BD427}" type="slidenum">
              <a:rPr lang="en-US" altLang="zh-CN"/>
              <a:t>‹#›</a:t>
            </a:fld>
            <a:endParaRPr lang="en-US" altLang="zh-CN"/>
          </a:p>
        </p:txBody>
      </p:sp>
    </p:spTree>
  </p:cSld>
  <p:clrMapOvr>
    <a:masterClrMapping/>
  </p:clrMapOvr>
  <p:transition>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fld id="{439D3B03-AC76-481D-9683-C4F1C0ED9070}" type="datetime1">
              <a:rPr lang="zh-CN" altLang="en-US"/>
              <a:t>2026/1/12</a:t>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19172D5D-CF73-47CB-84B1-A71241AD242D}" type="slidenum">
              <a:rPr lang="en-US" altLang="zh-CN"/>
              <a:t>‹#›</a:t>
            </a:fld>
            <a:endParaRPr lang="en-US" altLang="zh-CN"/>
          </a:p>
        </p:txBody>
      </p:sp>
    </p:spTree>
  </p:cSld>
  <p:clrMapOvr>
    <a:masterClrMapping/>
  </p:clrMapOvr>
  <p:transition>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fld id="{EC64995A-18C1-4CAA-B678-348D621CEE77}" type="datetime1">
              <a:rPr lang="zh-CN" altLang="en-US"/>
              <a:t>2026/1/12</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C844DE76-9538-4E2F-B417-DF37CBC6D6C3}" type="slidenum">
              <a:rPr lang="en-US" altLang="zh-CN"/>
              <a:t>‹#›</a:t>
            </a:fld>
            <a:endParaRPr lang="en-US" altLang="zh-CN"/>
          </a:p>
        </p:txBody>
      </p:sp>
    </p:spTree>
  </p:cSld>
  <p:clrMapOvr>
    <a:masterClrMapping/>
  </p:clrMapOvr>
  <p:transition>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B2DD19D2-4868-483E-A1B8-190F641773AE}" type="datetime1">
              <a:rPr lang="zh-CN" altLang="en-US"/>
              <a:t>2026/1/12</a:t>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F5C56B4C-AB9D-4880-BC82-C9DC898A21AB}" type="slidenum">
              <a:rPr lang="en-US" altLang="zh-CN"/>
              <a:t>‹#›</a:t>
            </a:fld>
            <a:endParaRPr lang="en-US" altLang="zh-CN"/>
          </a:p>
        </p:txBody>
      </p:sp>
    </p:spTree>
  </p:cSld>
  <p:clrMapOvr>
    <a:masterClrMapping/>
  </p:clrMapOvr>
  <p:transition>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p:txBody>
          <a:bodyPr/>
          <a:lstStyle>
            <a:lvl1pPr>
              <a:defRPr/>
            </a:lvl1pPr>
          </a:lstStyle>
          <a:p>
            <a:pPr>
              <a:defRPr/>
            </a:pPr>
            <a:fld id="{128461EE-5728-4CF0-8A52-7EEEE015D18B}" type="datetime1">
              <a:rPr lang="zh-CN" altLang="en-US"/>
              <a:t>2026/1/12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38912B3-6D70-45ED-BB7A-09A64F5EA41D}" type="slidenum">
              <a:rPr lang="en-US" altLang="zh-CN"/>
              <a:t>‹#›</a:t>
            </a:fld>
            <a:endParaRPr lang="en-US" altLang="zh-CN"/>
          </a:p>
        </p:txBody>
      </p:sp>
    </p:spTree>
  </p:cSld>
  <p:clrMapOvr>
    <a:masterClrMapping/>
  </p:clrMapOvr>
  <p:transition>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p:txBody>
          <a:bodyPr/>
          <a:lstStyle>
            <a:lvl1pPr>
              <a:defRPr/>
            </a:lvl1pPr>
          </a:lstStyle>
          <a:p>
            <a:pPr>
              <a:defRPr/>
            </a:pPr>
            <a:fld id="{2EBDBDBD-284D-485C-8699-1C8C7043470B}" type="datetime1">
              <a:rPr lang="zh-CN" altLang="en-US"/>
              <a:t>2026/1/12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0045DD6-408D-4F6A-BCDC-66D4B7EC792E}" type="slidenum">
              <a:rPr lang="en-US" altLang="zh-CN"/>
              <a:t>‹#›</a:t>
            </a:fld>
            <a:endParaRPr lang="en-US" altLang="zh-CN"/>
          </a:p>
        </p:txBody>
      </p:sp>
    </p:spTree>
  </p:cSld>
  <p:clrMapOvr>
    <a:masterClrMapping/>
  </p:clrMapOvr>
  <p:transition>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BDDA512A-2ABB-4E05-AB72-863D4062B95C}"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97164AF-59B8-4514-AB98-E18E44529C48}" type="slidenum">
              <a:rPr lang="en-US" altLang="zh-CN"/>
              <a:t>‹#›</a:t>
            </a:fld>
            <a:endParaRPr lang="en-US" altLang="zh-CN"/>
          </a:p>
        </p:txBody>
      </p:sp>
    </p:spTree>
  </p:cSld>
  <p:clrMapOvr>
    <a:masterClrMapping/>
  </p:clrMapOvr>
  <p:transition>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381000"/>
            <a:ext cx="2135187" cy="5641975"/>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301625" y="381000"/>
            <a:ext cx="6253163" cy="56419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10D336A2-42E8-4C68-B727-79798AD424F2}"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8BDEC39-B90A-4338-8C69-E3C3225C245D}" type="slidenum">
              <a:rPr lang="en-US" altLang="zh-CN"/>
              <a:t>‹#›</a:t>
            </a:fld>
            <a:endParaRPr lang="en-US" altLang="zh-CN"/>
          </a:p>
        </p:txBody>
      </p:sp>
    </p:spTree>
  </p:cSld>
  <p:clrMapOvr>
    <a:masterClrMapping/>
  </p:clrMapOvr>
  <p:transition>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301625" y="381000"/>
            <a:ext cx="8540750" cy="56419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p:txBody>
          <a:bodyPr/>
          <a:lstStyle>
            <a:lvl1pPr>
              <a:defRPr/>
            </a:lvl1pPr>
          </a:lstStyle>
          <a:p>
            <a:pPr>
              <a:defRPr/>
            </a:pPr>
            <a:fld id="{E6A94081-29A7-45FB-9606-5A8801682D0E}" type="datetime1">
              <a:rPr lang="zh-CN" altLang="en-US"/>
              <a:t>2026/1/12</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9F2D9A7-EF4B-4AC8-B3F7-0CB9A1F05BA9}" type="slidenum">
              <a:rPr lang="en-US" altLang="zh-CN"/>
              <a:t>‹#›</a:t>
            </a:fld>
            <a:endParaRPr lang="en-US" altLang="zh-CN"/>
          </a:p>
        </p:txBody>
      </p:sp>
    </p:spTree>
  </p:cSld>
  <p:clrMapOvr>
    <a:masterClrMapping/>
  </p:clrMapOvr>
  <p:transition>
    <p:zo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32098"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a:t>单击此处编辑母版标题样式</a:t>
            </a:r>
          </a:p>
        </p:txBody>
      </p:sp>
      <p:sp>
        <p:nvSpPr>
          <p:cNvPr id="132099" name="Rectangle 3"/>
          <p:cNvSpPr>
            <a:spLocks noGrp="1" noRot="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a:t>单击此处编辑母版副标题样式</a:t>
            </a:r>
          </a:p>
        </p:txBody>
      </p:sp>
      <p:sp>
        <p:nvSpPr>
          <p:cNvPr id="4" name="Rectangle 4"/>
          <p:cNvSpPr>
            <a:spLocks noGrp="1" noChangeArrowheads="1"/>
          </p:cNvSpPr>
          <p:nvPr>
            <p:ph type="dt" sz="half" idx="10"/>
          </p:nvPr>
        </p:nvSpPr>
        <p:spPr>
          <a:xfrm>
            <a:off x="301625" y="6245225"/>
            <a:ext cx="2289175" cy="476250"/>
          </a:xfrm>
        </p:spPr>
        <p:txBody>
          <a:bodyPr/>
          <a:lstStyle>
            <a:lvl1pPr>
              <a:defRPr/>
            </a:lvl1pPr>
          </a:lstStyle>
          <a:p>
            <a:pPr>
              <a:defRPr/>
            </a:pPr>
            <a:fld id="{36820543-F07C-47B9-8D4C-4875715DB21E}" type="datetime1">
              <a:rPr lang="zh-CN" altLang="en-US"/>
              <a:t>2026/1/12</a:t>
            </a:fld>
            <a:endParaRPr lang="en-US" altLang="zh-CN"/>
          </a:p>
        </p:txBody>
      </p:sp>
      <p:sp>
        <p:nvSpPr>
          <p:cNvPr id="5"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289175" cy="476250"/>
          </a:xfrm>
        </p:spPr>
        <p:txBody>
          <a:bodyPr/>
          <a:lstStyle>
            <a:lvl1pPr>
              <a:defRPr/>
            </a:lvl1pPr>
          </a:lstStyle>
          <a:p>
            <a:pPr>
              <a:defRPr/>
            </a:pPr>
            <a:fld id="{B7E3735D-B55B-40D3-9E1A-3B24B5764955}" type="slidenum">
              <a:rPr lang="en-US" altLang="zh-CN"/>
              <a:t>‹#›</a:t>
            </a:fld>
            <a:endParaRPr lang="en-US" altLang="zh-CN"/>
          </a:p>
        </p:txBody>
      </p:sp>
    </p:spTree>
  </p:cSld>
  <p:clrMapOvr>
    <a:masterClrMapping/>
  </p:clrMapOvr>
  <p:transition>
    <p:zo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5ABB0A4B-22BC-4878-A8A4-027E1CD90CCD}"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6096DDA-D0E9-4C96-9205-F71869AEED33}" type="slidenum">
              <a:rPr lang="en-US" altLang="zh-CN"/>
              <a:t>‹#›</a:t>
            </a:fld>
            <a:endParaRPr lang="en-US" altLang="zh-CN"/>
          </a:p>
        </p:txBody>
      </p:sp>
    </p:spTree>
  </p:cSld>
  <p:clrMapOvr>
    <a:masterClrMapping/>
  </p:clrMapOvr>
  <p:transition>
    <p:zo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Rectangle 4"/>
          <p:cNvSpPr>
            <a:spLocks noGrp="1" noChangeArrowheads="1"/>
          </p:cNvSpPr>
          <p:nvPr>
            <p:ph type="dt" sz="half" idx="10"/>
          </p:nvPr>
        </p:nvSpPr>
        <p:spPr/>
        <p:txBody>
          <a:bodyPr/>
          <a:lstStyle>
            <a:lvl1pPr>
              <a:defRPr/>
            </a:lvl1pPr>
          </a:lstStyle>
          <a:p>
            <a:pPr>
              <a:defRPr/>
            </a:pPr>
            <a:fld id="{8E519BE5-6082-43AF-95FB-76F656423132}"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E53A5C0-91F2-49B5-8889-B9388B684E8F}" type="slidenum">
              <a:rPr lang="en-US" altLang="zh-CN"/>
              <a:t>‹#›</a:t>
            </a:fld>
            <a:endParaRPr lang="en-US" altLang="zh-CN"/>
          </a:p>
        </p:txBody>
      </p:sp>
    </p:spTree>
  </p:cSld>
  <p:clrMapOvr>
    <a:masterClrMapping/>
  </p:clrMapOvr>
  <p:transition>
    <p:zoom/>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301625" y="1752600"/>
            <a:ext cx="4194175" cy="42703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752600"/>
            <a:ext cx="4194175" cy="42703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fld id="{38C2585D-EC45-48D3-89EB-C6769143F2F3}" type="datetime1">
              <a:rPr lang="zh-CN" altLang="en-US"/>
              <a:t>2026/1/12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C541A4C-A861-41DC-A61D-BFCB564BD427}" type="slidenum">
              <a:rPr lang="en-US" altLang="zh-CN"/>
              <a:t>‹#›</a:t>
            </a:fld>
            <a:endParaRPr lang="en-US" altLang="zh-CN"/>
          </a:p>
        </p:txBody>
      </p:sp>
    </p:spTree>
  </p:cSld>
  <p:clrMapOvr>
    <a:masterClrMapping/>
  </p:clrMapOvr>
  <p:transition>
    <p:zoom/>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p:txBody>
          <a:bodyPr/>
          <a:lstStyle>
            <a:lvl1pPr>
              <a:defRPr/>
            </a:lvl1pPr>
          </a:lstStyle>
          <a:p>
            <a:pPr>
              <a:defRPr/>
            </a:pPr>
            <a:fld id="{439D3B03-AC76-481D-9683-C4F1C0ED9070}" type="datetime1">
              <a:rPr lang="zh-CN" altLang="en-US"/>
              <a:t>2026/1/12</a:t>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19172D5D-CF73-47CB-84B1-A71241AD242D}" type="slidenum">
              <a:rPr lang="en-US" altLang="zh-CN"/>
              <a:t>‹#›</a:t>
            </a:fld>
            <a:endParaRPr lang="en-US" altLang="zh-CN"/>
          </a:p>
        </p:txBody>
      </p:sp>
    </p:spTree>
  </p:cSld>
  <p:clrMapOvr>
    <a:masterClrMapping/>
  </p:clrMapOvr>
  <p:transition>
    <p:zoom/>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p:txBody>
          <a:bodyPr/>
          <a:lstStyle>
            <a:lvl1pPr>
              <a:defRPr/>
            </a:lvl1pPr>
          </a:lstStyle>
          <a:p>
            <a:pPr>
              <a:defRPr/>
            </a:pPr>
            <a:fld id="{EC64995A-18C1-4CAA-B678-348D621CEE77}" type="datetime1">
              <a:rPr lang="zh-CN" altLang="en-US"/>
              <a:t>2026/1/12</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C844DE76-9538-4E2F-B417-DF37CBC6D6C3}" type="slidenum">
              <a:rPr lang="en-US" altLang="zh-CN"/>
              <a:t>‹#›</a:t>
            </a:fld>
            <a:endParaRPr lang="en-US" altLang="zh-CN"/>
          </a:p>
        </p:txBody>
      </p:sp>
    </p:spTree>
  </p:cSld>
  <p:clrMapOvr>
    <a:masterClrMapping/>
  </p:clrMapOvr>
  <p:transition>
    <p:zoom/>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B2DD19D2-4868-483E-A1B8-190F641773AE}" type="datetime1">
              <a:rPr lang="zh-CN" altLang="en-US"/>
              <a:t>2026/1/12</a:t>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F5C56B4C-AB9D-4880-BC82-C9DC898A21AB}" type="slidenum">
              <a:rPr lang="en-US" altLang="zh-CN"/>
              <a:t>‹#›</a:t>
            </a:fld>
            <a:endParaRPr lang="en-US" altLang="zh-CN"/>
          </a:p>
        </p:txBody>
      </p:sp>
    </p:spTree>
  </p:cSld>
  <p:clrMapOvr>
    <a:masterClrMapping/>
  </p:clrMapOvr>
  <p:transition>
    <p:zoom/>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p:txBody>
          <a:bodyPr/>
          <a:lstStyle>
            <a:lvl1pPr>
              <a:defRPr/>
            </a:lvl1pPr>
          </a:lstStyle>
          <a:p>
            <a:pPr>
              <a:defRPr/>
            </a:pPr>
            <a:fld id="{128461EE-5728-4CF0-8A52-7EEEE015D18B}" type="datetime1">
              <a:rPr lang="zh-CN" altLang="en-US"/>
              <a:t>2026/1/12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38912B3-6D70-45ED-BB7A-09A64F5EA41D}" type="slidenum">
              <a:rPr lang="en-US" altLang="zh-CN"/>
              <a:t>‹#›</a:t>
            </a:fld>
            <a:endParaRPr lang="en-US" altLang="zh-CN"/>
          </a:p>
        </p:txBody>
      </p:sp>
    </p:spTree>
  </p:cSld>
  <p:clrMapOvr>
    <a:masterClrMapping/>
  </p:clrMapOvr>
  <p:transition>
    <p:zoom/>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hasCustomPrompt="1"/>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Rectangle 4"/>
          <p:cNvSpPr>
            <a:spLocks noGrp="1" noChangeArrowheads="1"/>
          </p:cNvSpPr>
          <p:nvPr>
            <p:ph type="dt" sz="half" idx="10"/>
          </p:nvPr>
        </p:nvSpPr>
        <p:spPr/>
        <p:txBody>
          <a:bodyPr/>
          <a:lstStyle>
            <a:lvl1pPr>
              <a:defRPr/>
            </a:lvl1pPr>
          </a:lstStyle>
          <a:p>
            <a:pPr>
              <a:defRPr/>
            </a:pPr>
            <a:fld id="{2EBDBDBD-284D-485C-8699-1C8C7043470B}" type="datetime1">
              <a:rPr lang="zh-CN" altLang="en-US"/>
              <a:t>2026/1/12</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E0045DD6-408D-4F6A-BCDC-66D4B7EC792E}" type="slidenum">
              <a:rPr lang="en-US" altLang="zh-CN"/>
              <a:t>‹#›</a:t>
            </a:fld>
            <a:endParaRPr lang="en-US" altLang="zh-CN"/>
          </a:p>
        </p:txBody>
      </p:sp>
    </p:spTree>
  </p:cSld>
  <p:clrMapOvr>
    <a:masterClrMapping/>
  </p:clrMapOvr>
  <p:transition>
    <p:zoom/>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BDDA512A-2ABB-4E05-AB72-863D4062B95C}"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97164AF-59B8-4514-AB98-E18E44529C48}" type="slidenum">
              <a:rPr lang="en-US" altLang="zh-CN"/>
              <a:t>‹#›</a:t>
            </a:fld>
            <a:endParaRPr lang="en-US" altLang="zh-CN"/>
          </a:p>
        </p:txBody>
      </p:sp>
    </p:spTree>
  </p:cSld>
  <p:clrMapOvr>
    <a:masterClrMapping/>
  </p:clrMapOvr>
  <p:transition>
    <p:zoom/>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381000"/>
            <a:ext cx="2135187" cy="5641975"/>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301625" y="381000"/>
            <a:ext cx="6253163" cy="5641975"/>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fld id="{10D336A2-42E8-4C68-B727-79798AD424F2}" type="datetime1">
              <a:rPr lang="zh-CN" altLang="en-US"/>
              <a:t>2026/1/12</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8BDEC39-B90A-4338-8C69-E3C3225C245D}" type="slidenum">
              <a:rPr lang="en-US" altLang="zh-CN"/>
              <a:t>‹#›</a:t>
            </a:fld>
            <a:endParaRPr lang="en-US" altLang="zh-CN"/>
          </a:p>
        </p:txBody>
      </p:sp>
    </p:spTree>
  </p:cSld>
  <p:clrMapOvr>
    <a:masterClrMapping/>
  </p:clrMapOvr>
  <p:transition>
    <p:zoom/>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hasCustomPrompt="1"/>
          </p:nvPr>
        </p:nvSpPr>
        <p:spPr>
          <a:xfrm>
            <a:off x="301625" y="381000"/>
            <a:ext cx="8540750" cy="56419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p:cNvSpPr>
            <a:spLocks noGrp="1" noChangeArrowheads="1"/>
          </p:cNvSpPr>
          <p:nvPr>
            <p:ph type="dt" sz="half" idx="10"/>
          </p:nvPr>
        </p:nvSpPr>
        <p:spPr/>
        <p:txBody>
          <a:bodyPr/>
          <a:lstStyle>
            <a:lvl1pPr>
              <a:defRPr/>
            </a:lvl1pPr>
          </a:lstStyle>
          <a:p>
            <a:pPr>
              <a:defRPr/>
            </a:pPr>
            <a:fld id="{E6A94081-29A7-45FB-9606-5A8801682D0E}" type="datetime1">
              <a:rPr lang="zh-CN" altLang="en-US"/>
              <a:t>2026/1/12</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89F2D9A7-EF4B-4AC8-B3F7-0CB9A1F05BA9}" type="slidenum">
              <a:rPr lang="en-US" altLang="zh-CN"/>
              <a:t>‹#›</a:t>
            </a:fld>
            <a:endParaRPr lang="en-US" altLang="zh-CN"/>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1.emf"/><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image" Target="../media/image4.emf"/><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914400" y="304800"/>
            <a:ext cx="7772400" cy="762000"/>
          </a:xfrm>
          <a:prstGeom prst="rect">
            <a:avLst/>
          </a:prstGeom>
          <a:noFill/>
          <a:ln w="9525">
            <a:noFill/>
            <a:miter lim="800000"/>
          </a:ln>
          <a:effec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9144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400" u="none">
                <a:ea typeface="宋体" panose="02010600030101010101" pitchFamily="2" charset="-122"/>
              </a:defRPr>
            </a:lvl1pPr>
          </a:lstStyle>
          <a:p>
            <a:pPr>
              <a:defRPr/>
            </a:pPr>
            <a:endParaRPr lang="en-US" altLang="zh-CN"/>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kumimoji="0" sz="1400" u="none">
                <a:ea typeface="宋体" panose="02010600030101010101" pitchFamily="2" charset="-122"/>
              </a:defRPr>
            </a:lvl1pPr>
          </a:lstStyle>
          <a:p>
            <a:pPr>
              <a:defRPr/>
            </a:pPr>
            <a:endParaRPr lang="en-US" altLang="zh-CN"/>
          </a:p>
        </p:txBody>
      </p:sp>
      <p:sp>
        <p:nvSpPr>
          <p:cNvPr id="3078" name="Rectangle 6"/>
          <p:cNvSpPr>
            <a:spLocks noGrp="1" noChangeArrowheads="1"/>
          </p:cNvSpPr>
          <p:nvPr>
            <p:ph type="sldNum" sz="quarter" idx="4"/>
          </p:nvPr>
        </p:nvSpPr>
        <p:spPr bwMode="auto">
          <a:xfrm>
            <a:off x="7048906" y="6491287"/>
            <a:ext cx="1905000" cy="28474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400" u="none" smtClean="0"/>
            </a:lvl1pPr>
          </a:lstStyle>
          <a:p>
            <a:pPr>
              <a:defRPr/>
            </a:pPr>
            <a:fld id="{42696893-FE39-46B4-BDE6-39F40DC8EE38}" type="slidenum">
              <a:rPr lang="en-US" altLang="zh-CN"/>
              <a:t>‹#›</a:t>
            </a:fld>
            <a:endParaRPr lang="en-US" altLang="zh-CN"/>
          </a:p>
        </p:txBody>
      </p:sp>
      <p:grpSp>
        <p:nvGrpSpPr>
          <p:cNvPr id="1031" name="Group 7"/>
          <p:cNvGrpSpPr/>
          <p:nvPr/>
        </p:nvGrpSpPr>
        <p:grpSpPr bwMode="auto">
          <a:xfrm>
            <a:off x="0" y="0"/>
            <a:ext cx="954088" cy="6621463"/>
            <a:chOff x="0" y="0"/>
            <a:chExt cx="1200" cy="3792"/>
          </a:xfrm>
        </p:grpSpPr>
        <p:grpSp>
          <p:nvGrpSpPr>
            <p:cNvPr id="1032" name="Group 8"/>
            <p:cNvGrpSpPr/>
            <p:nvPr userDrawn="1"/>
          </p:nvGrpSpPr>
          <p:grpSpPr bwMode="auto">
            <a:xfrm>
              <a:off x="96" y="0"/>
              <a:ext cx="1104" cy="2976"/>
              <a:chOff x="96" y="0"/>
              <a:chExt cx="1104" cy="2976"/>
            </a:xfrm>
          </p:grpSpPr>
          <p:sp>
            <p:nvSpPr>
              <p:cNvPr id="1034" name="AutoShape 9"/>
              <p:cNvSpPr>
                <a:spLocks noChangeArrowheads="1"/>
              </p:cNvSpPr>
              <p:nvPr userDrawn="1"/>
            </p:nvSpPr>
            <p:spPr bwMode="auto">
              <a:xfrm>
                <a:off x="144" y="0"/>
                <a:ext cx="673" cy="624"/>
              </a:xfrm>
              <a:prstGeom prst="sun">
                <a:avLst>
                  <a:gd name="adj" fmla="val 25000"/>
                </a:avLst>
              </a:prstGeom>
              <a:solidFill>
                <a:srgbClr val="99CCFF">
                  <a:alpha val="50195"/>
                </a:srgbClr>
              </a:solidFill>
              <a:ln w="9525">
                <a:solidFill>
                  <a:schemeClr val="bg1"/>
                </a:solidFill>
                <a:miter lim="800000"/>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5" name="AutoShape 10"/>
              <p:cNvSpPr>
                <a:spLocks noChangeArrowheads="1"/>
              </p:cNvSpPr>
              <p:nvPr userDrawn="1"/>
            </p:nvSpPr>
            <p:spPr bwMode="auto">
              <a:xfrm>
                <a:off x="527" y="768"/>
                <a:ext cx="673" cy="624"/>
              </a:xfrm>
              <a:prstGeom prst="sun">
                <a:avLst>
                  <a:gd name="adj" fmla="val 25000"/>
                </a:avLst>
              </a:prstGeom>
              <a:solidFill>
                <a:srgbClr val="99CCFF">
                  <a:alpha val="50195"/>
                </a:srgbClr>
              </a:solidFill>
              <a:ln w="9525">
                <a:solidFill>
                  <a:schemeClr val="bg1"/>
                </a:solidFill>
                <a:miter lim="800000"/>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6" name="AutoShape 11"/>
              <p:cNvSpPr>
                <a:spLocks noChangeArrowheads="1"/>
              </p:cNvSpPr>
              <p:nvPr userDrawn="1"/>
            </p:nvSpPr>
            <p:spPr bwMode="auto">
              <a:xfrm>
                <a:off x="96" y="1536"/>
                <a:ext cx="673" cy="625"/>
              </a:xfrm>
              <a:prstGeom prst="sun">
                <a:avLst>
                  <a:gd name="adj" fmla="val 25000"/>
                </a:avLst>
              </a:prstGeom>
              <a:solidFill>
                <a:srgbClr val="99CCFF">
                  <a:alpha val="50195"/>
                </a:srgbClr>
              </a:solidFill>
              <a:ln w="9525">
                <a:solidFill>
                  <a:schemeClr val="bg1"/>
                </a:solidFill>
                <a:miter lim="800000"/>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037" name="AutoShape 12"/>
              <p:cNvSpPr>
                <a:spLocks noChangeArrowheads="1"/>
              </p:cNvSpPr>
              <p:nvPr userDrawn="1"/>
            </p:nvSpPr>
            <p:spPr bwMode="auto">
              <a:xfrm>
                <a:off x="479" y="2352"/>
                <a:ext cx="673" cy="624"/>
              </a:xfrm>
              <a:prstGeom prst="sun">
                <a:avLst>
                  <a:gd name="adj" fmla="val 25000"/>
                </a:avLst>
              </a:prstGeom>
              <a:solidFill>
                <a:srgbClr val="99CCFF">
                  <a:alpha val="50195"/>
                </a:srgbClr>
              </a:solidFill>
              <a:ln w="9525">
                <a:solidFill>
                  <a:schemeClr val="bg1"/>
                </a:solidFill>
                <a:miter lim="800000"/>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1033" name="AutoShape 13"/>
            <p:cNvSpPr>
              <a:spLocks noChangeArrowheads="1"/>
            </p:cNvSpPr>
            <p:nvPr userDrawn="1"/>
          </p:nvSpPr>
          <p:spPr bwMode="auto">
            <a:xfrm>
              <a:off x="0" y="3168"/>
              <a:ext cx="673" cy="624"/>
            </a:xfrm>
            <a:prstGeom prst="sun">
              <a:avLst>
                <a:gd name="adj" fmla="val 25000"/>
              </a:avLst>
            </a:prstGeom>
            <a:solidFill>
              <a:srgbClr val="99CCFF">
                <a:alpha val="50195"/>
              </a:srgbClr>
            </a:solidFill>
            <a:ln w="9525">
              <a:solidFill>
                <a:schemeClr val="bg1"/>
              </a:solidFill>
              <a:miter lim="800000"/>
            </a:ln>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pic>
        <p:nvPicPr>
          <p:cNvPr id="2" name="Picture -1022">
            <a:extLst>
              <a:ext uri="{FF2B5EF4-FFF2-40B4-BE49-F238E27FC236}">
                <a16:creationId xmlns:a16="http://schemas.microsoft.com/office/drawing/2014/main" id="{F6149294-34DE-20F8-3C50-019E40390FFD}"/>
              </a:ext>
            </a:extLst>
          </p:cNvPr>
          <p:cNvPicPr preferRelativeResize="0">
            <a:picLocks noChangeArrowheads="1" noChangeShapeType="1"/>
          </p:cNvPicPr>
          <p:nvPr/>
        </p:nvPicPr>
        <p:blipFill>
          <a:blip r:embed="rId13">
            <a:extLst>
              <a:ext uri="{28A0092B-C50C-407E-A947-70E740481C1C}">
                <a14:useLocalDpi xmlns:a14="http://schemas.microsoft.com/office/drawing/2010/main" val="0"/>
              </a:ext>
            </a:extLst>
          </a:blip>
          <a:srcRect/>
          <a:stretch>
            <a:fillRect/>
          </a:stretch>
        </p:blipFill>
        <p:spPr bwMode="auto">
          <a:xfrm>
            <a:off x="8001000" y="6157913"/>
            <a:ext cx="1131888" cy="333375"/>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random/>
  </p:transition>
  <p:txStyles>
    <p:titleStyle>
      <a:lvl1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rgbClr val="009900"/>
        </a:buClr>
        <a:buFont typeface="Wingdings" panose="05000000000000000000" pitchFamily="2" charset="2"/>
        <a:buChar char="Q"/>
        <a:defRPr kumimoji="1" sz="3200" b="1">
          <a:solidFill>
            <a:schemeClr val="tx1"/>
          </a:solidFill>
          <a:latin typeface="+mn-lt"/>
          <a:ea typeface="+mn-ea"/>
          <a:cs typeface="+mn-cs"/>
        </a:defRPr>
      </a:lvl1pPr>
      <a:lvl2pPr marL="742950" indent="-285750" algn="l" rtl="0" eaLnBrk="0" fontAlgn="base" hangingPunct="0">
        <a:spcBef>
          <a:spcPct val="20000"/>
        </a:spcBef>
        <a:spcAft>
          <a:spcPct val="0"/>
        </a:spcAft>
        <a:buClr>
          <a:srgbClr val="009900"/>
        </a:buClr>
        <a:buFont typeface="Wingdings" panose="05000000000000000000" pitchFamily="2" charset="2"/>
        <a:buChar char="ü"/>
        <a:defRPr kumimoji="1" sz="2800" b="1">
          <a:solidFill>
            <a:schemeClr val="tx1"/>
          </a:solidFill>
          <a:latin typeface="+mn-lt"/>
          <a:ea typeface="+mn-ea"/>
        </a:defRPr>
      </a:lvl2pPr>
      <a:lvl3pPr marL="1143000" indent="-228600" algn="l" rtl="0" eaLnBrk="0" fontAlgn="base" hangingPunct="0">
        <a:spcBef>
          <a:spcPct val="20000"/>
        </a:spcBef>
        <a:spcAft>
          <a:spcPct val="0"/>
        </a:spcAft>
        <a:buChar char="•"/>
        <a:defRPr kumimoji="1" sz="2400" b="1">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914400" y="304800"/>
            <a:ext cx="7772400" cy="762000"/>
          </a:xfrm>
          <a:prstGeom prst="rect">
            <a:avLst/>
          </a:prstGeom>
          <a:noFill/>
          <a:ln w="9525">
            <a:noFill/>
            <a:miter lim="800000"/>
          </a:ln>
          <a:effectLst/>
        </p:spPr>
        <p:txBody>
          <a:bodyPr vert="horz" wrap="square" lIns="91440" tIns="45720" rIns="91440" bIns="45720" numCol="1" anchor="ctr" anchorCtr="0" compatLnSpc="1"/>
          <a:lstStyle/>
          <a:p>
            <a:pPr lvl="0"/>
            <a:r>
              <a:rPr lang="zh-CN" altLang="en-US"/>
              <a:t>单击此处编辑母版标题样式</a:t>
            </a:r>
          </a:p>
        </p:txBody>
      </p:sp>
      <p:sp>
        <p:nvSpPr>
          <p:cNvPr id="2051" name="Rectangle 3"/>
          <p:cNvSpPr>
            <a:spLocks noGrp="1" noChangeArrowheads="1"/>
          </p:cNvSpPr>
          <p:nvPr>
            <p:ph type="body" idx="1"/>
          </p:nvPr>
        </p:nvSpPr>
        <p:spPr bwMode="auto">
          <a:xfrm>
            <a:off x="914400" y="1295400"/>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6"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kumimoji="0" sz="1050" u="none">
                <a:ea typeface="宋体" panose="02010600030101010101" pitchFamily="2" charset="-122"/>
              </a:defRPr>
            </a:lvl1pPr>
          </a:lstStyle>
          <a:p>
            <a:pPr>
              <a:defRPr/>
            </a:pPr>
            <a:endParaRPr lang="en-US" altLang="zh-CN"/>
          </a:p>
        </p:txBody>
      </p:sp>
      <p:sp>
        <p:nvSpPr>
          <p:cNvPr id="3077"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kumimoji="0" sz="1050" u="none">
                <a:ea typeface="宋体" panose="02010600030101010101" pitchFamily="2" charset="-122"/>
              </a:defRPr>
            </a:lvl1pPr>
          </a:lstStyle>
          <a:p>
            <a:pPr>
              <a:defRPr/>
            </a:pPr>
            <a:endParaRPr lang="en-US" altLang="zh-CN"/>
          </a:p>
        </p:txBody>
      </p:sp>
      <p:sp>
        <p:nvSpPr>
          <p:cNvPr id="3078" name="Rectangle 6"/>
          <p:cNvSpPr>
            <a:spLocks noGrp="1" noChangeArrowheads="1"/>
          </p:cNvSpPr>
          <p:nvPr>
            <p:ph type="sldNum" sz="quarter" idx="4"/>
          </p:nvPr>
        </p:nvSpPr>
        <p:spPr bwMode="auto">
          <a:xfrm>
            <a:off x="7078288" y="6540667"/>
            <a:ext cx="1905000" cy="3048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kumimoji="0" sz="1050" u="none"/>
            </a:lvl1pPr>
          </a:lstStyle>
          <a:p>
            <a:pPr>
              <a:defRPr/>
            </a:pPr>
            <a:fld id="{4749CB75-6F63-4BD7-BA1C-E52FD87A314F}" type="slidenum">
              <a:rPr lang="en-US" altLang="zh-CN"/>
              <a:t>‹#›</a:t>
            </a:fld>
            <a:endParaRPr lang="en-US" altLang="zh-CN"/>
          </a:p>
        </p:txBody>
      </p:sp>
      <p:grpSp>
        <p:nvGrpSpPr>
          <p:cNvPr id="2055" name="Group 7"/>
          <p:cNvGrpSpPr/>
          <p:nvPr/>
        </p:nvGrpSpPr>
        <p:grpSpPr bwMode="auto">
          <a:xfrm>
            <a:off x="0" y="0"/>
            <a:ext cx="954088" cy="6621463"/>
            <a:chOff x="0" y="0"/>
            <a:chExt cx="1200" cy="3792"/>
          </a:xfrm>
        </p:grpSpPr>
        <p:grpSp>
          <p:nvGrpSpPr>
            <p:cNvPr id="2056" name="Group 8"/>
            <p:cNvGrpSpPr/>
            <p:nvPr userDrawn="1"/>
          </p:nvGrpSpPr>
          <p:grpSpPr bwMode="auto">
            <a:xfrm>
              <a:off x="96" y="0"/>
              <a:ext cx="1104" cy="2976"/>
              <a:chOff x="96" y="0"/>
              <a:chExt cx="1104" cy="2976"/>
            </a:xfrm>
          </p:grpSpPr>
          <p:sp>
            <p:nvSpPr>
              <p:cNvPr id="3081" name="AutoShape 9"/>
              <p:cNvSpPr>
                <a:spLocks noChangeArrowheads="1"/>
              </p:cNvSpPr>
              <p:nvPr userDrawn="1"/>
            </p:nvSpPr>
            <p:spPr bwMode="auto">
              <a:xfrm>
                <a:off x="144" y="0"/>
                <a:ext cx="673" cy="624"/>
              </a:xfrm>
              <a:prstGeom prst="sun">
                <a:avLst>
                  <a:gd name="adj" fmla="val 25000"/>
                </a:avLst>
              </a:prstGeom>
              <a:solidFill>
                <a:srgbClr val="99CCFF">
                  <a:alpha val="50000"/>
                </a:srgbClr>
              </a:solidFill>
              <a:ln w="9525">
                <a:solidFill>
                  <a:schemeClr val="bg1"/>
                </a:solidFill>
                <a:miter lim="800000"/>
              </a:ln>
              <a:effectLst/>
            </p:spPr>
            <p:txBody>
              <a:bodyPr wrap="none" anchor="ctr"/>
              <a:lstStyle/>
              <a:p>
                <a:pPr eaLnBrk="1" hangingPunct="1">
                  <a:defRPr/>
                </a:pPr>
                <a:endParaRPr lang="zh-CN" altLang="en-US" sz="1350">
                  <a:ea typeface="宋体" panose="02010600030101010101" pitchFamily="2" charset="-122"/>
                </a:endParaRPr>
              </a:p>
            </p:txBody>
          </p:sp>
          <p:sp>
            <p:nvSpPr>
              <p:cNvPr id="3082" name="AutoShape 10"/>
              <p:cNvSpPr>
                <a:spLocks noChangeArrowheads="1"/>
              </p:cNvSpPr>
              <p:nvPr userDrawn="1"/>
            </p:nvSpPr>
            <p:spPr bwMode="auto">
              <a:xfrm>
                <a:off x="527" y="768"/>
                <a:ext cx="673" cy="624"/>
              </a:xfrm>
              <a:prstGeom prst="sun">
                <a:avLst>
                  <a:gd name="adj" fmla="val 25000"/>
                </a:avLst>
              </a:prstGeom>
              <a:solidFill>
                <a:srgbClr val="99CCFF">
                  <a:alpha val="50000"/>
                </a:srgbClr>
              </a:solidFill>
              <a:ln w="9525">
                <a:solidFill>
                  <a:schemeClr val="bg1"/>
                </a:solidFill>
                <a:miter lim="800000"/>
              </a:ln>
              <a:effectLst/>
            </p:spPr>
            <p:txBody>
              <a:bodyPr wrap="none" anchor="ctr"/>
              <a:lstStyle/>
              <a:p>
                <a:pPr eaLnBrk="1" hangingPunct="1">
                  <a:defRPr/>
                </a:pPr>
                <a:endParaRPr lang="zh-CN" altLang="en-US" sz="1350">
                  <a:ea typeface="宋体" panose="02010600030101010101" pitchFamily="2" charset="-122"/>
                </a:endParaRPr>
              </a:p>
            </p:txBody>
          </p:sp>
          <p:sp>
            <p:nvSpPr>
              <p:cNvPr id="3083" name="AutoShape 11"/>
              <p:cNvSpPr>
                <a:spLocks noChangeArrowheads="1"/>
              </p:cNvSpPr>
              <p:nvPr userDrawn="1"/>
            </p:nvSpPr>
            <p:spPr bwMode="auto">
              <a:xfrm>
                <a:off x="96" y="1536"/>
                <a:ext cx="673" cy="625"/>
              </a:xfrm>
              <a:prstGeom prst="sun">
                <a:avLst>
                  <a:gd name="adj" fmla="val 25000"/>
                </a:avLst>
              </a:prstGeom>
              <a:solidFill>
                <a:srgbClr val="99CCFF">
                  <a:alpha val="50000"/>
                </a:srgbClr>
              </a:solidFill>
              <a:ln w="9525">
                <a:solidFill>
                  <a:schemeClr val="bg1"/>
                </a:solidFill>
                <a:miter lim="800000"/>
              </a:ln>
              <a:effectLst/>
            </p:spPr>
            <p:txBody>
              <a:bodyPr wrap="none" anchor="ctr"/>
              <a:lstStyle/>
              <a:p>
                <a:pPr eaLnBrk="1" hangingPunct="1">
                  <a:defRPr/>
                </a:pPr>
                <a:endParaRPr lang="zh-CN" altLang="en-US" sz="1350">
                  <a:ea typeface="宋体" panose="02010600030101010101" pitchFamily="2" charset="-122"/>
                </a:endParaRPr>
              </a:p>
            </p:txBody>
          </p:sp>
          <p:sp>
            <p:nvSpPr>
              <p:cNvPr id="3084" name="AutoShape 12"/>
              <p:cNvSpPr>
                <a:spLocks noChangeArrowheads="1"/>
              </p:cNvSpPr>
              <p:nvPr userDrawn="1"/>
            </p:nvSpPr>
            <p:spPr bwMode="auto">
              <a:xfrm>
                <a:off x="479" y="2352"/>
                <a:ext cx="673" cy="624"/>
              </a:xfrm>
              <a:prstGeom prst="sun">
                <a:avLst>
                  <a:gd name="adj" fmla="val 25000"/>
                </a:avLst>
              </a:prstGeom>
              <a:solidFill>
                <a:srgbClr val="99CCFF">
                  <a:alpha val="50000"/>
                </a:srgbClr>
              </a:solidFill>
              <a:ln w="9525">
                <a:solidFill>
                  <a:schemeClr val="bg1"/>
                </a:solidFill>
                <a:miter lim="800000"/>
              </a:ln>
              <a:effectLst/>
            </p:spPr>
            <p:txBody>
              <a:bodyPr wrap="none" anchor="ctr"/>
              <a:lstStyle/>
              <a:p>
                <a:pPr eaLnBrk="1" hangingPunct="1">
                  <a:defRPr/>
                </a:pPr>
                <a:endParaRPr lang="zh-CN" altLang="en-US" sz="1350">
                  <a:ea typeface="宋体" panose="02010600030101010101" pitchFamily="2" charset="-122"/>
                </a:endParaRPr>
              </a:p>
            </p:txBody>
          </p:sp>
        </p:grpSp>
        <p:sp>
          <p:nvSpPr>
            <p:cNvPr id="3085" name="AutoShape 13"/>
            <p:cNvSpPr>
              <a:spLocks noChangeArrowheads="1"/>
            </p:cNvSpPr>
            <p:nvPr userDrawn="1"/>
          </p:nvSpPr>
          <p:spPr bwMode="auto">
            <a:xfrm>
              <a:off x="0" y="3168"/>
              <a:ext cx="673" cy="624"/>
            </a:xfrm>
            <a:prstGeom prst="sun">
              <a:avLst>
                <a:gd name="adj" fmla="val 25000"/>
              </a:avLst>
            </a:prstGeom>
            <a:solidFill>
              <a:srgbClr val="99CCFF">
                <a:alpha val="50000"/>
              </a:srgbClr>
            </a:solidFill>
            <a:ln w="9525">
              <a:solidFill>
                <a:schemeClr val="bg1"/>
              </a:solidFill>
              <a:miter lim="800000"/>
            </a:ln>
            <a:effectLst/>
          </p:spPr>
          <p:txBody>
            <a:bodyPr wrap="none" anchor="ctr"/>
            <a:lstStyle/>
            <a:p>
              <a:pPr eaLnBrk="1" hangingPunct="1">
                <a:defRPr/>
              </a:pPr>
              <a:endParaRPr lang="zh-CN" altLang="en-US" sz="1350">
                <a:ea typeface="宋体" panose="02010600030101010101" pitchFamily="2" charset="-122"/>
              </a:endParaRPr>
            </a:p>
          </p:txBody>
        </p:sp>
      </p:grpSp>
      <p:pic>
        <p:nvPicPr>
          <p:cNvPr id="2049" name="Picture 1">
            <a:extLst>
              <a:ext uri="{FF2B5EF4-FFF2-40B4-BE49-F238E27FC236}">
                <a16:creationId xmlns:a16="http://schemas.microsoft.com/office/drawing/2014/main" id="{6B212848-E49C-3A04-0501-646ACB481805}"/>
              </a:ext>
            </a:extLst>
          </p:cNvPr>
          <p:cNvPicPr preferRelativeResize="0">
            <a:picLocks noChangeArrowheads="1" noChangeShapeType="1"/>
          </p:cNvPicPr>
          <p:nvPr/>
        </p:nvPicPr>
        <p:blipFill>
          <a:blip r:embed="rId14">
            <a:extLst>
              <a:ext uri="{28A0092B-C50C-407E-A947-70E740481C1C}">
                <a14:useLocalDpi xmlns:a14="http://schemas.microsoft.com/office/drawing/2010/main" val="0"/>
              </a:ext>
            </a:extLst>
          </a:blip>
          <a:srcRect/>
          <a:stretch>
            <a:fillRect/>
          </a:stretch>
        </p:blipFill>
        <p:spPr bwMode="auto">
          <a:xfrm>
            <a:off x="7981950" y="6227763"/>
            <a:ext cx="1131888" cy="333375"/>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random/>
  </p:transition>
  <p:txStyles>
    <p:titleStyle>
      <a:lvl1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5pPr>
      <a:lvl6pPr marL="3429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6pPr>
      <a:lvl7pPr marL="6858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7pPr>
      <a:lvl8pPr marL="10287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8pPr>
      <a:lvl9pPr marL="1371600" algn="ctr" rtl="0" fontAlgn="base">
        <a:spcBef>
          <a:spcPct val="0"/>
        </a:spcBef>
        <a:spcAft>
          <a:spcPct val="0"/>
        </a:spcAft>
        <a:defRPr kumimoji="1" sz="30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9pPr>
    </p:titleStyle>
    <p:bodyStyle>
      <a:lvl1pPr marL="257175" indent="-257175" algn="l" rtl="0" eaLnBrk="0" fontAlgn="base" hangingPunct="0">
        <a:spcBef>
          <a:spcPct val="20000"/>
        </a:spcBef>
        <a:spcAft>
          <a:spcPct val="0"/>
        </a:spcAft>
        <a:buClr>
          <a:srgbClr val="009900"/>
        </a:buClr>
        <a:buFont typeface="Wingdings" panose="05000000000000000000" pitchFamily="2" charset="2"/>
        <a:buChar char="Q"/>
        <a:defRPr kumimoji="1" sz="2400" b="1">
          <a:solidFill>
            <a:schemeClr val="tx1"/>
          </a:solidFill>
          <a:latin typeface="+mn-lt"/>
          <a:ea typeface="+mn-ea"/>
          <a:cs typeface="+mn-cs"/>
        </a:defRPr>
      </a:lvl1pPr>
      <a:lvl2pPr marL="557530" indent="-214630" algn="l" rtl="0" eaLnBrk="0" fontAlgn="base" hangingPunct="0">
        <a:spcBef>
          <a:spcPct val="20000"/>
        </a:spcBef>
        <a:spcAft>
          <a:spcPct val="0"/>
        </a:spcAft>
        <a:buClr>
          <a:srgbClr val="009900"/>
        </a:buClr>
        <a:buFont typeface="Wingdings" panose="05000000000000000000" pitchFamily="2" charset="2"/>
        <a:buChar char="ü"/>
        <a:defRPr kumimoji="1" sz="2100" b="1">
          <a:solidFill>
            <a:schemeClr val="tx1"/>
          </a:solidFill>
          <a:latin typeface="+mn-lt"/>
          <a:ea typeface="+mn-ea"/>
        </a:defRPr>
      </a:lvl2pPr>
      <a:lvl3pPr marL="857250" indent="-171450" algn="l" rtl="0" eaLnBrk="0" fontAlgn="base" hangingPunct="0">
        <a:spcBef>
          <a:spcPct val="20000"/>
        </a:spcBef>
        <a:spcAft>
          <a:spcPct val="0"/>
        </a:spcAft>
        <a:buChar char="•"/>
        <a:defRPr kumimoji="1" b="1">
          <a:solidFill>
            <a:schemeClr val="tx1"/>
          </a:solidFill>
          <a:latin typeface="+mn-lt"/>
          <a:ea typeface="+mn-ea"/>
        </a:defRPr>
      </a:lvl3pPr>
      <a:lvl4pPr marL="1200150" indent="-171450" algn="l" rtl="0" eaLnBrk="0" fontAlgn="base" hangingPunct="0">
        <a:spcBef>
          <a:spcPct val="20000"/>
        </a:spcBef>
        <a:spcAft>
          <a:spcPct val="0"/>
        </a:spcAft>
        <a:buChar char="–"/>
        <a:defRPr kumimoji="1" sz="1500">
          <a:solidFill>
            <a:schemeClr val="tx1"/>
          </a:solidFill>
          <a:latin typeface="+mn-lt"/>
          <a:ea typeface="+mn-ea"/>
        </a:defRPr>
      </a:lvl4pPr>
      <a:lvl5pPr marL="1543050" indent="-171450" algn="l" rtl="0" eaLnBrk="0" fontAlgn="base" hangingPunct="0">
        <a:spcBef>
          <a:spcPct val="20000"/>
        </a:spcBef>
        <a:spcAft>
          <a:spcPct val="0"/>
        </a:spcAft>
        <a:buChar char="»"/>
        <a:defRPr kumimoji="1" sz="1500">
          <a:solidFill>
            <a:schemeClr val="tx1"/>
          </a:solidFill>
          <a:latin typeface="+mn-lt"/>
          <a:ea typeface="+mn-ea"/>
        </a:defRPr>
      </a:lvl5pPr>
      <a:lvl6pPr marL="1885950" indent="-171450" algn="l" rtl="0" fontAlgn="base">
        <a:spcBef>
          <a:spcPct val="20000"/>
        </a:spcBef>
        <a:spcAft>
          <a:spcPct val="0"/>
        </a:spcAft>
        <a:buChar char="»"/>
        <a:defRPr kumimoji="1" sz="1500">
          <a:solidFill>
            <a:schemeClr val="tx1"/>
          </a:solidFill>
          <a:latin typeface="+mn-lt"/>
          <a:ea typeface="+mn-ea"/>
        </a:defRPr>
      </a:lvl6pPr>
      <a:lvl7pPr marL="2228850" indent="-171450" algn="l" rtl="0" fontAlgn="base">
        <a:spcBef>
          <a:spcPct val="20000"/>
        </a:spcBef>
        <a:spcAft>
          <a:spcPct val="0"/>
        </a:spcAft>
        <a:buChar char="»"/>
        <a:defRPr kumimoji="1" sz="1500">
          <a:solidFill>
            <a:schemeClr val="tx1"/>
          </a:solidFill>
          <a:latin typeface="+mn-lt"/>
          <a:ea typeface="+mn-ea"/>
        </a:defRPr>
      </a:lvl7pPr>
      <a:lvl8pPr marL="2571750" indent="-171450" algn="l" rtl="0" fontAlgn="base">
        <a:spcBef>
          <a:spcPct val="20000"/>
        </a:spcBef>
        <a:spcAft>
          <a:spcPct val="0"/>
        </a:spcAft>
        <a:buChar char="»"/>
        <a:defRPr kumimoji="1" sz="1500">
          <a:solidFill>
            <a:schemeClr val="tx1"/>
          </a:solidFill>
          <a:latin typeface="+mn-lt"/>
          <a:ea typeface="+mn-ea"/>
        </a:defRPr>
      </a:lvl8pPr>
      <a:lvl9pPr marL="2914650" indent="-171450" algn="l" rtl="0" fontAlgn="base">
        <a:spcBef>
          <a:spcPct val="20000"/>
        </a:spcBef>
        <a:spcAft>
          <a:spcPct val="0"/>
        </a:spcAft>
        <a:buChar char="»"/>
        <a:defRPr kumimoji="1"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3810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3075" name="Rectangle 3"/>
          <p:cNvSpPr>
            <a:spLocks noGrp="1" noRot="1" noChangeArrowheads="1"/>
          </p:cNvSpPr>
          <p:nvPr>
            <p:ph type="body" idx="1"/>
          </p:nvPr>
        </p:nvSpPr>
        <p:spPr bwMode="auto">
          <a:xfrm>
            <a:off x="301625" y="1752600"/>
            <a:ext cx="8540750" cy="427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31076" name="Rectangle 4"/>
          <p:cNvSpPr>
            <a:spLocks noGrp="1" noChangeArrowheads="1"/>
          </p:cNvSpPr>
          <p:nvPr>
            <p:ph type="dt" sz="half" idx="2"/>
          </p:nvPr>
        </p:nvSpPr>
        <p:spPr bwMode="auto">
          <a:xfrm>
            <a:off x="301625" y="61722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sz="1400" b="0"/>
            </a:lvl1pPr>
          </a:lstStyle>
          <a:p>
            <a:pPr>
              <a:defRPr/>
            </a:pPr>
            <a:fld id="{A99E21EB-F397-40B3-A8CF-DF1195BDD251}" type="datetime1">
              <a:rPr lang="zh-CN" altLang="en-US"/>
              <a:t>2026/1/12</a:t>
            </a:fld>
            <a:endParaRPr lang="en-US" altLang="zh-CN"/>
          </a:p>
        </p:txBody>
      </p:sp>
      <p:sp>
        <p:nvSpPr>
          <p:cNvPr id="131077" name="Rectangle 5"/>
          <p:cNvSpPr>
            <a:spLocks noGrp="1" noChangeArrowheads="1"/>
          </p:cNvSpPr>
          <p:nvPr>
            <p:ph type="ftr" sz="quarter" idx="3"/>
          </p:nvPr>
        </p:nvSpPr>
        <p:spPr bwMode="auto">
          <a:xfrm>
            <a:off x="3124200" y="61722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0"/>
            </a:lvl1pPr>
          </a:lstStyle>
          <a:p>
            <a:pPr>
              <a:defRPr/>
            </a:pPr>
            <a:endParaRPr lang="en-US" altLang="zh-CN"/>
          </a:p>
        </p:txBody>
      </p:sp>
      <p:sp>
        <p:nvSpPr>
          <p:cNvPr id="131078" name="Rectangle 6"/>
          <p:cNvSpPr>
            <a:spLocks noGrp="1" noChangeArrowheads="1"/>
          </p:cNvSpPr>
          <p:nvPr>
            <p:ph type="sldNum" sz="quarter" idx="4"/>
          </p:nvPr>
        </p:nvSpPr>
        <p:spPr bwMode="auto">
          <a:xfrm>
            <a:off x="6802841" y="64770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0"/>
            </a:lvl1pPr>
          </a:lstStyle>
          <a:p>
            <a:pPr>
              <a:defRPr/>
            </a:pPr>
            <a:fld id="{346057CE-99A2-424B-8806-E8705D1DF64A}" type="slidenum">
              <a:rPr lang="en-US" altLang="zh-CN"/>
              <a:t>‹#›</a:t>
            </a:fld>
            <a:endParaRPr lang="en-US" altLang="zh-CN"/>
          </a:p>
        </p:txBody>
      </p:sp>
      <p:pic>
        <p:nvPicPr>
          <p:cNvPr id="3073" name="Picture 1">
            <a:extLst>
              <a:ext uri="{FF2B5EF4-FFF2-40B4-BE49-F238E27FC236}">
                <a16:creationId xmlns:a16="http://schemas.microsoft.com/office/drawing/2014/main" id="{86525DD4-7C4E-35A1-2EC7-FEB61DCD4444}"/>
              </a:ext>
            </a:extLst>
          </p:cNvPr>
          <p:cNvPicPr preferRelativeResize="0">
            <a:picLocks noChangeArrowheads="1" noChangeShapeType="1"/>
          </p:cNvPicPr>
          <p:nvPr/>
        </p:nvPicPr>
        <p:blipFill>
          <a:blip r:embed="rId15">
            <a:extLst>
              <a:ext uri="{28A0092B-C50C-407E-A947-70E740481C1C}">
                <a14:useLocalDpi xmlns:a14="http://schemas.microsoft.com/office/drawing/2010/main" val="0"/>
              </a:ext>
            </a:extLst>
          </a:blip>
          <a:srcRect/>
          <a:stretch>
            <a:fillRect/>
          </a:stretch>
        </p:blipFill>
        <p:spPr bwMode="auto">
          <a:xfrm>
            <a:off x="8013700" y="6143625"/>
            <a:ext cx="1131888" cy="333375"/>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ransition>
    <p:zoom/>
  </p:transition>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Rot="1" noChangeArrowheads="1"/>
          </p:cNvSpPr>
          <p:nvPr>
            <p:ph type="title"/>
          </p:nvPr>
        </p:nvSpPr>
        <p:spPr bwMode="auto">
          <a:xfrm>
            <a:off x="301625" y="3810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
        <p:nvSpPr>
          <p:cNvPr id="3075" name="Rectangle 3"/>
          <p:cNvSpPr>
            <a:spLocks noGrp="1" noRot="1" noChangeArrowheads="1"/>
          </p:cNvSpPr>
          <p:nvPr>
            <p:ph type="body" idx="1"/>
          </p:nvPr>
        </p:nvSpPr>
        <p:spPr bwMode="auto">
          <a:xfrm>
            <a:off x="301625" y="1752600"/>
            <a:ext cx="8540750" cy="427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31076" name="Rectangle 4"/>
          <p:cNvSpPr>
            <a:spLocks noGrp="1" noChangeArrowheads="1"/>
          </p:cNvSpPr>
          <p:nvPr>
            <p:ph type="dt" sz="half" idx="2"/>
          </p:nvPr>
        </p:nvSpPr>
        <p:spPr bwMode="auto">
          <a:xfrm>
            <a:off x="301625" y="61722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sz="1400" b="0"/>
            </a:lvl1pPr>
          </a:lstStyle>
          <a:p>
            <a:pPr>
              <a:defRPr/>
            </a:pPr>
            <a:fld id="{A99E21EB-F397-40B3-A8CF-DF1195BDD251}" type="datetime1">
              <a:rPr lang="zh-CN" altLang="en-US"/>
              <a:t>2026/1/12</a:t>
            </a:fld>
            <a:endParaRPr lang="en-US" altLang="zh-CN"/>
          </a:p>
        </p:txBody>
      </p:sp>
      <p:sp>
        <p:nvSpPr>
          <p:cNvPr id="131077" name="Rectangle 5"/>
          <p:cNvSpPr>
            <a:spLocks noGrp="1" noChangeArrowheads="1"/>
          </p:cNvSpPr>
          <p:nvPr>
            <p:ph type="ftr" sz="quarter" idx="3"/>
          </p:nvPr>
        </p:nvSpPr>
        <p:spPr bwMode="auto">
          <a:xfrm>
            <a:off x="3124200" y="61722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0"/>
            </a:lvl1pPr>
          </a:lstStyle>
          <a:p>
            <a:pPr>
              <a:defRPr/>
            </a:pPr>
            <a:endParaRPr lang="en-US" altLang="zh-CN"/>
          </a:p>
        </p:txBody>
      </p:sp>
      <p:sp>
        <p:nvSpPr>
          <p:cNvPr id="131078" name="Rectangle 6"/>
          <p:cNvSpPr>
            <a:spLocks noGrp="1" noChangeArrowheads="1"/>
          </p:cNvSpPr>
          <p:nvPr>
            <p:ph type="sldNum" sz="quarter" idx="4"/>
          </p:nvPr>
        </p:nvSpPr>
        <p:spPr bwMode="auto">
          <a:xfrm>
            <a:off x="6802841" y="64770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0"/>
            </a:lvl1pPr>
          </a:lstStyle>
          <a:p>
            <a:pPr>
              <a:defRPr/>
            </a:pPr>
            <a:fld id="{346057CE-99A2-424B-8806-E8705D1DF64A}" type="slidenum">
              <a:rPr lang="en-US" altLang="zh-CN"/>
              <a:t>‹#›</a:t>
            </a:fld>
            <a:endParaRPr lang="en-US" altLang="zh-CN"/>
          </a:p>
        </p:txBody>
      </p:sp>
      <p:pic>
        <p:nvPicPr>
          <p:cNvPr id="4097" name="Picture 1">
            <a:extLst>
              <a:ext uri="{FF2B5EF4-FFF2-40B4-BE49-F238E27FC236}">
                <a16:creationId xmlns:a16="http://schemas.microsoft.com/office/drawing/2014/main" id="{66594135-E98F-4B70-4516-9F62C9011530}"/>
              </a:ext>
            </a:extLst>
          </p:cNvPr>
          <p:cNvPicPr preferRelativeResize="0">
            <a:picLocks noChangeArrowheads="1" noChangeShapeType="1"/>
          </p:cNvPicPr>
          <p:nvPr/>
        </p:nvPicPr>
        <p:blipFill>
          <a:blip r:embed="rId15">
            <a:extLst>
              <a:ext uri="{28A0092B-C50C-407E-A947-70E740481C1C}">
                <a14:useLocalDpi xmlns:a14="http://schemas.microsoft.com/office/drawing/2010/main" val="0"/>
              </a:ext>
            </a:extLst>
          </a:blip>
          <a:srcRect/>
          <a:stretch>
            <a:fillRect/>
          </a:stretch>
        </p:blipFill>
        <p:spPr bwMode="auto">
          <a:xfrm>
            <a:off x="8013700" y="6143625"/>
            <a:ext cx="1131888" cy="333375"/>
          </a:xfrm>
          <a:prstGeom prst="rect">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ransition>
    <p:zoom/>
  </p:transition>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hlink"/>
        </a:buClr>
        <a:buSzPct val="11500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 Target="slide5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286000"/>
            <a:ext cx="7772400" cy="1143000"/>
          </a:xfrm>
        </p:spPr>
        <p:txBody>
          <a:bodyPr/>
          <a:lstStyle/>
          <a:p>
            <a:pPr eaLnBrk="1" hangingPunct="1">
              <a:defRPr/>
            </a:pPr>
            <a:r>
              <a:rPr lang="en-US" altLang="zh-CN"/>
              <a:t>《</a:t>
            </a:r>
            <a:r>
              <a:rPr lang="zh-CN" altLang="en-US"/>
              <a:t>汇编语言程序设计</a:t>
            </a:r>
            <a:r>
              <a:rPr lang="en-US" altLang="zh-CN"/>
              <a:t>》</a:t>
            </a:r>
            <a:r>
              <a:rPr lang="zh-CN" altLang="en-US"/>
              <a:t>总复习</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539750" y="549275"/>
            <a:ext cx="8177213" cy="5903913"/>
          </a:xfrm>
        </p:spPr>
        <p:txBody>
          <a:bodyPr/>
          <a:lstStyle/>
          <a:p>
            <a:pPr marL="0" indent="0" eaLnBrk="1" hangingPunct="1">
              <a:spcBef>
                <a:spcPct val="50000"/>
              </a:spcBef>
              <a:buFont typeface="Wingdings" panose="05000000000000000000" pitchFamily="2" charset="2"/>
              <a:buNone/>
              <a:defRPr/>
            </a:pPr>
            <a:r>
              <a:rPr lang="en-US" altLang="zh-CN" dirty="0">
                <a:solidFill>
                  <a:srgbClr val="C00000"/>
                </a:solidFill>
                <a:latin typeface="+mn-ea"/>
              </a:rPr>
              <a:t>1. </a:t>
            </a:r>
            <a:r>
              <a:rPr lang="zh-CN" altLang="en-US" dirty="0">
                <a:solidFill>
                  <a:srgbClr val="C00000"/>
                </a:solidFill>
                <a:latin typeface="+mn-ea"/>
              </a:rPr>
              <a:t>基本结构寄存器的名称、位长和作用</a:t>
            </a:r>
          </a:p>
          <a:p>
            <a:pPr marL="0" indent="0" eaLnBrk="1" hangingPunct="1">
              <a:lnSpc>
                <a:spcPct val="90000"/>
              </a:lnSpc>
              <a:buFont typeface="Wingdings" panose="05000000000000000000" pitchFamily="2" charset="2"/>
              <a:buNone/>
              <a:defRPr/>
            </a:pPr>
            <a:r>
              <a:rPr lang="en-US" altLang="zh-CN" sz="1800" dirty="0">
                <a:latin typeface="+mn-ea"/>
              </a:rPr>
              <a:t>(1)</a:t>
            </a:r>
            <a:r>
              <a:rPr lang="zh-CN" altLang="en-US" sz="1800" dirty="0">
                <a:latin typeface="+mn-ea"/>
              </a:rPr>
              <a:t>通用寄存器：</a:t>
            </a:r>
            <a:endParaRPr lang="en-US" altLang="zh-CN" sz="1800" dirty="0">
              <a:latin typeface="+mn-ea"/>
            </a:endParaRPr>
          </a:p>
          <a:p>
            <a:pPr lvl="1" eaLnBrk="1" hangingPunct="1">
              <a:lnSpc>
                <a:spcPct val="90000"/>
              </a:lnSpc>
              <a:defRPr/>
            </a:pPr>
            <a:r>
              <a:rPr lang="en-US" altLang="zh-CN" dirty="0">
                <a:latin typeface="+mn-ea"/>
              </a:rPr>
              <a:t>32</a:t>
            </a:r>
            <a:r>
              <a:rPr lang="zh-CN" altLang="en-US" dirty="0">
                <a:latin typeface="+mn-ea"/>
              </a:rPr>
              <a:t>位：</a:t>
            </a:r>
            <a:r>
              <a:rPr lang="en-US" altLang="zh-CN" dirty="0">
                <a:latin typeface="+mn-ea"/>
              </a:rPr>
              <a:t>EAX</a:t>
            </a:r>
            <a:r>
              <a:rPr lang="zh-CN" altLang="en-US" dirty="0">
                <a:latin typeface="+mn-ea"/>
              </a:rPr>
              <a:t>、</a:t>
            </a:r>
            <a:r>
              <a:rPr lang="en-US" altLang="zh-CN" dirty="0">
                <a:latin typeface="+mn-ea"/>
              </a:rPr>
              <a:t>EBX</a:t>
            </a:r>
            <a:r>
              <a:rPr lang="zh-CN" altLang="en-US" dirty="0">
                <a:latin typeface="+mn-ea"/>
              </a:rPr>
              <a:t>、</a:t>
            </a:r>
            <a:r>
              <a:rPr lang="en-US" altLang="zh-CN" dirty="0">
                <a:latin typeface="+mn-ea"/>
              </a:rPr>
              <a:t>ECX</a:t>
            </a:r>
            <a:r>
              <a:rPr lang="zh-CN" altLang="en-US" dirty="0">
                <a:latin typeface="+mn-ea"/>
              </a:rPr>
              <a:t>、</a:t>
            </a:r>
            <a:r>
              <a:rPr lang="en-US" altLang="zh-CN" dirty="0">
                <a:latin typeface="+mn-ea"/>
              </a:rPr>
              <a:t>EDX</a:t>
            </a:r>
            <a:r>
              <a:rPr lang="zh-CN" altLang="en-US" dirty="0">
                <a:latin typeface="+mn-ea"/>
              </a:rPr>
              <a:t>、</a:t>
            </a:r>
            <a:r>
              <a:rPr lang="en-US" altLang="zh-CN" dirty="0">
                <a:latin typeface="+mn-ea"/>
              </a:rPr>
              <a:t>ESI</a:t>
            </a:r>
            <a:r>
              <a:rPr lang="zh-CN" altLang="en-US" dirty="0">
                <a:latin typeface="+mn-ea"/>
              </a:rPr>
              <a:t>、</a:t>
            </a:r>
            <a:r>
              <a:rPr lang="en-US" altLang="zh-CN" dirty="0">
                <a:latin typeface="+mn-ea"/>
              </a:rPr>
              <a:t>EDI</a:t>
            </a:r>
            <a:r>
              <a:rPr lang="zh-CN" altLang="en-US" dirty="0">
                <a:latin typeface="+mn-ea"/>
              </a:rPr>
              <a:t>、</a:t>
            </a:r>
            <a:r>
              <a:rPr lang="en-US" altLang="zh-CN" dirty="0">
                <a:latin typeface="+mn-ea"/>
              </a:rPr>
              <a:t>EBP</a:t>
            </a:r>
            <a:r>
              <a:rPr lang="zh-CN" altLang="en-US" dirty="0">
                <a:latin typeface="+mn-ea"/>
              </a:rPr>
              <a:t>、</a:t>
            </a:r>
            <a:r>
              <a:rPr lang="en-US" altLang="zh-CN" dirty="0">
                <a:latin typeface="+mn-ea"/>
              </a:rPr>
              <a:t>ESP</a:t>
            </a:r>
          </a:p>
          <a:p>
            <a:pPr lvl="1" eaLnBrk="1" hangingPunct="1">
              <a:lnSpc>
                <a:spcPct val="90000"/>
              </a:lnSpc>
              <a:defRPr/>
            </a:pPr>
            <a:r>
              <a:rPr lang="en-US" altLang="zh-CN" dirty="0">
                <a:latin typeface="+mn-ea"/>
              </a:rPr>
              <a:t>16</a:t>
            </a:r>
            <a:r>
              <a:rPr lang="zh-CN" altLang="en-US" dirty="0">
                <a:latin typeface="+mn-ea"/>
              </a:rPr>
              <a:t>位：</a:t>
            </a:r>
            <a:r>
              <a:rPr lang="en-US" altLang="zh-CN" dirty="0">
                <a:latin typeface="+mn-ea"/>
              </a:rPr>
              <a:t>AX</a:t>
            </a:r>
            <a:r>
              <a:rPr lang="zh-CN" altLang="en-US" dirty="0">
                <a:latin typeface="+mn-ea"/>
              </a:rPr>
              <a:t>、</a:t>
            </a:r>
            <a:r>
              <a:rPr lang="en-US" altLang="zh-CN" dirty="0">
                <a:latin typeface="+mn-ea"/>
              </a:rPr>
              <a:t>BX</a:t>
            </a:r>
            <a:r>
              <a:rPr lang="zh-CN" altLang="en-US" dirty="0">
                <a:latin typeface="+mn-ea"/>
              </a:rPr>
              <a:t>、</a:t>
            </a:r>
            <a:r>
              <a:rPr lang="en-US" altLang="zh-CN" dirty="0">
                <a:latin typeface="+mn-ea"/>
              </a:rPr>
              <a:t>CX</a:t>
            </a:r>
            <a:r>
              <a:rPr lang="zh-CN" altLang="en-US" dirty="0">
                <a:latin typeface="+mn-ea"/>
              </a:rPr>
              <a:t>、</a:t>
            </a:r>
            <a:r>
              <a:rPr lang="en-US" altLang="zh-CN" dirty="0">
                <a:latin typeface="+mn-ea"/>
              </a:rPr>
              <a:t>DX</a:t>
            </a:r>
            <a:r>
              <a:rPr lang="zh-CN" altLang="en-US" dirty="0">
                <a:latin typeface="+mn-ea"/>
              </a:rPr>
              <a:t>、</a:t>
            </a:r>
            <a:r>
              <a:rPr lang="en-US" altLang="zh-CN" dirty="0">
                <a:latin typeface="+mn-ea"/>
              </a:rPr>
              <a:t>SI</a:t>
            </a:r>
            <a:r>
              <a:rPr lang="zh-CN" altLang="en-US" dirty="0">
                <a:latin typeface="+mn-ea"/>
              </a:rPr>
              <a:t>、</a:t>
            </a:r>
            <a:r>
              <a:rPr lang="en-US" altLang="zh-CN" dirty="0">
                <a:latin typeface="+mn-ea"/>
              </a:rPr>
              <a:t>DI</a:t>
            </a:r>
            <a:r>
              <a:rPr lang="zh-CN" altLang="en-US" dirty="0">
                <a:latin typeface="+mn-ea"/>
              </a:rPr>
              <a:t>、</a:t>
            </a:r>
            <a:r>
              <a:rPr lang="en-US" altLang="zh-CN" dirty="0">
                <a:latin typeface="+mn-ea"/>
              </a:rPr>
              <a:t>BP</a:t>
            </a:r>
            <a:r>
              <a:rPr lang="zh-CN" altLang="en-US" dirty="0">
                <a:latin typeface="+mn-ea"/>
              </a:rPr>
              <a:t>、</a:t>
            </a:r>
            <a:r>
              <a:rPr lang="en-US" altLang="zh-CN" dirty="0">
                <a:latin typeface="+mn-ea"/>
              </a:rPr>
              <a:t>SP</a:t>
            </a:r>
          </a:p>
          <a:p>
            <a:pPr lvl="1" eaLnBrk="1" hangingPunct="1">
              <a:lnSpc>
                <a:spcPct val="90000"/>
              </a:lnSpc>
              <a:defRPr/>
            </a:pPr>
            <a:r>
              <a:rPr lang="en-US" altLang="zh-CN" dirty="0">
                <a:latin typeface="+mn-ea"/>
              </a:rPr>
              <a:t>8</a:t>
            </a:r>
            <a:r>
              <a:rPr lang="zh-CN" altLang="en-US" dirty="0">
                <a:latin typeface="+mn-ea"/>
              </a:rPr>
              <a:t>位：</a:t>
            </a:r>
            <a:r>
              <a:rPr lang="en-US" altLang="zh-CN" dirty="0">
                <a:latin typeface="+mn-ea"/>
              </a:rPr>
              <a:t>AL</a:t>
            </a:r>
            <a:r>
              <a:rPr lang="zh-CN" altLang="en-US" dirty="0">
                <a:latin typeface="+mn-ea"/>
              </a:rPr>
              <a:t>、</a:t>
            </a:r>
            <a:r>
              <a:rPr lang="en-US" altLang="zh-CN" dirty="0">
                <a:latin typeface="+mn-ea"/>
              </a:rPr>
              <a:t>AH</a:t>
            </a:r>
            <a:r>
              <a:rPr lang="zh-CN" altLang="en-US" dirty="0">
                <a:latin typeface="+mn-ea"/>
              </a:rPr>
              <a:t>、</a:t>
            </a:r>
            <a:r>
              <a:rPr lang="en-US" altLang="zh-CN" dirty="0">
                <a:latin typeface="+mn-ea"/>
              </a:rPr>
              <a:t>BL</a:t>
            </a:r>
            <a:r>
              <a:rPr lang="zh-CN" altLang="en-US" dirty="0">
                <a:latin typeface="+mn-ea"/>
              </a:rPr>
              <a:t>、</a:t>
            </a:r>
            <a:r>
              <a:rPr lang="en-US" altLang="zh-CN" dirty="0">
                <a:latin typeface="+mn-ea"/>
              </a:rPr>
              <a:t>BH</a:t>
            </a:r>
            <a:r>
              <a:rPr lang="zh-CN" altLang="en-US" dirty="0">
                <a:latin typeface="+mn-ea"/>
              </a:rPr>
              <a:t>、</a:t>
            </a:r>
            <a:r>
              <a:rPr lang="en-US" altLang="zh-CN" dirty="0">
                <a:latin typeface="+mn-ea"/>
              </a:rPr>
              <a:t>CL</a:t>
            </a:r>
            <a:r>
              <a:rPr lang="zh-CN" altLang="en-US" dirty="0">
                <a:latin typeface="+mn-ea"/>
              </a:rPr>
              <a:t>、</a:t>
            </a:r>
            <a:r>
              <a:rPr lang="en-US" altLang="zh-CN" dirty="0">
                <a:latin typeface="+mn-ea"/>
              </a:rPr>
              <a:t>CH</a:t>
            </a:r>
            <a:r>
              <a:rPr lang="zh-CN" altLang="en-US" dirty="0">
                <a:latin typeface="+mn-ea"/>
              </a:rPr>
              <a:t>、</a:t>
            </a:r>
            <a:r>
              <a:rPr lang="en-US" altLang="zh-CN" dirty="0">
                <a:latin typeface="+mn-ea"/>
              </a:rPr>
              <a:t>DL</a:t>
            </a:r>
            <a:r>
              <a:rPr lang="zh-CN" altLang="en-US" dirty="0">
                <a:latin typeface="+mn-ea"/>
              </a:rPr>
              <a:t>、</a:t>
            </a:r>
            <a:r>
              <a:rPr lang="en-US" altLang="zh-CN" dirty="0">
                <a:latin typeface="+mn-ea"/>
              </a:rPr>
              <a:t>DH</a:t>
            </a:r>
          </a:p>
          <a:p>
            <a:pPr marL="0" indent="0" eaLnBrk="1" hangingPunct="1">
              <a:lnSpc>
                <a:spcPct val="90000"/>
              </a:lnSpc>
              <a:buFont typeface="Wingdings" panose="05000000000000000000" pitchFamily="2" charset="2"/>
              <a:buNone/>
              <a:defRPr/>
            </a:pPr>
            <a:r>
              <a:rPr lang="en-US" altLang="zh-CN" sz="1800" dirty="0">
                <a:latin typeface="+mn-ea"/>
              </a:rPr>
              <a:t>(2)</a:t>
            </a:r>
            <a:r>
              <a:rPr lang="zh-CN" altLang="en-US" sz="1800" dirty="0">
                <a:latin typeface="+mn-ea"/>
              </a:rPr>
              <a:t>段寄存器：</a:t>
            </a:r>
            <a:r>
              <a:rPr lang="en-US" altLang="zh-CN" sz="1800" dirty="0">
                <a:latin typeface="+mn-ea"/>
              </a:rPr>
              <a:t>CS</a:t>
            </a:r>
            <a:r>
              <a:rPr lang="zh-CN" altLang="en-US" sz="1800" dirty="0">
                <a:latin typeface="+mn-ea"/>
              </a:rPr>
              <a:t>、</a:t>
            </a:r>
            <a:r>
              <a:rPr lang="en-US" altLang="zh-CN" sz="1800" dirty="0">
                <a:latin typeface="+mn-ea"/>
              </a:rPr>
              <a:t>SS</a:t>
            </a:r>
            <a:r>
              <a:rPr lang="zh-CN" altLang="en-US" sz="1800" dirty="0">
                <a:latin typeface="+mn-ea"/>
              </a:rPr>
              <a:t>、</a:t>
            </a:r>
            <a:r>
              <a:rPr lang="en-US" altLang="zh-CN" sz="1800" dirty="0">
                <a:latin typeface="+mn-ea"/>
              </a:rPr>
              <a:t>DS</a:t>
            </a:r>
            <a:r>
              <a:rPr lang="zh-CN" altLang="en-US" sz="1800" dirty="0">
                <a:latin typeface="+mn-ea"/>
              </a:rPr>
              <a:t>、</a:t>
            </a:r>
            <a:r>
              <a:rPr lang="en-US" altLang="zh-CN" sz="1800" dirty="0">
                <a:latin typeface="+mn-ea"/>
              </a:rPr>
              <a:t>ES</a:t>
            </a:r>
            <a:r>
              <a:rPr lang="zh-CN" altLang="en-US" sz="1800" dirty="0">
                <a:latin typeface="+mn-ea"/>
              </a:rPr>
              <a:t>、</a:t>
            </a:r>
            <a:r>
              <a:rPr lang="en-US" altLang="zh-CN" sz="1800" dirty="0">
                <a:latin typeface="+mn-ea"/>
              </a:rPr>
              <a:t>FS</a:t>
            </a:r>
            <a:r>
              <a:rPr lang="zh-CN" altLang="en-US" sz="1800" dirty="0">
                <a:latin typeface="+mn-ea"/>
              </a:rPr>
              <a:t>、</a:t>
            </a:r>
            <a:r>
              <a:rPr lang="en-US" altLang="zh-CN" sz="1800" dirty="0">
                <a:latin typeface="+mn-ea"/>
              </a:rPr>
              <a:t>GS</a:t>
            </a:r>
          </a:p>
          <a:p>
            <a:pPr marL="0" indent="0" eaLnBrk="1" hangingPunct="1">
              <a:lnSpc>
                <a:spcPct val="90000"/>
              </a:lnSpc>
              <a:buFont typeface="Wingdings" panose="05000000000000000000" pitchFamily="2" charset="2"/>
              <a:buNone/>
              <a:defRPr/>
            </a:pPr>
            <a:r>
              <a:rPr lang="en-US" altLang="zh-CN" sz="1800" dirty="0">
                <a:latin typeface="+mn-ea"/>
              </a:rPr>
              <a:t>(3)</a:t>
            </a:r>
            <a:r>
              <a:rPr lang="zh-CN" altLang="en-US" sz="1800" dirty="0">
                <a:latin typeface="+mn-ea"/>
              </a:rPr>
              <a:t>指令指针寄存器：</a:t>
            </a:r>
            <a:r>
              <a:rPr lang="en-US" altLang="zh-CN" sz="1800" dirty="0">
                <a:latin typeface="+mn-ea"/>
              </a:rPr>
              <a:t>EIP</a:t>
            </a:r>
            <a:r>
              <a:rPr lang="zh-CN" altLang="en-US" sz="1800" dirty="0">
                <a:latin typeface="+mn-ea"/>
              </a:rPr>
              <a:t>、</a:t>
            </a:r>
            <a:r>
              <a:rPr lang="en-US" altLang="zh-CN" sz="1800" dirty="0">
                <a:latin typeface="+mn-ea"/>
              </a:rPr>
              <a:t>IP</a:t>
            </a:r>
          </a:p>
          <a:p>
            <a:pPr marL="0" indent="0" eaLnBrk="1" hangingPunct="1">
              <a:lnSpc>
                <a:spcPct val="90000"/>
              </a:lnSpc>
              <a:buFont typeface="Wingdings" panose="05000000000000000000" pitchFamily="2" charset="2"/>
              <a:buNone/>
              <a:defRPr/>
            </a:pPr>
            <a:r>
              <a:rPr lang="en-US" altLang="zh-CN" sz="1800" dirty="0">
                <a:latin typeface="+mn-ea"/>
              </a:rPr>
              <a:t>(4)</a:t>
            </a:r>
            <a:r>
              <a:rPr lang="zh-CN" altLang="en-US" sz="1800" dirty="0">
                <a:latin typeface="+mn-ea"/>
              </a:rPr>
              <a:t>标志寄存器：</a:t>
            </a:r>
            <a:r>
              <a:rPr lang="en-US" altLang="zh-CN" sz="1800" dirty="0">
                <a:latin typeface="+mn-ea"/>
              </a:rPr>
              <a:t>FLAGS</a:t>
            </a:r>
          </a:p>
          <a:p>
            <a:pPr lvl="1" eaLnBrk="1" hangingPunct="1">
              <a:lnSpc>
                <a:spcPct val="90000"/>
              </a:lnSpc>
              <a:defRPr/>
            </a:pPr>
            <a:r>
              <a:rPr lang="en-US" altLang="zh-CN" sz="1575" dirty="0">
                <a:latin typeface="+mn-ea"/>
              </a:rPr>
              <a:t>6</a:t>
            </a:r>
            <a:r>
              <a:rPr lang="zh-CN" altLang="en-US" sz="1575" dirty="0">
                <a:latin typeface="+mn-ea"/>
              </a:rPr>
              <a:t>种状态标志：</a:t>
            </a:r>
            <a:r>
              <a:rPr lang="en-US" altLang="zh-CN" sz="1575" dirty="0">
                <a:latin typeface="+mn-ea"/>
              </a:rPr>
              <a:t> OF </a:t>
            </a:r>
            <a:r>
              <a:rPr lang="zh-CN" altLang="en-US" sz="1575" dirty="0">
                <a:latin typeface="+mn-ea"/>
              </a:rPr>
              <a:t>、 </a:t>
            </a:r>
            <a:r>
              <a:rPr lang="en-US" altLang="zh-CN" sz="1575" dirty="0">
                <a:latin typeface="+mn-ea"/>
              </a:rPr>
              <a:t>SF </a:t>
            </a:r>
            <a:r>
              <a:rPr lang="zh-CN" altLang="en-US" sz="1575" dirty="0">
                <a:latin typeface="+mn-ea"/>
              </a:rPr>
              <a:t>、</a:t>
            </a:r>
            <a:r>
              <a:rPr lang="en-US" altLang="zh-CN" sz="1575" dirty="0">
                <a:latin typeface="+mn-ea"/>
              </a:rPr>
              <a:t>ZF</a:t>
            </a:r>
            <a:r>
              <a:rPr lang="zh-CN" altLang="en-US" sz="1575" dirty="0">
                <a:latin typeface="+mn-ea"/>
              </a:rPr>
              <a:t>、</a:t>
            </a:r>
            <a:r>
              <a:rPr lang="en-US" altLang="zh-CN" sz="1575" dirty="0">
                <a:latin typeface="+mn-ea"/>
              </a:rPr>
              <a:t> AF</a:t>
            </a:r>
            <a:r>
              <a:rPr lang="zh-CN" altLang="en-US" sz="1575" dirty="0">
                <a:latin typeface="+mn-ea"/>
              </a:rPr>
              <a:t>、 </a:t>
            </a:r>
            <a:r>
              <a:rPr lang="en-US" altLang="zh-CN" sz="1575" dirty="0">
                <a:latin typeface="+mn-ea"/>
              </a:rPr>
              <a:t>PF</a:t>
            </a:r>
            <a:r>
              <a:rPr lang="zh-CN" altLang="en-US" sz="1575" dirty="0">
                <a:latin typeface="+mn-ea"/>
              </a:rPr>
              <a:t>、</a:t>
            </a:r>
            <a:r>
              <a:rPr lang="en-US" altLang="zh-CN" sz="1575" dirty="0">
                <a:latin typeface="+mn-ea"/>
              </a:rPr>
              <a:t> CF</a:t>
            </a:r>
          </a:p>
          <a:p>
            <a:pPr lvl="1" eaLnBrk="1" hangingPunct="1">
              <a:lnSpc>
                <a:spcPct val="90000"/>
              </a:lnSpc>
              <a:defRPr/>
            </a:pPr>
            <a:r>
              <a:rPr lang="en-US" altLang="zh-CN" sz="1575" dirty="0">
                <a:latin typeface="+mn-ea"/>
              </a:rPr>
              <a:t>3</a:t>
            </a:r>
            <a:r>
              <a:rPr lang="zh-CN" altLang="en-US" sz="1575" dirty="0">
                <a:latin typeface="+mn-ea"/>
              </a:rPr>
              <a:t>种控制标志 ：</a:t>
            </a:r>
            <a:r>
              <a:rPr lang="en-US" altLang="zh-CN" sz="1575" dirty="0">
                <a:latin typeface="+mn-ea"/>
              </a:rPr>
              <a:t>DF</a:t>
            </a:r>
            <a:r>
              <a:rPr lang="zh-CN" altLang="en-US" sz="1575" dirty="0">
                <a:latin typeface="+mn-ea"/>
              </a:rPr>
              <a:t>、</a:t>
            </a:r>
            <a:r>
              <a:rPr lang="en-US" altLang="zh-CN" sz="1575" dirty="0">
                <a:latin typeface="+mn-ea"/>
              </a:rPr>
              <a:t>IF</a:t>
            </a:r>
            <a:r>
              <a:rPr lang="zh-CN" altLang="en-US" sz="1575" dirty="0">
                <a:latin typeface="+mn-ea"/>
              </a:rPr>
              <a:t>、</a:t>
            </a:r>
            <a:r>
              <a:rPr lang="en-US" altLang="zh-CN" sz="1575" dirty="0">
                <a:latin typeface="+mn-ea"/>
              </a:rPr>
              <a:t>TF</a:t>
            </a:r>
          </a:p>
          <a:p>
            <a:pPr marL="0" indent="0" eaLnBrk="1" hangingPunct="1">
              <a:lnSpc>
                <a:spcPct val="90000"/>
              </a:lnSpc>
              <a:spcBef>
                <a:spcPts val="1800"/>
              </a:spcBef>
              <a:buFont typeface="Wingdings" panose="05000000000000000000" pitchFamily="2" charset="2"/>
              <a:buNone/>
              <a:defRPr/>
            </a:pPr>
            <a:r>
              <a:rPr lang="zh-CN" altLang="en-US" sz="1800" dirty="0">
                <a:latin typeface="+mn-ea"/>
              </a:rPr>
              <a:t>例：</a:t>
            </a:r>
            <a:r>
              <a:rPr lang="en-US" altLang="zh-CN" sz="1800" dirty="0">
                <a:latin typeface="+mn-ea"/>
              </a:rPr>
              <a:t>8086 CPU</a:t>
            </a:r>
            <a:r>
              <a:rPr lang="zh-CN" altLang="en-US" sz="1800" dirty="0">
                <a:latin typeface="+mn-ea"/>
              </a:rPr>
              <a:t>中的</a:t>
            </a:r>
            <a:r>
              <a:rPr lang="en-US" altLang="zh-CN" sz="1800" dirty="0">
                <a:latin typeface="+mn-ea"/>
              </a:rPr>
              <a:t>SP</a:t>
            </a:r>
            <a:r>
              <a:rPr lang="zh-CN" altLang="en-US" sz="1800" dirty="0">
                <a:latin typeface="+mn-ea"/>
              </a:rPr>
              <a:t>寄存器是一个</a:t>
            </a:r>
            <a:r>
              <a:rPr lang="en-US" altLang="zh-CN" sz="1800" dirty="0">
                <a:latin typeface="+mn-ea"/>
              </a:rPr>
              <a:t>_______</a:t>
            </a:r>
            <a:r>
              <a:rPr lang="zh-CN" altLang="en-US" sz="1800" dirty="0">
                <a:latin typeface="+mn-ea"/>
              </a:rPr>
              <a:t>位的寄存器。</a:t>
            </a:r>
          </a:p>
          <a:p>
            <a:pPr marL="0" indent="0" algn="just" eaLnBrk="1" hangingPunct="1">
              <a:spcBef>
                <a:spcPts val="0"/>
              </a:spcBef>
              <a:buFont typeface="Wingdings" panose="05000000000000000000" pitchFamily="2" charset="2"/>
              <a:buNone/>
              <a:defRPr/>
            </a:pPr>
            <a:r>
              <a:rPr lang="zh-CN" altLang="en-US" sz="1800" dirty="0">
                <a:latin typeface="+mn-ea"/>
              </a:rPr>
              <a:t>       </a:t>
            </a:r>
            <a:r>
              <a:rPr lang="en-US" altLang="zh-CN" sz="1800" dirty="0">
                <a:latin typeface="+mn-ea"/>
              </a:rPr>
              <a:t>A.  8</a:t>
            </a:r>
            <a:r>
              <a:rPr lang="zh-CN" altLang="en-US" sz="1800" dirty="0">
                <a:latin typeface="+mn-ea"/>
              </a:rPr>
              <a:t>位           </a:t>
            </a:r>
            <a:r>
              <a:rPr lang="en-US" altLang="zh-CN" sz="1800" dirty="0">
                <a:latin typeface="+mn-ea"/>
              </a:rPr>
              <a:t>B.  16</a:t>
            </a:r>
            <a:r>
              <a:rPr lang="zh-CN" altLang="en-US" sz="1800" dirty="0">
                <a:latin typeface="+mn-ea"/>
              </a:rPr>
              <a:t>位      </a:t>
            </a:r>
            <a:r>
              <a:rPr lang="en-US" altLang="zh-CN" sz="1800" dirty="0">
                <a:latin typeface="+mn-ea"/>
              </a:rPr>
              <a:t>C.  24</a:t>
            </a:r>
            <a:r>
              <a:rPr lang="zh-CN" altLang="en-US" sz="1800" dirty="0">
                <a:latin typeface="+mn-ea"/>
              </a:rPr>
              <a:t>位         </a:t>
            </a:r>
            <a:r>
              <a:rPr lang="en-US" altLang="zh-CN" sz="1800" dirty="0">
                <a:latin typeface="+mn-ea"/>
              </a:rPr>
              <a:t>D.  32</a:t>
            </a:r>
            <a:r>
              <a:rPr lang="zh-CN" altLang="en-US" sz="1800" dirty="0">
                <a:latin typeface="+mn-ea"/>
              </a:rPr>
              <a:t>位 </a:t>
            </a:r>
          </a:p>
          <a:p>
            <a:pPr marL="0" indent="0" eaLnBrk="1" hangingPunct="1">
              <a:buFont typeface="Wingdings" panose="05000000000000000000" pitchFamily="2" charset="2"/>
              <a:buNone/>
              <a:defRPr/>
            </a:pPr>
            <a:endParaRPr lang="zh-CN" altLang="en-US" dirty="0">
              <a:solidFill>
                <a:srgbClr val="C00000"/>
              </a:solidFill>
              <a:latin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3"/>
          <p:cNvSpPr txBox="1">
            <a:spLocks noChangeArrowheads="1"/>
          </p:cNvSpPr>
          <p:nvPr/>
        </p:nvSpPr>
        <p:spPr bwMode="auto">
          <a:xfrm>
            <a:off x="2209800" y="2057400"/>
            <a:ext cx="5867400" cy="454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kumimoji="0" lang="en-US" altLang="zh-CN" sz="2400" u="none">
                <a:solidFill>
                  <a:srgbClr val="000000"/>
                </a:solidFill>
              </a:rPr>
              <a:t>8086/8088</a:t>
            </a:r>
            <a:r>
              <a:rPr kumimoji="0" lang="zh-CN" altLang="en-US" sz="2400" u="none">
                <a:solidFill>
                  <a:srgbClr val="000000"/>
                </a:solidFill>
              </a:rPr>
              <a:t>寄存器组：</a:t>
            </a:r>
            <a:endParaRPr lang="zh-CN" altLang="en-US" sz="2400" u="none">
              <a:solidFill>
                <a:srgbClr val="000000"/>
              </a:solidFill>
            </a:endParaRPr>
          </a:p>
          <a:p>
            <a:pPr eaLnBrk="1" hangingPunct="1">
              <a:lnSpc>
                <a:spcPct val="140000"/>
              </a:lnSpc>
              <a:spcBef>
                <a:spcPct val="0"/>
              </a:spcBef>
              <a:buClrTx/>
              <a:buFontTx/>
              <a:buNone/>
            </a:pPr>
            <a:r>
              <a:rPr lang="zh-CN" altLang="en-US" sz="2400" u="none">
                <a:solidFill>
                  <a:srgbClr val="0000FF"/>
                </a:solidFill>
                <a:ea typeface="楷体_GB2312" panose="02010609030101010101" pitchFamily="49" charset="-122"/>
              </a:rPr>
              <a:t>数据寄存器：</a:t>
            </a:r>
          </a:p>
          <a:p>
            <a:pPr eaLnBrk="1" hangingPunct="1">
              <a:lnSpc>
                <a:spcPct val="140000"/>
              </a:lnSpc>
              <a:spcBef>
                <a:spcPct val="0"/>
              </a:spcBef>
              <a:buClrTx/>
              <a:buFontTx/>
              <a:buNone/>
            </a:pPr>
            <a:endParaRPr lang="zh-CN" altLang="en-US" sz="2400" u="none">
              <a:solidFill>
                <a:srgbClr val="000000"/>
              </a:solidFill>
              <a:ea typeface="楷体_GB2312" panose="02010609030101010101" pitchFamily="49" charset="-122"/>
            </a:endParaRPr>
          </a:p>
          <a:p>
            <a:pPr eaLnBrk="1" hangingPunct="1">
              <a:lnSpc>
                <a:spcPct val="140000"/>
              </a:lnSpc>
              <a:spcBef>
                <a:spcPct val="0"/>
              </a:spcBef>
              <a:buClrTx/>
              <a:buFontTx/>
              <a:buNone/>
            </a:pPr>
            <a:endParaRPr lang="zh-CN" altLang="en-US" sz="2400" u="none">
              <a:solidFill>
                <a:srgbClr val="000000"/>
              </a:solidFill>
              <a:ea typeface="楷体_GB2312" panose="02010609030101010101" pitchFamily="49" charset="-122"/>
            </a:endParaRPr>
          </a:p>
          <a:p>
            <a:pPr eaLnBrk="1" hangingPunct="1">
              <a:lnSpc>
                <a:spcPct val="140000"/>
              </a:lnSpc>
              <a:spcBef>
                <a:spcPct val="0"/>
              </a:spcBef>
              <a:buClrTx/>
              <a:buFontTx/>
              <a:buNone/>
            </a:pPr>
            <a:endParaRPr lang="zh-CN" altLang="en-US" sz="2400" u="none">
              <a:solidFill>
                <a:srgbClr val="000000"/>
              </a:solidFill>
              <a:ea typeface="楷体_GB2312" panose="02010609030101010101" pitchFamily="49" charset="-122"/>
            </a:endParaRPr>
          </a:p>
          <a:p>
            <a:pPr eaLnBrk="1" hangingPunct="1">
              <a:lnSpc>
                <a:spcPct val="140000"/>
              </a:lnSpc>
              <a:spcBef>
                <a:spcPct val="0"/>
              </a:spcBef>
              <a:buClrTx/>
              <a:buFontTx/>
              <a:buNone/>
            </a:pPr>
            <a:endParaRPr kumimoji="0" lang="zh-CN" altLang="en-US" sz="2400" u="none">
              <a:solidFill>
                <a:srgbClr val="0000FF"/>
              </a:solidFill>
              <a:ea typeface="楷体_GB2312" panose="02010609030101010101" pitchFamily="49" charset="-122"/>
            </a:endParaRPr>
          </a:p>
          <a:p>
            <a:pPr eaLnBrk="1" hangingPunct="1">
              <a:lnSpc>
                <a:spcPct val="140000"/>
              </a:lnSpc>
              <a:spcBef>
                <a:spcPct val="0"/>
              </a:spcBef>
              <a:buClrTx/>
              <a:buFontTx/>
              <a:buNone/>
            </a:pPr>
            <a:r>
              <a:rPr kumimoji="0" lang="zh-CN" altLang="en-US" sz="2400" u="none">
                <a:solidFill>
                  <a:srgbClr val="0000FF"/>
                </a:solidFill>
                <a:ea typeface="楷体_GB2312" panose="02010609030101010101" pitchFamily="49" charset="-122"/>
              </a:rPr>
              <a:t>指针及变址寄存器：</a:t>
            </a:r>
            <a:r>
              <a:rPr kumimoji="0" lang="en-US" altLang="zh-CN" sz="2400" u="none">
                <a:solidFill>
                  <a:srgbClr val="000000"/>
                </a:solidFill>
                <a:ea typeface="楷体_GB2312" panose="02010609030101010101" pitchFamily="49" charset="-122"/>
              </a:rPr>
              <a:t>SP</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BP</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SI</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DI</a:t>
            </a:r>
          </a:p>
          <a:p>
            <a:pPr eaLnBrk="1" hangingPunct="1">
              <a:lnSpc>
                <a:spcPct val="140000"/>
              </a:lnSpc>
              <a:spcBef>
                <a:spcPct val="0"/>
              </a:spcBef>
              <a:buClrTx/>
              <a:buFontTx/>
              <a:buNone/>
            </a:pPr>
            <a:r>
              <a:rPr kumimoji="0" lang="zh-CN" altLang="en-US" sz="2400" u="none">
                <a:solidFill>
                  <a:srgbClr val="0000FF"/>
                </a:solidFill>
                <a:ea typeface="楷体_GB2312" panose="02010609030101010101" pitchFamily="49" charset="-122"/>
              </a:rPr>
              <a:t>段寄存器：                </a:t>
            </a:r>
            <a:r>
              <a:rPr kumimoji="0" lang="en-US" altLang="zh-CN" sz="2400" u="none">
                <a:solidFill>
                  <a:srgbClr val="000000"/>
                </a:solidFill>
                <a:ea typeface="楷体_GB2312" panose="02010609030101010101" pitchFamily="49" charset="-122"/>
              </a:rPr>
              <a:t>CS</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DS</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SS</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ES</a:t>
            </a:r>
          </a:p>
          <a:p>
            <a:pPr eaLnBrk="1" hangingPunct="1">
              <a:lnSpc>
                <a:spcPct val="140000"/>
              </a:lnSpc>
              <a:spcBef>
                <a:spcPct val="0"/>
              </a:spcBef>
              <a:buClrTx/>
              <a:buFontTx/>
              <a:buNone/>
            </a:pPr>
            <a:r>
              <a:rPr kumimoji="0" lang="zh-CN" altLang="en-US" sz="2400" u="none">
                <a:solidFill>
                  <a:srgbClr val="0000FF"/>
                </a:solidFill>
                <a:ea typeface="楷体_GB2312" panose="02010609030101010101" pitchFamily="49" charset="-122"/>
              </a:rPr>
              <a:t>控制寄存器：            </a:t>
            </a:r>
            <a:r>
              <a:rPr kumimoji="0" lang="en-US" altLang="zh-CN" sz="2400" u="none">
                <a:solidFill>
                  <a:srgbClr val="000000"/>
                </a:solidFill>
                <a:ea typeface="楷体_GB2312" panose="02010609030101010101" pitchFamily="49" charset="-122"/>
              </a:rPr>
              <a:t>IP</a:t>
            </a:r>
            <a:r>
              <a:rPr kumimoji="0" lang="zh-CN" altLang="en-US" sz="2400" u="none">
                <a:solidFill>
                  <a:srgbClr val="000000"/>
                </a:solidFill>
                <a:ea typeface="楷体_GB2312" panose="02010609030101010101" pitchFamily="49" charset="-122"/>
              </a:rPr>
              <a:t>、</a:t>
            </a:r>
            <a:r>
              <a:rPr kumimoji="0" lang="en-US" altLang="zh-CN" sz="2400" u="none">
                <a:solidFill>
                  <a:srgbClr val="000000"/>
                </a:solidFill>
                <a:ea typeface="楷体_GB2312" panose="02010609030101010101" pitchFamily="49" charset="-122"/>
              </a:rPr>
              <a:t>FLAGS</a:t>
            </a:r>
          </a:p>
        </p:txBody>
      </p:sp>
      <p:sp>
        <p:nvSpPr>
          <p:cNvPr id="11267" name="Rectangle 4"/>
          <p:cNvSpPr>
            <a:spLocks noChangeArrowheads="1"/>
          </p:cNvSpPr>
          <p:nvPr/>
        </p:nvSpPr>
        <p:spPr bwMode="auto">
          <a:xfrm>
            <a:off x="2133600" y="1219200"/>
            <a:ext cx="63992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kumimoji="0" lang="en-US" altLang="zh-CN" sz="2400" u="none">
                <a:solidFill>
                  <a:srgbClr val="000000"/>
                </a:solidFill>
              </a:rPr>
              <a:t>CPU</a:t>
            </a:r>
            <a:r>
              <a:rPr kumimoji="0" lang="zh-CN" altLang="en-US" sz="2400" u="none">
                <a:solidFill>
                  <a:srgbClr val="000000"/>
                </a:solidFill>
              </a:rPr>
              <a:t>组成：算术逻辑部件</a:t>
            </a:r>
            <a:r>
              <a:rPr kumimoji="0" lang="en-US" altLang="zh-CN" sz="2400" u="none">
                <a:solidFill>
                  <a:srgbClr val="000000"/>
                </a:solidFill>
              </a:rPr>
              <a:t>ALU</a:t>
            </a:r>
            <a:r>
              <a:rPr kumimoji="0" lang="zh-CN" altLang="en-US" sz="2400" u="none">
                <a:solidFill>
                  <a:srgbClr val="000000"/>
                </a:solidFill>
              </a:rPr>
              <a:t>、控制逻辑、</a:t>
            </a:r>
          </a:p>
          <a:p>
            <a:pPr>
              <a:spcBef>
                <a:spcPct val="0"/>
              </a:spcBef>
              <a:buClrTx/>
              <a:buFontTx/>
              <a:buNone/>
            </a:pPr>
            <a:r>
              <a:rPr kumimoji="0" lang="zh-CN" altLang="en-US" sz="2400" u="none">
                <a:solidFill>
                  <a:srgbClr val="000000"/>
                </a:solidFill>
              </a:rPr>
              <a:t>                    工作寄存器</a:t>
            </a:r>
          </a:p>
        </p:txBody>
      </p:sp>
      <p:grpSp>
        <p:nvGrpSpPr>
          <p:cNvPr id="11268" name="Group 5"/>
          <p:cNvGrpSpPr/>
          <p:nvPr/>
        </p:nvGrpSpPr>
        <p:grpSpPr bwMode="auto">
          <a:xfrm>
            <a:off x="2362200" y="2743200"/>
            <a:ext cx="4724400" cy="2201863"/>
            <a:chOff x="720" y="2784"/>
            <a:chExt cx="2976" cy="1387"/>
          </a:xfrm>
        </p:grpSpPr>
        <p:sp>
          <p:nvSpPr>
            <p:cNvPr id="11269" name="Text Box 6"/>
            <p:cNvSpPr txBox="1">
              <a:spLocks noChangeArrowheads="1"/>
            </p:cNvSpPr>
            <p:nvPr/>
          </p:nvSpPr>
          <p:spPr bwMode="auto">
            <a:xfrm>
              <a:off x="720" y="3072"/>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AX</a:t>
              </a:r>
              <a:endParaRPr lang="en-US" altLang="zh-CN" sz="2400" b="0" u="none">
                <a:solidFill>
                  <a:srgbClr val="000000"/>
                </a:solidFill>
              </a:endParaRPr>
            </a:p>
          </p:txBody>
        </p:sp>
        <p:sp>
          <p:nvSpPr>
            <p:cNvPr id="11270" name="Text Box 7"/>
            <p:cNvSpPr txBox="1">
              <a:spLocks noChangeArrowheads="1"/>
            </p:cNvSpPr>
            <p:nvPr/>
          </p:nvSpPr>
          <p:spPr bwMode="auto">
            <a:xfrm>
              <a:off x="720" y="3360"/>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BX</a:t>
              </a:r>
              <a:endParaRPr lang="en-US" altLang="zh-CN" sz="2400" b="0" u="none">
                <a:solidFill>
                  <a:srgbClr val="000000"/>
                </a:solidFill>
              </a:endParaRPr>
            </a:p>
          </p:txBody>
        </p:sp>
        <p:sp>
          <p:nvSpPr>
            <p:cNvPr id="11271" name="Text Box 8"/>
            <p:cNvSpPr txBox="1">
              <a:spLocks noChangeArrowheads="1"/>
            </p:cNvSpPr>
            <p:nvPr/>
          </p:nvSpPr>
          <p:spPr bwMode="auto">
            <a:xfrm>
              <a:off x="768" y="3648"/>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CX</a:t>
              </a:r>
              <a:endParaRPr lang="en-US" altLang="zh-CN" sz="2400" b="0" u="none">
                <a:solidFill>
                  <a:srgbClr val="000000"/>
                </a:solidFill>
              </a:endParaRPr>
            </a:p>
          </p:txBody>
        </p:sp>
        <p:sp>
          <p:nvSpPr>
            <p:cNvPr id="11272" name="Text Box 9"/>
            <p:cNvSpPr txBox="1">
              <a:spLocks noChangeArrowheads="1"/>
            </p:cNvSpPr>
            <p:nvPr/>
          </p:nvSpPr>
          <p:spPr bwMode="auto">
            <a:xfrm>
              <a:off x="768" y="3921"/>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DX</a:t>
              </a:r>
              <a:endParaRPr lang="en-US" altLang="zh-CN" sz="2400" b="0" u="none">
                <a:solidFill>
                  <a:srgbClr val="000000"/>
                </a:solidFill>
              </a:endParaRPr>
            </a:p>
          </p:txBody>
        </p:sp>
        <p:grpSp>
          <p:nvGrpSpPr>
            <p:cNvPr id="11273" name="Group 10"/>
            <p:cNvGrpSpPr/>
            <p:nvPr/>
          </p:nvGrpSpPr>
          <p:grpSpPr bwMode="auto">
            <a:xfrm>
              <a:off x="1872" y="2784"/>
              <a:ext cx="1824" cy="1378"/>
              <a:chOff x="1872" y="2784"/>
              <a:chExt cx="1824" cy="1378"/>
            </a:xfrm>
          </p:grpSpPr>
          <p:grpSp>
            <p:nvGrpSpPr>
              <p:cNvPr id="11274" name="Group 11"/>
              <p:cNvGrpSpPr/>
              <p:nvPr/>
            </p:nvGrpSpPr>
            <p:grpSpPr bwMode="auto">
              <a:xfrm>
                <a:off x="1872" y="3035"/>
                <a:ext cx="1728" cy="1127"/>
                <a:chOff x="1968" y="3072"/>
                <a:chExt cx="1728" cy="1127"/>
              </a:xfrm>
            </p:grpSpPr>
            <p:sp>
              <p:nvSpPr>
                <p:cNvPr id="11276" name="Text Box 12"/>
                <p:cNvSpPr txBox="1">
                  <a:spLocks noChangeArrowheads="1"/>
                </p:cNvSpPr>
                <p:nvPr/>
              </p:nvSpPr>
              <p:spPr bwMode="auto">
                <a:xfrm>
                  <a:off x="1968" y="3072"/>
                  <a:ext cx="1728"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AH                AL</a:t>
                  </a:r>
                  <a:endParaRPr lang="en-US" altLang="zh-CN" sz="2400" b="0" u="none">
                    <a:solidFill>
                      <a:srgbClr val="000000"/>
                    </a:solidFill>
                  </a:endParaRPr>
                </a:p>
              </p:txBody>
            </p:sp>
            <p:sp>
              <p:nvSpPr>
                <p:cNvPr id="11277" name="Line 13"/>
                <p:cNvSpPr>
                  <a:spLocks noChangeShapeType="1"/>
                </p:cNvSpPr>
                <p:nvPr/>
              </p:nvSpPr>
              <p:spPr bwMode="auto">
                <a:xfrm>
                  <a:off x="2832" y="3072"/>
                  <a:ext cx="0" cy="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78" name="Text Box 14"/>
                <p:cNvSpPr txBox="1">
                  <a:spLocks noChangeArrowheads="1"/>
                </p:cNvSpPr>
                <p:nvPr/>
              </p:nvSpPr>
              <p:spPr bwMode="auto">
                <a:xfrm>
                  <a:off x="1968" y="3360"/>
                  <a:ext cx="1728"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BH                 BL</a:t>
                  </a:r>
                  <a:endParaRPr lang="en-US" altLang="zh-CN" sz="2400" b="0" u="none">
                    <a:solidFill>
                      <a:srgbClr val="000000"/>
                    </a:solidFill>
                  </a:endParaRPr>
                </a:p>
              </p:txBody>
            </p:sp>
            <p:sp>
              <p:nvSpPr>
                <p:cNvPr id="11279" name="Text Box 15"/>
                <p:cNvSpPr txBox="1">
                  <a:spLocks noChangeArrowheads="1"/>
                </p:cNvSpPr>
                <p:nvPr/>
              </p:nvSpPr>
              <p:spPr bwMode="auto">
                <a:xfrm>
                  <a:off x="1968" y="3648"/>
                  <a:ext cx="1728"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CH                 CL</a:t>
                  </a:r>
                  <a:endParaRPr lang="en-US" altLang="zh-CN" sz="2400" b="0" u="none">
                    <a:solidFill>
                      <a:srgbClr val="000000"/>
                    </a:solidFill>
                  </a:endParaRPr>
                </a:p>
              </p:txBody>
            </p:sp>
            <p:sp>
              <p:nvSpPr>
                <p:cNvPr id="11280" name="Text Box 16"/>
                <p:cNvSpPr txBox="1">
                  <a:spLocks noChangeArrowheads="1"/>
                </p:cNvSpPr>
                <p:nvPr/>
              </p:nvSpPr>
              <p:spPr bwMode="auto">
                <a:xfrm>
                  <a:off x="1968" y="3935"/>
                  <a:ext cx="1728" cy="25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en-US" sz="2000" b="0" u="none">
                      <a:solidFill>
                        <a:srgbClr val="000000"/>
                      </a:solidFill>
                    </a:rPr>
                    <a:t>       DH                 DL</a:t>
                  </a:r>
                  <a:endParaRPr lang="en-US" altLang="zh-CN" sz="2400" b="0" u="none">
                    <a:solidFill>
                      <a:srgbClr val="000000"/>
                    </a:solidFill>
                  </a:endParaRPr>
                </a:p>
              </p:txBody>
            </p:sp>
            <p:sp>
              <p:nvSpPr>
                <p:cNvPr id="11281" name="Line 17"/>
                <p:cNvSpPr>
                  <a:spLocks noChangeShapeType="1"/>
                </p:cNvSpPr>
                <p:nvPr/>
              </p:nvSpPr>
              <p:spPr bwMode="auto">
                <a:xfrm>
                  <a:off x="2832" y="3360"/>
                  <a:ext cx="0" cy="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2" name="Line 18"/>
                <p:cNvSpPr>
                  <a:spLocks noChangeShapeType="1"/>
                </p:cNvSpPr>
                <p:nvPr/>
              </p:nvSpPr>
              <p:spPr bwMode="auto">
                <a:xfrm>
                  <a:off x="2832" y="3648"/>
                  <a:ext cx="0" cy="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3" name="Line 19"/>
                <p:cNvSpPr>
                  <a:spLocks noChangeShapeType="1"/>
                </p:cNvSpPr>
                <p:nvPr/>
              </p:nvSpPr>
              <p:spPr bwMode="auto">
                <a:xfrm>
                  <a:off x="2832" y="3936"/>
                  <a:ext cx="0" cy="2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275" name="Text Box 20"/>
              <p:cNvSpPr txBox="1">
                <a:spLocks noChangeArrowheads="1"/>
              </p:cNvSpPr>
              <p:nvPr/>
            </p:nvSpPr>
            <p:spPr bwMode="auto">
              <a:xfrm>
                <a:off x="1920" y="2784"/>
                <a:ext cx="17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kumimoji="0" lang="en-US" altLang="zh-CN" sz="2000" b="0" u="none">
                    <a:solidFill>
                      <a:srgbClr val="000000"/>
                    </a:solidFill>
                    <a:ea typeface="楷体_GB2312" panose="02010609030101010101" pitchFamily="49" charset="-122"/>
                  </a:rPr>
                  <a:t>    </a:t>
                </a:r>
                <a:r>
                  <a:rPr kumimoji="0" lang="zh-CN" altLang="en-US" sz="2000" u="none">
                    <a:solidFill>
                      <a:srgbClr val="000000"/>
                    </a:solidFill>
                    <a:ea typeface="楷体_GB2312" panose="02010609030101010101" pitchFamily="49" charset="-122"/>
                  </a:rPr>
                  <a:t>高</a:t>
                </a:r>
                <a:r>
                  <a:rPr kumimoji="0" lang="en-US" altLang="zh-CN" sz="2000" u="none">
                    <a:solidFill>
                      <a:srgbClr val="000000"/>
                    </a:solidFill>
                    <a:ea typeface="楷体_GB2312" panose="02010609030101010101" pitchFamily="49" charset="-122"/>
                  </a:rPr>
                  <a:t>8</a:t>
                </a:r>
                <a:r>
                  <a:rPr kumimoji="0" lang="zh-CN" altLang="en-US" sz="2000" u="none">
                    <a:solidFill>
                      <a:srgbClr val="000000"/>
                    </a:solidFill>
                    <a:ea typeface="楷体_GB2312" panose="02010609030101010101" pitchFamily="49" charset="-122"/>
                  </a:rPr>
                  <a:t>位           低</a:t>
                </a:r>
                <a:r>
                  <a:rPr kumimoji="0" lang="en-US" altLang="zh-CN" sz="2000" u="none">
                    <a:solidFill>
                      <a:srgbClr val="000000"/>
                    </a:solidFill>
                    <a:ea typeface="楷体_GB2312" panose="02010609030101010101" pitchFamily="49" charset="-122"/>
                  </a:rPr>
                  <a:t>8</a:t>
                </a:r>
                <a:r>
                  <a:rPr kumimoji="0" lang="zh-CN" altLang="en-US" sz="2000" u="none">
                    <a:solidFill>
                      <a:srgbClr val="000000"/>
                    </a:solidFill>
                    <a:ea typeface="楷体_GB2312" panose="02010609030101010101" pitchFamily="49" charset="-122"/>
                  </a:rPr>
                  <a:t>位</a:t>
                </a:r>
              </a:p>
            </p:txBody>
          </p:sp>
        </p:grpSp>
      </p:gr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AutoShape 3" descr="mk:@MSITStore:D:\网上教案\汇编语言电子教材（怜香aogo论坛）.chm::/textbookIMG\02-7-d.gif"/>
          <p:cNvSpPr>
            <a:spLocks noChangeAspect="1" noChangeArrowheads="1"/>
          </p:cNvSpPr>
          <p:nvPr/>
        </p:nvSpPr>
        <p:spPr bwMode="auto">
          <a:xfrm>
            <a:off x="3497263" y="2354263"/>
            <a:ext cx="2149475"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solidFill>
                <a:srgbClr val="000000"/>
              </a:solidFill>
            </a:endParaRPr>
          </a:p>
        </p:txBody>
      </p:sp>
      <p:sp>
        <p:nvSpPr>
          <p:cNvPr id="12291" name="AutoShape 5" descr="mk:@MSITStore:D:\网上教案\汇编语言电子教材（怜香aogo论坛）.chm::/textbookIMG\02-7-d.gif"/>
          <p:cNvSpPr>
            <a:spLocks noChangeAspect="1" noChangeArrowheads="1"/>
          </p:cNvSpPr>
          <p:nvPr/>
        </p:nvSpPr>
        <p:spPr bwMode="auto">
          <a:xfrm>
            <a:off x="3497263" y="2354263"/>
            <a:ext cx="2149475"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solidFill>
                <a:srgbClr val="000000"/>
              </a:solidFill>
            </a:endParaRPr>
          </a:p>
        </p:txBody>
      </p:sp>
      <p:pic>
        <p:nvPicPr>
          <p:cNvPr id="12292" name="Picture 6" descr="C:\Documents and Settings\w\My Documents\My Pictures\02-7-d.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609600"/>
            <a:ext cx="4302224" cy="458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 Box 2"/>
          <p:cNvSpPr txBox="1">
            <a:spLocks noChangeArrowheads="1"/>
          </p:cNvSpPr>
          <p:nvPr/>
        </p:nvSpPr>
        <p:spPr bwMode="auto">
          <a:xfrm>
            <a:off x="1752600" y="685800"/>
            <a:ext cx="609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kumimoji="0" lang="zh-CN" altLang="en-US" sz="2800" u="none">
                <a:solidFill>
                  <a:srgbClr val="000000"/>
                </a:solidFill>
              </a:rPr>
              <a:t>标志寄存器（</a:t>
            </a:r>
            <a:r>
              <a:rPr kumimoji="0" lang="zh-CN" altLang="en-US" sz="2400" u="none">
                <a:solidFill>
                  <a:srgbClr val="000000"/>
                </a:solidFill>
              </a:rPr>
              <a:t>程序状态字寄存器 </a:t>
            </a:r>
            <a:r>
              <a:rPr kumimoji="0" lang="en-US" altLang="zh-CN" sz="2400" u="none">
                <a:solidFill>
                  <a:srgbClr val="000000"/>
                </a:solidFill>
              </a:rPr>
              <a:t>PSW</a:t>
            </a:r>
            <a:r>
              <a:rPr kumimoji="0" lang="zh-CN" altLang="en-US" sz="2400" u="none">
                <a:solidFill>
                  <a:srgbClr val="000000"/>
                </a:solidFill>
              </a:rPr>
              <a:t>）</a:t>
            </a:r>
          </a:p>
        </p:txBody>
      </p:sp>
      <p:grpSp>
        <p:nvGrpSpPr>
          <p:cNvPr id="13315" name="Group 3"/>
          <p:cNvGrpSpPr/>
          <p:nvPr/>
        </p:nvGrpSpPr>
        <p:grpSpPr bwMode="auto">
          <a:xfrm>
            <a:off x="1447800" y="1752600"/>
            <a:ext cx="7315200" cy="409575"/>
            <a:chOff x="192" y="2256"/>
            <a:chExt cx="5376" cy="258"/>
          </a:xfrm>
        </p:grpSpPr>
        <p:sp>
          <p:nvSpPr>
            <p:cNvPr id="13320" name="Text Box 4"/>
            <p:cNvSpPr txBox="1">
              <a:spLocks noChangeArrowheads="1"/>
            </p:cNvSpPr>
            <p:nvPr/>
          </p:nvSpPr>
          <p:spPr bwMode="auto">
            <a:xfrm>
              <a:off x="192"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1" name="Text Box 5"/>
            <p:cNvSpPr txBox="1">
              <a:spLocks noChangeArrowheads="1"/>
            </p:cNvSpPr>
            <p:nvPr/>
          </p:nvSpPr>
          <p:spPr bwMode="auto">
            <a:xfrm>
              <a:off x="528"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2" name="Text Box 6"/>
            <p:cNvSpPr txBox="1">
              <a:spLocks noChangeArrowheads="1"/>
            </p:cNvSpPr>
            <p:nvPr/>
          </p:nvSpPr>
          <p:spPr bwMode="auto">
            <a:xfrm>
              <a:off x="864"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3" name="Text Box 7"/>
            <p:cNvSpPr txBox="1">
              <a:spLocks noChangeArrowheads="1"/>
            </p:cNvSpPr>
            <p:nvPr/>
          </p:nvSpPr>
          <p:spPr bwMode="auto">
            <a:xfrm>
              <a:off x="1200"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4" name="Text Box 8"/>
            <p:cNvSpPr txBox="1">
              <a:spLocks noChangeArrowheads="1"/>
            </p:cNvSpPr>
            <p:nvPr/>
          </p:nvSpPr>
          <p:spPr bwMode="auto">
            <a:xfrm>
              <a:off x="1536"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25" name="Text Box 9"/>
            <p:cNvSpPr txBox="1">
              <a:spLocks noChangeArrowheads="1"/>
            </p:cNvSpPr>
            <p:nvPr/>
          </p:nvSpPr>
          <p:spPr bwMode="auto">
            <a:xfrm>
              <a:off x="1872"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6" name="Text Box 10"/>
            <p:cNvSpPr txBox="1">
              <a:spLocks noChangeArrowheads="1"/>
            </p:cNvSpPr>
            <p:nvPr/>
          </p:nvSpPr>
          <p:spPr bwMode="auto">
            <a:xfrm>
              <a:off x="2208"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27" name="Text Box 11"/>
            <p:cNvSpPr txBox="1">
              <a:spLocks noChangeArrowheads="1"/>
            </p:cNvSpPr>
            <p:nvPr/>
          </p:nvSpPr>
          <p:spPr bwMode="auto">
            <a:xfrm>
              <a:off x="2544" y="2256"/>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grpSp>
          <p:nvGrpSpPr>
            <p:cNvPr id="13328" name="Group 12"/>
            <p:cNvGrpSpPr/>
            <p:nvPr/>
          </p:nvGrpSpPr>
          <p:grpSpPr bwMode="auto">
            <a:xfrm>
              <a:off x="2880" y="2256"/>
              <a:ext cx="2688" cy="258"/>
              <a:chOff x="1200" y="2352"/>
              <a:chExt cx="2688" cy="258"/>
            </a:xfrm>
          </p:grpSpPr>
          <p:sp>
            <p:nvSpPr>
              <p:cNvPr id="13329" name="Text Box 13"/>
              <p:cNvSpPr txBox="1">
                <a:spLocks noChangeArrowheads="1"/>
              </p:cNvSpPr>
              <p:nvPr/>
            </p:nvSpPr>
            <p:spPr bwMode="auto">
              <a:xfrm>
                <a:off x="1200"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0" name="Text Box 14"/>
              <p:cNvSpPr txBox="1">
                <a:spLocks noChangeArrowheads="1"/>
              </p:cNvSpPr>
              <p:nvPr/>
            </p:nvSpPr>
            <p:spPr bwMode="auto">
              <a:xfrm>
                <a:off x="1536"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1" name="Text Box 15"/>
              <p:cNvSpPr txBox="1">
                <a:spLocks noChangeArrowheads="1"/>
              </p:cNvSpPr>
              <p:nvPr/>
            </p:nvSpPr>
            <p:spPr bwMode="auto">
              <a:xfrm>
                <a:off x="1872"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32" name="Text Box 16"/>
              <p:cNvSpPr txBox="1">
                <a:spLocks noChangeArrowheads="1"/>
              </p:cNvSpPr>
              <p:nvPr/>
            </p:nvSpPr>
            <p:spPr bwMode="auto">
              <a:xfrm>
                <a:off x="2208"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3" name="Text Box 17"/>
              <p:cNvSpPr txBox="1">
                <a:spLocks noChangeArrowheads="1"/>
              </p:cNvSpPr>
              <p:nvPr/>
            </p:nvSpPr>
            <p:spPr bwMode="auto">
              <a:xfrm>
                <a:off x="2544"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34" name="Text Box 18"/>
              <p:cNvSpPr txBox="1">
                <a:spLocks noChangeArrowheads="1"/>
              </p:cNvSpPr>
              <p:nvPr/>
            </p:nvSpPr>
            <p:spPr bwMode="auto">
              <a:xfrm>
                <a:off x="2880"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sp>
            <p:nvSpPr>
              <p:cNvPr id="13335" name="Text Box 19"/>
              <p:cNvSpPr txBox="1">
                <a:spLocks noChangeArrowheads="1"/>
              </p:cNvSpPr>
              <p:nvPr/>
            </p:nvSpPr>
            <p:spPr bwMode="auto">
              <a:xfrm>
                <a:off x="3216"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00"/>
                  </a:solidFill>
                </a:endParaRPr>
              </a:p>
            </p:txBody>
          </p:sp>
          <p:sp>
            <p:nvSpPr>
              <p:cNvPr id="13336" name="Text Box 20"/>
              <p:cNvSpPr txBox="1">
                <a:spLocks noChangeArrowheads="1"/>
              </p:cNvSpPr>
              <p:nvPr/>
            </p:nvSpPr>
            <p:spPr bwMode="auto">
              <a:xfrm>
                <a:off x="3552" y="2352"/>
                <a:ext cx="33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endParaRPr kumimoji="0" lang="zh-CN" altLang="zh-CN" sz="2000" b="0" u="none">
                  <a:solidFill>
                    <a:srgbClr val="0000FF"/>
                  </a:solidFill>
                </a:endParaRPr>
              </a:p>
            </p:txBody>
          </p:sp>
        </p:grpSp>
      </p:grpSp>
      <p:sp>
        <p:nvSpPr>
          <p:cNvPr id="13316" name="Text Box 21"/>
          <p:cNvSpPr txBox="1">
            <a:spLocks noChangeArrowheads="1"/>
          </p:cNvSpPr>
          <p:nvPr/>
        </p:nvSpPr>
        <p:spPr bwMode="auto">
          <a:xfrm>
            <a:off x="1371600" y="1447800"/>
            <a:ext cx="7391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kumimoji="0" lang="en-US" altLang="zh-CN" sz="1600" b="0" u="none">
                <a:solidFill>
                  <a:srgbClr val="000000"/>
                </a:solidFill>
              </a:rPr>
              <a:t>  15     14     13     12     11     10      9       8        7       6       5       4       3      2       1       0</a:t>
            </a:r>
          </a:p>
        </p:txBody>
      </p:sp>
      <p:sp>
        <p:nvSpPr>
          <p:cNvPr id="13317" name="Text Box 22"/>
          <p:cNvSpPr txBox="1">
            <a:spLocks noChangeArrowheads="1"/>
          </p:cNvSpPr>
          <p:nvPr/>
        </p:nvSpPr>
        <p:spPr bwMode="auto">
          <a:xfrm>
            <a:off x="1752600" y="2971800"/>
            <a:ext cx="647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kumimoji="0" lang="en-US" altLang="zh-CN" sz="2400" b="0" u="none">
                <a:solidFill>
                  <a:srgbClr val="000000"/>
                </a:solidFill>
              </a:rPr>
              <a:t>      </a:t>
            </a:r>
            <a:r>
              <a:rPr kumimoji="0" lang="zh-CN" altLang="en-US" sz="2400" u="none">
                <a:solidFill>
                  <a:srgbClr val="000000"/>
                </a:solidFill>
              </a:rPr>
              <a:t>条件码标志：                    控制标志：</a:t>
            </a:r>
          </a:p>
        </p:txBody>
      </p:sp>
      <p:sp>
        <p:nvSpPr>
          <p:cNvPr id="13318" name="Rectangle 23"/>
          <p:cNvSpPr>
            <a:spLocks noChangeArrowheads="1"/>
          </p:cNvSpPr>
          <p:nvPr/>
        </p:nvSpPr>
        <p:spPr bwMode="auto">
          <a:xfrm>
            <a:off x="2286000" y="3886200"/>
            <a:ext cx="5410200"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OF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溢出标志           </a:t>
            </a:r>
            <a:r>
              <a:rPr kumimoji="0" lang="en-US" altLang="zh-CN" sz="2000" u="none">
                <a:solidFill>
                  <a:srgbClr val="000000"/>
                </a:solidFill>
                <a:latin typeface="Lucida Console" panose="020B0609040504020204" pitchFamily="49" charset="0"/>
              </a:rPr>
              <a:t>DF   </a:t>
            </a:r>
            <a:r>
              <a:rPr kumimoji="0" lang="zh-CN" altLang="en-US" sz="2000" u="none">
                <a:solidFill>
                  <a:srgbClr val="000000"/>
                </a:solidFill>
                <a:latin typeface="Lucida Console" panose="020B0609040504020204" pitchFamily="49" charset="0"/>
              </a:rPr>
              <a:t>方向标志 </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SF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符号标志           </a:t>
            </a:r>
            <a:r>
              <a:rPr kumimoji="0" lang="en-US" altLang="zh-CN" sz="2000" u="none">
                <a:solidFill>
                  <a:srgbClr val="000000"/>
                </a:solidFill>
                <a:latin typeface="Lucida Console" panose="020B0609040504020204" pitchFamily="49" charset="0"/>
              </a:rPr>
              <a:t>IF   </a:t>
            </a:r>
            <a:r>
              <a:rPr kumimoji="0" lang="zh-CN" altLang="en-US" sz="2000" u="none">
                <a:solidFill>
                  <a:srgbClr val="000000"/>
                </a:solidFill>
                <a:latin typeface="Lucida Console" panose="020B0609040504020204" pitchFamily="49" charset="0"/>
              </a:rPr>
              <a:t>中断标志</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ZF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零标志             </a:t>
            </a:r>
            <a:r>
              <a:rPr kumimoji="0" lang="en-US" altLang="zh-CN" sz="2000" u="none">
                <a:solidFill>
                  <a:srgbClr val="000000"/>
                </a:solidFill>
                <a:latin typeface="Lucida Console" panose="020B0609040504020204" pitchFamily="49" charset="0"/>
              </a:rPr>
              <a:t>TF   </a:t>
            </a:r>
            <a:r>
              <a:rPr kumimoji="0" lang="zh-CN" altLang="en-US" sz="2000" u="none">
                <a:solidFill>
                  <a:srgbClr val="000000"/>
                </a:solidFill>
                <a:latin typeface="Lucida Console" panose="020B0609040504020204" pitchFamily="49" charset="0"/>
              </a:rPr>
              <a:t>陷阱标志</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AF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辅助进位标志</a:t>
            </a: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PF</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奇偶标志</a:t>
            </a:r>
            <a:endParaRPr kumimoji="0" lang="en-US" altLang="zh-CN" sz="2000" u="none">
              <a:solidFill>
                <a:srgbClr val="000000"/>
              </a:solidFill>
              <a:latin typeface="Lucida Console" panose="020B0609040504020204" pitchFamily="49" charset="0"/>
            </a:endParaRPr>
          </a:p>
          <a:p>
            <a:pPr>
              <a:lnSpc>
                <a:spcPct val="70000"/>
              </a:lnSpc>
              <a:spcBef>
                <a:spcPct val="50000"/>
              </a:spcBef>
              <a:buClrTx/>
              <a:buFontTx/>
              <a:buNone/>
            </a:pPr>
            <a:r>
              <a:rPr kumimoji="0" lang="en-US" altLang="zh-CN" sz="2000" u="none">
                <a:solidFill>
                  <a:srgbClr val="0000FF"/>
                </a:solidFill>
                <a:latin typeface="Lucida Console" panose="020B0609040504020204" pitchFamily="49" charset="0"/>
              </a:rPr>
              <a:t>CF </a:t>
            </a:r>
            <a:r>
              <a:rPr kumimoji="0" lang="en-US" altLang="zh-CN" sz="2000" u="none">
                <a:solidFill>
                  <a:srgbClr val="000000"/>
                </a:solidFill>
                <a:latin typeface="Lucida Console" panose="020B0609040504020204" pitchFamily="49" charset="0"/>
              </a:rPr>
              <a:t> </a:t>
            </a:r>
            <a:r>
              <a:rPr kumimoji="0" lang="zh-CN" altLang="en-US" sz="2000" u="none">
                <a:solidFill>
                  <a:srgbClr val="000000"/>
                </a:solidFill>
                <a:latin typeface="Lucida Console" panose="020B0609040504020204" pitchFamily="49" charset="0"/>
              </a:rPr>
              <a:t>进位标志</a:t>
            </a:r>
          </a:p>
        </p:txBody>
      </p:sp>
      <p:sp>
        <p:nvSpPr>
          <p:cNvPr id="13319" name="Text Box 24"/>
          <p:cNvSpPr txBox="1">
            <a:spLocks noChangeArrowheads="1"/>
          </p:cNvSpPr>
          <p:nvPr/>
        </p:nvSpPr>
        <p:spPr bwMode="auto">
          <a:xfrm>
            <a:off x="3276600" y="1752600"/>
            <a:ext cx="563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0" u="none">
                <a:solidFill>
                  <a:srgbClr val="0000FF"/>
                </a:solidFill>
                <a:latin typeface="Lucida Console" panose="020B0609040504020204" pitchFamily="49" charset="0"/>
              </a:rPr>
              <a:t>OF</a:t>
            </a:r>
            <a:r>
              <a:rPr lang="en-US" altLang="zh-CN" sz="2000" b="0" u="none">
                <a:solidFill>
                  <a:srgbClr val="000000"/>
                </a:solidFill>
                <a:latin typeface="Lucida Console" panose="020B0609040504020204" pitchFamily="49" charset="0"/>
              </a:rPr>
              <a:t> DF IF TF </a:t>
            </a:r>
            <a:r>
              <a:rPr lang="en-US" altLang="zh-CN" sz="2000" b="0" u="none">
                <a:solidFill>
                  <a:srgbClr val="0000FF"/>
                </a:solidFill>
                <a:latin typeface="Lucida Console" panose="020B0609040504020204" pitchFamily="49" charset="0"/>
              </a:rPr>
              <a:t>SF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ZF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AF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PF</a:t>
            </a:r>
            <a:r>
              <a:rPr lang="en-US" altLang="zh-CN" sz="2000" b="0" u="none">
                <a:solidFill>
                  <a:srgbClr val="000000"/>
                </a:solidFill>
                <a:latin typeface="Lucida Console" panose="020B0609040504020204" pitchFamily="49" charset="0"/>
              </a:rPr>
              <a:t>    </a:t>
            </a:r>
            <a:r>
              <a:rPr lang="en-US" altLang="zh-CN" sz="2000" b="0" u="none">
                <a:solidFill>
                  <a:srgbClr val="0000FF"/>
                </a:solidFill>
                <a:latin typeface="Lucida Console" panose="020B0609040504020204" pitchFamily="49" charset="0"/>
              </a:rPr>
              <a:t>CF</a:t>
            </a:r>
          </a:p>
        </p:txBody>
      </p:sp>
    </p:spTree>
  </p:cSld>
  <p:clrMapOvr>
    <a:masterClrMapping/>
  </p:clrMapOvr>
  <p:transition>
    <p:rand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1600200" y="304800"/>
            <a:ext cx="4191000"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b"/>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2.  </a:t>
            </a:r>
            <a:r>
              <a:rPr lang="zh-CN" altLang="en-US" sz="3600" u="none">
                <a:solidFill>
                  <a:schemeClr val="tx2"/>
                </a:solidFill>
                <a:latin typeface="Arial" panose="020B0604020202020204" pitchFamily="34" charset="0"/>
              </a:rPr>
              <a:t>存储器</a:t>
            </a:r>
          </a:p>
        </p:txBody>
      </p:sp>
      <p:sp>
        <p:nvSpPr>
          <p:cNvPr id="14339" name="Text Box 3"/>
          <p:cNvSpPr txBox="1">
            <a:spLocks noChangeArrowheads="1"/>
          </p:cNvSpPr>
          <p:nvPr/>
        </p:nvSpPr>
        <p:spPr bwMode="auto">
          <a:xfrm>
            <a:off x="2209800" y="1143000"/>
            <a:ext cx="594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800" u="none"/>
              <a:t>存储单元的</a:t>
            </a:r>
            <a:r>
              <a:rPr lang="zh-CN" altLang="en-US" sz="2800" u="none">
                <a:solidFill>
                  <a:schemeClr val="hlink"/>
                </a:solidFill>
                <a:ea typeface="楷体_GB2312" panose="02010609030101010101" pitchFamily="49" charset="-122"/>
              </a:rPr>
              <a:t>地址</a:t>
            </a:r>
            <a:r>
              <a:rPr lang="zh-CN" altLang="en-US" sz="2800" u="none"/>
              <a:t>和</a:t>
            </a:r>
            <a:r>
              <a:rPr lang="zh-CN" altLang="en-US" sz="2800" u="none">
                <a:ea typeface="楷体_GB2312" panose="02010609030101010101" pitchFamily="49" charset="-122"/>
              </a:rPr>
              <a:t>内容</a:t>
            </a:r>
            <a:r>
              <a:rPr lang="zh-CN" altLang="en-US" sz="2800" u="none"/>
              <a:t>：</a:t>
            </a:r>
          </a:p>
        </p:txBody>
      </p:sp>
      <p:sp>
        <p:nvSpPr>
          <p:cNvPr id="14340" name="Rectangle 4"/>
          <p:cNvSpPr>
            <a:spLocks noChangeArrowheads="1"/>
          </p:cNvSpPr>
          <p:nvPr/>
        </p:nvSpPr>
        <p:spPr bwMode="auto">
          <a:xfrm>
            <a:off x="3695700" y="1866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nvGrpSpPr>
          <p:cNvPr id="14341" name="Group 5"/>
          <p:cNvGrpSpPr/>
          <p:nvPr/>
        </p:nvGrpSpPr>
        <p:grpSpPr bwMode="auto">
          <a:xfrm>
            <a:off x="2286000" y="1905000"/>
            <a:ext cx="5867400" cy="3925888"/>
            <a:chOff x="1440" y="1200"/>
            <a:chExt cx="3696" cy="2473"/>
          </a:xfrm>
        </p:grpSpPr>
        <p:grpSp>
          <p:nvGrpSpPr>
            <p:cNvPr id="14344" name="Group 6"/>
            <p:cNvGrpSpPr/>
            <p:nvPr/>
          </p:nvGrpSpPr>
          <p:grpSpPr bwMode="auto">
            <a:xfrm>
              <a:off x="1440" y="1200"/>
              <a:ext cx="3696" cy="2473"/>
              <a:chOff x="1920" y="1392"/>
              <a:chExt cx="3504" cy="2473"/>
            </a:xfrm>
          </p:grpSpPr>
          <p:grpSp>
            <p:nvGrpSpPr>
              <p:cNvPr id="14347" name="Group 7"/>
              <p:cNvGrpSpPr/>
              <p:nvPr/>
            </p:nvGrpSpPr>
            <p:grpSpPr bwMode="auto">
              <a:xfrm>
                <a:off x="1920" y="1680"/>
                <a:ext cx="3166" cy="1776"/>
                <a:chOff x="1440" y="1632"/>
                <a:chExt cx="3166" cy="1776"/>
              </a:xfrm>
            </p:grpSpPr>
            <p:grpSp>
              <p:nvGrpSpPr>
                <p:cNvPr id="14350" name="Group 8"/>
                <p:cNvGrpSpPr/>
                <p:nvPr/>
              </p:nvGrpSpPr>
              <p:grpSpPr bwMode="auto">
                <a:xfrm>
                  <a:off x="1440" y="1632"/>
                  <a:ext cx="3166" cy="1440"/>
                  <a:chOff x="1440" y="1632"/>
                  <a:chExt cx="3166" cy="1440"/>
                </a:xfrm>
              </p:grpSpPr>
              <p:grpSp>
                <p:nvGrpSpPr>
                  <p:cNvPr id="14353" name="Group 9"/>
                  <p:cNvGrpSpPr/>
                  <p:nvPr/>
                </p:nvGrpSpPr>
                <p:grpSpPr bwMode="auto">
                  <a:xfrm>
                    <a:off x="1488" y="1632"/>
                    <a:ext cx="1296" cy="1440"/>
                    <a:chOff x="3552" y="1680"/>
                    <a:chExt cx="768" cy="1440"/>
                  </a:xfrm>
                </p:grpSpPr>
                <p:sp>
                  <p:nvSpPr>
                    <p:cNvPr id="14358" name="Rectangle 10"/>
                    <p:cNvSpPr>
                      <a:spLocks noChangeArrowheads="1"/>
                    </p:cNvSpPr>
                    <p:nvPr/>
                  </p:nvSpPr>
                  <p:spPr bwMode="auto">
                    <a:xfrm>
                      <a:off x="3552" y="168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59" name="Rectangle 11"/>
                    <p:cNvSpPr>
                      <a:spLocks noChangeArrowheads="1"/>
                    </p:cNvSpPr>
                    <p:nvPr/>
                  </p:nvSpPr>
                  <p:spPr bwMode="auto">
                    <a:xfrm>
                      <a:off x="3552" y="192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0" name="Rectangle 12"/>
                    <p:cNvSpPr>
                      <a:spLocks noChangeArrowheads="1"/>
                    </p:cNvSpPr>
                    <p:nvPr/>
                  </p:nvSpPr>
                  <p:spPr bwMode="auto">
                    <a:xfrm>
                      <a:off x="3552" y="216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1" name="Rectangle 13"/>
                    <p:cNvSpPr>
                      <a:spLocks noChangeArrowheads="1"/>
                    </p:cNvSpPr>
                    <p:nvPr/>
                  </p:nvSpPr>
                  <p:spPr bwMode="auto">
                    <a:xfrm>
                      <a:off x="3552" y="240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2" name="Rectangle 14"/>
                    <p:cNvSpPr>
                      <a:spLocks noChangeArrowheads="1"/>
                    </p:cNvSpPr>
                    <p:nvPr/>
                  </p:nvSpPr>
                  <p:spPr bwMode="auto">
                    <a:xfrm>
                      <a:off x="3552" y="264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4363" name="Rectangle 15"/>
                    <p:cNvSpPr>
                      <a:spLocks noChangeArrowheads="1"/>
                    </p:cNvSpPr>
                    <p:nvPr/>
                  </p:nvSpPr>
                  <p:spPr bwMode="auto">
                    <a:xfrm>
                      <a:off x="3552" y="2880"/>
                      <a:ext cx="768" cy="240"/>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sp>
                <p:nvSpPr>
                  <p:cNvPr id="14354" name="Rectangle 16"/>
                  <p:cNvSpPr>
                    <a:spLocks noChangeArrowheads="1"/>
                  </p:cNvSpPr>
                  <p:nvPr/>
                </p:nvSpPr>
                <p:spPr bwMode="auto">
                  <a:xfrm>
                    <a:off x="1440" y="1632"/>
                    <a:ext cx="31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 1  0  0  1  1  1  1  1</a:t>
                    </a:r>
                    <a:r>
                      <a:rPr lang="en-US" altLang="zh-CN" sz="2000" b="0" u="none">
                        <a:solidFill>
                          <a:schemeClr val="bg2"/>
                        </a:solidFill>
                      </a:rPr>
                      <a:t>    </a:t>
                    </a:r>
                    <a:r>
                      <a:rPr lang="en-US" altLang="zh-CN" sz="2000" b="0" u="none">
                        <a:solidFill>
                          <a:schemeClr val="hlink"/>
                        </a:solidFill>
                      </a:rPr>
                      <a:t>1000</a:t>
                    </a:r>
                    <a:r>
                      <a:rPr lang="en-US" altLang="en-US" sz="2000" b="0" u="none">
                        <a:solidFill>
                          <a:schemeClr val="hlink"/>
                        </a:solidFill>
                      </a:rPr>
                      <a:t>H</a:t>
                    </a:r>
                    <a:r>
                      <a:rPr lang="en-US" altLang="en-US" sz="2000" b="0" u="none"/>
                      <a:t>   ( </a:t>
                    </a:r>
                    <a:r>
                      <a:rPr lang="en-US" altLang="en-US" sz="2000" b="0" u="none">
                        <a:solidFill>
                          <a:srgbClr val="FF3300"/>
                        </a:solidFill>
                      </a:rPr>
                      <a:t>1000H</a:t>
                    </a:r>
                    <a:r>
                      <a:rPr lang="en-US" altLang="en-US" sz="2000" b="0" u="none"/>
                      <a:t> )  =  </a:t>
                    </a:r>
                    <a:r>
                      <a:rPr lang="en-US" altLang="en-US" sz="2000" b="0" u="none">
                        <a:latin typeface="Lucida Console" panose="020B0609040504020204" pitchFamily="49" charset="0"/>
                      </a:rPr>
                      <a:t>9F H</a:t>
                    </a:r>
                    <a:endParaRPr lang="en-US" altLang="zh-CN" sz="2000" b="0" u="none">
                      <a:latin typeface="Lucida Console" panose="020B0609040504020204" pitchFamily="49" charset="0"/>
                    </a:endParaRPr>
                  </a:p>
                </p:txBody>
              </p:sp>
              <p:sp>
                <p:nvSpPr>
                  <p:cNvPr id="14355" name="Rectangle 17"/>
                  <p:cNvSpPr>
                    <a:spLocks noChangeArrowheads="1"/>
                  </p:cNvSpPr>
                  <p:nvPr/>
                </p:nvSpPr>
                <p:spPr bwMode="auto">
                  <a:xfrm>
                    <a:off x="1488" y="1872"/>
                    <a:ext cx="19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0  0  1  0  0  1  1  0</a:t>
                    </a:r>
                    <a:r>
                      <a:rPr lang="en-US" altLang="zh-CN" sz="2000" b="0" u="none">
                        <a:solidFill>
                          <a:schemeClr val="bg2"/>
                        </a:solidFill>
                      </a:rPr>
                      <a:t>    </a:t>
                    </a:r>
                    <a:r>
                      <a:rPr lang="en-US" altLang="zh-CN" sz="2000" b="0" u="none">
                        <a:solidFill>
                          <a:schemeClr val="hlink"/>
                        </a:solidFill>
                      </a:rPr>
                      <a:t>1001H</a:t>
                    </a:r>
                    <a:r>
                      <a:rPr lang="en-US" altLang="zh-CN" sz="2000" b="0" u="none"/>
                      <a:t>   </a:t>
                    </a:r>
                    <a:endParaRPr lang="en-US" altLang="zh-CN" sz="2000" b="0" u="none">
                      <a:latin typeface="Lucida Console" panose="020B0609040504020204" pitchFamily="49" charset="0"/>
                    </a:endParaRPr>
                  </a:p>
                </p:txBody>
              </p:sp>
              <p:sp>
                <p:nvSpPr>
                  <p:cNvPr id="14356" name="Rectangle 18"/>
                  <p:cNvSpPr>
                    <a:spLocks noChangeArrowheads="1"/>
                  </p:cNvSpPr>
                  <p:nvPr/>
                </p:nvSpPr>
                <p:spPr bwMode="auto">
                  <a:xfrm>
                    <a:off x="1488" y="2112"/>
                    <a:ext cx="31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0  0  0  1  1  1  1  0</a:t>
                    </a:r>
                    <a:r>
                      <a:rPr lang="en-US" altLang="zh-CN" sz="2000" b="0" u="none">
                        <a:solidFill>
                          <a:schemeClr val="bg2"/>
                        </a:solidFill>
                      </a:rPr>
                      <a:t>    </a:t>
                    </a:r>
                    <a:r>
                      <a:rPr lang="en-US" altLang="zh-CN" sz="2000" b="0" u="none">
                        <a:solidFill>
                          <a:schemeClr val="hlink"/>
                        </a:solidFill>
                      </a:rPr>
                      <a:t>1002</a:t>
                    </a:r>
                    <a:r>
                      <a:rPr lang="en-US" altLang="en-US" sz="2000" b="0" u="none">
                        <a:solidFill>
                          <a:schemeClr val="hlink"/>
                        </a:solidFill>
                      </a:rPr>
                      <a:t>H</a:t>
                    </a:r>
                    <a:r>
                      <a:rPr lang="en-US" altLang="en-US" sz="2000" b="0" u="none"/>
                      <a:t>   ( </a:t>
                    </a:r>
                    <a:r>
                      <a:rPr lang="en-US" altLang="en-US" sz="2000" b="0" u="none">
                        <a:solidFill>
                          <a:srgbClr val="FF3300"/>
                        </a:solidFill>
                      </a:rPr>
                      <a:t>1002H</a:t>
                    </a:r>
                    <a:r>
                      <a:rPr lang="en-US" altLang="en-US" sz="2000" b="0" u="none"/>
                      <a:t> )  =  </a:t>
                    </a:r>
                    <a:r>
                      <a:rPr lang="en-US" altLang="en-US" sz="2000" b="0" u="none">
                        <a:latin typeface="Lucida Console" panose="020B0609040504020204" pitchFamily="49" charset="0"/>
                      </a:rPr>
                      <a:t>1E H</a:t>
                    </a:r>
                    <a:endParaRPr lang="en-US" altLang="zh-CN" sz="2000" b="0" u="none">
                      <a:latin typeface="Lucida Console" panose="020B0609040504020204" pitchFamily="49" charset="0"/>
                    </a:endParaRPr>
                  </a:p>
                </p:txBody>
              </p:sp>
              <p:sp>
                <p:nvSpPr>
                  <p:cNvPr id="14357" name="Rectangle 19"/>
                  <p:cNvSpPr>
                    <a:spLocks noChangeArrowheads="1"/>
                  </p:cNvSpPr>
                  <p:nvPr/>
                </p:nvSpPr>
                <p:spPr bwMode="auto">
                  <a:xfrm>
                    <a:off x="1488" y="2352"/>
                    <a:ext cx="19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1  1  0  1  0  1  1  1</a:t>
                    </a:r>
                    <a:r>
                      <a:rPr lang="en-US" altLang="zh-CN" sz="2000" b="0" u="none">
                        <a:solidFill>
                          <a:schemeClr val="bg2"/>
                        </a:solidFill>
                      </a:rPr>
                      <a:t>    </a:t>
                    </a:r>
                    <a:r>
                      <a:rPr lang="en-US" altLang="zh-CN" sz="2000" b="0" u="none">
                        <a:solidFill>
                          <a:schemeClr val="hlink"/>
                        </a:solidFill>
                      </a:rPr>
                      <a:t>1003</a:t>
                    </a:r>
                    <a:r>
                      <a:rPr lang="en-US" altLang="en-US" sz="2000" b="0" u="none">
                        <a:solidFill>
                          <a:schemeClr val="hlink"/>
                        </a:solidFill>
                      </a:rPr>
                      <a:t>H</a:t>
                    </a:r>
                    <a:r>
                      <a:rPr lang="en-US" altLang="en-US" sz="2000" b="0" u="none"/>
                      <a:t>   </a:t>
                    </a:r>
                    <a:endParaRPr lang="en-US" altLang="zh-CN" sz="2000" b="0" u="none">
                      <a:latin typeface="Lucida Console" panose="020B0609040504020204" pitchFamily="49" charset="0"/>
                    </a:endParaRPr>
                  </a:p>
                </p:txBody>
              </p:sp>
            </p:grpSp>
            <p:sp>
              <p:nvSpPr>
                <p:cNvPr id="14351" name="Line 20"/>
                <p:cNvSpPr>
                  <a:spLocks noChangeShapeType="1"/>
                </p:cNvSpPr>
                <p:nvPr/>
              </p:nvSpPr>
              <p:spPr bwMode="auto">
                <a:xfrm>
                  <a:off x="1488" y="3072"/>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4352" name="Line 21"/>
                <p:cNvSpPr>
                  <a:spLocks noChangeShapeType="1"/>
                </p:cNvSpPr>
                <p:nvPr/>
              </p:nvSpPr>
              <p:spPr bwMode="auto">
                <a:xfrm>
                  <a:off x="2784" y="3072"/>
                  <a:ext cx="0" cy="33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pSp>
          <p:sp>
            <p:nvSpPr>
              <p:cNvPr id="14348" name="Text Box 22"/>
              <p:cNvSpPr txBox="1">
                <a:spLocks noChangeArrowheads="1"/>
              </p:cNvSpPr>
              <p:nvPr/>
            </p:nvSpPr>
            <p:spPr bwMode="auto">
              <a:xfrm>
                <a:off x="2352" y="139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000" b="0" u="none"/>
                  <a:t>字节</a:t>
                </a:r>
              </a:p>
            </p:txBody>
          </p:sp>
          <p:sp>
            <p:nvSpPr>
              <p:cNvPr id="14349" name="Rectangle 23"/>
              <p:cNvSpPr>
                <a:spLocks noChangeArrowheads="1"/>
              </p:cNvSpPr>
              <p:nvPr/>
            </p:nvSpPr>
            <p:spPr bwMode="auto">
              <a:xfrm>
                <a:off x="3792" y="2847"/>
                <a:ext cx="1632"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en-US" sz="2000" b="0" u="none">
                    <a:solidFill>
                      <a:schemeClr val="hlink"/>
                    </a:solidFill>
                  </a:rPr>
                  <a:t>  </a:t>
                </a:r>
                <a:r>
                  <a:rPr lang="en-US" altLang="en-US" sz="2000" b="0" u="none"/>
                  <a:t>( </a:t>
                </a:r>
                <a:r>
                  <a:rPr lang="en-US" altLang="en-US" sz="2000" b="0" u="none">
                    <a:solidFill>
                      <a:srgbClr val="FF3300"/>
                    </a:solidFill>
                  </a:rPr>
                  <a:t>1000H</a:t>
                </a:r>
                <a:r>
                  <a:rPr lang="en-US" altLang="en-US" sz="2000" b="0" u="none"/>
                  <a:t> )  =  </a:t>
                </a:r>
                <a:r>
                  <a:rPr lang="en-US" altLang="en-US" sz="2000" b="0" u="none">
                    <a:latin typeface="Lucida Console" panose="020B0609040504020204" pitchFamily="49" charset="0"/>
                  </a:rPr>
                  <a:t>269F H</a:t>
                </a:r>
              </a:p>
              <a:p>
                <a:pPr eaLnBrk="1" hangingPunct="1">
                  <a:spcBef>
                    <a:spcPct val="0"/>
                  </a:spcBef>
                  <a:buClrTx/>
                  <a:buFontTx/>
                  <a:buNone/>
                </a:pPr>
                <a:r>
                  <a:rPr lang="en-US" altLang="zh-CN" sz="2000" b="0" u="none"/>
                  <a:t>  (</a:t>
                </a:r>
                <a:r>
                  <a:rPr lang="en-US" altLang="zh-CN" sz="2000" b="0" u="none">
                    <a:solidFill>
                      <a:srgbClr val="FF3300"/>
                    </a:solidFill>
                  </a:rPr>
                  <a:t> 1002H </a:t>
                </a:r>
                <a:r>
                  <a:rPr lang="en-US" altLang="zh-CN" sz="2000" b="0" u="none"/>
                  <a:t>)  =  </a:t>
                </a:r>
                <a:r>
                  <a:rPr lang="en-US" altLang="zh-CN" sz="2000" b="0" u="none">
                    <a:latin typeface="Lucida Console" panose="020B0609040504020204" pitchFamily="49" charset="0"/>
                  </a:rPr>
                  <a:t>D71E H</a:t>
                </a:r>
              </a:p>
              <a:p>
                <a:pPr eaLnBrk="1" hangingPunct="1">
                  <a:spcBef>
                    <a:spcPct val="50000"/>
                  </a:spcBef>
                  <a:buClrTx/>
                  <a:buFontTx/>
                  <a:buNone/>
                </a:pPr>
                <a:r>
                  <a:rPr lang="en-US" altLang="zh-CN" sz="2000" b="0" u="none">
                    <a:solidFill>
                      <a:schemeClr val="tx2"/>
                    </a:solidFill>
                  </a:rPr>
                  <a:t>  ( 1001H )  =  </a:t>
                </a:r>
                <a:r>
                  <a:rPr lang="en-US" altLang="zh-CN" sz="2000" b="0" u="none">
                    <a:solidFill>
                      <a:schemeClr val="tx2"/>
                    </a:solidFill>
                    <a:latin typeface="Lucida Console" panose="020B0609040504020204" pitchFamily="49" charset="0"/>
                  </a:rPr>
                  <a:t>1E26 H</a:t>
                </a:r>
              </a:p>
              <a:p>
                <a:pPr eaLnBrk="1" hangingPunct="1">
                  <a:spcBef>
                    <a:spcPct val="50000"/>
                  </a:spcBef>
                  <a:buClrTx/>
                  <a:buFontTx/>
                  <a:buNone/>
                </a:pPr>
                <a:r>
                  <a:rPr lang="en-US" altLang="zh-CN" sz="2000" b="0" u="none">
                    <a:solidFill>
                      <a:schemeClr val="tx2"/>
                    </a:solidFill>
                    <a:ea typeface="楷体_GB2312" panose="02010609030101010101" pitchFamily="49" charset="-122"/>
                  </a:rPr>
                  <a:t>  </a:t>
                </a:r>
                <a:r>
                  <a:rPr lang="zh-CN" altLang="en-US" sz="2000" b="0" u="none">
                    <a:solidFill>
                      <a:schemeClr val="tx2"/>
                    </a:solidFill>
                    <a:ea typeface="楷体_GB2312" panose="02010609030101010101" pitchFamily="49" charset="-122"/>
                  </a:rPr>
                  <a:t>访问两次存储器</a:t>
                </a:r>
              </a:p>
            </p:txBody>
          </p:sp>
        </p:grpSp>
        <p:sp>
          <p:nvSpPr>
            <p:cNvPr id="14345" name="Rectangle 24"/>
            <p:cNvSpPr>
              <a:spLocks noChangeArrowheads="1"/>
            </p:cNvSpPr>
            <p:nvPr/>
          </p:nvSpPr>
          <p:spPr bwMode="auto">
            <a:xfrm>
              <a:off x="3408" y="1728"/>
              <a:ext cx="1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en-US" sz="2000" b="0" u="none"/>
                <a:t>( </a:t>
              </a:r>
              <a:r>
                <a:rPr lang="en-US" altLang="en-US" sz="2000" b="0" u="none">
                  <a:solidFill>
                    <a:srgbClr val="FF3300"/>
                  </a:solidFill>
                </a:rPr>
                <a:t>1001H</a:t>
              </a:r>
              <a:r>
                <a:rPr lang="en-US" altLang="en-US" sz="2000" b="0" u="none"/>
                <a:t> )  =  </a:t>
              </a:r>
              <a:r>
                <a:rPr lang="en-US" altLang="en-US" sz="2000" b="0" u="none">
                  <a:latin typeface="Lucida Console" panose="020B0609040504020204" pitchFamily="49" charset="0"/>
                </a:rPr>
                <a:t>26 H</a:t>
              </a:r>
              <a:endParaRPr lang="en-US" altLang="zh-CN" sz="2000" b="0" u="none">
                <a:latin typeface="Lucida Console" panose="020B0609040504020204" pitchFamily="49" charset="0"/>
              </a:endParaRPr>
            </a:p>
          </p:txBody>
        </p:sp>
        <p:sp>
          <p:nvSpPr>
            <p:cNvPr id="14346" name="Rectangle 25"/>
            <p:cNvSpPr>
              <a:spLocks noChangeArrowheads="1"/>
            </p:cNvSpPr>
            <p:nvPr/>
          </p:nvSpPr>
          <p:spPr bwMode="auto">
            <a:xfrm>
              <a:off x="3408" y="2208"/>
              <a:ext cx="13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en-US" sz="2000" b="0" u="none"/>
                <a:t>( </a:t>
              </a:r>
              <a:r>
                <a:rPr lang="en-US" altLang="en-US" sz="2000" b="0" u="none">
                  <a:solidFill>
                    <a:srgbClr val="FF3300"/>
                  </a:solidFill>
                </a:rPr>
                <a:t>1003H</a:t>
              </a:r>
              <a:r>
                <a:rPr lang="en-US" altLang="en-US" sz="2000" b="0" u="none"/>
                <a:t> )  =  </a:t>
              </a:r>
              <a:r>
                <a:rPr lang="en-US" altLang="en-US" sz="2000" b="0" u="none">
                  <a:latin typeface="Lucida Console" panose="020B0609040504020204" pitchFamily="49" charset="0"/>
                </a:rPr>
                <a:t>D7 H</a:t>
              </a:r>
              <a:endParaRPr lang="en-US" altLang="zh-CN" sz="2000" b="0" u="none">
                <a:latin typeface="Lucida Console" panose="020B0609040504020204" pitchFamily="49" charset="0"/>
              </a:endParaRPr>
            </a:p>
          </p:txBody>
        </p:sp>
      </p:grpSp>
      <p:sp>
        <p:nvSpPr>
          <p:cNvPr id="14342" name="TextBox 27"/>
          <p:cNvSpPr txBox="1">
            <a:spLocks noChangeArrowheads="1"/>
          </p:cNvSpPr>
          <p:nvPr/>
        </p:nvSpPr>
        <p:spPr bwMode="auto">
          <a:xfrm>
            <a:off x="5643563" y="385762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0"/>
              <a:t>字单元</a:t>
            </a:r>
          </a:p>
        </p:txBody>
      </p:sp>
      <p:sp>
        <p:nvSpPr>
          <p:cNvPr id="14343" name="TextBox 28"/>
          <p:cNvSpPr txBox="1">
            <a:spLocks noChangeArrowheads="1"/>
          </p:cNvSpPr>
          <p:nvPr/>
        </p:nvSpPr>
        <p:spPr bwMode="auto">
          <a:xfrm>
            <a:off x="5500688" y="1857375"/>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b="0"/>
              <a:t>字节单元</a:t>
            </a:r>
          </a:p>
        </p:txBody>
      </p:sp>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auto">
          <a:xfrm>
            <a:off x="1676400" y="533400"/>
            <a:ext cx="3398838" cy="519113"/>
          </a:xfrm>
          <a:prstGeom prst="rect">
            <a:avLst/>
          </a:prstGeom>
          <a:noFill/>
          <a:ln w="12700" cap="sq">
            <a:noFill/>
            <a:miter lim="800000"/>
            <a:headEnd type="none" w="sm" len="sm"/>
            <a:tailEnd type="none" w="sm" len="sm"/>
          </a:ln>
          <a:effectLst/>
        </p:spPr>
        <p:txBody>
          <a:bodyPr wrap="none">
            <a:spAutoFit/>
          </a:bodyPr>
          <a:lstStyle/>
          <a:p>
            <a:pPr eaLnBrk="1" hangingPunct="1">
              <a:defRPr/>
            </a:pPr>
            <a:r>
              <a:rPr lang="zh-CN" altLang="en-US" sz="2800" b="1" i="1" u="none">
                <a:solidFill>
                  <a:srgbClr val="FF0000"/>
                </a:solidFill>
                <a:effectLst>
                  <a:outerShdw blurRad="38100" dist="38100" dir="2700000" algn="tl">
                    <a:srgbClr val="C0C0C0"/>
                  </a:outerShdw>
                </a:effectLst>
                <a:ea typeface="宋体" panose="02010600030101010101" pitchFamily="2" charset="-122"/>
              </a:rPr>
              <a:t>存储器地址的分段</a:t>
            </a:r>
            <a:r>
              <a:rPr lang="zh-CN" altLang="en-US" sz="2800" b="1" u="none">
                <a:ea typeface="宋体" panose="02010600030101010101" pitchFamily="2" charset="-122"/>
              </a:rPr>
              <a:t>：</a:t>
            </a:r>
          </a:p>
        </p:txBody>
      </p:sp>
      <p:sp>
        <p:nvSpPr>
          <p:cNvPr id="15363" name="Rectangle 3"/>
          <p:cNvSpPr>
            <a:spLocks noChangeArrowheads="1"/>
          </p:cNvSpPr>
          <p:nvPr/>
        </p:nvSpPr>
        <p:spPr bwMode="auto">
          <a:xfrm>
            <a:off x="1676400" y="1371600"/>
            <a:ext cx="6934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buClr>
                <a:schemeClr val="tx2"/>
              </a:buClr>
              <a:buSzPct val="90000"/>
              <a:buFont typeface="Symbol" panose="05050102010706020507" pitchFamily="18" charset="2"/>
              <a:buNone/>
            </a:pPr>
            <a:r>
              <a:rPr lang="en-US" altLang="zh-CN" sz="2400" u="none">
                <a:solidFill>
                  <a:srgbClr val="009900"/>
                </a:solidFill>
              </a:rPr>
              <a:t>20</a:t>
            </a:r>
            <a:r>
              <a:rPr lang="zh-CN" altLang="en-US" sz="2400" u="none">
                <a:solidFill>
                  <a:srgbClr val="009900"/>
                </a:solidFill>
              </a:rPr>
              <a:t>根地址线</a:t>
            </a:r>
            <a:r>
              <a:rPr lang="zh-CN" altLang="en-US" sz="2400" u="none"/>
              <a:t>：</a:t>
            </a:r>
            <a:r>
              <a:rPr lang="zh-CN" altLang="en-US" sz="2200" u="none">
                <a:ea typeface="楷体_GB2312" panose="02010609030101010101" pitchFamily="49" charset="-122"/>
              </a:rPr>
              <a:t>地址范围</a:t>
            </a:r>
            <a:r>
              <a:rPr lang="zh-CN" altLang="en-US" sz="2200" u="none"/>
              <a:t>  </a:t>
            </a:r>
            <a:r>
              <a:rPr lang="en-US" altLang="zh-CN" sz="2200" u="none"/>
              <a:t>00000H ~ FFFFFH</a:t>
            </a:r>
          </a:p>
          <a:p>
            <a:pPr algn="just" eaLnBrk="1" hangingPunct="1">
              <a:lnSpc>
                <a:spcPct val="90000"/>
              </a:lnSpc>
              <a:buClr>
                <a:schemeClr val="tx2"/>
              </a:buClr>
              <a:buSzPct val="90000"/>
              <a:buFont typeface="Symbol" panose="05050102010706020507" pitchFamily="18" charset="2"/>
              <a:buNone/>
            </a:pPr>
            <a:r>
              <a:rPr lang="zh-CN" altLang="en-US" sz="2400" u="none"/>
              <a:t>小段：</a:t>
            </a:r>
            <a:r>
              <a:rPr lang="zh-CN" altLang="en-US" sz="2200" u="none">
                <a:latin typeface="楷体_GB2312" panose="02010609030101010101" pitchFamily="49" charset="-122"/>
                <a:ea typeface="楷体_GB2312" panose="02010609030101010101" pitchFamily="49" charset="-122"/>
              </a:rPr>
              <a:t>每</a:t>
            </a:r>
            <a:r>
              <a:rPr lang="en-US" altLang="zh-CN" sz="2200" u="none">
                <a:ea typeface="楷体_GB2312" panose="02010609030101010101" pitchFamily="49" charset="-122"/>
              </a:rPr>
              <a:t>16</a:t>
            </a:r>
            <a:r>
              <a:rPr lang="zh-CN" altLang="en-US" sz="2200" u="none">
                <a:latin typeface="楷体_GB2312" panose="02010609030101010101" pitchFamily="49" charset="-122"/>
                <a:ea typeface="楷体_GB2312" panose="02010609030101010101" pitchFamily="49" charset="-122"/>
              </a:rPr>
              <a:t>个字节为一小段，共有</a:t>
            </a:r>
            <a:r>
              <a:rPr lang="en-US" altLang="zh-CN" sz="2200" u="none">
                <a:ea typeface="楷体_GB2312" panose="02010609030101010101" pitchFamily="49" charset="-122"/>
              </a:rPr>
              <a:t>64K</a:t>
            </a:r>
            <a:r>
              <a:rPr lang="zh-CN" altLang="en-US" sz="2200" u="none">
                <a:latin typeface="楷体_GB2312" panose="02010609030101010101" pitchFamily="49" charset="-122"/>
                <a:ea typeface="楷体_GB2312" panose="02010609030101010101" pitchFamily="49" charset="-122"/>
              </a:rPr>
              <a:t>个小段</a:t>
            </a:r>
          </a:p>
          <a:p>
            <a:pPr algn="just" eaLnBrk="1" hangingPunct="1">
              <a:lnSpc>
                <a:spcPct val="90000"/>
              </a:lnSpc>
              <a:buClr>
                <a:schemeClr val="tx2"/>
              </a:buClr>
              <a:buSzPct val="90000"/>
              <a:buFont typeface="Symbol" panose="05050102010706020507" pitchFamily="18" charset="2"/>
              <a:buNone/>
            </a:pPr>
            <a:r>
              <a:rPr lang="zh-CN" altLang="en-US" sz="2400" u="none"/>
              <a:t>                   </a:t>
            </a:r>
            <a:r>
              <a:rPr lang="zh-CN" altLang="en-US" sz="2000" u="none">
                <a:solidFill>
                  <a:schemeClr val="hlink"/>
                </a:solidFill>
                <a:ea typeface="楷体_GB2312" panose="02010609030101010101" pitchFamily="49" charset="-122"/>
              </a:rPr>
              <a:t>小段的首地址</a:t>
            </a:r>
          </a:p>
          <a:p>
            <a:pPr algn="just" eaLnBrk="1" hangingPunct="1">
              <a:lnSpc>
                <a:spcPct val="90000"/>
              </a:lnSpc>
              <a:buClr>
                <a:schemeClr val="tx2"/>
              </a:buClr>
              <a:buSzPct val="90000"/>
              <a:buFont typeface="Symbol" panose="05050102010706020507" pitchFamily="18" charset="2"/>
              <a:buNone/>
            </a:pPr>
            <a:r>
              <a:rPr lang="zh-CN" altLang="en-US" sz="2000" u="none"/>
              <a:t>                            </a:t>
            </a:r>
            <a:r>
              <a:rPr lang="en-US" altLang="zh-CN" sz="2000" u="none">
                <a:solidFill>
                  <a:schemeClr val="hlink"/>
                </a:solidFill>
              </a:rPr>
              <a:t>00000H</a:t>
            </a:r>
            <a:r>
              <a:rPr lang="en-US" altLang="zh-CN" sz="2000" u="none"/>
              <a:t>    ~    0000FH</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00010H</a:t>
            </a:r>
            <a:r>
              <a:rPr lang="en-US" altLang="zh-CN" sz="2000" u="none"/>
              <a:t>    ~    0001FH</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00020H</a:t>
            </a:r>
            <a:r>
              <a:rPr lang="en-US" altLang="zh-CN" sz="2000" u="none"/>
              <a:t>    ~    0002FH</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a:t>
            </a:r>
          </a:p>
          <a:p>
            <a:pPr algn="just" eaLnBrk="1" hangingPunct="1">
              <a:lnSpc>
                <a:spcPct val="90000"/>
              </a:lnSpc>
              <a:buClr>
                <a:schemeClr val="tx2"/>
              </a:buClr>
              <a:buSzPct val="90000"/>
              <a:buFont typeface="Symbol" panose="05050102010706020507" pitchFamily="18" charset="2"/>
              <a:buNone/>
            </a:pPr>
            <a:r>
              <a:rPr lang="en-US" altLang="zh-CN" sz="2000" u="none"/>
              <a:t>                            </a:t>
            </a:r>
            <a:r>
              <a:rPr lang="en-US" altLang="zh-CN" sz="2000" u="none">
                <a:solidFill>
                  <a:schemeClr val="hlink"/>
                </a:solidFill>
              </a:rPr>
              <a:t>FFFF0H    </a:t>
            </a:r>
            <a:r>
              <a:rPr lang="en-US" altLang="zh-CN" sz="2000" u="none"/>
              <a:t>~   FFFFFH</a:t>
            </a:r>
            <a:r>
              <a:rPr lang="en-US" altLang="zh-CN" sz="2000" u="none">
                <a:sym typeface="Symbol" panose="05050102010706020507" pitchFamily="18" charset="2"/>
              </a:rPr>
              <a:t> </a:t>
            </a:r>
          </a:p>
          <a:p>
            <a:pPr algn="just" eaLnBrk="1" hangingPunct="1">
              <a:lnSpc>
                <a:spcPct val="90000"/>
              </a:lnSpc>
              <a:buClr>
                <a:schemeClr val="tx2"/>
              </a:buClr>
              <a:buSzPct val="90000"/>
              <a:buFont typeface="Symbol" panose="05050102010706020507" pitchFamily="18" charset="2"/>
              <a:buNone/>
            </a:pPr>
            <a:r>
              <a:rPr lang="zh-CN" altLang="en-US" sz="2400" u="none">
                <a:solidFill>
                  <a:srgbClr val="009900"/>
                </a:solidFill>
                <a:sym typeface="Symbol" panose="05050102010706020507" pitchFamily="18" charset="2"/>
              </a:rPr>
              <a:t>段起始地址</a:t>
            </a:r>
            <a:r>
              <a:rPr lang="zh-CN" altLang="en-US" sz="2400" u="none">
                <a:sym typeface="Symbol" panose="05050102010706020507" pitchFamily="18" charset="2"/>
              </a:rPr>
              <a:t>：</a:t>
            </a:r>
            <a:r>
              <a:rPr lang="zh-CN" altLang="en-US" sz="2200" u="none">
                <a:ea typeface="楷体_GB2312" panose="02010609030101010101" pitchFamily="49" charset="-122"/>
                <a:sym typeface="Symbol" panose="05050102010706020507" pitchFamily="18" charset="2"/>
              </a:rPr>
              <a:t>小段首地址</a:t>
            </a:r>
            <a:endParaRPr lang="zh-CN" altLang="en-US" sz="2400" u="none">
              <a:sym typeface="Symbol" panose="05050102010706020507" pitchFamily="18" charset="2"/>
            </a:endParaRPr>
          </a:p>
          <a:p>
            <a:pPr algn="just" eaLnBrk="1" hangingPunct="1">
              <a:lnSpc>
                <a:spcPct val="90000"/>
              </a:lnSpc>
              <a:buClr>
                <a:schemeClr val="tx2"/>
              </a:buClr>
              <a:buSzPct val="90000"/>
              <a:buFont typeface="Symbol" panose="05050102010706020507" pitchFamily="18" charset="2"/>
              <a:buNone/>
            </a:pPr>
            <a:endParaRPr lang="zh-CN" altLang="en-US" sz="2400" u="none"/>
          </a:p>
          <a:p>
            <a:pPr algn="just" eaLnBrk="1" hangingPunct="1">
              <a:lnSpc>
                <a:spcPct val="90000"/>
              </a:lnSpc>
              <a:buClr>
                <a:schemeClr val="tx2"/>
              </a:buClr>
              <a:buSzPct val="90000"/>
              <a:buFont typeface="Symbol" panose="05050102010706020507" pitchFamily="18" charset="2"/>
              <a:buNone/>
            </a:pPr>
            <a:r>
              <a:rPr lang="zh-CN" altLang="en-US" sz="2400" u="none">
                <a:solidFill>
                  <a:srgbClr val="009900"/>
                </a:solidFill>
              </a:rPr>
              <a:t>物理地址</a:t>
            </a:r>
            <a:r>
              <a:rPr lang="zh-CN" altLang="en-US" sz="2400" u="none"/>
              <a:t>：</a:t>
            </a:r>
            <a:r>
              <a:rPr lang="zh-CN" altLang="en-US" sz="2200" u="none">
                <a:latin typeface="楷体_GB2312" panose="02010609030101010101" pitchFamily="49" charset="-122"/>
                <a:ea typeface="楷体_GB2312" panose="02010609030101010101" pitchFamily="49" charset="-122"/>
              </a:rPr>
              <a:t>每个存储单元唯一的</a:t>
            </a:r>
            <a:r>
              <a:rPr lang="en-US" altLang="zh-CN" sz="2200" u="none">
                <a:ea typeface="楷体_GB2312" panose="02010609030101010101" pitchFamily="49" charset="-122"/>
              </a:rPr>
              <a:t>20</a:t>
            </a:r>
            <a:r>
              <a:rPr lang="zh-CN" altLang="en-US" sz="2200" u="none">
                <a:latin typeface="楷体_GB2312" panose="02010609030101010101" pitchFamily="49" charset="-122"/>
                <a:ea typeface="楷体_GB2312" panose="02010609030101010101" pitchFamily="49" charset="-122"/>
              </a:rPr>
              <a:t>位地址 </a:t>
            </a:r>
          </a:p>
          <a:p>
            <a:pPr algn="just" eaLnBrk="1" hangingPunct="1">
              <a:lnSpc>
                <a:spcPct val="90000"/>
              </a:lnSpc>
              <a:buClr>
                <a:schemeClr val="tx2"/>
              </a:buClr>
              <a:buSzPct val="90000"/>
              <a:buFont typeface="Symbol" panose="05050102010706020507" pitchFamily="18" charset="2"/>
              <a:buNone/>
            </a:pPr>
            <a:r>
              <a:rPr lang="zh-CN" altLang="en-US" sz="2400" u="none">
                <a:solidFill>
                  <a:srgbClr val="009900"/>
                </a:solidFill>
              </a:rPr>
              <a:t>    段地址</a:t>
            </a:r>
            <a:r>
              <a:rPr lang="zh-CN" altLang="en-US" sz="2400" u="none"/>
              <a:t>：</a:t>
            </a:r>
            <a:r>
              <a:rPr lang="zh-CN" altLang="en-US" sz="2200" u="none">
                <a:latin typeface="楷体_GB2312" panose="02010609030101010101" pitchFamily="49" charset="-122"/>
                <a:ea typeface="楷体_GB2312" panose="02010609030101010101" pitchFamily="49" charset="-122"/>
              </a:rPr>
              <a:t>段起始地址的高</a:t>
            </a:r>
            <a:r>
              <a:rPr lang="en-US" altLang="zh-CN" sz="2200" u="none">
                <a:ea typeface="楷体_GB2312" panose="02010609030101010101" pitchFamily="49" charset="-122"/>
              </a:rPr>
              <a:t>16</a:t>
            </a:r>
            <a:r>
              <a:rPr lang="zh-CN" altLang="en-US" sz="2200" u="none">
                <a:latin typeface="楷体_GB2312" panose="02010609030101010101" pitchFamily="49" charset="-122"/>
                <a:ea typeface="楷体_GB2312" panose="02010609030101010101" pitchFamily="49" charset="-122"/>
              </a:rPr>
              <a:t>位</a:t>
            </a:r>
            <a:r>
              <a:rPr lang="zh-CN" altLang="en-US" sz="2400" u="none"/>
              <a:t> </a:t>
            </a:r>
          </a:p>
          <a:p>
            <a:pPr algn="just" eaLnBrk="1" hangingPunct="1">
              <a:buClr>
                <a:schemeClr val="tx2"/>
              </a:buClr>
              <a:buSzPct val="90000"/>
              <a:buFont typeface="Symbol" panose="05050102010706020507" pitchFamily="18" charset="2"/>
              <a:buNone/>
            </a:pPr>
            <a:r>
              <a:rPr lang="zh-CN" altLang="en-US" sz="2400" u="none">
                <a:solidFill>
                  <a:srgbClr val="009900"/>
                </a:solidFill>
              </a:rPr>
              <a:t>偏移地址</a:t>
            </a:r>
            <a:r>
              <a:rPr lang="zh-CN" altLang="en-US" sz="2400" u="none"/>
              <a:t>：</a:t>
            </a:r>
            <a:r>
              <a:rPr lang="zh-CN" altLang="en-US" sz="2200" u="none">
                <a:ea typeface="楷体_GB2312" panose="02010609030101010101" pitchFamily="49" charset="-122"/>
              </a:rPr>
              <a:t>段内相对于段起始地址的偏移值</a:t>
            </a:r>
          </a:p>
          <a:p>
            <a:pPr algn="just" eaLnBrk="1" hangingPunct="1">
              <a:buClr>
                <a:schemeClr val="tx2"/>
              </a:buClr>
              <a:buSzPct val="90000"/>
              <a:buFont typeface="Symbol" panose="05050102010706020507" pitchFamily="18" charset="2"/>
              <a:buNone/>
            </a:pPr>
            <a:r>
              <a:rPr lang="zh-CN" altLang="en-US" sz="2200" u="none">
                <a:ea typeface="楷体_GB2312" panose="02010609030101010101" pitchFamily="49" charset="-122"/>
              </a:rPr>
              <a:t>                    </a:t>
            </a:r>
            <a:r>
              <a:rPr lang="zh-CN" altLang="en-US" sz="2000" u="none">
                <a:ea typeface="楷体_GB2312" panose="02010609030101010101" pitchFamily="49" charset="-122"/>
              </a:rPr>
              <a:t>（有效地址 </a:t>
            </a:r>
            <a:r>
              <a:rPr lang="en-US" altLang="zh-CN" sz="2000" u="none">
                <a:ea typeface="楷体_GB2312" panose="02010609030101010101" pitchFamily="49" charset="-122"/>
              </a:rPr>
              <a:t>EA</a:t>
            </a:r>
            <a:r>
              <a:rPr lang="zh-CN" altLang="en-US" sz="2000" u="none">
                <a:ea typeface="楷体_GB2312" panose="02010609030101010101" pitchFamily="49" charset="-122"/>
              </a:rPr>
              <a:t>）</a:t>
            </a: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600200" y="762000"/>
            <a:ext cx="30416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solidFill>
                  <a:srgbClr val="FF0000"/>
                </a:solidFill>
              </a:rPr>
              <a:t>物理地址的计算</a:t>
            </a:r>
            <a:r>
              <a:rPr lang="zh-CN" altLang="en-US" sz="2800" u="none"/>
              <a:t>：</a:t>
            </a:r>
          </a:p>
        </p:txBody>
      </p:sp>
      <p:sp>
        <p:nvSpPr>
          <p:cNvPr id="16387" name="Rectangle 3"/>
          <p:cNvSpPr>
            <a:spLocks noChangeArrowheads="1"/>
          </p:cNvSpPr>
          <p:nvPr/>
        </p:nvSpPr>
        <p:spPr bwMode="auto">
          <a:xfrm>
            <a:off x="2362200" y="1676400"/>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tx2"/>
              </a:buClr>
              <a:buSzPct val="90000"/>
              <a:buFont typeface="Symbol" panose="05050102010706020507" pitchFamily="18" charset="2"/>
              <a:buNone/>
            </a:pPr>
            <a:r>
              <a:rPr lang="zh-CN" altLang="en-US" sz="2400" u="none"/>
              <a:t>物理地址 </a:t>
            </a:r>
            <a:r>
              <a:rPr lang="en-US" altLang="zh-CN" sz="2400" u="none"/>
              <a:t>= 16d </a:t>
            </a:r>
            <a:r>
              <a:rPr lang="en-US" altLang="zh-CN" sz="2400" u="none">
                <a:sym typeface="Symbol" panose="05050102010706020507" pitchFamily="18" charset="2"/>
              </a:rPr>
              <a:t></a:t>
            </a:r>
            <a:r>
              <a:rPr lang="en-US" altLang="zh-CN" sz="2400" u="none"/>
              <a:t> </a:t>
            </a:r>
            <a:r>
              <a:rPr lang="zh-CN" altLang="en-US" sz="2400" u="none"/>
              <a:t>段地址 </a:t>
            </a:r>
            <a:r>
              <a:rPr lang="en-US" altLang="zh-CN" sz="2400" u="none"/>
              <a:t>+ </a:t>
            </a:r>
            <a:r>
              <a:rPr lang="zh-CN" altLang="en-US" sz="2400" u="none"/>
              <a:t>偏移地址</a:t>
            </a:r>
            <a:endParaRPr lang="zh-CN" altLang="zh-CN" sz="2400" u="none">
              <a:latin typeface="Arial" panose="020B0604020202020204" pitchFamily="34" charset="0"/>
              <a:sym typeface="Symbol" panose="05050102010706020507" pitchFamily="18" charset="2"/>
            </a:endParaRPr>
          </a:p>
        </p:txBody>
      </p:sp>
      <p:grpSp>
        <p:nvGrpSpPr>
          <p:cNvPr id="16388" name="Group 4"/>
          <p:cNvGrpSpPr/>
          <p:nvPr/>
        </p:nvGrpSpPr>
        <p:grpSpPr bwMode="auto">
          <a:xfrm>
            <a:off x="2438400" y="2895600"/>
            <a:ext cx="4648200" cy="2085975"/>
            <a:chOff x="1200" y="2784"/>
            <a:chExt cx="2928" cy="1314"/>
          </a:xfrm>
        </p:grpSpPr>
        <p:sp>
          <p:nvSpPr>
            <p:cNvPr id="16390" name="Text Box 5"/>
            <p:cNvSpPr txBox="1">
              <a:spLocks noChangeArrowheads="1"/>
            </p:cNvSpPr>
            <p:nvPr/>
          </p:nvSpPr>
          <p:spPr bwMode="auto">
            <a:xfrm>
              <a:off x="1872" y="2784"/>
              <a:ext cx="1632"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16 </a:t>
              </a:r>
              <a:r>
                <a:rPr lang="zh-CN" altLang="en-US" sz="2000" u="none"/>
                <a:t>位 段 地 址           </a:t>
              </a:r>
            </a:p>
          </p:txBody>
        </p:sp>
        <p:sp>
          <p:nvSpPr>
            <p:cNvPr id="16391" name="Text Box 6"/>
            <p:cNvSpPr txBox="1">
              <a:spLocks noChangeArrowheads="1"/>
            </p:cNvSpPr>
            <p:nvPr/>
          </p:nvSpPr>
          <p:spPr bwMode="auto">
            <a:xfrm>
              <a:off x="2256" y="3312"/>
              <a:ext cx="1632"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16 </a:t>
              </a:r>
              <a:r>
                <a:rPr lang="zh-CN" altLang="en-US" sz="2000" u="none"/>
                <a:t>位 偏 移 地 址</a:t>
              </a:r>
            </a:p>
          </p:txBody>
        </p:sp>
        <p:sp>
          <p:nvSpPr>
            <p:cNvPr id="16392" name="Text Box 7"/>
            <p:cNvSpPr txBox="1">
              <a:spLocks noChangeArrowheads="1"/>
            </p:cNvSpPr>
            <p:nvPr/>
          </p:nvSpPr>
          <p:spPr bwMode="auto">
            <a:xfrm>
              <a:off x="3024" y="2784"/>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0000</a:t>
              </a:r>
            </a:p>
          </p:txBody>
        </p:sp>
        <p:sp>
          <p:nvSpPr>
            <p:cNvPr id="16393" name="Line 8"/>
            <p:cNvSpPr>
              <a:spLocks noChangeShapeType="1"/>
            </p:cNvSpPr>
            <p:nvPr/>
          </p:nvSpPr>
          <p:spPr bwMode="auto">
            <a:xfrm>
              <a:off x="1200" y="3696"/>
              <a:ext cx="29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94" name="Text Box 9"/>
            <p:cNvSpPr txBox="1">
              <a:spLocks noChangeArrowheads="1"/>
            </p:cNvSpPr>
            <p:nvPr/>
          </p:nvSpPr>
          <p:spPr bwMode="auto">
            <a:xfrm>
              <a:off x="1392" y="3408"/>
              <a:ext cx="2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u="none"/>
                <a:t>+</a:t>
              </a:r>
            </a:p>
          </p:txBody>
        </p:sp>
        <p:sp>
          <p:nvSpPr>
            <p:cNvPr id="16395" name="Text Box 10"/>
            <p:cNvSpPr txBox="1">
              <a:spLocks noChangeArrowheads="1"/>
            </p:cNvSpPr>
            <p:nvPr/>
          </p:nvSpPr>
          <p:spPr bwMode="auto">
            <a:xfrm>
              <a:off x="1872" y="3840"/>
              <a:ext cx="2016" cy="25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        20 </a:t>
              </a:r>
              <a:r>
                <a:rPr lang="zh-CN" altLang="en-US" sz="2000" u="none"/>
                <a:t>位 物 理 地 址</a:t>
              </a:r>
            </a:p>
          </p:txBody>
        </p:sp>
      </p:grpSp>
      <p:sp>
        <p:nvSpPr>
          <p:cNvPr id="24587" name="Text Box 11"/>
          <p:cNvSpPr txBox="1">
            <a:spLocks noChangeArrowheads="1"/>
          </p:cNvSpPr>
          <p:nvPr/>
        </p:nvSpPr>
        <p:spPr bwMode="auto">
          <a:xfrm>
            <a:off x="692150" y="5683250"/>
            <a:ext cx="68818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800">
                <a:solidFill>
                  <a:srgbClr val="FF0000"/>
                </a:solidFill>
              </a:rPr>
              <a:t>问题</a:t>
            </a:r>
            <a:r>
              <a:rPr lang="en-US" altLang="zh-CN" sz="2800">
                <a:solidFill>
                  <a:srgbClr val="FF0000"/>
                </a:solidFill>
              </a:rPr>
              <a:t>:</a:t>
            </a:r>
            <a:r>
              <a:rPr lang="zh-CN" altLang="en-US" sz="2800">
                <a:solidFill>
                  <a:srgbClr val="FF0000"/>
                </a:solidFill>
              </a:rPr>
              <a:t>一个字单元的物理地址该如何表示呢</a:t>
            </a:r>
            <a:r>
              <a:rPr lang="en-US" altLang="zh-CN" sz="2800">
                <a:solidFill>
                  <a:srgbClr val="FF0000"/>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defRPr/>
            </a:pPr>
            <a:r>
              <a:rPr lang="zh-CN" altLang="en-US"/>
              <a:t>举例</a:t>
            </a:r>
            <a:r>
              <a:rPr lang="en-US" altLang="zh-CN"/>
              <a:t>:</a:t>
            </a:r>
          </a:p>
        </p:txBody>
      </p:sp>
      <p:sp>
        <p:nvSpPr>
          <p:cNvPr id="114691" name="Rectangle 3"/>
          <p:cNvSpPr>
            <a:spLocks noGrp="1" noChangeArrowheads="1"/>
          </p:cNvSpPr>
          <p:nvPr>
            <p:ph type="body" idx="1"/>
          </p:nvPr>
        </p:nvSpPr>
        <p:spPr>
          <a:xfrm>
            <a:off x="755650" y="1196975"/>
            <a:ext cx="7772400" cy="4608513"/>
          </a:xfrm>
        </p:spPr>
        <p:txBody>
          <a:bodyPr/>
          <a:lstStyle/>
          <a:p>
            <a:pPr eaLnBrk="1" hangingPunct="1"/>
            <a:r>
              <a:rPr lang="zh-CN" altLang="en-US"/>
              <a:t>内存数据区共占用</a:t>
            </a:r>
            <a:r>
              <a:rPr lang="en-US" altLang="zh-CN"/>
              <a:t>10</a:t>
            </a:r>
            <a:r>
              <a:rPr lang="zh-CN" altLang="en-US"/>
              <a:t>个字单元</a:t>
            </a:r>
            <a:r>
              <a:rPr lang="en-US" altLang="zh-CN"/>
              <a:t>,</a:t>
            </a:r>
            <a:r>
              <a:rPr lang="zh-CN" altLang="en-US"/>
              <a:t>已知起始地址为</a:t>
            </a:r>
            <a:r>
              <a:rPr lang="en-US" altLang="zh-CN"/>
              <a:t>13BA:00BA,</a:t>
            </a:r>
            <a:r>
              <a:rPr lang="zh-CN" altLang="en-US"/>
              <a:t>求该字节单元的物理地址是多少</a:t>
            </a:r>
            <a:r>
              <a:rPr lang="en-US" altLang="zh-CN"/>
              <a:t>?</a:t>
            </a:r>
          </a:p>
          <a:p>
            <a:pPr eaLnBrk="1" hangingPunct="1"/>
            <a:r>
              <a:rPr lang="en-US" altLang="zh-CN"/>
              <a:t>PA=13BA0+00BA</a:t>
            </a:r>
          </a:p>
          <a:p>
            <a:pPr eaLnBrk="1" hangingPunct="1"/>
            <a:r>
              <a:rPr lang="en-US" altLang="zh-CN"/>
              <a:t>=13C5AH</a:t>
            </a:r>
          </a:p>
          <a:p>
            <a:pPr eaLnBrk="1" hangingPunct="1"/>
            <a:endParaRPr lang="en-US" altLang="zh-CN"/>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6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46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238500" y="23050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35" name="Rectangle 3"/>
          <p:cNvSpPr>
            <a:spLocks noChangeArrowheads="1"/>
          </p:cNvSpPr>
          <p:nvPr/>
        </p:nvSpPr>
        <p:spPr bwMode="auto">
          <a:xfrm>
            <a:off x="1676400" y="685800"/>
            <a:ext cx="33988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solidFill>
                  <a:srgbClr val="009900"/>
                </a:solidFill>
              </a:rPr>
              <a:t>存储器的</a:t>
            </a:r>
            <a:r>
              <a:rPr lang="zh-CN" altLang="en-US" sz="2800" u="none">
                <a:solidFill>
                  <a:srgbClr val="009900"/>
                </a:solidFill>
                <a:latin typeface="Lucida Console" panose="020B0609040504020204" pitchFamily="49" charset="0"/>
                <a:ea typeface="楷体_GB2312" panose="02010609030101010101" pitchFamily="49" charset="-122"/>
              </a:rPr>
              <a:t>逻辑</a:t>
            </a:r>
            <a:r>
              <a:rPr lang="zh-CN" altLang="en-US" sz="2800" u="none">
                <a:solidFill>
                  <a:srgbClr val="009900"/>
                </a:solidFill>
              </a:rPr>
              <a:t>分段</a:t>
            </a:r>
            <a:r>
              <a:rPr lang="zh-CN" altLang="en-US" sz="2800" u="none"/>
              <a:t>：</a:t>
            </a:r>
          </a:p>
        </p:txBody>
      </p:sp>
      <p:grpSp>
        <p:nvGrpSpPr>
          <p:cNvPr id="18436" name="Group 4"/>
          <p:cNvGrpSpPr/>
          <p:nvPr/>
        </p:nvGrpSpPr>
        <p:grpSpPr bwMode="auto">
          <a:xfrm>
            <a:off x="2362200" y="1524000"/>
            <a:ext cx="5302250" cy="4419600"/>
            <a:chOff x="1536" y="960"/>
            <a:chExt cx="3340" cy="2784"/>
          </a:xfrm>
        </p:grpSpPr>
        <p:sp>
          <p:nvSpPr>
            <p:cNvPr id="18437" name="Line 5"/>
            <p:cNvSpPr>
              <a:spLocks noChangeShapeType="1"/>
            </p:cNvSpPr>
            <p:nvPr/>
          </p:nvSpPr>
          <p:spPr bwMode="auto">
            <a:xfrm>
              <a:off x="3456" y="1248"/>
              <a:ext cx="0" cy="249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8" name="Line 6"/>
            <p:cNvSpPr>
              <a:spLocks noChangeShapeType="1"/>
            </p:cNvSpPr>
            <p:nvPr/>
          </p:nvSpPr>
          <p:spPr bwMode="auto">
            <a:xfrm>
              <a:off x="4224" y="1248"/>
              <a:ext cx="0" cy="249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39" name="Line 7"/>
            <p:cNvSpPr>
              <a:spLocks noChangeShapeType="1"/>
            </p:cNvSpPr>
            <p:nvPr/>
          </p:nvSpPr>
          <p:spPr bwMode="auto">
            <a:xfrm>
              <a:off x="3456" y="1440"/>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0" name="Line 8"/>
            <p:cNvSpPr>
              <a:spLocks noChangeShapeType="1"/>
            </p:cNvSpPr>
            <p:nvPr/>
          </p:nvSpPr>
          <p:spPr bwMode="auto">
            <a:xfrm>
              <a:off x="3456" y="2592"/>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1" name="Line 9"/>
            <p:cNvSpPr>
              <a:spLocks noChangeShapeType="1"/>
            </p:cNvSpPr>
            <p:nvPr/>
          </p:nvSpPr>
          <p:spPr bwMode="auto">
            <a:xfrm>
              <a:off x="3456" y="2880"/>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2" name="Line 10"/>
            <p:cNvSpPr>
              <a:spLocks noChangeShapeType="1"/>
            </p:cNvSpPr>
            <p:nvPr/>
          </p:nvSpPr>
          <p:spPr bwMode="auto">
            <a:xfrm>
              <a:off x="3456" y="3168"/>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43" name="Text Box 11"/>
            <p:cNvSpPr txBox="1">
              <a:spLocks noChangeArrowheads="1"/>
            </p:cNvSpPr>
            <p:nvPr/>
          </p:nvSpPr>
          <p:spPr bwMode="auto">
            <a:xfrm>
              <a:off x="3456" y="960"/>
              <a:ext cx="7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u="none"/>
                <a:t> </a:t>
              </a:r>
              <a:r>
                <a:rPr lang="zh-CN" altLang="en-US" sz="2400" u="none">
                  <a:ea typeface="楷体_GB2312" panose="02010609030101010101" pitchFamily="49" charset="-122"/>
                </a:rPr>
                <a:t>存储器</a:t>
              </a:r>
              <a:endParaRPr lang="zh-CN" altLang="en-US" sz="2000" u="none">
                <a:ea typeface="楷体_GB2312" panose="02010609030101010101" pitchFamily="49" charset="-122"/>
              </a:endParaRPr>
            </a:p>
          </p:txBody>
        </p:sp>
        <p:sp>
          <p:nvSpPr>
            <p:cNvPr id="18444" name="Text Box 12"/>
            <p:cNvSpPr txBox="1">
              <a:spLocks noChangeArrowheads="1"/>
            </p:cNvSpPr>
            <p:nvPr/>
          </p:nvSpPr>
          <p:spPr bwMode="auto">
            <a:xfrm>
              <a:off x="3504" y="1488"/>
              <a:ext cx="7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64</a:t>
              </a:r>
              <a:r>
                <a:rPr lang="en-US" altLang="en-US" sz="2000" u="none"/>
                <a:t>K</a:t>
              </a:r>
              <a:r>
                <a:rPr lang="zh-CN" altLang="en-US" sz="2000" u="none"/>
                <a:t>代码</a:t>
              </a:r>
            </a:p>
          </p:txBody>
        </p:sp>
        <p:sp>
          <p:nvSpPr>
            <p:cNvPr id="18445" name="Text Box 13"/>
            <p:cNvSpPr txBox="1">
              <a:spLocks noChangeArrowheads="1"/>
            </p:cNvSpPr>
            <p:nvPr/>
          </p:nvSpPr>
          <p:spPr bwMode="auto">
            <a:xfrm>
              <a:off x="4224" y="1344"/>
              <a:ext cx="5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01500</a:t>
              </a:r>
              <a:r>
                <a:rPr lang="en-US" altLang="en-US" sz="1800" u="none"/>
                <a:t>H</a:t>
              </a:r>
              <a:endParaRPr lang="en-US" altLang="zh-CN" sz="1800" u="none"/>
            </a:p>
          </p:txBody>
        </p:sp>
        <p:sp>
          <p:nvSpPr>
            <p:cNvPr id="18446" name="Text Box 14"/>
            <p:cNvSpPr txBox="1">
              <a:spLocks noChangeArrowheads="1"/>
            </p:cNvSpPr>
            <p:nvPr/>
          </p:nvSpPr>
          <p:spPr bwMode="auto">
            <a:xfrm>
              <a:off x="4224" y="2496"/>
              <a:ext cx="5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42000</a:t>
              </a:r>
              <a:r>
                <a:rPr lang="en-US" altLang="en-US" sz="1800" u="none"/>
                <a:t>H</a:t>
              </a:r>
              <a:endParaRPr lang="en-US" altLang="zh-CN" sz="1800" u="none"/>
            </a:p>
          </p:txBody>
        </p:sp>
        <p:sp>
          <p:nvSpPr>
            <p:cNvPr id="18447" name="Text Box 15"/>
            <p:cNvSpPr txBox="1">
              <a:spLocks noChangeArrowheads="1"/>
            </p:cNvSpPr>
            <p:nvPr/>
          </p:nvSpPr>
          <p:spPr bwMode="auto">
            <a:xfrm>
              <a:off x="4224" y="1920"/>
              <a:ext cx="6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1CD00</a:t>
              </a:r>
              <a:r>
                <a:rPr lang="en-US" altLang="en-US" sz="1800" u="none"/>
                <a:t>H</a:t>
              </a:r>
              <a:endParaRPr lang="en-US" altLang="zh-CN" sz="1800" u="none"/>
            </a:p>
          </p:txBody>
        </p:sp>
        <p:grpSp>
          <p:nvGrpSpPr>
            <p:cNvPr id="18448" name="Group 16"/>
            <p:cNvGrpSpPr/>
            <p:nvPr/>
          </p:nvGrpSpPr>
          <p:grpSpPr bwMode="auto">
            <a:xfrm>
              <a:off x="1872" y="1872"/>
              <a:ext cx="680" cy="960"/>
              <a:chOff x="2448" y="960"/>
              <a:chExt cx="680" cy="960"/>
            </a:xfrm>
          </p:grpSpPr>
          <p:sp>
            <p:nvSpPr>
              <p:cNvPr id="18464" name="Rectangle 17"/>
              <p:cNvSpPr>
                <a:spLocks noChangeArrowheads="1"/>
              </p:cNvSpPr>
              <p:nvPr/>
            </p:nvSpPr>
            <p:spPr bwMode="auto">
              <a:xfrm>
                <a:off x="2448" y="96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5" name="Rectangle 18"/>
              <p:cNvSpPr>
                <a:spLocks noChangeArrowheads="1"/>
              </p:cNvSpPr>
              <p:nvPr/>
            </p:nvSpPr>
            <p:spPr bwMode="auto">
              <a:xfrm>
                <a:off x="2448" y="120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6" name="Rectangle 19"/>
              <p:cNvSpPr>
                <a:spLocks noChangeArrowheads="1"/>
              </p:cNvSpPr>
              <p:nvPr/>
            </p:nvSpPr>
            <p:spPr bwMode="auto">
              <a:xfrm>
                <a:off x="2448" y="144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7" name="Rectangle 20"/>
              <p:cNvSpPr>
                <a:spLocks noChangeArrowheads="1"/>
              </p:cNvSpPr>
              <p:nvPr/>
            </p:nvSpPr>
            <p:spPr bwMode="auto">
              <a:xfrm>
                <a:off x="2448" y="1680"/>
                <a:ext cx="672" cy="240"/>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8468" name="Text Box 21"/>
              <p:cNvSpPr txBox="1">
                <a:spLocks noChangeArrowheads="1"/>
              </p:cNvSpPr>
              <p:nvPr/>
            </p:nvSpPr>
            <p:spPr bwMode="auto">
              <a:xfrm>
                <a:off x="2496" y="96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solidFill>
                      <a:schemeClr val="bg2"/>
                    </a:solidFill>
                  </a:rPr>
                  <a:t>0150</a:t>
                </a:r>
                <a:r>
                  <a:rPr lang="en-US" altLang="en-US" sz="2000" u="none">
                    <a:solidFill>
                      <a:schemeClr val="bg2"/>
                    </a:solidFill>
                  </a:rPr>
                  <a:t>H</a:t>
                </a:r>
                <a:endParaRPr lang="en-US" altLang="zh-CN" sz="2000" u="none"/>
              </a:p>
            </p:txBody>
          </p:sp>
          <p:sp>
            <p:nvSpPr>
              <p:cNvPr id="18469" name="Text Box 22"/>
              <p:cNvSpPr txBox="1">
                <a:spLocks noChangeArrowheads="1"/>
              </p:cNvSpPr>
              <p:nvPr/>
            </p:nvSpPr>
            <p:spPr bwMode="auto">
              <a:xfrm>
                <a:off x="2496" y="1200"/>
                <a:ext cx="56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solidFill>
                      <a:schemeClr val="bg2"/>
                    </a:solidFill>
                  </a:rPr>
                  <a:t>4200</a:t>
                </a:r>
                <a:r>
                  <a:rPr lang="en-US" altLang="en-US" sz="2000" u="none">
                    <a:solidFill>
                      <a:schemeClr val="bg2"/>
                    </a:solidFill>
                  </a:rPr>
                  <a:t>H</a:t>
                </a:r>
                <a:endParaRPr lang="en-US" altLang="zh-CN" sz="2000" u="none"/>
              </a:p>
            </p:txBody>
          </p:sp>
          <p:sp>
            <p:nvSpPr>
              <p:cNvPr id="18470" name="Text Box 23"/>
              <p:cNvSpPr txBox="1">
                <a:spLocks noChangeArrowheads="1"/>
              </p:cNvSpPr>
              <p:nvPr/>
            </p:nvSpPr>
            <p:spPr bwMode="auto">
              <a:xfrm>
                <a:off x="2496" y="1440"/>
                <a:ext cx="63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solidFill>
                      <a:schemeClr val="bg2"/>
                    </a:solidFill>
                  </a:rPr>
                  <a:t>1CD0</a:t>
                </a:r>
                <a:r>
                  <a:rPr lang="en-US" altLang="en-US" sz="2000" u="none">
                    <a:solidFill>
                      <a:schemeClr val="bg2"/>
                    </a:solidFill>
                  </a:rPr>
                  <a:t>H</a:t>
                </a:r>
                <a:endParaRPr lang="en-US" altLang="zh-CN" sz="2000" u="none"/>
              </a:p>
            </p:txBody>
          </p:sp>
        </p:grpSp>
        <p:sp>
          <p:nvSpPr>
            <p:cNvPr id="18449" name="Text Box 24"/>
            <p:cNvSpPr txBox="1">
              <a:spLocks noChangeArrowheads="1"/>
            </p:cNvSpPr>
            <p:nvPr/>
          </p:nvSpPr>
          <p:spPr bwMode="auto">
            <a:xfrm>
              <a:off x="1776" y="1536"/>
              <a:ext cx="91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sz="2200" u="none">
                  <a:ea typeface="楷体_GB2312" panose="02010609030101010101" pitchFamily="49" charset="-122"/>
                </a:rPr>
                <a:t>段寄存器</a:t>
              </a:r>
            </a:p>
          </p:txBody>
        </p:sp>
        <p:sp>
          <p:nvSpPr>
            <p:cNvPr id="18450" name="Text Box 25"/>
            <p:cNvSpPr txBox="1">
              <a:spLocks noChangeArrowheads="1"/>
            </p:cNvSpPr>
            <p:nvPr/>
          </p:nvSpPr>
          <p:spPr bwMode="auto">
            <a:xfrm>
              <a:off x="1536" y="1824"/>
              <a:ext cx="384" cy="1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0"/>
                </a:spcBef>
                <a:buClrTx/>
                <a:buFontTx/>
                <a:buNone/>
              </a:pPr>
              <a:r>
                <a:rPr lang="en-US" altLang="zh-CN" sz="2000" u="none"/>
                <a:t>CS</a:t>
              </a:r>
            </a:p>
            <a:p>
              <a:pPr eaLnBrk="1" hangingPunct="1">
                <a:lnSpc>
                  <a:spcPct val="130000"/>
                </a:lnSpc>
                <a:spcBef>
                  <a:spcPct val="0"/>
                </a:spcBef>
                <a:buClrTx/>
                <a:buFontTx/>
                <a:buNone/>
              </a:pPr>
              <a:r>
                <a:rPr lang="en-US" altLang="zh-CN" sz="2000" u="none"/>
                <a:t>DS</a:t>
              </a:r>
            </a:p>
            <a:p>
              <a:pPr eaLnBrk="1" hangingPunct="1">
                <a:lnSpc>
                  <a:spcPct val="130000"/>
                </a:lnSpc>
                <a:spcBef>
                  <a:spcPct val="0"/>
                </a:spcBef>
                <a:buClrTx/>
                <a:buFontTx/>
                <a:buNone/>
              </a:pPr>
              <a:r>
                <a:rPr lang="en-US" altLang="zh-CN" sz="2000" u="none"/>
                <a:t>SS</a:t>
              </a:r>
            </a:p>
            <a:p>
              <a:pPr eaLnBrk="1" hangingPunct="1">
                <a:lnSpc>
                  <a:spcPct val="130000"/>
                </a:lnSpc>
                <a:spcBef>
                  <a:spcPct val="0"/>
                </a:spcBef>
                <a:buClrTx/>
                <a:buFontTx/>
                <a:buNone/>
              </a:pPr>
              <a:r>
                <a:rPr lang="en-US" altLang="zh-CN" sz="2000" u="none"/>
                <a:t>ES</a:t>
              </a:r>
            </a:p>
          </p:txBody>
        </p:sp>
        <p:sp>
          <p:nvSpPr>
            <p:cNvPr id="18451" name="Line 26"/>
            <p:cNvSpPr>
              <a:spLocks noChangeShapeType="1"/>
            </p:cNvSpPr>
            <p:nvPr/>
          </p:nvSpPr>
          <p:spPr bwMode="auto">
            <a:xfrm>
              <a:off x="3456" y="1728"/>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2" name="Line 27"/>
            <p:cNvSpPr>
              <a:spLocks noChangeShapeType="1"/>
            </p:cNvSpPr>
            <p:nvPr/>
          </p:nvSpPr>
          <p:spPr bwMode="auto">
            <a:xfrm>
              <a:off x="3456" y="2016"/>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3" name="Text Box 28"/>
            <p:cNvSpPr txBox="1">
              <a:spLocks noChangeArrowheads="1"/>
            </p:cNvSpPr>
            <p:nvPr/>
          </p:nvSpPr>
          <p:spPr bwMode="auto">
            <a:xfrm>
              <a:off x="3504" y="2064"/>
              <a:ext cx="7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64</a:t>
              </a:r>
              <a:r>
                <a:rPr lang="en-US" altLang="en-US" sz="2000" u="none"/>
                <a:t>K</a:t>
              </a:r>
              <a:r>
                <a:rPr lang="zh-CN" altLang="en-US" sz="2000" u="none"/>
                <a:t>堆栈</a:t>
              </a:r>
            </a:p>
          </p:txBody>
        </p:sp>
        <p:sp>
          <p:nvSpPr>
            <p:cNvPr id="18454" name="Line 29"/>
            <p:cNvSpPr>
              <a:spLocks noChangeShapeType="1"/>
            </p:cNvSpPr>
            <p:nvPr/>
          </p:nvSpPr>
          <p:spPr bwMode="auto">
            <a:xfrm>
              <a:off x="3456" y="2304"/>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5" name="Text Box 30"/>
            <p:cNvSpPr txBox="1">
              <a:spLocks noChangeArrowheads="1"/>
            </p:cNvSpPr>
            <p:nvPr/>
          </p:nvSpPr>
          <p:spPr bwMode="auto">
            <a:xfrm>
              <a:off x="3504" y="2640"/>
              <a:ext cx="72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64</a:t>
              </a:r>
              <a:r>
                <a:rPr lang="en-US" altLang="en-US" sz="2000" u="none"/>
                <a:t>K</a:t>
              </a:r>
              <a:r>
                <a:rPr lang="zh-CN" altLang="en-US" sz="2000" u="none"/>
                <a:t>数据</a:t>
              </a:r>
            </a:p>
          </p:txBody>
        </p:sp>
        <p:sp>
          <p:nvSpPr>
            <p:cNvPr id="18456" name="Text Box 31"/>
            <p:cNvSpPr txBox="1">
              <a:spLocks noChangeArrowheads="1"/>
            </p:cNvSpPr>
            <p:nvPr/>
          </p:nvSpPr>
          <p:spPr bwMode="auto">
            <a:xfrm>
              <a:off x="3408" y="3216"/>
              <a:ext cx="8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t> 64</a:t>
              </a:r>
              <a:r>
                <a:rPr lang="en-US" altLang="en-US" sz="1600" u="none"/>
                <a:t>K</a:t>
              </a:r>
              <a:r>
                <a:rPr lang="zh-CN" altLang="en-US" sz="1600" u="none"/>
                <a:t>附加数据</a:t>
              </a:r>
            </a:p>
          </p:txBody>
        </p:sp>
        <p:sp>
          <p:nvSpPr>
            <p:cNvPr id="18457" name="Line 32"/>
            <p:cNvSpPr>
              <a:spLocks noChangeShapeType="1"/>
            </p:cNvSpPr>
            <p:nvPr/>
          </p:nvSpPr>
          <p:spPr bwMode="auto">
            <a:xfrm>
              <a:off x="3456" y="3456"/>
              <a:ext cx="76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58" name="Text Box 33"/>
            <p:cNvSpPr txBox="1">
              <a:spLocks noChangeArrowheads="1"/>
            </p:cNvSpPr>
            <p:nvPr/>
          </p:nvSpPr>
          <p:spPr bwMode="auto">
            <a:xfrm>
              <a:off x="4224" y="3072"/>
              <a:ext cx="6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800" u="none"/>
                <a:t>B0000</a:t>
              </a:r>
              <a:r>
                <a:rPr lang="en-US" altLang="en-US" sz="1800" u="none"/>
                <a:t>H</a:t>
              </a:r>
              <a:endParaRPr lang="en-US" altLang="zh-CN" sz="1800" u="none"/>
            </a:p>
          </p:txBody>
        </p:sp>
        <p:sp>
          <p:nvSpPr>
            <p:cNvPr id="18459" name="Rectangle 34"/>
            <p:cNvSpPr>
              <a:spLocks noChangeArrowheads="1"/>
            </p:cNvSpPr>
            <p:nvPr/>
          </p:nvSpPr>
          <p:spPr bwMode="auto">
            <a:xfrm>
              <a:off x="1920" y="2592"/>
              <a:ext cx="5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u="none">
                  <a:solidFill>
                    <a:schemeClr val="bg2"/>
                  </a:solidFill>
                </a:rPr>
                <a:t>B000</a:t>
              </a:r>
              <a:r>
                <a:rPr lang="en-US" altLang="en-US" sz="2000" u="none">
                  <a:solidFill>
                    <a:schemeClr val="bg2"/>
                  </a:solidFill>
                </a:rPr>
                <a:t>H</a:t>
              </a:r>
              <a:endParaRPr lang="en-US" altLang="zh-CN" sz="2000" u="none">
                <a:solidFill>
                  <a:schemeClr val="bg2"/>
                </a:solidFill>
              </a:endParaRPr>
            </a:p>
          </p:txBody>
        </p:sp>
        <p:sp>
          <p:nvSpPr>
            <p:cNvPr id="18460" name="Line 35"/>
            <p:cNvSpPr>
              <a:spLocks noChangeShapeType="1"/>
            </p:cNvSpPr>
            <p:nvPr/>
          </p:nvSpPr>
          <p:spPr bwMode="auto">
            <a:xfrm flipV="1">
              <a:off x="2544" y="1440"/>
              <a:ext cx="912" cy="576"/>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461" name="Line 36"/>
            <p:cNvSpPr>
              <a:spLocks noChangeShapeType="1"/>
            </p:cNvSpPr>
            <p:nvPr/>
          </p:nvSpPr>
          <p:spPr bwMode="auto">
            <a:xfrm>
              <a:off x="2544" y="2208"/>
              <a:ext cx="912" cy="384"/>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462" name="Line 37"/>
            <p:cNvSpPr>
              <a:spLocks noChangeShapeType="1"/>
            </p:cNvSpPr>
            <p:nvPr/>
          </p:nvSpPr>
          <p:spPr bwMode="auto">
            <a:xfrm flipV="1">
              <a:off x="2544" y="2016"/>
              <a:ext cx="912" cy="480"/>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8463" name="Line 38"/>
            <p:cNvSpPr>
              <a:spLocks noChangeShapeType="1"/>
            </p:cNvSpPr>
            <p:nvPr/>
          </p:nvSpPr>
          <p:spPr bwMode="auto">
            <a:xfrm>
              <a:off x="2544" y="2736"/>
              <a:ext cx="912" cy="432"/>
            </a:xfrm>
            <a:prstGeom prst="line">
              <a:avLst/>
            </a:prstGeom>
            <a:noFill/>
            <a:ln w="12700" cap="sq">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wrap="none"/>
            <a:lstStyle/>
            <a:p>
              <a:endParaRPr lang="zh-CN" altLang="en-US"/>
            </a:p>
          </p:txBody>
        </p:sp>
      </p:grpSp>
    </p:spTree>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524000" y="457200"/>
            <a:ext cx="3048000" cy="754063"/>
          </a:xfrm>
          <a:prstGeom prst="rect">
            <a:avLst/>
          </a:prstGeom>
          <a:noFill/>
          <a:ln w="12700" cap="sq">
            <a:noFill/>
            <a:miter lim="800000"/>
            <a:headEnd type="none" w="sm" len="sm"/>
            <a:tailEnd type="none" w="sm" len="sm"/>
          </a:ln>
          <a:effectLst/>
        </p:spPr>
        <p:txBody>
          <a:bodyPr anchor="b"/>
          <a:lstStyle/>
          <a:p>
            <a:pPr eaLnBrk="1" hangingPunct="1">
              <a:defRPr/>
            </a:pPr>
            <a:r>
              <a:rPr lang="en-US" altLang="zh-CN" sz="3600" b="1" i="1" u="none" dirty="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rPr>
              <a:t>3.  </a:t>
            </a:r>
            <a:r>
              <a:rPr lang="zh-CN" altLang="en-US" sz="3600" b="1" i="1" u="none" dirty="0">
                <a:solidFill>
                  <a:srgbClr val="FF0000"/>
                </a:solidFill>
                <a:effectLst>
                  <a:outerShdw blurRad="38100" dist="38100" dir="2700000" algn="tl">
                    <a:srgbClr val="C0C0C0"/>
                  </a:outerShdw>
                </a:effectLst>
                <a:latin typeface="Arial" panose="020B0604020202020204" pitchFamily="34" charset="0"/>
                <a:ea typeface="宋体" panose="02010600030101010101" pitchFamily="2" charset="-122"/>
              </a:rPr>
              <a:t>外部设备</a:t>
            </a:r>
          </a:p>
        </p:txBody>
      </p:sp>
      <p:sp>
        <p:nvSpPr>
          <p:cNvPr id="19459" name="Text Box 3"/>
          <p:cNvSpPr txBox="1">
            <a:spLocks noChangeArrowheads="1"/>
          </p:cNvSpPr>
          <p:nvPr/>
        </p:nvSpPr>
        <p:spPr bwMode="auto">
          <a:xfrm>
            <a:off x="2209800" y="1600200"/>
            <a:ext cx="4495800" cy="477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kumimoji="0" lang="zh-CN" altLang="en-US" sz="2800" u="none"/>
              <a:t>外设接口（</a:t>
            </a:r>
            <a:r>
              <a:rPr kumimoji="0" lang="en-US" altLang="zh-CN" sz="2800" u="none"/>
              <a:t>Interface</a:t>
            </a:r>
            <a:r>
              <a:rPr kumimoji="0" lang="zh-CN" altLang="en-US" sz="2800" u="none"/>
              <a:t>）</a:t>
            </a:r>
          </a:p>
          <a:p>
            <a:pPr algn="just">
              <a:spcBef>
                <a:spcPct val="0"/>
              </a:spcBef>
              <a:buClrTx/>
              <a:buFontTx/>
              <a:buNone/>
            </a:pPr>
            <a:endParaRPr kumimoji="0" lang="zh-CN" altLang="en-US" sz="2400" b="0" u="none"/>
          </a:p>
          <a:p>
            <a:pPr algn="just">
              <a:spcBef>
                <a:spcPct val="0"/>
              </a:spcBef>
              <a:buClrTx/>
              <a:buFontTx/>
              <a:buNone/>
            </a:pPr>
            <a:r>
              <a:rPr kumimoji="0" lang="zh-CN" altLang="en-US" sz="2400" b="0" u="none"/>
              <a:t>      </a:t>
            </a:r>
            <a:r>
              <a:rPr kumimoji="0" lang="zh-CN" altLang="en-US" sz="2400" u="none"/>
              <a:t>每个接口包括一组寄存器：</a:t>
            </a:r>
            <a:endParaRPr kumimoji="0" lang="zh-CN" altLang="en-US" sz="2800" u="none"/>
          </a:p>
          <a:p>
            <a:pPr algn="just">
              <a:spcBef>
                <a:spcPct val="0"/>
              </a:spcBef>
              <a:buClrTx/>
              <a:buFontTx/>
              <a:buNone/>
            </a:pPr>
            <a:endParaRPr kumimoji="0" lang="zh-CN" altLang="en-US" sz="2400" u="none"/>
          </a:p>
          <a:p>
            <a:pPr algn="just">
              <a:spcBef>
                <a:spcPct val="0"/>
              </a:spcBef>
              <a:buClrTx/>
              <a:buFontTx/>
              <a:buNone/>
            </a:pPr>
            <a:r>
              <a:rPr kumimoji="0" lang="zh-CN" altLang="en-US" sz="2400" u="none"/>
              <a:t>                </a:t>
            </a:r>
            <a:r>
              <a:rPr kumimoji="0" lang="zh-CN" altLang="en-US" sz="2400" u="none">
                <a:latin typeface="楷体_GB2312" panose="02010609030101010101" pitchFamily="49" charset="-122"/>
                <a:ea typeface="楷体_GB2312" panose="02010609030101010101" pitchFamily="49" charset="-122"/>
              </a:rPr>
              <a:t>数据寄存器</a:t>
            </a:r>
          </a:p>
          <a:p>
            <a:pPr algn="just">
              <a:spcBef>
                <a:spcPct val="0"/>
              </a:spcBef>
              <a:buClrTx/>
              <a:buFontTx/>
              <a:buNone/>
            </a:pPr>
            <a:r>
              <a:rPr kumimoji="0" lang="zh-CN" altLang="en-US" sz="2400" u="none">
                <a:latin typeface="楷体_GB2312" panose="02010609030101010101" pitchFamily="49" charset="-122"/>
                <a:ea typeface="楷体_GB2312" panose="02010609030101010101" pitchFamily="49" charset="-122"/>
              </a:rPr>
              <a:t>        状态寄存器</a:t>
            </a:r>
          </a:p>
          <a:p>
            <a:pPr algn="just">
              <a:spcBef>
                <a:spcPct val="0"/>
              </a:spcBef>
              <a:buClrTx/>
              <a:buFontTx/>
              <a:buNone/>
            </a:pPr>
            <a:r>
              <a:rPr kumimoji="0" lang="zh-CN" altLang="en-US" sz="2400" u="none">
                <a:latin typeface="楷体_GB2312" panose="02010609030101010101" pitchFamily="49" charset="-122"/>
                <a:ea typeface="楷体_GB2312" panose="02010609030101010101" pitchFamily="49" charset="-122"/>
              </a:rPr>
              <a:t>        命令寄存器</a:t>
            </a:r>
          </a:p>
          <a:p>
            <a:pPr algn="just">
              <a:spcBef>
                <a:spcPct val="0"/>
              </a:spcBef>
              <a:buClrTx/>
              <a:buFontTx/>
              <a:buNone/>
            </a:pPr>
            <a:endParaRPr kumimoji="0" lang="zh-CN" altLang="en-US" sz="2400" u="none"/>
          </a:p>
          <a:p>
            <a:pPr algn="just">
              <a:spcBef>
                <a:spcPct val="0"/>
              </a:spcBef>
              <a:buClrTx/>
              <a:buFontTx/>
              <a:buNone/>
            </a:pPr>
            <a:r>
              <a:rPr kumimoji="0" lang="zh-CN" altLang="en-US" sz="2800" u="none"/>
              <a:t>端口（</a:t>
            </a:r>
            <a:r>
              <a:rPr kumimoji="0" lang="en-US" altLang="zh-CN" sz="2800" u="none"/>
              <a:t>Port</a:t>
            </a:r>
            <a:r>
              <a:rPr kumimoji="0" lang="zh-CN" altLang="en-US" sz="2800" u="none"/>
              <a:t>）地址</a:t>
            </a:r>
            <a:r>
              <a:rPr kumimoji="0" lang="zh-CN" altLang="en-US" sz="2400" u="none">
                <a:ea typeface="华文中宋" panose="02010600040101010101" pitchFamily="2" charset="-122"/>
              </a:rPr>
              <a:t>          </a:t>
            </a:r>
          </a:p>
          <a:p>
            <a:pPr algn="just">
              <a:spcBef>
                <a:spcPct val="0"/>
              </a:spcBef>
              <a:buClrTx/>
              <a:buFontTx/>
              <a:buNone/>
            </a:pPr>
            <a:endParaRPr kumimoji="0" lang="zh-CN" altLang="en-US" sz="2400" u="none">
              <a:ea typeface="华文中宋" panose="02010600040101010101" pitchFamily="2" charset="-122"/>
            </a:endParaRPr>
          </a:p>
          <a:p>
            <a:pPr algn="just">
              <a:spcBef>
                <a:spcPct val="0"/>
              </a:spcBef>
              <a:buClrTx/>
              <a:buFontTx/>
              <a:buNone/>
            </a:pPr>
            <a:r>
              <a:rPr kumimoji="0" lang="zh-CN" altLang="en-US" sz="2400" u="none">
                <a:ea typeface="华文中宋" panose="02010600040101010101" pitchFamily="2" charset="-122"/>
              </a:rPr>
              <a:t>                </a:t>
            </a:r>
            <a:r>
              <a:rPr kumimoji="0" lang="en-US" altLang="zh-CN" sz="2400" u="none">
                <a:ea typeface="华文中宋" panose="02010600040101010101" pitchFamily="2" charset="-122"/>
              </a:rPr>
              <a:t>0000</a:t>
            </a:r>
            <a:r>
              <a:rPr kumimoji="0" lang="zh-CN" altLang="en-US" sz="2400" u="none">
                <a:ea typeface="华文中宋" panose="02010600040101010101" pitchFamily="2" charset="-122"/>
              </a:rPr>
              <a:t>～</a:t>
            </a:r>
            <a:r>
              <a:rPr kumimoji="0" lang="en-US" altLang="zh-CN" sz="2400" u="none">
                <a:ea typeface="华文中宋" panose="02010600040101010101" pitchFamily="2" charset="-122"/>
              </a:rPr>
              <a:t>FFFFH</a:t>
            </a:r>
            <a:r>
              <a:rPr kumimoji="0" lang="en-US" altLang="zh-CN" sz="2800" u="none"/>
              <a:t> </a:t>
            </a:r>
          </a:p>
          <a:p>
            <a:pPr algn="just">
              <a:spcBef>
                <a:spcPct val="0"/>
              </a:spcBef>
              <a:buClrTx/>
              <a:buFontTx/>
              <a:buNone/>
            </a:pPr>
            <a:r>
              <a:rPr kumimoji="0" lang="en-US" altLang="zh-CN" sz="2800" u="none">
                <a:solidFill>
                  <a:srgbClr val="FF0000"/>
                </a:solidFill>
              </a:rPr>
              <a:t>              0000</a:t>
            </a:r>
            <a:r>
              <a:rPr kumimoji="0" lang="zh-CN" altLang="en-US" sz="2800" u="none">
                <a:solidFill>
                  <a:srgbClr val="FF0000"/>
                </a:solidFill>
                <a:ea typeface="华文中宋" panose="02010600040101010101" pitchFamily="2" charset="-122"/>
              </a:rPr>
              <a:t> ～</a:t>
            </a:r>
            <a:r>
              <a:rPr kumimoji="0" lang="en-US" altLang="zh-CN" sz="2800" u="none">
                <a:solidFill>
                  <a:srgbClr val="FF0000"/>
                </a:solidFill>
                <a:ea typeface="华文中宋" panose="02010600040101010101" pitchFamily="2" charset="-122"/>
              </a:rPr>
              <a:t>00FFH</a:t>
            </a:r>
            <a:endParaRPr kumimoji="0" lang="en-US" altLang="zh-CN" sz="2800" u="none">
              <a:solidFill>
                <a:srgbClr val="FF0000"/>
              </a:solidFill>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eaLnBrk="1" hangingPunct="1">
              <a:defRPr/>
            </a:pPr>
            <a:r>
              <a:rPr lang="zh-CN" altLang="en-US" dirty="0"/>
              <a:t>举例</a:t>
            </a:r>
          </a:p>
        </p:txBody>
      </p:sp>
      <p:sp>
        <p:nvSpPr>
          <p:cNvPr id="3" name="内容占位符 2"/>
          <p:cNvSpPr>
            <a:spLocks noGrp="1" noChangeArrowheads="1"/>
          </p:cNvSpPr>
          <p:nvPr>
            <p:ph idx="1"/>
          </p:nvPr>
        </p:nvSpPr>
        <p:spPr/>
        <p:txBody>
          <a:bodyPr/>
          <a:lstStyle/>
          <a:p>
            <a:pPr eaLnBrk="1" hangingPunct="1"/>
            <a:r>
              <a:rPr lang="zh-CN" altLang="en-US"/>
              <a:t>要输入端口</a:t>
            </a:r>
            <a:r>
              <a:rPr lang="en-US" altLang="zh-CN"/>
              <a:t>1234H</a:t>
            </a:r>
            <a:r>
              <a:rPr lang="zh-CN" altLang="en-US"/>
              <a:t>中的</a:t>
            </a:r>
            <a:r>
              <a:rPr lang="en-US" altLang="zh-CN"/>
              <a:t>8</a:t>
            </a:r>
            <a:r>
              <a:rPr lang="zh-CN" altLang="en-US"/>
              <a:t>位数据，其指令应是（                   ）</a:t>
            </a:r>
            <a:endParaRPr lang="en-US" altLang="zh-CN"/>
          </a:p>
          <a:p>
            <a:pPr eaLnBrk="1" hangingPunct="1"/>
            <a:r>
              <a:rPr lang="en-US" altLang="zh-CN"/>
              <a:t>mov  dx,1234h</a:t>
            </a:r>
          </a:p>
          <a:p>
            <a:pPr eaLnBrk="1" hangingPunct="1"/>
            <a:r>
              <a:rPr lang="en-US" altLang="zh-CN"/>
              <a:t>in   al,dx</a:t>
            </a: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896938" y="742950"/>
            <a:ext cx="7772400" cy="762000"/>
          </a:xfrm>
        </p:spPr>
        <p:txBody>
          <a:bodyPr/>
          <a:lstStyle/>
          <a:p>
            <a:pPr eaLnBrk="1" hangingPunct="1">
              <a:defRPr/>
            </a:pPr>
            <a:r>
              <a:rPr lang="zh-CN" altLang="en-US" dirty="0"/>
              <a:t>汇编语言源程序组成</a:t>
            </a:r>
          </a:p>
        </p:txBody>
      </p:sp>
      <p:sp>
        <p:nvSpPr>
          <p:cNvPr id="21507" name="Rectangle 4"/>
          <p:cNvSpPr>
            <a:spLocks noGrp="1" noChangeArrowheads="1"/>
          </p:cNvSpPr>
          <p:nvPr>
            <p:ph type="body" idx="1"/>
          </p:nvPr>
        </p:nvSpPr>
        <p:spPr>
          <a:xfrm>
            <a:off x="914400" y="2133600"/>
            <a:ext cx="7772400" cy="3962400"/>
          </a:xfrm>
        </p:spPr>
        <p:txBody>
          <a:bodyPr/>
          <a:lstStyle/>
          <a:p>
            <a:pPr eaLnBrk="1" hangingPunct="1">
              <a:lnSpc>
                <a:spcPct val="150000"/>
              </a:lnSpc>
              <a:spcBef>
                <a:spcPct val="0"/>
              </a:spcBef>
              <a:buClr>
                <a:schemeClr val="tx2"/>
              </a:buClr>
              <a:buSzPct val="90000"/>
              <a:buFont typeface="Symbol" panose="05050102010706020507" pitchFamily="18" charset="2"/>
              <a:buNone/>
            </a:pPr>
            <a:r>
              <a:rPr lang="en-US" altLang="zh-CN" b="0">
                <a:latin typeface="Arial" panose="020B0604020202020204" pitchFamily="34" charset="0"/>
              </a:rPr>
              <a:t> </a:t>
            </a:r>
            <a:r>
              <a:rPr lang="en-US" altLang="zh-CN">
                <a:latin typeface="Arial" panose="020B0604020202020204" pitchFamily="34" charset="0"/>
                <a:sym typeface="Symbol" panose="05050102010706020507" pitchFamily="18" charset="2"/>
              </a:rPr>
              <a:t>  </a:t>
            </a:r>
            <a:r>
              <a:rPr lang="zh-CN" altLang="en-US">
                <a:latin typeface="Arial" panose="020B0604020202020204" pitchFamily="34" charset="0"/>
              </a:rPr>
              <a:t>汇编程序分段结构</a:t>
            </a:r>
          </a:p>
          <a:p>
            <a:pPr eaLnBrk="1" hangingPunct="1">
              <a:lnSpc>
                <a:spcPct val="150000"/>
              </a:lnSpc>
              <a:spcBef>
                <a:spcPct val="0"/>
              </a:spcBef>
              <a:buClr>
                <a:schemeClr val="tx2"/>
              </a:buClr>
              <a:buSzPct val="90000"/>
              <a:buFont typeface="Symbol" panose="05050102010706020507" pitchFamily="18" charset="2"/>
              <a:buNone/>
            </a:pPr>
            <a:r>
              <a:rPr lang="zh-CN" altLang="en-US">
                <a:latin typeface="Arial" panose="020B0604020202020204" pitchFamily="34" charset="0"/>
                <a:sym typeface="Symbol" panose="05050102010706020507" pitchFamily="18" charset="2"/>
              </a:rPr>
              <a:t>   </a:t>
            </a:r>
            <a:r>
              <a:rPr lang="zh-CN" altLang="en-US">
                <a:latin typeface="Arial" panose="020B0604020202020204" pitchFamily="34" charset="0"/>
              </a:rPr>
              <a:t>伪操作</a:t>
            </a:r>
          </a:p>
          <a:p>
            <a:pPr eaLnBrk="1" hangingPunct="1">
              <a:lnSpc>
                <a:spcPct val="150000"/>
              </a:lnSpc>
              <a:spcBef>
                <a:spcPct val="0"/>
              </a:spcBef>
              <a:buClr>
                <a:schemeClr val="tx2"/>
              </a:buClr>
              <a:buSzPct val="90000"/>
              <a:buFont typeface="Symbol" panose="05050102010706020507" pitchFamily="18" charset="2"/>
              <a:buNone/>
            </a:pPr>
            <a:r>
              <a:rPr lang="zh-CN" altLang="en-US">
                <a:latin typeface="Arial" panose="020B0604020202020204" pitchFamily="34" charset="0"/>
              </a:rPr>
              <a:t> </a:t>
            </a:r>
            <a:r>
              <a:rPr lang="zh-CN" altLang="en-US">
                <a:latin typeface="Arial" panose="020B0604020202020204" pitchFamily="34" charset="0"/>
                <a:sym typeface="Symbol" panose="05050102010706020507" pitchFamily="18" charset="2"/>
              </a:rPr>
              <a:t>  </a:t>
            </a:r>
            <a:r>
              <a:rPr lang="zh-CN" altLang="en-US">
                <a:latin typeface="Arial" panose="020B0604020202020204" pitchFamily="34" charset="0"/>
              </a:rPr>
              <a:t>汇编语言程序格式</a:t>
            </a:r>
          </a:p>
          <a:p>
            <a:pPr eaLnBrk="1" hangingPunct="1">
              <a:lnSpc>
                <a:spcPct val="150000"/>
              </a:lnSpc>
              <a:spcBef>
                <a:spcPct val="0"/>
              </a:spcBef>
              <a:buClr>
                <a:schemeClr val="tx2"/>
              </a:buClr>
              <a:buSzPct val="90000"/>
              <a:buFont typeface="Symbol" panose="05050102010706020507" pitchFamily="18" charset="2"/>
              <a:buNone/>
            </a:pPr>
            <a:r>
              <a:rPr lang="zh-CN" altLang="en-US">
                <a:latin typeface="Arial" panose="020B0604020202020204" pitchFamily="34" charset="0"/>
                <a:sym typeface="Symbol" panose="05050102010706020507" pitchFamily="18" charset="2"/>
              </a:rPr>
              <a:t>   </a:t>
            </a:r>
            <a:r>
              <a:rPr lang="zh-CN" altLang="en-US">
                <a:latin typeface="Arial" panose="020B0604020202020204" pitchFamily="34" charset="0"/>
              </a:rPr>
              <a:t>汇编语言程序的上机过程</a:t>
            </a:r>
            <a:endParaRPr lang="zh-CN" altLang="en-US">
              <a:latin typeface="Arial" panose="020B0604020202020204" pitchFamily="34" charset="0"/>
              <a:sym typeface="Symbol" panose="05050102010706020507" pitchFamily="18" charset="2"/>
            </a:endParaRPr>
          </a:p>
        </p:txBody>
      </p:sp>
    </p:spTree>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灯片编号占位符 53"/>
          <p:cNvSpPr>
            <a:spLocks noGrp="1"/>
          </p:cNvSpPr>
          <p:nvPr>
            <p:ph type="sldNum" sz="quarter" idx="12"/>
          </p:nvPr>
        </p:nvSpPr>
        <p:spPr/>
        <p:txBody>
          <a:bodyPr/>
          <a:lstStyle/>
          <a:p>
            <a:pPr>
              <a:defRPr/>
            </a:pPr>
            <a:fld id="{9687F8C8-2B7B-4E96-8BC7-B801CE771CEE}" type="slidenum">
              <a:rPr lang="en-US" altLang="zh-CN"/>
              <a:t>14</a:t>
            </a:fld>
            <a:endParaRPr lang="en-US" altLang="zh-CN"/>
          </a:p>
        </p:txBody>
      </p:sp>
      <p:graphicFrame>
        <p:nvGraphicFramePr>
          <p:cNvPr id="762882" name="Group 2"/>
          <p:cNvGraphicFramePr>
            <a:graphicFrameLocks noGrp="1"/>
          </p:cNvGraphicFramePr>
          <p:nvPr>
            <p:ph/>
          </p:nvPr>
        </p:nvGraphicFramePr>
        <p:xfrm>
          <a:off x="179388" y="404813"/>
          <a:ext cx="8758237" cy="5641978"/>
        </p:xfrm>
        <a:graphic>
          <a:graphicData uri="http://schemas.openxmlformats.org/drawingml/2006/table">
            <a:tbl>
              <a:tblPr/>
              <a:tblGrid>
                <a:gridCol w="1617662">
                  <a:extLst>
                    <a:ext uri="{9D8B030D-6E8A-4147-A177-3AD203B41FA5}">
                      <a16:colId xmlns:a16="http://schemas.microsoft.com/office/drawing/2014/main" val="20000"/>
                    </a:ext>
                  </a:extLst>
                </a:gridCol>
                <a:gridCol w="1046163">
                  <a:extLst>
                    <a:ext uri="{9D8B030D-6E8A-4147-A177-3AD203B41FA5}">
                      <a16:colId xmlns:a16="http://schemas.microsoft.com/office/drawing/2014/main" val="20001"/>
                    </a:ext>
                  </a:extLst>
                </a:gridCol>
                <a:gridCol w="3024187">
                  <a:extLst>
                    <a:ext uri="{9D8B030D-6E8A-4147-A177-3AD203B41FA5}">
                      <a16:colId xmlns:a16="http://schemas.microsoft.com/office/drawing/2014/main" val="20002"/>
                    </a:ext>
                  </a:extLst>
                </a:gridCol>
                <a:gridCol w="3070225">
                  <a:extLst>
                    <a:ext uri="{9D8B030D-6E8A-4147-A177-3AD203B41FA5}">
                      <a16:colId xmlns:a16="http://schemas.microsoft.com/office/drawing/2014/main" val="20003"/>
                    </a:ext>
                  </a:extLst>
                </a:gridCol>
              </a:tblGrid>
              <a:tr h="763587">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13">
                <a:tc rowSpan="6">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SEGMENT</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SEGMENT[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定位类型</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rowSpan="4">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定义一个逻辑段</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4500">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组合类型</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r>
                        <a:rPr kumimoji="0" lang="zh-CN" alt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2"/>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ENDS</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3"/>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ENDS</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4"/>
                  </a:ext>
                </a:extLst>
              </a:tr>
              <a:tr h="444500">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ASSUME</a:t>
                      </a:r>
                      <a:endParaRPr kumimoji="0" lang="en-US" altLang="zh-CN" sz="18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ASSUME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段寄存器名：段段名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设定逻辑段段址所在的段寄存器</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将地址计数器置为表达式的值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4500">
                <a:tc rowSpan="5">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数据定义伪操作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DB</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DB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FF0000"/>
                          </a:solidFill>
                          <a:effectLst/>
                          <a:latin typeface="宋体" panose="02010600030101010101" pitchFamily="2" charset="-122"/>
                          <a:ea typeface="宋体" panose="02010600030101010101" pitchFamily="2" charset="-122"/>
                        </a:rPr>
                        <a:t>DW</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DW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DD</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DD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定义双字（</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44500">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DQ</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DQ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定义四字（</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DT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 DT </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定义十字节（</a:t>
                      </a:r>
                      <a:r>
                        <a:rPr kumimoji="0" lang="en-US" altLang="zh-CN"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r>
                        <a:rPr kumimoji="0" lang="zh-CN" altLang="en-US" sz="16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灯片编号占位符 54"/>
          <p:cNvSpPr>
            <a:spLocks noGrp="1"/>
          </p:cNvSpPr>
          <p:nvPr>
            <p:ph type="sldNum" sz="quarter" idx="12"/>
          </p:nvPr>
        </p:nvSpPr>
        <p:spPr/>
        <p:txBody>
          <a:bodyPr/>
          <a:lstStyle/>
          <a:p>
            <a:pPr>
              <a:defRPr/>
            </a:pPr>
            <a:fld id="{91AB8BD0-BFDE-42B6-ACCD-6454402A7361}" type="slidenum">
              <a:rPr lang="en-US" altLang="zh-CN"/>
              <a:t>15</a:t>
            </a:fld>
            <a:endParaRPr lang="en-US" altLang="zh-CN"/>
          </a:p>
        </p:txBody>
      </p:sp>
      <p:graphicFrame>
        <p:nvGraphicFramePr>
          <p:cNvPr id="763906" name="Group 2"/>
          <p:cNvGraphicFramePr>
            <a:graphicFrameLocks noGrp="1"/>
          </p:cNvGraphicFramePr>
          <p:nvPr>
            <p:ph/>
          </p:nvPr>
        </p:nvGraphicFramePr>
        <p:xfrm>
          <a:off x="250825" y="1052513"/>
          <a:ext cx="8640763" cy="4297614"/>
        </p:xfrm>
        <a:graphic>
          <a:graphicData uri="http://schemas.openxmlformats.org/drawingml/2006/table">
            <a:tbl>
              <a:tblPr/>
              <a:tblGrid>
                <a:gridCol w="1295400">
                  <a:extLst>
                    <a:ext uri="{9D8B030D-6E8A-4147-A177-3AD203B41FA5}">
                      <a16:colId xmlns:a16="http://schemas.microsoft.com/office/drawing/2014/main" val="20000"/>
                    </a:ext>
                  </a:extLst>
                </a:gridCol>
                <a:gridCol w="960438">
                  <a:extLst>
                    <a:ext uri="{9D8B030D-6E8A-4147-A177-3AD203B41FA5}">
                      <a16:colId xmlns:a16="http://schemas.microsoft.com/office/drawing/2014/main" val="20001"/>
                    </a:ext>
                  </a:extLst>
                </a:gridCol>
                <a:gridCol w="3417887">
                  <a:extLst>
                    <a:ext uri="{9D8B030D-6E8A-4147-A177-3AD203B41FA5}">
                      <a16:colId xmlns:a16="http://schemas.microsoft.com/office/drawing/2014/main" val="20002"/>
                    </a:ext>
                  </a:extLst>
                </a:gridCol>
                <a:gridCol w="2967038">
                  <a:extLst>
                    <a:ext uri="{9D8B030D-6E8A-4147-A177-3AD203B41FA5}">
                      <a16:colId xmlns:a16="http://schemas.microsoft.com/office/drawing/2014/main" val="20003"/>
                    </a:ext>
                  </a:extLst>
                </a:gridCol>
              </a:tblGrid>
              <a:tr h="640033">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733">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符号定义伪操作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EQU</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EQU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给名字赋值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同上，但允许重复赋值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定义变量或标号的类型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5733">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PROC</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PROC [NEAR/FAR]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定义一个过程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5"/>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6"/>
                  </a:ext>
                </a:extLst>
              </a:tr>
              <a:tr h="365733">
                <a:tc rowSpan="4">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模块定义与连接伪操作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NAME</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NAME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模块名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指定模块名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标号</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表示源程序结束</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PUBLIC</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PUBLIC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符号</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说明本模块中的公共符号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65733">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EXTRN</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EXTRN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名字：类型</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说明本模块中所用外部符号</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17" marB="45717"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fld id="{51D25DB8-3F32-45DA-A3F4-96A0B0607EEF}" type="slidenum">
              <a:rPr lang="en-US" altLang="zh-CN"/>
              <a:t>16</a:t>
            </a:fld>
            <a:endParaRPr lang="en-US" altLang="zh-CN"/>
          </a:p>
        </p:txBody>
      </p:sp>
      <p:sp>
        <p:nvSpPr>
          <p:cNvPr id="24579" name="Rectangle 4"/>
          <p:cNvSpPr>
            <a:spLocks noRot="1" noChangeArrowheads="1"/>
          </p:cNvSpPr>
          <p:nvPr/>
        </p:nvSpPr>
        <p:spPr bwMode="auto">
          <a:xfrm>
            <a:off x="250825" y="476250"/>
            <a:ext cx="8540750" cy="67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hlink"/>
              </a:solidFill>
              <a:latin typeface="Arial" panose="020B0604020202020204" pitchFamily="34" charset="0"/>
            </a:endParaRPr>
          </a:p>
        </p:txBody>
      </p:sp>
      <p:sp>
        <p:nvSpPr>
          <p:cNvPr id="340997" name="Rectangle 5"/>
          <p:cNvSpPr>
            <a:spLocks noRot="1" noChangeArrowheads="1"/>
          </p:cNvSpPr>
          <p:nvPr/>
        </p:nvSpPr>
        <p:spPr bwMode="auto">
          <a:xfrm>
            <a:off x="1187450" y="2349500"/>
            <a:ext cx="5543550" cy="612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Char char="§"/>
            </a:pPr>
            <a:r>
              <a:rPr lang="zh-CN" altLang="en-US" sz="2800" b="0" dirty="0">
                <a:latin typeface="Arial" panose="020B0604020202020204" pitchFamily="34" charset="0"/>
              </a:rPr>
              <a:t>汇编语言的分段结构：</a:t>
            </a:r>
            <a:endParaRPr lang="zh-CN" altLang="en-US" b="0" dirty="0">
              <a:solidFill>
                <a:schemeClr val="bg2"/>
              </a:solidFill>
              <a:latin typeface="Arial" panose="020B0604020202020204" pitchFamily="34" charset="0"/>
            </a:endParaRPr>
          </a:p>
        </p:txBody>
      </p:sp>
      <p:sp>
        <p:nvSpPr>
          <p:cNvPr id="24581" name="Rectangle 6"/>
          <p:cNvSpPr>
            <a:spLocks noChangeArrowheads="1"/>
          </p:cNvSpPr>
          <p:nvPr/>
        </p:nvSpPr>
        <p:spPr bwMode="auto">
          <a:xfrm>
            <a:off x="611188" y="1154113"/>
            <a:ext cx="7056437"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a:solidFill>
                  <a:srgbClr val="FF0000"/>
                </a:solidFill>
                <a:latin typeface="Arial" panose="020B0604020202020204" pitchFamily="34" charset="0"/>
              </a:rPr>
              <a:t>2.1  </a:t>
            </a:r>
            <a:r>
              <a:rPr lang="zh-CN" altLang="en-US" sz="3200">
                <a:solidFill>
                  <a:srgbClr val="FF0000"/>
                </a:solidFill>
                <a:latin typeface="Arial" panose="020B0604020202020204" pitchFamily="34" charset="0"/>
              </a:rPr>
              <a:t>汇编语言程序的基本结构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40997">
                                            <p:txEl>
                                              <p:pRg st="0" end="0"/>
                                            </p:txEl>
                                          </p:spTgt>
                                        </p:tgtEl>
                                        <p:attrNameLst>
                                          <p:attrName>style.visibility</p:attrName>
                                        </p:attrNameLst>
                                      </p:cBhvr>
                                      <p:to>
                                        <p:strVal val="visible"/>
                                      </p:to>
                                    </p:set>
                                    <p:animEffect transition="in" filter="blinds(horizontal)">
                                      <p:cBhvr>
                                        <p:cTn id="7" dur="500"/>
                                        <p:tgtEl>
                                          <p:spTgt spid="3409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752600" y="609600"/>
            <a:ext cx="38909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u="none">
                <a:solidFill>
                  <a:srgbClr val="000000"/>
                </a:solidFill>
                <a:latin typeface="Arial" panose="020B0604020202020204" pitchFamily="34" charset="0"/>
              </a:rPr>
              <a:t>汇编语言程序格式</a:t>
            </a:r>
          </a:p>
        </p:txBody>
      </p:sp>
      <p:sp>
        <p:nvSpPr>
          <p:cNvPr id="25603" name="Text Box 3"/>
          <p:cNvSpPr txBox="1">
            <a:spLocks noChangeArrowheads="1"/>
          </p:cNvSpPr>
          <p:nvPr/>
        </p:nvSpPr>
        <p:spPr bwMode="auto">
          <a:xfrm>
            <a:off x="1905000" y="5638800"/>
            <a:ext cx="480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a:spcBef>
                <a:spcPct val="50000"/>
              </a:spcBef>
              <a:buClrTx/>
              <a:buFontTx/>
              <a:buNone/>
            </a:pPr>
            <a:r>
              <a:rPr lang="zh-CN" altLang="en-US" u="none">
                <a:solidFill>
                  <a:srgbClr val="0000FF"/>
                </a:solidFill>
                <a:latin typeface="楷体_GB2312" panose="02010609030101010101" pitchFamily="49" charset="-122"/>
                <a:ea typeface="楷体_GB2312" panose="02010609030101010101" pitchFamily="49" charset="-122"/>
              </a:rPr>
              <a:t>表达式</a:t>
            </a:r>
            <a:r>
              <a:rPr lang="zh-CN" altLang="en-US" u="none">
                <a:solidFill>
                  <a:srgbClr val="000000"/>
                </a:solidFill>
                <a:latin typeface="楷体_GB2312" panose="02010609030101010101" pitchFamily="49" charset="-122"/>
                <a:ea typeface="楷体_GB2312" panose="02010609030101010101" pitchFamily="49" charset="-122"/>
              </a:rPr>
              <a:t>：数字表达式  地址表达式</a:t>
            </a:r>
            <a:endParaRPr lang="zh-CN" altLang="en-US" b="0" u="none">
              <a:solidFill>
                <a:srgbClr val="000000"/>
              </a:solidFill>
              <a:latin typeface="楷体_GB2312" panose="02010609030101010101" pitchFamily="49" charset="-122"/>
              <a:ea typeface="楷体_GB2312" panose="02010609030101010101" pitchFamily="49" charset="-122"/>
            </a:endParaRPr>
          </a:p>
        </p:txBody>
      </p:sp>
      <p:grpSp>
        <p:nvGrpSpPr>
          <p:cNvPr id="25604" name="Group 4"/>
          <p:cNvGrpSpPr/>
          <p:nvPr/>
        </p:nvGrpSpPr>
        <p:grpSpPr bwMode="auto">
          <a:xfrm>
            <a:off x="1908175" y="1341438"/>
            <a:ext cx="6584950" cy="3792537"/>
            <a:chOff x="1200" y="576"/>
            <a:chExt cx="4148" cy="2389"/>
          </a:xfrm>
        </p:grpSpPr>
        <p:sp>
          <p:nvSpPr>
            <p:cNvPr id="25605" name="Text Box 5"/>
            <p:cNvSpPr txBox="1">
              <a:spLocks noChangeArrowheads="1"/>
            </p:cNvSpPr>
            <p:nvPr/>
          </p:nvSpPr>
          <p:spPr bwMode="auto">
            <a:xfrm>
              <a:off x="1488" y="1872"/>
              <a:ext cx="3860" cy="1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nSpc>
                  <a:spcPct val="50000"/>
                </a:lnSpc>
                <a:spcBef>
                  <a:spcPct val="50000"/>
                </a:spcBef>
                <a:buClrTx/>
                <a:buFontTx/>
                <a:buNone/>
              </a:pPr>
              <a:r>
                <a:rPr lang="zh-CN" altLang="en-US" u="none">
                  <a:solidFill>
                    <a:srgbClr val="0000FF"/>
                  </a:solidFill>
                  <a:latin typeface="楷体_GB2312" panose="02010609030101010101" pitchFamily="49" charset="-122"/>
                  <a:ea typeface="楷体_GB2312" panose="02010609030101010101" pitchFamily="49" charset="-122"/>
                </a:rPr>
                <a:t>标号     指令    寄存器  说明程序或语句</a:t>
              </a:r>
            </a:p>
            <a:p>
              <a:pPr>
                <a:lnSpc>
                  <a:spcPct val="50000"/>
                </a:lnSpc>
                <a:spcBef>
                  <a:spcPct val="50000"/>
                </a:spcBef>
                <a:buClrTx/>
                <a:buFontTx/>
                <a:buNone/>
              </a:pPr>
              <a:r>
                <a:rPr lang="zh-CN" altLang="en-US" u="none">
                  <a:solidFill>
                    <a:srgbClr val="0000FF"/>
                  </a:solidFill>
                  <a:latin typeface="楷体_GB2312" panose="02010609030101010101" pitchFamily="49" charset="-122"/>
                  <a:ea typeface="楷体_GB2312" panose="02010609030101010101" pitchFamily="49" charset="-122"/>
                </a:rPr>
                <a:t>变量     伪指令  标号    的功能</a:t>
              </a:r>
            </a:p>
            <a:p>
              <a:pPr>
                <a:lnSpc>
                  <a:spcPct val="50000"/>
                </a:lnSpc>
                <a:spcBef>
                  <a:spcPct val="50000"/>
                </a:spcBef>
                <a:buClrTx/>
                <a:buFontTx/>
                <a:buNone/>
              </a:pPr>
              <a:r>
                <a:rPr lang="zh-CN" altLang="en-US" u="none">
                  <a:solidFill>
                    <a:srgbClr val="000000"/>
                  </a:solidFill>
                  <a:latin typeface="楷体_GB2312" panose="02010609030101010101" pitchFamily="49" charset="-122"/>
                  <a:ea typeface="楷体_GB2312" panose="02010609030101010101" pitchFamily="49" charset="-122"/>
                </a:rPr>
                <a:t>         </a:t>
              </a:r>
              <a:r>
                <a:rPr lang="zh-CN" altLang="en-US" u="none">
                  <a:solidFill>
                    <a:srgbClr val="0000FF"/>
                  </a:solidFill>
                  <a:latin typeface="楷体_GB2312" panose="02010609030101010101" pitchFamily="49" charset="-122"/>
                  <a:ea typeface="楷体_GB2312" panose="02010609030101010101" pitchFamily="49" charset="-122"/>
                </a:rPr>
                <a:t>宏指令</a:t>
              </a:r>
              <a:r>
                <a:rPr lang="zh-CN" altLang="en-US" u="none">
                  <a:solidFill>
                    <a:srgbClr val="000000"/>
                  </a:solidFill>
                  <a:latin typeface="楷体_GB2312" panose="02010609030101010101" pitchFamily="49" charset="-122"/>
                  <a:ea typeface="楷体_GB2312" panose="02010609030101010101" pitchFamily="49" charset="-122"/>
                </a:rPr>
                <a:t>  </a:t>
              </a:r>
              <a:r>
                <a:rPr lang="zh-CN" altLang="en-US" u="none">
                  <a:solidFill>
                    <a:srgbClr val="0000FF"/>
                  </a:solidFill>
                  <a:latin typeface="楷体_GB2312" panose="02010609030101010101" pitchFamily="49" charset="-122"/>
                  <a:ea typeface="楷体_GB2312" panose="02010609030101010101" pitchFamily="49" charset="-122"/>
                </a:rPr>
                <a:t>变量</a:t>
              </a:r>
            </a:p>
            <a:p>
              <a:pPr>
                <a:lnSpc>
                  <a:spcPct val="50000"/>
                </a:lnSpc>
                <a:spcBef>
                  <a:spcPct val="50000"/>
                </a:spcBef>
                <a:buClrTx/>
                <a:buFontTx/>
                <a:buNone/>
              </a:pPr>
              <a:r>
                <a:rPr lang="zh-CN" altLang="en-US" u="none">
                  <a:solidFill>
                    <a:srgbClr val="000000"/>
                  </a:solidFill>
                  <a:latin typeface="楷体_GB2312" panose="02010609030101010101" pitchFamily="49" charset="-122"/>
                  <a:ea typeface="楷体_GB2312" panose="02010609030101010101" pitchFamily="49" charset="-122"/>
                </a:rPr>
                <a:t>                 </a:t>
              </a:r>
              <a:r>
                <a:rPr lang="zh-CN" altLang="en-US" u="none">
                  <a:solidFill>
                    <a:srgbClr val="0000FF"/>
                  </a:solidFill>
                  <a:latin typeface="楷体_GB2312" panose="02010609030101010101" pitchFamily="49" charset="-122"/>
                  <a:ea typeface="楷体_GB2312" panose="02010609030101010101" pitchFamily="49" charset="-122"/>
                </a:rPr>
                <a:t>常数</a:t>
              </a:r>
            </a:p>
            <a:p>
              <a:pPr>
                <a:lnSpc>
                  <a:spcPct val="50000"/>
                </a:lnSpc>
                <a:spcBef>
                  <a:spcPct val="50000"/>
                </a:spcBef>
                <a:buClrTx/>
                <a:buFontTx/>
                <a:buNone/>
              </a:pPr>
              <a:r>
                <a:rPr lang="zh-CN" altLang="en-US" u="none">
                  <a:solidFill>
                    <a:srgbClr val="000000"/>
                  </a:solidFill>
                  <a:latin typeface="楷体_GB2312" panose="02010609030101010101" pitchFamily="49" charset="-122"/>
                  <a:ea typeface="楷体_GB2312" panose="02010609030101010101" pitchFamily="49" charset="-122"/>
                </a:rPr>
                <a:t>                 </a:t>
              </a:r>
              <a:r>
                <a:rPr lang="zh-CN" altLang="en-US" u="none">
                  <a:solidFill>
                    <a:srgbClr val="0000FF"/>
                  </a:solidFill>
                  <a:latin typeface="楷体_GB2312" panose="02010609030101010101" pitchFamily="49" charset="-122"/>
                  <a:ea typeface="楷体_GB2312" panose="02010609030101010101" pitchFamily="49" charset="-122"/>
                </a:rPr>
                <a:t>表达式</a:t>
              </a:r>
            </a:p>
          </p:txBody>
        </p:sp>
        <p:sp>
          <p:nvSpPr>
            <p:cNvPr id="25606" name="Line 6"/>
            <p:cNvSpPr>
              <a:spLocks noChangeShapeType="1"/>
            </p:cNvSpPr>
            <p:nvPr/>
          </p:nvSpPr>
          <p:spPr bwMode="auto">
            <a:xfrm>
              <a:off x="1728" y="1536"/>
              <a:ext cx="0" cy="24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7" name="Line 7"/>
            <p:cNvSpPr>
              <a:spLocks noChangeShapeType="1"/>
            </p:cNvSpPr>
            <p:nvPr/>
          </p:nvSpPr>
          <p:spPr bwMode="auto">
            <a:xfrm>
              <a:off x="2592" y="1536"/>
              <a:ext cx="0" cy="24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8" name="Line 8"/>
            <p:cNvSpPr>
              <a:spLocks noChangeShapeType="1"/>
            </p:cNvSpPr>
            <p:nvPr/>
          </p:nvSpPr>
          <p:spPr bwMode="auto">
            <a:xfrm>
              <a:off x="3408" y="1536"/>
              <a:ext cx="0" cy="24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09" name="Line 9"/>
            <p:cNvSpPr>
              <a:spLocks noChangeShapeType="1"/>
            </p:cNvSpPr>
            <p:nvPr/>
          </p:nvSpPr>
          <p:spPr bwMode="auto">
            <a:xfrm>
              <a:off x="4368" y="1536"/>
              <a:ext cx="0" cy="240"/>
            </a:xfrm>
            <a:prstGeom prst="line">
              <a:avLst/>
            </a:prstGeom>
            <a:noFill/>
            <a:ln w="12700" cap="sq">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25610" name="Text Box 10"/>
            <p:cNvSpPr txBox="1">
              <a:spLocks noChangeArrowheads="1"/>
            </p:cNvSpPr>
            <p:nvPr/>
          </p:nvSpPr>
          <p:spPr bwMode="auto">
            <a:xfrm>
              <a:off x="1200" y="576"/>
              <a:ext cx="3600" cy="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nSpc>
                  <a:spcPct val="190000"/>
                </a:lnSpc>
                <a:spcBef>
                  <a:spcPct val="0"/>
                </a:spcBef>
                <a:buClrTx/>
                <a:buFontTx/>
                <a:buNone/>
              </a:pPr>
              <a:r>
                <a:rPr lang="zh-CN" altLang="en-US" sz="2600" u="none">
                  <a:solidFill>
                    <a:srgbClr val="000000"/>
                  </a:solidFill>
                  <a:latin typeface="宋体" panose="02010600030101010101" pitchFamily="2" charset="-122"/>
                </a:rPr>
                <a:t>源程序的每条语句可表示为：</a:t>
              </a:r>
            </a:p>
            <a:p>
              <a:pPr>
                <a:lnSpc>
                  <a:spcPct val="190000"/>
                </a:lnSpc>
                <a:spcBef>
                  <a:spcPct val="0"/>
                </a:spcBef>
                <a:buClrTx/>
                <a:buFontTx/>
                <a:buNone/>
              </a:pPr>
              <a:r>
                <a:rPr lang="en-US" altLang="zh-CN" u="none">
                  <a:solidFill>
                    <a:srgbClr val="000000"/>
                  </a:solidFill>
                  <a:latin typeface="楷体_GB2312" panose="02010609030101010101" pitchFamily="49" charset="-122"/>
                  <a:ea typeface="楷体_GB2312" panose="02010609030101010101" pitchFamily="49" charset="-122"/>
                </a:rPr>
                <a:t>[</a:t>
              </a:r>
              <a:r>
                <a:rPr lang="zh-CN" altLang="en-US" u="none">
                  <a:solidFill>
                    <a:srgbClr val="000000"/>
                  </a:solidFill>
                  <a:latin typeface="宋体" panose="02010600030101010101" pitchFamily="2" charset="-122"/>
                </a:rPr>
                <a:t>符号地址</a:t>
              </a:r>
              <a:r>
                <a:rPr lang="en-US" altLang="zh-CN" u="none">
                  <a:solidFill>
                    <a:srgbClr val="000000"/>
                  </a:solidFill>
                  <a:latin typeface="宋体" panose="02010600030101010101" pitchFamily="2" charset="-122"/>
                </a:rPr>
                <a:t>]  </a:t>
              </a:r>
              <a:r>
                <a:rPr lang="zh-CN" altLang="en-US" u="none">
                  <a:solidFill>
                    <a:srgbClr val="000000"/>
                  </a:solidFill>
                  <a:latin typeface="宋体" panose="02010600030101010101" pitchFamily="2" charset="-122"/>
                </a:rPr>
                <a:t>操作   操作数   </a:t>
              </a:r>
              <a:r>
                <a:rPr lang="en-US" altLang="zh-CN" u="none">
                  <a:solidFill>
                    <a:srgbClr val="000000"/>
                  </a:solidFill>
                  <a:latin typeface="宋体" panose="02010600030101010101" pitchFamily="2" charset="-122"/>
                </a:rPr>
                <a:t>[</a:t>
              </a:r>
              <a:r>
                <a:rPr lang="en-US" altLang="zh-CN" u="none">
                  <a:solidFill>
                    <a:srgbClr val="000000"/>
                  </a:solidFill>
                </a:rPr>
                <a:t>; </a:t>
              </a:r>
              <a:r>
                <a:rPr lang="zh-CN" altLang="en-US" u="none">
                  <a:solidFill>
                    <a:srgbClr val="000000"/>
                  </a:solidFill>
                  <a:latin typeface="宋体" panose="02010600030101010101" pitchFamily="2" charset="-122"/>
                </a:rPr>
                <a:t>注释</a:t>
              </a:r>
              <a:r>
                <a:rPr lang="en-US" altLang="zh-CN" u="none">
                  <a:solidFill>
                    <a:srgbClr val="000000"/>
                  </a:solidFill>
                  <a:latin typeface="宋体" panose="02010600030101010101" pitchFamily="2" charset="-122"/>
                </a:rPr>
                <a:t>]</a:t>
              </a:r>
              <a:endParaRPr lang="en-US" altLang="zh-CN" b="0" u="none">
                <a:solidFill>
                  <a:srgbClr val="000000"/>
                </a:solidFill>
              </a:endParaRPr>
            </a:p>
          </p:txBody>
        </p:sp>
      </p:gr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1F24FC2-62CC-4566-82D8-47B977E2DA3D}" type="slidenum">
              <a:rPr lang="en-US" altLang="zh-CN"/>
              <a:t>18</a:t>
            </a:fld>
            <a:endParaRPr lang="en-US" altLang="zh-CN"/>
          </a:p>
        </p:txBody>
      </p:sp>
      <p:sp>
        <p:nvSpPr>
          <p:cNvPr id="506882" name="Rectangle 2"/>
          <p:cNvSpPr>
            <a:spLocks noGrp="1" noRot="1" noChangeArrowheads="1"/>
          </p:cNvSpPr>
          <p:nvPr>
            <p:ph type="title"/>
          </p:nvPr>
        </p:nvSpPr>
        <p:spPr>
          <a:xfrm>
            <a:off x="323850" y="404813"/>
            <a:ext cx="3406775" cy="671512"/>
          </a:xfrm>
        </p:spPr>
        <p:txBody>
          <a:bodyPr/>
          <a:lstStyle/>
          <a:p>
            <a:pPr algn="l">
              <a:defRPr/>
            </a:pPr>
            <a:r>
              <a:rPr lang="zh-CN" altLang="en-US" sz="3200"/>
              <a:t>标号</a:t>
            </a:r>
            <a:r>
              <a:rPr lang="en-US" altLang="zh-CN" sz="3200"/>
              <a:t>/</a:t>
            </a:r>
            <a:r>
              <a:rPr lang="zh-CN" altLang="en-US" sz="3200"/>
              <a:t>名字的命名</a:t>
            </a:r>
          </a:p>
        </p:txBody>
      </p:sp>
      <p:sp>
        <p:nvSpPr>
          <p:cNvPr id="26628" name="Rectangle 3"/>
          <p:cNvSpPr>
            <a:spLocks noGrp="1" noRot="1" noChangeArrowheads="1"/>
          </p:cNvSpPr>
          <p:nvPr>
            <p:ph type="body" idx="1"/>
          </p:nvPr>
        </p:nvSpPr>
        <p:spPr>
          <a:xfrm>
            <a:off x="250825" y="1484313"/>
            <a:ext cx="8540750" cy="3384550"/>
          </a:xfrm>
        </p:spPr>
        <p:txBody>
          <a:bodyPr/>
          <a:lstStyle/>
          <a:p>
            <a:pPr>
              <a:buFont typeface="Wingdings" panose="05000000000000000000" pitchFamily="2" charset="2"/>
              <a:buNone/>
            </a:pPr>
            <a:r>
              <a:rPr lang="en-US" altLang="zh-CN" sz="2800"/>
              <a:t>	</a:t>
            </a:r>
            <a:r>
              <a:rPr lang="zh-CN" altLang="en-US"/>
              <a:t>约定：	</a:t>
            </a:r>
          </a:p>
          <a:p>
            <a:pPr lvl="1"/>
            <a:r>
              <a:rPr lang="zh-CN" altLang="en-US" sz="2400"/>
              <a:t>	最长</a:t>
            </a:r>
            <a:r>
              <a:rPr lang="en-US" altLang="zh-CN" sz="2400"/>
              <a:t>31</a:t>
            </a:r>
            <a:r>
              <a:rPr lang="zh-CN" altLang="en-US" sz="2400"/>
              <a:t>个字符</a:t>
            </a:r>
          </a:p>
          <a:p>
            <a:pPr lvl="1"/>
            <a:r>
              <a:rPr lang="zh-CN" altLang="en-US" sz="2400"/>
              <a:t>	第一个字符不能是数字</a:t>
            </a:r>
          </a:p>
          <a:p>
            <a:pPr lvl="1"/>
            <a:r>
              <a:rPr lang="zh-CN" altLang="en-US" sz="2400"/>
              <a:t>	</a:t>
            </a:r>
            <a:r>
              <a:rPr lang="en-US" altLang="zh-CN" sz="2400">
                <a:solidFill>
                  <a:srgbClr val="FF0000"/>
                </a:solidFill>
              </a:rPr>
              <a:t>? $ _ @</a:t>
            </a:r>
            <a:r>
              <a:rPr lang="zh-CN" altLang="en-US" sz="2400"/>
              <a:t>可出现在标号的任意位置，但</a:t>
            </a:r>
            <a:r>
              <a:rPr lang="en-US" altLang="zh-CN" sz="2400"/>
              <a:t>? $</a:t>
            </a:r>
            <a:r>
              <a:rPr lang="zh-CN" altLang="en-US" sz="2400"/>
              <a:t>不能单独使用</a:t>
            </a:r>
          </a:p>
          <a:p>
            <a:pPr lvl="1"/>
            <a:r>
              <a:rPr lang="zh-CN" altLang="en-US" sz="2400"/>
              <a:t>	</a:t>
            </a:r>
            <a:r>
              <a:rPr lang="en-US" altLang="zh-CN" sz="2400">
                <a:solidFill>
                  <a:srgbClr val="FF0000"/>
                </a:solidFill>
              </a:rPr>
              <a:t>. </a:t>
            </a:r>
            <a:r>
              <a:rPr lang="zh-CN" altLang="en-US" sz="2400"/>
              <a:t>只能出现在起始位置</a:t>
            </a:r>
          </a:p>
          <a:p>
            <a:pPr lvl="1"/>
            <a:r>
              <a:rPr lang="zh-CN" altLang="en-US" sz="2400"/>
              <a:t>	一个程序中，每个标识符的定义是唯一的，且不能与任何</a:t>
            </a:r>
            <a:r>
              <a:rPr lang="zh-CN" altLang="en-US" sz="2400">
                <a:solidFill>
                  <a:srgbClr val="FF0000"/>
                </a:solidFill>
              </a:rPr>
              <a:t>保留字</a:t>
            </a:r>
            <a:r>
              <a:rPr lang="zh-CN" altLang="en-US" sz="2400"/>
              <a:t>相同</a:t>
            </a:r>
          </a:p>
        </p:txBody>
      </p:sp>
      <p:sp>
        <p:nvSpPr>
          <p:cNvPr id="26629" name="Rectangle 4"/>
          <p:cNvSpPr>
            <a:spLocks noChangeArrowheads="1"/>
          </p:cNvSpPr>
          <p:nvPr/>
        </p:nvSpPr>
        <p:spPr bwMode="auto">
          <a:xfrm>
            <a:off x="3779838" y="620713"/>
            <a:ext cx="4332287" cy="13335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 typeface="Wingdings" panose="05000000000000000000" pitchFamily="2" charset="2"/>
              <a:buNone/>
            </a:pPr>
            <a:r>
              <a:rPr lang="zh-CN" altLang="en-US"/>
              <a:t>字母：</a:t>
            </a:r>
            <a:r>
              <a:rPr lang="en-US" altLang="zh-CN">
                <a:solidFill>
                  <a:srgbClr val="FF3300"/>
                </a:solidFill>
              </a:rPr>
              <a:t>A ~ Z</a:t>
            </a:r>
            <a:r>
              <a:rPr lang="en-US" altLang="zh-CN"/>
              <a:t> </a:t>
            </a:r>
            <a:r>
              <a:rPr lang="zh-CN" altLang="en-US"/>
              <a:t>； </a:t>
            </a:r>
          </a:p>
          <a:p>
            <a:pPr eaLnBrk="1" hangingPunct="1">
              <a:spcBef>
                <a:spcPct val="20000"/>
              </a:spcBef>
              <a:buFont typeface="Wingdings" panose="05000000000000000000" pitchFamily="2" charset="2"/>
              <a:buNone/>
            </a:pPr>
            <a:r>
              <a:rPr lang="zh-CN" altLang="en-US"/>
              <a:t>数字：</a:t>
            </a:r>
            <a:r>
              <a:rPr lang="en-US" altLang="zh-CN">
                <a:solidFill>
                  <a:srgbClr val="FF3300"/>
                </a:solidFill>
              </a:rPr>
              <a:t>0 ~ 9</a:t>
            </a:r>
            <a:r>
              <a:rPr lang="en-US" altLang="zh-CN"/>
              <a:t> </a:t>
            </a:r>
            <a:r>
              <a:rPr lang="zh-CN" altLang="en-US"/>
              <a:t>； </a:t>
            </a:r>
          </a:p>
          <a:p>
            <a:pPr eaLnBrk="1" hangingPunct="1">
              <a:spcBef>
                <a:spcPct val="20000"/>
              </a:spcBef>
              <a:buFont typeface="Wingdings" panose="05000000000000000000" pitchFamily="2" charset="2"/>
              <a:buNone/>
            </a:pPr>
            <a:r>
              <a:rPr lang="zh-CN" altLang="en-US"/>
              <a:t>特殊字符：</a:t>
            </a:r>
            <a:r>
              <a:rPr lang="en-US" altLang="zh-CN">
                <a:solidFill>
                  <a:srgbClr val="FF3300"/>
                </a:solidFill>
              </a:rPr>
              <a:t>?</a:t>
            </a:r>
            <a:r>
              <a:rPr lang="zh-CN" altLang="en-US"/>
              <a:t>、</a:t>
            </a:r>
            <a:r>
              <a:rPr lang="en-US" altLang="zh-CN">
                <a:solidFill>
                  <a:srgbClr val="FF3300"/>
                </a:solidFill>
              </a:rPr>
              <a:t>· </a:t>
            </a:r>
            <a:r>
              <a:rPr lang="zh-CN" altLang="en-US"/>
              <a:t>、</a:t>
            </a:r>
            <a:r>
              <a:rPr lang="zh-CN" altLang="en-US">
                <a:solidFill>
                  <a:srgbClr val="FF3300"/>
                </a:solidFill>
              </a:rPr>
              <a:t>＠</a:t>
            </a:r>
            <a:r>
              <a:rPr lang="zh-CN" altLang="en-US"/>
              <a:t>、</a:t>
            </a:r>
            <a:r>
              <a:rPr lang="en-US" altLang="zh-CN">
                <a:solidFill>
                  <a:srgbClr val="FF3300"/>
                </a:solidFill>
              </a:rPr>
              <a:t>_</a:t>
            </a:r>
            <a:r>
              <a:rPr lang="zh-CN" altLang="en-US"/>
              <a:t>、</a:t>
            </a:r>
            <a:r>
              <a:rPr lang="en-US" altLang="zh-CN">
                <a:solidFill>
                  <a:srgbClr val="FF3300"/>
                </a:solidFill>
              </a:rPr>
              <a:t>$ </a:t>
            </a:r>
            <a:r>
              <a:rPr lang="zh-CN" altLang="en-US"/>
              <a:t>。</a:t>
            </a:r>
          </a:p>
        </p:txBody>
      </p:sp>
      <p:sp>
        <p:nvSpPr>
          <p:cNvPr id="26630" name="Text Box 5"/>
          <p:cNvSpPr txBox="1">
            <a:spLocks noChangeArrowheads="1"/>
          </p:cNvSpPr>
          <p:nvPr/>
        </p:nvSpPr>
        <p:spPr bwMode="auto">
          <a:xfrm>
            <a:off x="539750" y="4797425"/>
            <a:ext cx="8077200"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58825" indent="-301625">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949325"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15000"/>
              </a:lnSpc>
              <a:spcBef>
                <a:spcPct val="50000"/>
              </a:spcBef>
              <a:buClrTx/>
              <a:buFontTx/>
              <a:buNone/>
            </a:pPr>
            <a:r>
              <a:rPr lang="zh-CN" altLang="en-US" b="0">
                <a:solidFill>
                  <a:srgbClr val="FF0000"/>
                </a:solidFill>
                <a:latin typeface="宋体" panose="02010600030101010101" pitchFamily="2" charset="-122"/>
              </a:rPr>
              <a:t>保留字</a:t>
            </a:r>
            <a:r>
              <a:rPr lang="zh-CN" altLang="en-US" b="0">
                <a:latin typeface="宋体" panose="02010600030101010101" pitchFamily="2" charset="-122"/>
              </a:rPr>
              <a:t>是一个汇编语言中预先保留下来的具有特殊含义的符号，只能作为固定的用途。凡是</a:t>
            </a:r>
            <a:r>
              <a:rPr lang="en-US" altLang="zh-CN" b="0">
                <a:latin typeface="宋体" panose="02010600030101010101" pitchFamily="2" charset="-122"/>
              </a:rPr>
              <a:t>8086</a:t>
            </a:r>
            <a:r>
              <a:rPr lang="zh-CN" altLang="en-US" b="0">
                <a:latin typeface="宋体" panose="02010600030101010101" pitchFamily="2" charset="-122"/>
              </a:rPr>
              <a:t>的指令、伪指令、寄存器名等都是保留字。</a:t>
            </a:r>
            <a:r>
              <a:rPr lang="zh-CN" altLang="en-US" b="0">
                <a:solidFill>
                  <a:srgbClr val="0000FF"/>
                </a:solidFill>
                <a:latin typeface="宋体" panose="02010600030101010101" pitchFamily="2" charset="-122"/>
              </a:rPr>
              <a:t>     </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15EBC4B5-21E3-44DA-A595-9948D643E1CC}" type="slidenum">
              <a:rPr lang="en-US" altLang="zh-CN"/>
              <a:t>19</a:t>
            </a:fld>
            <a:endParaRPr lang="en-US" altLang="zh-CN"/>
          </a:p>
        </p:txBody>
      </p:sp>
      <p:sp>
        <p:nvSpPr>
          <p:cNvPr id="27651" name="Rectangle 2"/>
          <p:cNvSpPr>
            <a:spLocks noChangeArrowheads="1"/>
          </p:cNvSpPr>
          <p:nvPr/>
        </p:nvSpPr>
        <p:spPr bwMode="auto">
          <a:xfrm>
            <a:off x="611188" y="1052513"/>
            <a:ext cx="7777162" cy="19177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latin typeface="宋体" panose="02010600030101010101" pitchFamily="2" charset="-122"/>
              </a:rPr>
              <a:t>在</a:t>
            </a:r>
            <a:r>
              <a:rPr lang="zh-CN" altLang="en-US">
                <a:solidFill>
                  <a:srgbClr val="CC0066"/>
                </a:solidFill>
                <a:latin typeface="宋体" panose="02010600030101010101" pitchFamily="2" charset="-122"/>
              </a:rPr>
              <a:t>指令语句</a:t>
            </a:r>
            <a:r>
              <a:rPr lang="zh-CN" altLang="en-US">
                <a:latin typeface="宋体" panose="02010600030101010101" pitchFamily="2" charset="-122"/>
              </a:rPr>
              <a:t>中，</a:t>
            </a:r>
            <a:r>
              <a:rPr lang="zh-CN" altLang="en-US">
                <a:solidFill>
                  <a:srgbClr val="CC0066"/>
                </a:solidFill>
                <a:latin typeface="宋体" panose="02010600030101010101" pitchFamily="2" charset="-122"/>
              </a:rPr>
              <a:t>名字称为标号</a:t>
            </a:r>
            <a:r>
              <a:rPr lang="zh-CN" altLang="en-US">
                <a:latin typeface="宋体" panose="02010600030101010101" pitchFamily="2" charset="-122"/>
              </a:rPr>
              <a:t>。</a:t>
            </a:r>
          </a:p>
          <a:p>
            <a:pPr eaLnBrk="1" hangingPunct="1"/>
            <a:endParaRPr lang="zh-CN" altLang="en-US">
              <a:latin typeface="宋体" panose="02010600030101010101" pitchFamily="2" charset="-122"/>
            </a:endParaRPr>
          </a:p>
          <a:p>
            <a:pPr eaLnBrk="1" hangingPunct="1"/>
            <a:r>
              <a:rPr lang="zh-CN" altLang="en-US">
                <a:latin typeface="宋体" panose="02010600030101010101" pitchFamily="2" charset="-122"/>
              </a:rPr>
              <a:t>指令语句中的标号实质上是</a:t>
            </a:r>
            <a:r>
              <a:rPr lang="zh-CN" altLang="en-US">
                <a:solidFill>
                  <a:srgbClr val="FF0000"/>
                </a:solidFill>
                <a:latin typeface="宋体" panose="02010600030101010101" pitchFamily="2" charset="-122"/>
              </a:rPr>
              <a:t>指令的符号地址</a:t>
            </a:r>
            <a:r>
              <a:rPr lang="zh-CN" altLang="en-US">
                <a:latin typeface="宋体" panose="02010600030101010101" pitchFamily="2" charset="-122"/>
              </a:rPr>
              <a:t>。</a:t>
            </a:r>
          </a:p>
          <a:p>
            <a:pPr eaLnBrk="1" hangingPunct="1"/>
            <a:endParaRPr lang="zh-CN" altLang="en-US">
              <a:latin typeface="宋体" panose="02010600030101010101" pitchFamily="2" charset="-122"/>
            </a:endParaRPr>
          </a:p>
          <a:p>
            <a:pPr eaLnBrk="1" hangingPunct="1"/>
            <a:r>
              <a:rPr lang="zh-CN" altLang="en-US">
                <a:latin typeface="宋体" panose="02010600030101010101" pitchFamily="2" charset="-122"/>
              </a:rPr>
              <a:t>标号有三种属性：段、偏移量和类型</a:t>
            </a:r>
          </a:p>
        </p:txBody>
      </p:sp>
      <p:sp>
        <p:nvSpPr>
          <p:cNvPr id="27652" name="Rectangle 3"/>
          <p:cNvSpPr>
            <a:spLocks noChangeArrowheads="1"/>
          </p:cNvSpPr>
          <p:nvPr/>
        </p:nvSpPr>
        <p:spPr bwMode="auto">
          <a:xfrm>
            <a:off x="539750" y="476250"/>
            <a:ext cx="2952750" cy="519113"/>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1.</a:t>
            </a:r>
            <a:r>
              <a:rPr lang="zh-CN" altLang="en-US" sz="2800">
                <a:solidFill>
                  <a:srgbClr val="FF0000"/>
                </a:solidFill>
                <a:latin typeface="宋体" panose="02010600030101010101" pitchFamily="2" charset="-122"/>
              </a:rPr>
              <a:t>标号</a:t>
            </a:r>
          </a:p>
        </p:txBody>
      </p:sp>
      <p:sp>
        <p:nvSpPr>
          <p:cNvPr id="27653" name="Rectangle 4"/>
          <p:cNvSpPr>
            <a:spLocks noChangeArrowheads="1"/>
          </p:cNvSpPr>
          <p:nvPr/>
        </p:nvSpPr>
        <p:spPr bwMode="auto">
          <a:xfrm>
            <a:off x="684213" y="3644900"/>
            <a:ext cx="585628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0000"/>
                </a:solidFill>
              </a:rPr>
              <a:t>NEXT:     MOV  AX,1234H    ;AX←1234H</a:t>
            </a:r>
          </a:p>
        </p:txBody>
      </p:sp>
    </p:spTree>
  </p:cSld>
  <p:clrMapOvr>
    <a:masterClrMapping/>
  </p:clrMapOvr>
  <p:transition>
    <p:rand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443F0524-8BA8-4654-A402-7597EBDCA344}" type="slidenum">
              <a:rPr lang="en-US" altLang="zh-CN"/>
              <a:t>20</a:t>
            </a:fld>
            <a:endParaRPr lang="en-US" altLang="zh-CN"/>
          </a:p>
        </p:txBody>
      </p:sp>
      <p:sp>
        <p:nvSpPr>
          <p:cNvPr id="28675" name="Rectangle 2"/>
          <p:cNvSpPr>
            <a:spLocks noGrp="1" noRot="1" noChangeArrowheads="1"/>
          </p:cNvSpPr>
          <p:nvPr>
            <p:ph type="body" idx="1"/>
          </p:nvPr>
        </p:nvSpPr>
        <p:spPr>
          <a:xfrm>
            <a:off x="395288" y="1052513"/>
            <a:ext cx="8562975" cy="3384550"/>
          </a:xfrm>
        </p:spPr>
        <p:txBody>
          <a:bodyPr/>
          <a:lstStyle/>
          <a:p>
            <a:pPr>
              <a:lnSpc>
                <a:spcPct val="150000"/>
              </a:lnSpc>
              <a:buFont typeface="Wingdings" panose="05000000000000000000" pitchFamily="2" charset="2"/>
              <a:buNone/>
            </a:pPr>
            <a:r>
              <a:rPr lang="zh-CN" altLang="en-US">
                <a:latin typeface="楷体_GB2312" panose="02010609030101010101" pitchFamily="49" charset="-122"/>
                <a:ea typeface="楷体_GB2312" panose="02010609030101010101" pitchFamily="49" charset="-122"/>
              </a:rPr>
              <a:t>用</a:t>
            </a:r>
            <a:r>
              <a:rPr lang="zh-CN" altLang="en-US">
                <a:solidFill>
                  <a:srgbClr val="CC0066"/>
                </a:solidFill>
                <a:latin typeface="楷体_GB2312" panose="02010609030101010101" pitchFamily="49" charset="-122"/>
                <a:ea typeface="楷体_GB2312" panose="02010609030101010101" pitchFamily="49" charset="-122"/>
              </a:rPr>
              <a:t>指示语句</a:t>
            </a:r>
            <a:r>
              <a:rPr lang="zh-CN" altLang="en-US">
                <a:latin typeface="楷体_GB2312" panose="02010609030101010101" pitchFamily="49" charset="-122"/>
                <a:ea typeface="楷体_GB2312" panose="02010609030101010101" pitchFamily="49" charset="-122"/>
              </a:rPr>
              <a:t>定义变量时，汇编语言中</a:t>
            </a:r>
            <a:r>
              <a:rPr lang="zh-CN" altLang="en-US">
                <a:solidFill>
                  <a:srgbClr val="CC0066"/>
                </a:solidFill>
                <a:latin typeface="楷体_GB2312" panose="02010609030101010101" pitchFamily="49" charset="-122"/>
                <a:ea typeface="楷体_GB2312" panose="02010609030101010101" pitchFamily="49" charset="-122"/>
              </a:rPr>
              <a:t>名字部分就是变量名</a:t>
            </a:r>
            <a:r>
              <a:rPr lang="zh-CN" altLang="en-US">
                <a:latin typeface="楷体_GB2312" panose="02010609030101010101" pitchFamily="49" charset="-122"/>
                <a:ea typeface="楷体_GB2312" panose="02010609030101010101" pitchFamily="49" charset="-122"/>
              </a:rPr>
              <a:t>。</a:t>
            </a:r>
          </a:p>
          <a:p>
            <a:pPr>
              <a:lnSpc>
                <a:spcPct val="150000"/>
              </a:lnSpc>
              <a:buFont typeface="Wingdings" panose="05000000000000000000" pitchFamily="2" charset="2"/>
              <a:buNone/>
            </a:pPr>
            <a:r>
              <a:rPr lang="zh-CN" altLang="en-US">
                <a:latin typeface="楷体_GB2312" panose="02010609030101010101" pitchFamily="49" charset="-122"/>
                <a:ea typeface="楷体_GB2312" panose="02010609030101010101" pitchFamily="49" charset="-122"/>
              </a:rPr>
              <a:t>数据存放在存储器中要占一定内存空间，称这个被占用的内存空间为变量。</a:t>
            </a:r>
          </a:p>
          <a:p>
            <a:pPr>
              <a:lnSpc>
                <a:spcPct val="150000"/>
              </a:lnSpc>
              <a:buFont typeface="Wingdings" panose="05000000000000000000" pitchFamily="2" charset="2"/>
              <a:buNone/>
            </a:pPr>
            <a:r>
              <a:rPr lang="zh-CN" altLang="en-US">
                <a:latin typeface="楷体_GB2312" panose="02010609030101010101" pitchFamily="49" charset="-122"/>
                <a:ea typeface="楷体_GB2312" panose="02010609030101010101" pitchFamily="49" charset="-122"/>
              </a:rPr>
              <a:t>而变量名就是给所占用内存空间起的名字。</a:t>
            </a:r>
          </a:p>
          <a:p>
            <a:pPr>
              <a:lnSpc>
                <a:spcPct val="150000"/>
              </a:lnSpc>
              <a:buFont typeface="Wingdings" panose="05000000000000000000" pitchFamily="2" charset="2"/>
              <a:buNone/>
            </a:pPr>
            <a:r>
              <a:rPr lang="zh-CN" altLang="en-US">
                <a:latin typeface="楷体_GB2312" panose="02010609030101010101" pitchFamily="49" charset="-122"/>
                <a:ea typeface="楷体_GB2312" panose="02010609030101010101" pitchFamily="49" charset="-122"/>
              </a:rPr>
              <a:t>变量有三种属性：段、偏移量和类型。</a:t>
            </a:r>
          </a:p>
        </p:txBody>
      </p:sp>
      <p:sp>
        <p:nvSpPr>
          <p:cNvPr id="28676" name="Rectangle 4"/>
          <p:cNvSpPr>
            <a:spLocks noChangeArrowheads="1"/>
          </p:cNvSpPr>
          <p:nvPr/>
        </p:nvSpPr>
        <p:spPr bwMode="auto">
          <a:xfrm>
            <a:off x="539750" y="404813"/>
            <a:ext cx="1614488" cy="519112"/>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2.</a:t>
            </a:r>
            <a:r>
              <a:rPr lang="zh-CN" altLang="en-US" sz="2800">
                <a:solidFill>
                  <a:srgbClr val="FF0000"/>
                </a:solidFill>
                <a:latin typeface="宋体" panose="02010600030101010101" pitchFamily="2" charset="-122"/>
              </a:rPr>
              <a:t>变量名</a:t>
            </a:r>
          </a:p>
        </p:txBody>
      </p:sp>
      <p:sp>
        <p:nvSpPr>
          <p:cNvPr id="28677" name="Rectangle 5"/>
          <p:cNvSpPr>
            <a:spLocks noChangeArrowheads="1"/>
          </p:cNvSpPr>
          <p:nvPr/>
        </p:nvSpPr>
        <p:spPr bwMode="auto">
          <a:xfrm>
            <a:off x="760413" y="4797425"/>
            <a:ext cx="6872287"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000000"/>
                </a:solidFill>
              </a:rPr>
              <a:t>VAR       DB     41H,42H,43H,44H  ;</a:t>
            </a:r>
            <a:r>
              <a:rPr lang="zh-CN" altLang="en-US">
                <a:solidFill>
                  <a:srgbClr val="000000"/>
                </a:solidFill>
              </a:rPr>
              <a:t>四个原始数据</a:t>
            </a:r>
          </a:p>
        </p:txBody>
      </p:sp>
    </p:spTree>
  </p:cSld>
  <p:clrMapOvr>
    <a:masterClrMapping/>
  </p:clrMapOvr>
  <p:transition>
    <p:rand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9E1FE2C-672B-4BE3-BBD3-A01804240A62}" type="slidenum">
              <a:rPr lang="en-US" altLang="zh-CN"/>
              <a:t>21</a:t>
            </a:fld>
            <a:endParaRPr lang="en-US" altLang="zh-CN"/>
          </a:p>
        </p:txBody>
      </p:sp>
      <p:graphicFrame>
        <p:nvGraphicFramePr>
          <p:cNvPr id="580725" name="Group 117"/>
          <p:cNvGraphicFramePr>
            <a:graphicFrameLocks noGrp="1"/>
          </p:cNvGraphicFramePr>
          <p:nvPr>
            <p:ph sz="half" idx="4294967295"/>
          </p:nvPr>
        </p:nvGraphicFramePr>
        <p:xfrm>
          <a:off x="250825" y="2781300"/>
          <a:ext cx="8610600" cy="2963863"/>
        </p:xfrm>
        <a:graphic>
          <a:graphicData uri="http://schemas.openxmlformats.org/drawingml/2006/table">
            <a:tbl>
              <a:tblPr/>
              <a:tblGrid>
                <a:gridCol w="15240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gridCol w="2011363">
                  <a:extLst>
                    <a:ext uri="{9D8B030D-6E8A-4147-A177-3AD203B41FA5}">
                      <a16:colId xmlns:a16="http://schemas.microsoft.com/office/drawing/2014/main" val="20003"/>
                    </a:ext>
                  </a:extLst>
                </a:gridCol>
                <a:gridCol w="1722437">
                  <a:extLst>
                    <a:ext uri="{9D8B030D-6E8A-4147-A177-3AD203B41FA5}">
                      <a16:colId xmlns:a16="http://schemas.microsoft.com/office/drawing/2014/main" val="20004"/>
                    </a:ext>
                  </a:extLst>
                </a:gridCol>
              </a:tblGrid>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算术运算符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逻辑运算符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关系运算符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分析运算符</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属性运算符</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加法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AND</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EQ</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相等</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dirty="0">
                          <a:ln>
                            <a:noFill/>
                          </a:ln>
                          <a:solidFill>
                            <a:schemeClr val="bg1">
                              <a:lumMod val="75000"/>
                            </a:schemeClr>
                          </a:solidFill>
                          <a:effectLst/>
                          <a:latin typeface="Arial" panose="020B0604020202020204" pitchFamily="34" charset="0"/>
                          <a:ea typeface="宋体" panose="02010600030101010101" pitchFamily="2" charset="-122"/>
                        </a:rPr>
                        <a:t>TYPE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PTR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687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减法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OR</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或</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NE</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不等</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dirty="0">
                          <a:ln>
                            <a:noFill/>
                          </a:ln>
                          <a:solidFill>
                            <a:schemeClr val="bg1">
                              <a:lumMod val="75000"/>
                            </a:schemeClr>
                          </a:solidFill>
                          <a:effectLst/>
                          <a:latin typeface="Arial" panose="020B0604020202020204" pitchFamily="34" charset="0"/>
                          <a:ea typeface="宋体" panose="02010600030101010101" pitchFamily="2" charset="-122"/>
                        </a:rPr>
                        <a:t>LENGTH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THIS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3863">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乘法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XOR</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异或</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LT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小于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dirty="0">
                          <a:ln>
                            <a:noFill/>
                          </a:ln>
                          <a:solidFill>
                            <a:schemeClr val="bg1">
                              <a:lumMod val="75000"/>
                            </a:schemeClr>
                          </a:solidFill>
                          <a:effectLst/>
                          <a:latin typeface="Arial" panose="020B0604020202020204" pitchFamily="34" charset="0"/>
                          <a:ea typeface="宋体" panose="02010600030101010101" pitchFamily="2" charset="-122"/>
                        </a:rPr>
                        <a:t>SIZE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SHORT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除法</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NOT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非</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GT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大于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OFFSET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HIGH</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MOD</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求余</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LE</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小于等于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SEG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LOW</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8625">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rPr>
                        <a:t>GE</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大于等于</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0" lang="en-US" altLang="zh-CN" sz="20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zh-CN" sz="20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29749" name="Rectangle 52"/>
          <p:cNvSpPr>
            <a:spLocks noChangeArrowheads="1"/>
          </p:cNvSpPr>
          <p:nvPr/>
        </p:nvSpPr>
        <p:spPr bwMode="auto">
          <a:xfrm>
            <a:off x="323850" y="476250"/>
            <a:ext cx="8569325" cy="19177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solidFill>
                  <a:srgbClr val="FF0000"/>
                </a:solidFill>
                <a:latin typeface="宋体" panose="02010600030101010101" pitchFamily="2" charset="-122"/>
              </a:rPr>
              <a:t>3.</a:t>
            </a:r>
            <a:r>
              <a:rPr lang="zh-CN" altLang="en-US">
                <a:solidFill>
                  <a:srgbClr val="FF0000"/>
                </a:solidFill>
                <a:latin typeface="宋体" panose="02010600030101010101" pitchFamily="2" charset="-122"/>
              </a:rPr>
              <a:t>表达式</a:t>
            </a:r>
          </a:p>
          <a:p>
            <a:pPr eaLnBrk="1" hangingPunct="1"/>
            <a:r>
              <a:rPr lang="zh-CN" altLang="en-US">
                <a:latin typeface="宋体" panose="02010600030101010101" pitchFamily="2" charset="-122"/>
              </a:rPr>
              <a:t>汇编语句中的表达式分为两种：数值表达式和地址表达式。</a:t>
            </a:r>
          </a:p>
          <a:p>
            <a:pPr eaLnBrk="1" hangingPunct="1"/>
            <a:r>
              <a:rPr lang="zh-CN" altLang="en-US">
                <a:solidFill>
                  <a:srgbClr val="FF0000"/>
                </a:solidFill>
                <a:latin typeface="宋体" panose="02010600030101010101" pitchFamily="2" charset="-122"/>
              </a:rPr>
              <a:t>数值表达式</a:t>
            </a:r>
            <a:r>
              <a:rPr lang="zh-CN" altLang="en-US">
                <a:latin typeface="宋体" panose="02010600030101010101" pitchFamily="2" charset="-122"/>
              </a:rPr>
              <a:t>产生一个数值结果。</a:t>
            </a:r>
          </a:p>
          <a:p>
            <a:pPr eaLnBrk="1" hangingPunct="1"/>
            <a:r>
              <a:rPr lang="zh-CN" altLang="en-US">
                <a:solidFill>
                  <a:srgbClr val="FF0000"/>
                </a:solidFill>
                <a:latin typeface="宋体" panose="02010600030101010101" pitchFamily="2" charset="-122"/>
              </a:rPr>
              <a:t>地址表达式</a:t>
            </a:r>
            <a:r>
              <a:rPr lang="zh-CN" altLang="en-US">
                <a:latin typeface="宋体" panose="02010600030101010101" pitchFamily="2" charset="-122"/>
              </a:rPr>
              <a:t>的结果是存储器的地址。</a:t>
            </a:r>
          </a:p>
          <a:p>
            <a:pPr eaLnBrk="1" hangingPunct="1"/>
            <a:r>
              <a:rPr lang="zh-CN" altLang="en-US">
                <a:latin typeface="宋体" panose="02010600030101010101" pitchFamily="2" charset="-122"/>
              </a:rPr>
              <a:t>表达式中常用的运算符有以下几种：</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0725"/>
                                        </p:tgtEl>
                                        <p:attrNameLst>
                                          <p:attrName>style.visibility</p:attrName>
                                        </p:attrNameLst>
                                      </p:cBhvr>
                                      <p:to>
                                        <p:strVal val="visible"/>
                                      </p:to>
                                    </p:set>
                                    <p:anim calcmode="lin" valueType="num">
                                      <p:cBhvr additive="base">
                                        <p:cTn id="7" dur="500" fill="hold"/>
                                        <p:tgtEl>
                                          <p:spTgt spid="580725"/>
                                        </p:tgtEl>
                                        <p:attrNameLst>
                                          <p:attrName>ppt_x</p:attrName>
                                        </p:attrNameLst>
                                      </p:cBhvr>
                                      <p:tavLst>
                                        <p:tav tm="0">
                                          <p:val>
                                            <p:strVal val="#ppt_x"/>
                                          </p:val>
                                        </p:tav>
                                        <p:tav tm="100000">
                                          <p:val>
                                            <p:strVal val="#ppt_x"/>
                                          </p:val>
                                        </p:tav>
                                      </p:tavLst>
                                    </p:anim>
                                    <p:anim calcmode="lin" valueType="num">
                                      <p:cBhvr additive="base">
                                        <p:cTn id="8" dur="500" fill="hold"/>
                                        <p:tgtEl>
                                          <p:spTgt spid="58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6B75B19-B351-4DBD-B215-0AA02FFE02B5}" type="slidenum">
              <a:rPr lang="en-US" altLang="zh-CN"/>
              <a:t>22</a:t>
            </a:fld>
            <a:endParaRPr lang="en-US" altLang="zh-CN"/>
          </a:p>
        </p:txBody>
      </p:sp>
      <p:sp>
        <p:nvSpPr>
          <p:cNvPr id="30723" name="Rectangle 3"/>
          <p:cNvSpPr>
            <a:spLocks noGrp="1" noRot="1" noChangeArrowheads="1"/>
          </p:cNvSpPr>
          <p:nvPr>
            <p:ph type="body" idx="4294967295"/>
          </p:nvPr>
        </p:nvSpPr>
        <p:spPr>
          <a:xfrm>
            <a:off x="323850" y="549275"/>
            <a:ext cx="8605838" cy="2159000"/>
          </a:xfrm>
        </p:spPr>
        <p:txBody>
          <a:bodyPr/>
          <a:lstStyle/>
          <a:p>
            <a:pPr marL="381000" indent="-381000"/>
            <a:r>
              <a:rPr lang="en-US" altLang="zh-CN" dirty="0">
                <a:solidFill>
                  <a:srgbClr val="FF0000"/>
                </a:solidFill>
                <a:latin typeface="宋体" panose="02010600030101010101" pitchFamily="2" charset="-122"/>
              </a:rPr>
              <a:t>4</a:t>
            </a:r>
            <a:r>
              <a:rPr lang="zh-CN" altLang="en-US" dirty="0">
                <a:solidFill>
                  <a:srgbClr val="FF0000"/>
                </a:solidFill>
                <a:latin typeface="宋体" panose="02010600030101010101" pitchFamily="2" charset="-122"/>
              </a:rPr>
              <a:t>）分析运算符</a:t>
            </a:r>
          </a:p>
          <a:p>
            <a:pPr marL="381000" indent="-381000">
              <a:buFont typeface="Wingdings" panose="05000000000000000000" pitchFamily="2" charset="2"/>
              <a:buNone/>
            </a:pPr>
            <a:endParaRPr lang="zh-CN" altLang="en-US" dirty="0">
              <a:solidFill>
                <a:schemeClr val="accent2"/>
              </a:solidFill>
              <a:latin typeface="宋体" panose="02010600030101010101" pitchFamily="2" charset="-122"/>
            </a:endParaRPr>
          </a:p>
          <a:p>
            <a:pPr marL="381000" indent="-381000"/>
            <a:r>
              <a:rPr lang="zh-CN" altLang="en-US" dirty="0">
                <a:solidFill>
                  <a:srgbClr val="FF0000"/>
                </a:solidFill>
                <a:latin typeface="宋体" panose="02010600030101010101" pitchFamily="2" charset="-122"/>
              </a:rPr>
              <a:t>①</a:t>
            </a:r>
            <a:r>
              <a:rPr lang="en-US" altLang="zh-CN" dirty="0">
                <a:solidFill>
                  <a:srgbClr val="FF0000"/>
                </a:solidFill>
                <a:latin typeface="宋体" panose="02010600030101010101" pitchFamily="2" charset="-122"/>
              </a:rPr>
              <a:t>OFFSET</a:t>
            </a:r>
            <a:r>
              <a:rPr lang="zh-CN" altLang="en-US" dirty="0">
                <a:solidFill>
                  <a:schemeClr val="accent2"/>
                </a:solidFill>
                <a:latin typeface="宋体" panose="02010600030101010101" pitchFamily="2" charset="-122"/>
              </a:rPr>
              <a:t>运算符</a:t>
            </a:r>
            <a:r>
              <a:rPr lang="zh-CN" altLang="en-US" dirty="0">
                <a:latin typeface="宋体" panose="02010600030101010101" pitchFamily="2" charset="-122"/>
              </a:rPr>
              <a:t>：利用运算符</a:t>
            </a:r>
            <a:r>
              <a:rPr lang="en-US" altLang="zh-CN" dirty="0">
                <a:latin typeface="宋体" panose="02010600030101010101" pitchFamily="2" charset="-122"/>
              </a:rPr>
              <a:t>OFFSET</a:t>
            </a:r>
            <a:r>
              <a:rPr lang="zh-CN" altLang="en-US" dirty="0">
                <a:latin typeface="宋体" panose="02010600030101010101" pitchFamily="2" charset="-122"/>
              </a:rPr>
              <a:t>可以得到一个标号或变量的偏移量。</a:t>
            </a:r>
          </a:p>
          <a:p>
            <a:pPr marL="381000" indent="-381000"/>
            <a:r>
              <a:rPr lang="zh-CN" altLang="en-US" dirty="0">
                <a:latin typeface="宋体" panose="02010600030101010101" pitchFamily="2" charset="-122"/>
              </a:rPr>
              <a:t>使用格式：</a:t>
            </a:r>
            <a:r>
              <a:rPr lang="en-US" altLang="zh-CN" dirty="0">
                <a:latin typeface="宋体" panose="02010600030101010101" pitchFamily="2" charset="-122"/>
              </a:rPr>
              <a:t>OFFSET  </a:t>
            </a:r>
            <a:r>
              <a:rPr lang="zh-CN" altLang="en-US" dirty="0">
                <a:latin typeface="宋体" panose="02010600030101010101" pitchFamily="2" charset="-122"/>
              </a:rPr>
              <a:t>变量名或标号名</a:t>
            </a:r>
          </a:p>
        </p:txBody>
      </p:sp>
      <p:sp>
        <p:nvSpPr>
          <p:cNvPr id="30724" name="Rectangle 3"/>
          <p:cNvSpPr>
            <a:spLocks noRot="1" noChangeArrowheads="1"/>
          </p:cNvSpPr>
          <p:nvPr/>
        </p:nvSpPr>
        <p:spPr bwMode="auto">
          <a:xfrm>
            <a:off x="468313" y="3213100"/>
            <a:ext cx="8534400" cy="216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None/>
            </a:pPr>
            <a:endParaRPr lang="en-US" altLang="zh-CN" b="0" dirty="0">
              <a:solidFill>
                <a:schemeClr val="accent2"/>
              </a:solidFill>
              <a:latin typeface="宋体" panose="02010600030101010101" pitchFamily="2" charset="-122"/>
            </a:endParaRPr>
          </a:p>
          <a:p>
            <a:pPr eaLnBrk="1" hangingPunct="1">
              <a:buClr>
                <a:schemeClr val="folHlink"/>
              </a:buClr>
              <a:buFont typeface="Wingdings" panose="05000000000000000000" pitchFamily="2" charset="2"/>
              <a:buChar char="§"/>
            </a:pPr>
            <a:r>
              <a:rPr lang="en-US" altLang="zh-CN" b="0" dirty="0">
                <a:solidFill>
                  <a:srgbClr val="FF0000"/>
                </a:solidFill>
                <a:latin typeface="宋体" panose="02010600030101010101" pitchFamily="2" charset="-122"/>
              </a:rPr>
              <a:t>②SEG</a:t>
            </a:r>
            <a:r>
              <a:rPr lang="zh-CN" altLang="en-US" b="0" dirty="0">
                <a:solidFill>
                  <a:schemeClr val="accent2"/>
                </a:solidFill>
                <a:latin typeface="宋体" panose="02010600030101010101" pitchFamily="2" charset="-122"/>
              </a:rPr>
              <a:t>运算符</a:t>
            </a:r>
            <a:r>
              <a:rPr lang="zh-CN" altLang="en-US" b="0" dirty="0">
                <a:latin typeface="宋体" panose="02010600030101010101" pitchFamily="2" charset="-122"/>
              </a:rPr>
              <a:t>：利用运算符</a:t>
            </a:r>
            <a:r>
              <a:rPr lang="en-US" altLang="zh-CN" b="0" dirty="0">
                <a:latin typeface="宋体" panose="02010600030101010101" pitchFamily="2" charset="-122"/>
              </a:rPr>
              <a:t>SEG</a:t>
            </a:r>
            <a:r>
              <a:rPr lang="zh-CN" altLang="en-US" b="0" dirty="0">
                <a:latin typeface="宋体" panose="02010600030101010101" pitchFamily="2" charset="-122"/>
              </a:rPr>
              <a:t>可以得到一个标号或变量的段基址</a:t>
            </a:r>
          </a:p>
          <a:p>
            <a:pPr eaLnBrk="1" hangingPunct="1">
              <a:buClr>
                <a:schemeClr val="folHlink"/>
              </a:buClr>
              <a:buFont typeface="Wingdings" panose="05000000000000000000" pitchFamily="2" charset="2"/>
              <a:buChar char="§"/>
            </a:pPr>
            <a:r>
              <a:rPr lang="zh-CN" altLang="en-US" b="0" dirty="0">
                <a:latin typeface="宋体" panose="02010600030101010101" pitchFamily="2" charset="-122"/>
              </a:rPr>
              <a:t>格式：   </a:t>
            </a:r>
            <a:r>
              <a:rPr lang="en-US" altLang="zh-CN" b="0" dirty="0">
                <a:latin typeface="宋体" panose="02010600030101010101" pitchFamily="2" charset="-122"/>
              </a:rPr>
              <a:t>SEG   </a:t>
            </a:r>
            <a:r>
              <a:rPr lang="zh-CN" altLang="en-US" b="0" dirty="0">
                <a:latin typeface="宋体" panose="02010600030101010101" pitchFamily="2" charset="-122"/>
              </a:rPr>
              <a:t>变量名或标号名 </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0"/>
          <p:cNvSpPr>
            <a:spLocks noGrp="1"/>
          </p:cNvSpPr>
          <p:nvPr>
            <p:ph type="sldNum" sz="quarter" idx="12"/>
          </p:nvPr>
        </p:nvSpPr>
        <p:spPr/>
        <p:txBody>
          <a:bodyPr/>
          <a:lstStyle/>
          <a:p>
            <a:pPr>
              <a:defRPr/>
            </a:pPr>
            <a:fld id="{22326FC9-3B47-42F3-966C-6F2AD5F50869}" type="slidenum">
              <a:rPr lang="en-US" altLang="zh-CN"/>
              <a:t>23</a:t>
            </a:fld>
            <a:endParaRPr lang="en-US" altLang="zh-CN"/>
          </a:p>
        </p:txBody>
      </p:sp>
      <p:sp>
        <p:nvSpPr>
          <p:cNvPr id="31747" name="Text Box 2"/>
          <p:cNvSpPr txBox="1">
            <a:spLocks noChangeArrowheads="1"/>
          </p:cNvSpPr>
          <p:nvPr/>
        </p:nvSpPr>
        <p:spPr bwMode="auto">
          <a:xfrm>
            <a:off x="0" y="1125538"/>
            <a:ext cx="9312275"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spcBef>
                <a:spcPct val="50000"/>
              </a:spcBef>
            </a:pPr>
            <a:r>
              <a:rPr lang="en-US" altLang="en-US">
                <a:latin typeface="宋体" panose="02010600030101010101" pitchFamily="2" charset="-122"/>
              </a:rPr>
              <a:t>   </a:t>
            </a:r>
            <a:r>
              <a:rPr lang="en-US" altLang="zh-CN">
                <a:latin typeface="宋体" panose="02010600030101010101" pitchFamily="2" charset="-122"/>
              </a:rPr>
              <a:t>PTR</a:t>
            </a:r>
            <a:r>
              <a:rPr lang="zh-CN" altLang="en-US">
                <a:latin typeface="宋体" panose="02010600030101010101" pitchFamily="2" charset="-122"/>
              </a:rPr>
              <a:t>的应用场合主要有两处：一种情况是当要访问的存储单元的类型不确定时，可以用</a:t>
            </a:r>
            <a:r>
              <a:rPr lang="en-US" altLang="zh-CN">
                <a:latin typeface="宋体" panose="02010600030101010101" pitchFamily="2" charset="-122"/>
              </a:rPr>
              <a:t>PTR</a:t>
            </a:r>
            <a:r>
              <a:rPr lang="zh-CN" altLang="en-US">
                <a:latin typeface="宋体" panose="02010600030101010101" pitchFamily="2" charset="-122"/>
              </a:rPr>
              <a:t>明确指明要访问的存储单元的类型。如：</a:t>
            </a:r>
            <a:endParaRPr lang="en-US" altLang="en-US">
              <a:latin typeface="宋体" panose="02010600030101010101" pitchFamily="2" charset="-122"/>
            </a:endParaRPr>
          </a:p>
          <a:p>
            <a:pPr eaLnBrk="1" hangingPunct="1">
              <a:lnSpc>
                <a:spcPct val="50000"/>
              </a:lnSpc>
              <a:spcBef>
                <a:spcPct val="50000"/>
              </a:spcBef>
            </a:pPr>
            <a:r>
              <a:rPr lang="en-US" altLang="en-US">
                <a:latin typeface="宋体" panose="02010600030101010101" pitchFamily="2" charset="-122"/>
              </a:rPr>
              <a:t>                 </a:t>
            </a:r>
            <a:r>
              <a:rPr lang="en-US" altLang="zh-CN">
                <a:solidFill>
                  <a:srgbClr val="CC0000"/>
                </a:solidFill>
                <a:latin typeface="宋体" panose="02010600030101010101" pitchFamily="2" charset="-122"/>
              </a:rPr>
              <a:t>MOV  [BX],10H</a:t>
            </a:r>
          </a:p>
        </p:txBody>
      </p:sp>
      <p:sp>
        <p:nvSpPr>
          <p:cNvPr id="610307" name="Text Box 3"/>
          <p:cNvSpPr txBox="1">
            <a:spLocks noChangeArrowheads="1"/>
          </p:cNvSpPr>
          <p:nvPr/>
        </p:nvSpPr>
        <p:spPr bwMode="auto">
          <a:xfrm>
            <a:off x="684213" y="2636838"/>
            <a:ext cx="44196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r>
              <a:rPr lang="en-US" altLang="zh-CN"/>
              <a:t> </a:t>
            </a:r>
          </a:p>
          <a:p>
            <a:pPr eaLnBrk="1" hangingPunct="1">
              <a:lnSpc>
                <a:spcPct val="50000"/>
              </a:lnSpc>
              <a:spcBef>
                <a:spcPct val="50000"/>
              </a:spcBef>
            </a:pPr>
            <a:r>
              <a:rPr lang="en-US" altLang="zh-CN">
                <a:solidFill>
                  <a:srgbClr val="FF00FF"/>
                </a:solidFill>
              </a:rPr>
              <a:t>MOV  BYTE PTR[BX],10H</a:t>
            </a:r>
            <a:endParaRPr lang="en-US" altLang="zh-CN" sz="3200">
              <a:solidFill>
                <a:srgbClr val="FF00FF"/>
              </a:solidFill>
            </a:endParaRPr>
          </a:p>
        </p:txBody>
      </p:sp>
      <p:sp>
        <p:nvSpPr>
          <p:cNvPr id="31749" name="Line 4"/>
          <p:cNvSpPr>
            <a:spLocks noChangeShapeType="1"/>
          </p:cNvSpPr>
          <p:nvPr/>
        </p:nvSpPr>
        <p:spPr bwMode="auto">
          <a:xfrm>
            <a:off x="6291263" y="2543175"/>
            <a:ext cx="0" cy="1600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0" name="Line 5"/>
          <p:cNvSpPr>
            <a:spLocks noChangeShapeType="1"/>
          </p:cNvSpPr>
          <p:nvPr/>
        </p:nvSpPr>
        <p:spPr bwMode="auto">
          <a:xfrm>
            <a:off x="7586663" y="2543175"/>
            <a:ext cx="0" cy="1676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1" name="Line 6"/>
          <p:cNvSpPr>
            <a:spLocks noChangeShapeType="1"/>
          </p:cNvSpPr>
          <p:nvPr/>
        </p:nvSpPr>
        <p:spPr bwMode="auto">
          <a:xfrm>
            <a:off x="6291263" y="29241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2" name="Line 7"/>
          <p:cNvSpPr>
            <a:spLocks noChangeShapeType="1"/>
          </p:cNvSpPr>
          <p:nvPr/>
        </p:nvSpPr>
        <p:spPr bwMode="auto">
          <a:xfrm>
            <a:off x="6291263" y="33051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3" name="Text Box 8"/>
          <p:cNvSpPr txBox="1">
            <a:spLocks noChangeArrowheads="1"/>
          </p:cNvSpPr>
          <p:nvPr/>
        </p:nvSpPr>
        <p:spPr bwMode="auto">
          <a:xfrm>
            <a:off x="5224463" y="284797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BX</a:t>
            </a:r>
          </a:p>
        </p:txBody>
      </p:sp>
      <p:sp>
        <p:nvSpPr>
          <p:cNvPr id="31754" name="Line 9"/>
          <p:cNvSpPr>
            <a:spLocks noChangeShapeType="1"/>
          </p:cNvSpPr>
          <p:nvPr/>
        </p:nvSpPr>
        <p:spPr bwMode="auto">
          <a:xfrm>
            <a:off x="5757863" y="3076575"/>
            <a:ext cx="533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5" name="Line 10"/>
          <p:cNvSpPr>
            <a:spLocks noChangeShapeType="1"/>
          </p:cNvSpPr>
          <p:nvPr/>
        </p:nvSpPr>
        <p:spPr bwMode="auto">
          <a:xfrm>
            <a:off x="6291263" y="4524375"/>
            <a:ext cx="0" cy="16002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Line 11"/>
          <p:cNvSpPr>
            <a:spLocks noChangeShapeType="1"/>
          </p:cNvSpPr>
          <p:nvPr/>
        </p:nvSpPr>
        <p:spPr bwMode="auto">
          <a:xfrm>
            <a:off x="7586663" y="4524375"/>
            <a:ext cx="0" cy="167640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Line 12"/>
          <p:cNvSpPr>
            <a:spLocks noChangeShapeType="1"/>
          </p:cNvSpPr>
          <p:nvPr/>
        </p:nvSpPr>
        <p:spPr bwMode="auto">
          <a:xfrm>
            <a:off x="6291263" y="49053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8" name="Line 13"/>
          <p:cNvSpPr>
            <a:spLocks noChangeShapeType="1"/>
          </p:cNvSpPr>
          <p:nvPr/>
        </p:nvSpPr>
        <p:spPr bwMode="auto">
          <a:xfrm>
            <a:off x="6291263" y="52863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9" name="Text Box 14"/>
          <p:cNvSpPr txBox="1">
            <a:spLocks noChangeArrowheads="1"/>
          </p:cNvSpPr>
          <p:nvPr/>
        </p:nvSpPr>
        <p:spPr bwMode="auto">
          <a:xfrm>
            <a:off x="5224463" y="4829175"/>
            <a:ext cx="990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t>BX</a:t>
            </a:r>
          </a:p>
        </p:txBody>
      </p:sp>
      <p:sp>
        <p:nvSpPr>
          <p:cNvPr id="31760" name="Line 15"/>
          <p:cNvSpPr>
            <a:spLocks noChangeShapeType="1"/>
          </p:cNvSpPr>
          <p:nvPr/>
        </p:nvSpPr>
        <p:spPr bwMode="auto">
          <a:xfrm>
            <a:off x="5757863" y="5057775"/>
            <a:ext cx="533400" cy="0"/>
          </a:xfrm>
          <a:prstGeom prst="line">
            <a:avLst/>
          </a:prstGeom>
          <a:noFill/>
          <a:ln w="12700" cap="sq">
            <a:solidFill>
              <a:schemeClr val="tx1"/>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1" name="Line 16"/>
          <p:cNvSpPr>
            <a:spLocks noChangeShapeType="1"/>
          </p:cNvSpPr>
          <p:nvPr/>
        </p:nvSpPr>
        <p:spPr bwMode="auto">
          <a:xfrm>
            <a:off x="6291263" y="5667375"/>
            <a:ext cx="1295400" cy="0"/>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0321" name="Text Box 17"/>
          <p:cNvSpPr txBox="1">
            <a:spLocks noChangeArrowheads="1"/>
          </p:cNvSpPr>
          <p:nvPr/>
        </p:nvSpPr>
        <p:spPr bwMode="auto">
          <a:xfrm>
            <a:off x="684213" y="4797425"/>
            <a:ext cx="441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990099"/>
                </a:solidFill>
              </a:rPr>
              <a:t>MOV  WORD PTR[BX],10H</a:t>
            </a:r>
          </a:p>
        </p:txBody>
      </p:sp>
      <p:sp>
        <p:nvSpPr>
          <p:cNvPr id="610322" name="Text Box 18"/>
          <p:cNvSpPr txBox="1">
            <a:spLocks noChangeArrowheads="1"/>
          </p:cNvSpPr>
          <p:nvPr/>
        </p:nvSpPr>
        <p:spPr bwMode="auto">
          <a:xfrm>
            <a:off x="6443663" y="2924175"/>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FF00FF"/>
                </a:solidFill>
              </a:rPr>
              <a:t> 10H</a:t>
            </a:r>
          </a:p>
        </p:txBody>
      </p:sp>
      <p:sp>
        <p:nvSpPr>
          <p:cNvPr id="610323" name="Text Box 19"/>
          <p:cNvSpPr txBox="1">
            <a:spLocks noChangeArrowheads="1"/>
          </p:cNvSpPr>
          <p:nvPr/>
        </p:nvSpPr>
        <p:spPr bwMode="auto">
          <a:xfrm>
            <a:off x="6519863" y="4905375"/>
            <a:ext cx="106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a:solidFill>
                  <a:srgbClr val="FF0000"/>
                </a:solidFill>
              </a:rPr>
              <a:t>10H     00H</a:t>
            </a:r>
          </a:p>
        </p:txBody>
      </p:sp>
      <p:sp>
        <p:nvSpPr>
          <p:cNvPr id="31765" name="Rectangle 3"/>
          <p:cNvSpPr>
            <a:spLocks noRot="1" noChangeArrowheads="1"/>
          </p:cNvSpPr>
          <p:nvPr/>
        </p:nvSpPr>
        <p:spPr bwMode="auto">
          <a:xfrm>
            <a:off x="323850" y="549275"/>
            <a:ext cx="8291513"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81000" indent="-3810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None/>
            </a:pPr>
            <a:r>
              <a:rPr lang="en-US" altLang="en-US" b="0">
                <a:solidFill>
                  <a:srgbClr val="FF0000"/>
                </a:solidFill>
                <a:latin typeface="宋体" panose="02010600030101010101" pitchFamily="2" charset="-122"/>
              </a:rPr>
              <a:t>③PTR运算符</a:t>
            </a:r>
            <a:r>
              <a:rPr lang="zh-CN" altLang="en-US" b="0">
                <a:latin typeface="宋体" panose="02010600030101010101" pitchFamily="2" charset="-122"/>
              </a:rPr>
              <a:t>：用来指定存储器操作数的类型。</a:t>
            </a:r>
            <a:r>
              <a:rPr lang="en-US" altLang="en-US" b="0">
                <a:latin typeface="宋体" panose="02010600030101010101" pitchFamily="2" charset="-122"/>
              </a:rPr>
              <a:t> </a:t>
            </a:r>
            <a:endParaRPr lang="zh-CN" altLang="en-US" b="0">
              <a:latin typeface="宋体" panose="02010600030101010101" pitchFamily="2" charset="-122"/>
            </a:endParaRP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0307"/>
                                        </p:tgtEl>
                                        <p:attrNameLst>
                                          <p:attrName>style.visibility</p:attrName>
                                        </p:attrNameLst>
                                      </p:cBhvr>
                                      <p:to>
                                        <p:strVal val="visible"/>
                                      </p:to>
                                    </p:set>
                                    <p:anim calcmode="lin" valueType="num">
                                      <p:cBhvr additive="base">
                                        <p:cTn id="7" dur="500" fill="hold"/>
                                        <p:tgtEl>
                                          <p:spTgt spid="610307"/>
                                        </p:tgtEl>
                                        <p:attrNameLst>
                                          <p:attrName>ppt_x</p:attrName>
                                        </p:attrNameLst>
                                      </p:cBhvr>
                                      <p:tavLst>
                                        <p:tav tm="0">
                                          <p:val>
                                            <p:strVal val="#ppt_x"/>
                                          </p:val>
                                        </p:tav>
                                        <p:tav tm="100000">
                                          <p:val>
                                            <p:strVal val="#ppt_x"/>
                                          </p:val>
                                        </p:tav>
                                      </p:tavLst>
                                    </p:anim>
                                    <p:anim calcmode="lin" valueType="num">
                                      <p:cBhvr additive="base">
                                        <p:cTn id="8" dur="500" fill="hold"/>
                                        <p:tgtEl>
                                          <p:spTgt spid="6103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6103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10321"/>
                                        </p:tgtEl>
                                        <p:attrNameLst>
                                          <p:attrName>style.visibility</p:attrName>
                                        </p:attrNameLst>
                                      </p:cBhvr>
                                      <p:to>
                                        <p:strVal val="visible"/>
                                      </p:to>
                                    </p:set>
                                    <p:anim calcmode="lin" valueType="num">
                                      <p:cBhvr additive="base">
                                        <p:cTn id="17" dur="500" fill="hold"/>
                                        <p:tgtEl>
                                          <p:spTgt spid="610321"/>
                                        </p:tgtEl>
                                        <p:attrNameLst>
                                          <p:attrName>ppt_x</p:attrName>
                                        </p:attrNameLst>
                                      </p:cBhvr>
                                      <p:tavLst>
                                        <p:tav tm="0">
                                          <p:val>
                                            <p:strVal val="#ppt_x"/>
                                          </p:val>
                                        </p:tav>
                                        <p:tav tm="100000">
                                          <p:val>
                                            <p:strVal val="#ppt_x"/>
                                          </p:val>
                                        </p:tav>
                                      </p:tavLst>
                                    </p:anim>
                                    <p:anim calcmode="lin" valueType="num">
                                      <p:cBhvr additive="base">
                                        <p:cTn id="18" dur="500" fill="hold"/>
                                        <p:tgtEl>
                                          <p:spTgt spid="61032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103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07" grpId="0" autoUpdateAnimBg="0"/>
      <p:bldP spid="610321" grpId="0" autoUpdateAnimBg="0"/>
      <p:bldP spid="610322" grpId="0" autoUpdateAnimBg="0"/>
      <p:bldP spid="610323"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24586F38-D529-4F0A-8BF7-CECC0A75AE23}" type="slidenum">
              <a:rPr lang="en-US" altLang="zh-CN"/>
              <a:t>24</a:t>
            </a:fld>
            <a:endParaRPr lang="en-US" altLang="zh-CN"/>
          </a:p>
        </p:txBody>
      </p:sp>
      <p:sp>
        <p:nvSpPr>
          <p:cNvPr id="611330" name="Rectangle 2"/>
          <p:cNvSpPr>
            <a:spLocks noGrp="1" noRot="1" noChangeArrowheads="1"/>
          </p:cNvSpPr>
          <p:nvPr>
            <p:ph type="title" idx="4294967295"/>
          </p:nvPr>
        </p:nvSpPr>
        <p:spPr>
          <a:xfrm>
            <a:off x="107950" y="620713"/>
            <a:ext cx="8839200" cy="2354262"/>
          </a:xfrm>
        </p:spPr>
        <p:txBody>
          <a:bodyPr/>
          <a:lstStyle/>
          <a:p>
            <a:pPr algn="l">
              <a:lnSpc>
                <a:spcPct val="150000"/>
              </a:lnSpc>
              <a:defRPr/>
            </a:pPr>
            <a:r>
              <a:rPr lang="en-US" altLang="zh-CN" sz="2400" dirty="0">
                <a:solidFill>
                  <a:schemeClr val="tx1"/>
                </a:solidFill>
                <a:latin typeface="宋体" panose="02010600030101010101" pitchFamily="2" charset="-122"/>
              </a:rPr>
              <a:t>    PTR</a:t>
            </a:r>
            <a:r>
              <a:rPr lang="zh-CN" altLang="en-US" sz="2400" dirty="0">
                <a:solidFill>
                  <a:schemeClr val="tx1"/>
                </a:solidFill>
                <a:latin typeface="宋体" panose="02010600030101010101" pitchFamily="2" charset="-122"/>
              </a:rPr>
              <a:t>合成运算符的另一种应用场合是当要引用的标号类型和定义类型不一致时，可以用</a:t>
            </a:r>
            <a:r>
              <a:rPr lang="en-US" altLang="zh-CN" sz="2400" dirty="0">
                <a:solidFill>
                  <a:schemeClr val="tx1"/>
                </a:solidFill>
                <a:latin typeface="宋体" panose="02010600030101010101" pitchFamily="2" charset="-122"/>
              </a:rPr>
              <a:t>PTR</a:t>
            </a:r>
            <a:r>
              <a:rPr lang="zh-CN" altLang="en-US" sz="2400" dirty="0">
                <a:solidFill>
                  <a:schemeClr val="tx1"/>
                </a:solidFill>
                <a:latin typeface="宋体" panose="02010600030101010101" pitchFamily="2" charset="-122"/>
              </a:rPr>
              <a:t>临时改变标号的类型为我们所需要的类型。</a:t>
            </a:r>
            <a:br>
              <a:rPr lang="zh-CN" altLang="en-US" sz="2400" dirty="0">
                <a:solidFill>
                  <a:schemeClr val="tx1"/>
                </a:solidFill>
                <a:latin typeface="宋体" panose="02010600030101010101" pitchFamily="2" charset="-122"/>
              </a:rPr>
            </a:br>
            <a:r>
              <a:rPr lang="zh-CN" altLang="en-US" sz="2400" dirty="0">
                <a:solidFill>
                  <a:schemeClr val="tx1"/>
                </a:solidFill>
                <a:latin typeface="宋体" panose="02010600030101010101" pitchFamily="2" charset="-122"/>
              </a:rPr>
              <a:t>如：</a:t>
            </a:r>
            <a:endParaRPr lang="zh-CN" altLang="en-US" dirty="0">
              <a:latin typeface="宋体" panose="02010600030101010101" pitchFamily="2" charset="-122"/>
            </a:endParaRPr>
          </a:p>
        </p:txBody>
      </p:sp>
      <p:sp>
        <p:nvSpPr>
          <p:cNvPr id="611331" name="Text Box 3"/>
          <p:cNvSpPr txBox="1">
            <a:spLocks noChangeArrowheads="1"/>
          </p:cNvSpPr>
          <p:nvPr/>
        </p:nvSpPr>
        <p:spPr bwMode="auto">
          <a:xfrm>
            <a:off x="1763713" y="2492375"/>
            <a:ext cx="5715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50000"/>
              </a:spcBef>
            </a:pPr>
            <a:endParaRPr lang="en-US" altLang="zh-CN"/>
          </a:p>
          <a:p>
            <a:pPr eaLnBrk="1" hangingPunct="1">
              <a:spcBef>
                <a:spcPct val="50000"/>
              </a:spcBef>
            </a:pPr>
            <a:r>
              <a:rPr lang="en-US" altLang="zh-CN"/>
              <a:t>A1  DB       10H,20H</a:t>
            </a:r>
          </a:p>
          <a:p>
            <a:pPr eaLnBrk="1" hangingPunct="1">
              <a:spcBef>
                <a:spcPct val="50000"/>
              </a:spcBef>
            </a:pPr>
            <a:r>
              <a:rPr lang="en-US" altLang="zh-CN">
                <a:solidFill>
                  <a:srgbClr val="CC0000"/>
                </a:solidFill>
              </a:rPr>
              <a:t>       MOV   AX,A1</a:t>
            </a:r>
          </a:p>
          <a:p>
            <a:pPr eaLnBrk="1" hangingPunct="1">
              <a:spcBef>
                <a:spcPct val="50000"/>
              </a:spcBef>
            </a:pPr>
            <a:r>
              <a:rPr lang="en-US" altLang="zh-CN"/>
              <a:t>       MOV   AX,WORD PTR A1</a:t>
            </a:r>
          </a:p>
        </p:txBody>
      </p:sp>
      <p:sp>
        <p:nvSpPr>
          <p:cNvPr id="611332" name="Rectangle 4"/>
          <p:cNvSpPr>
            <a:spLocks noChangeArrowheads="1"/>
          </p:cNvSpPr>
          <p:nvPr/>
        </p:nvSpPr>
        <p:spPr bwMode="auto">
          <a:xfrm>
            <a:off x="1042988" y="4724400"/>
            <a:ext cx="6400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609600" indent="-6096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990600" indent="-53340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314450" indent="-4572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581150" indent="-3810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885950" indent="-3429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3431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8003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2575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714750" indent="-3429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en-US" altLang="zh-CN" b="0"/>
              <a:t>	</a:t>
            </a:r>
            <a:r>
              <a:rPr lang="zh-CN" altLang="en-US" b="0">
                <a:solidFill>
                  <a:srgbClr val="FF0000"/>
                </a:solidFill>
              </a:rPr>
              <a:t>该修改是临时的，只在当前语句有效</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133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133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1133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6" presetClass="entr" presetSubtype="37" fill="hold" grpId="0" nodeType="clickEffect">
                                  <p:stCondLst>
                                    <p:cond delay="0"/>
                                  </p:stCondLst>
                                  <p:childTnLst>
                                    <p:set>
                                      <p:cBhvr>
                                        <p:cTn id="18" dur="1" fill="hold">
                                          <p:stCondLst>
                                            <p:cond delay="0"/>
                                          </p:stCondLst>
                                        </p:cTn>
                                        <p:tgtEl>
                                          <p:spTgt spid="611332"/>
                                        </p:tgtEl>
                                        <p:attrNameLst>
                                          <p:attrName>style.visibility</p:attrName>
                                        </p:attrNameLst>
                                      </p:cBhvr>
                                      <p:to>
                                        <p:strVal val="visible"/>
                                      </p:to>
                                    </p:set>
                                    <p:animEffect transition="in" filter="barn(outVertical)">
                                      <p:cBhvr>
                                        <p:cTn id="19" dur="500"/>
                                        <p:tgtEl>
                                          <p:spTgt spid="611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31" grpId="0" build="p" autoUpdateAnimBg="0"/>
      <p:bldP spid="61133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6BF2C8B-058B-42BE-B123-2025730A5A89}" type="slidenum">
              <a:rPr lang="en-US" altLang="zh-CN"/>
              <a:t>25</a:t>
            </a:fld>
            <a:endParaRPr lang="en-US" altLang="zh-CN"/>
          </a:p>
        </p:txBody>
      </p:sp>
      <p:sp>
        <p:nvSpPr>
          <p:cNvPr id="33795" name="Rectangle 2"/>
          <p:cNvSpPr>
            <a:spLocks noChangeArrowheads="1"/>
          </p:cNvSpPr>
          <p:nvPr/>
        </p:nvSpPr>
        <p:spPr bwMode="auto">
          <a:xfrm>
            <a:off x="323850" y="404813"/>
            <a:ext cx="4319588" cy="519112"/>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a:solidFill>
                  <a:srgbClr val="FF0000"/>
                </a:solidFill>
                <a:latin typeface="宋体" panose="02010600030101010101" pitchFamily="2" charset="-122"/>
              </a:rPr>
              <a:t>2.3   </a:t>
            </a:r>
            <a:r>
              <a:rPr lang="zh-CN" altLang="en-US" sz="2800">
                <a:solidFill>
                  <a:srgbClr val="FF0000"/>
                </a:solidFill>
                <a:latin typeface="宋体" panose="02010600030101010101" pitchFamily="2" charset="-122"/>
              </a:rPr>
              <a:t>常用伪操作</a:t>
            </a:r>
          </a:p>
        </p:txBody>
      </p:sp>
      <p:sp>
        <p:nvSpPr>
          <p:cNvPr id="33796" name="Rectangle 3"/>
          <p:cNvSpPr>
            <a:spLocks noChangeArrowheads="1"/>
          </p:cNvSpPr>
          <p:nvPr/>
        </p:nvSpPr>
        <p:spPr bwMode="auto">
          <a:xfrm>
            <a:off x="323850" y="1196975"/>
            <a:ext cx="8424863" cy="118745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latin typeface="宋体" panose="02010600030101010101" pitchFamily="2" charset="-122"/>
              </a:rPr>
              <a:t>伪指令</a:t>
            </a:r>
            <a:r>
              <a:rPr lang="zh-CN" altLang="en-US">
                <a:latin typeface="宋体" panose="02010600030101010101" pitchFamily="2" charset="-122"/>
              </a:rPr>
              <a:t>：</a:t>
            </a:r>
          </a:p>
          <a:p>
            <a:pPr eaLnBrk="1" hangingPunct="1"/>
            <a:r>
              <a:rPr lang="zh-CN" altLang="en-US">
                <a:latin typeface="宋体" panose="02010600030101010101" pitchFamily="2" charset="-122"/>
              </a:rPr>
              <a:t>  不是</a:t>
            </a:r>
            <a:r>
              <a:rPr lang="en-US" altLang="zh-CN">
                <a:latin typeface="宋体" panose="02010600030101010101" pitchFamily="2" charset="-122"/>
              </a:rPr>
              <a:t>CPU</a:t>
            </a:r>
            <a:r>
              <a:rPr lang="zh-CN" altLang="en-US">
                <a:latin typeface="宋体" panose="02010600030101010101" pitchFamily="2" charset="-122"/>
              </a:rPr>
              <a:t>执行的指令，而是程序员给</a:t>
            </a:r>
            <a:r>
              <a:rPr lang="zh-CN" altLang="en-US">
                <a:solidFill>
                  <a:srgbClr val="FF0000"/>
                </a:solidFill>
                <a:latin typeface="宋体" panose="02010600030101010101" pitchFamily="2" charset="-122"/>
              </a:rPr>
              <a:t>编译程序</a:t>
            </a:r>
            <a:r>
              <a:rPr lang="zh-CN" altLang="en-US">
                <a:latin typeface="宋体" panose="02010600030101010101" pitchFamily="2" charset="-122"/>
              </a:rPr>
              <a:t>下达的命令。</a:t>
            </a:r>
          </a:p>
          <a:p>
            <a:pPr eaLnBrk="1" hangingPunct="1"/>
            <a:r>
              <a:rPr lang="zh-CN" altLang="en-US">
                <a:latin typeface="宋体" panose="02010600030101010101" pitchFamily="2" charset="-122"/>
              </a:rPr>
              <a:t>  是在编译源程序期间由</a:t>
            </a:r>
            <a:r>
              <a:rPr lang="zh-CN" altLang="en-US">
                <a:solidFill>
                  <a:srgbClr val="FF0000"/>
                </a:solidFill>
                <a:latin typeface="宋体" panose="02010600030101010101" pitchFamily="2" charset="-122"/>
              </a:rPr>
              <a:t>编译程序执行的命令</a:t>
            </a:r>
            <a:r>
              <a:rPr lang="zh-CN" altLang="en-US">
                <a:latin typeface="宋体" panose="02010600030101010101" pitchFamily="2" charset="-122"/>
              </a:rPr>
              <a:t>。 </a:t>
            </a:r>
          </a:p>
        </p:txBody>
      </p:sp>
      <p:sp>
        <p:nvSpPr>
          <p:cNvPr id="33797" name="Rectangle 4"/>
          <p:cNvSpPr>
            <a:spLocks noChangeArrowheads="1"/>
          </p:cNvSpPr>
          <p:nvPr/>
        </p:nvSpPr>
        <p:spPr bwMode="auto">
          <a:xfrm>
            <a:off x="468313" y="2852738"/>
            <a:ext cx="7775575"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latin typeface="宋体" panose="02010600030101010101" pitchFamily="2" charset="-122"/>
              </a:rPr>
              <a:t>    </a:t>
            </a:r>
            <a:r>
              <a:rPr lang="zh-CN" altLang="en-US">
                <a:latin typeface="宋体" panose="02010600030101010101" pitchFamily="2" charset="-122"/>
              </a:rPr>
              <a:t>定义数据、分配存储区、定义段、定义过程</a:t>
            </a:r>
          </a:p>
        </p:txBody>
      </p:sp>
      <p:sp>
        <p:nvSpPr>
          <p:cNvPr id="33798" name="Rectangle 5"/>
          <p:cNvSpPr>
            <a:spLocks noChangeArrowheads="1"/>
          </p:cNvSpPr>
          <p:nvPr/>
        </p:nvSpPr>
        <p:spPr bwMode="auto">
          <a:xfrm>
            <a:off x="323850" y="3644900"/>
            <a:ext cx="8496300" cy="82232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0000CC"/>
                </a:solidFill>
              </a:rPr>
              <a:t>伪指令语句：在汇编时不产生二进制代码，仅为编译程序提供</a:t>
            </a:r>
          </a:p>
          <a:p>
            <a:pPr eaLnBrk="1" hangingPunct="1"/>
            <a:r>
              <a:rPr lang="zh-CN" altLang="en-US">
                <a:solidFill>
                  <a:srgbClr val="0000CC"/>
                </a:solidFill>
              </a:rPr>
              <a:t>汇编时所需要的信息的语句。</a:t>
            </a: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fld id="{F61ADA1F-8F60-4DEA-9BDE-7B333FC12E50}" type="slidenum">
              <a:rPr lang="en-US" altLang="zh-CN"/>
              <a:t>26</a:t>
            </a:fld>
            <a:endParaRPr lang="en-US" altLang="zh-CN"/>
          </a:p>
        </p:txBody>
      </p:sp>
      <p:sp>
        <p:nvSpPr>
          <p:cNvPr id="627714" name="Rectangle 2"/>
          <p:cNvSpPr>
            <a:spLocks noGrp="1" noRot="1" noChangeArrowheads="1"/>
          </p:cNvSpPr>
          <p:nvPr>
            <p:ph type="title"/>
          </p:nvPr>
        </p:nvSpPr>
        <p:spPr>
          <a:xfrm>
            <a:off x="323850" y="476250"/>
            <a:ext cx="4630738" cy="600075"/>
          </a:xfrm>
        </p:spPr>
        <p:txBody>
          <a:bodyPr/>
          <a:lstStyle/>
          <a:p>
            <a:pPr algn="l">
              <a:defRPr/>
            </a:pPr>
            <a:r>
              <a:rPr lang="en-US" altLang="zh-CN" sz="3200" dirty="0">
                <a:solidFill>
                  <a:srgbClr val="FF0000"/>
                </a:solidFill>
                <a:latin typeface="宋体" panose="02010600030101010101" pitchFamily="2" charset="-122"/>
              </a:rPr>
              <a:t>2.3.1  </a:t>
            </a:r>
            <a:r>
              <a:rPr lang="zh-CN" altLang="en-US" sz="3200" dirty="0">
                <a:solidFill>
                  <a:srgbClr val="FF0000"/>
                </a:solidFill>
                <a:latin typeface="宋体" panose="02010600030101010101" pitchFamily="2" charset="-122"/>
              </a:rPr>
              <a:t>段定义伪操作</a:t>
            </a:r>
          </a:p>
        </p:txBody>
      </p:sp>
      <p:sp>
        <p:nvSpPr>
          <p:cNvPr id="34820" name="Rectangle 3"/>
          <p:cNvSpPr>
            <a:spLocks noGrp="1" noRot="1" noChangeArrowheads="1"/>
          </p:cNvSpPr>
          <p:nvPr>
            <p:ph type="body" idx="1"/>
          </p:nvPr>
        </p:nvSpPr>
        <p:spPr>
          <a:xfrm>
            <a:off x="468313" y="2205038"/>
            <a:ext cx="2892425" cy="669925"/>
          </a:xfrm>
        </p:spPr>
        <p:txBody>
          <a:bodyPr/>
          <a:lstStyle/>
          <a:p>
            <a:pPr>
              <a:buFont typeface="Wingdings" panose="05000000000000000000" pitchFamily="2" charset="2"/>
              <a:buNone/>
            </a:pPr>
            <a:r>
              <a:rPr lang="zh-CN" altLang="en-US"/>
              <a:t>程序的段结构</a:t>
            </a:r>
          </a:p>
        </p:txBody>
      </p:sp>
      <p:sp>
        <p:nvSpPr>
          <p:cNvPr id="34821" name="Rectangle 4"/>
          <p:cNvSpPr>
            <a:spLocks noChangeArrowheads="1"/>
          </p:cNvSpPr>
          <p:nvPr/>
        </p:nvSpPr>
        <p:spPr bwMode="auto">
          <a:xfrm>
            <a:off x="3348038" y="1700213"/>
            <a:ext cx="4600575"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08585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42875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77165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2288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6860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1432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60045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accent2"/>
              </a:buClr>
              <a:buFont typeface="Wingdings" panose="05000000000000000000" pitchFamily="2" charset="2"/>
              <a:buNone/>
            </a:pPr>
            <a:r>
              <a:rPr lang="zh-CN" altLang="en-US" sz="2800" b="0" dirty="0">
                <a:solidFill>
                  <a:srgbClr val="000000"/>
                </a:solidFill>
              </a:rPr>
              <a:t>段定义</a:t>
            </a:r>
          </a:p>
          <a:p>
            <a:pPr eaLnBrk="1" hangingPunct="1">
              <a:buClr>
                <a:schemeClr val="accent2"/>
              </a:buClr>
              <a:buFont typeface="Wingdings" panose="05000000000000000000" pitchFamily="2" charset="2"/>
              <a:buNone/>
            </a:pPr>
            <a:r>
              <a:rPr lang="zh-CN" altLang="en-US" sz="2800" b="0" dirty="0">
                <a:solidFill>
                  <a:srgbClr val="000000"/>
                </a:solidFill>
              </a:rPr>
              <a:t>段寻址（指定当前段）</a:t>
            </a:r>
          </a:p>
          <a:p>
            <a:pPr eaLnBrk="1" hangingPunct="1">
              <a:buClr>
                <a:schemeClr val="accent2"/>
              </a:buClr>
              <a:buFont typeface="Wingdings" panose="05000000000000000000" pitchFamily="2" charset="2"/>
              <a:buNone/>
            </a:pPr>
            <a:r>
              <a:rPr lang="zh-CN" altLang="en-US" sz="2800" b="0" dirty="0">
                <a:solidFill>
                  <a:srgbClr val="000000"/>
                </a:solidFill>
              </a:rPr>
              <a:t>段寄存器的装入</a:t>
            </a:r>
          </a:p>
        </p:txBody>
      </p:sp>
      <p:sp>
        <p:nvSpPr>
          <p:cNvPr id="34822" name="AutoShape 5"/>
          <p:cNvSpPr/>
          <p:nvPr/>
        </p:nvSpPr>
        <p:spPr bwMode="auto">
          <a:xfrm>
            <a:off x="3132138" y="1916113"/>
            <a:ext cx="76200" cy="1295400"/>
          </a:xfrm>
          <a:prstGeom prst="leftBrace">
            <a:avLst>
              <a:gd name="adj1" fmla="val 141667"/>
              <a:gd name="adj2" fmla="val 50000"/>
            </a:avLst>
          </a:prstGeom>
          <a:noFill/>
          <a:ln w="22225">
            <a:solidFill>
              <a:srgbClr val="00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23" name="Rectangle 6"/>
          <p:cNvSpPr>
            <a:spLocks noRot="1" noChangeArrowheads="1"/>
          </p:cNvSpPr>
          <p:nvPr/>
        </p:nvSpPr>
        <p:spPr bwMode="auto">
          <a:xfrm>
            <a:off x="539750" y="3860800"/>
            <a:ext cx="7777163" cy="66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buClr>
                <a:schemeClr val="folHlink"/>
              </a:buClr>
              <a:buFont typeface="Wingdings" panose="05000000000000000000" pitchFamily="2" charset="2"/>
              <a:buNone/>
            </a:pPr>
            <a:r>
              <a:rPr lang="zh-CN" altLang="en-US" sz="2800" b="0" dirty="0">
                <a:latin typeface="Arial" panose="020B0604020202020204" pitchFamily="34" charset="0"/>
              </a:rPr>
              <a:t>常用的伪操作有</a:t>
            </a:r>
            <a:r>
              <a:rPr lang="en-US" altLang="zh-CN" sz="2800" b="0" dirty="0">
                <a:latin typeface="Arial" panose="020B0604020202020204" pitchFamily="34" charset="0"/>
              </a:rPr>
              <a:t>SEGMENT</a:t>
            </a:r>
            <a:r>
              <a:rPr lang="zh-CN" altLang="en-US" sz="2800" b="0" dirty="0">
                <a:latin typeface="Arial" panose="020B0604020202020204" pitchFamily="34" charset="0"/>
              </a:rPr>
              <a:t>、</a:t>
            </a:r>
            <a:r>
              <a:rPr lang="en-US" altLang="zh-CN" sz="2800" b="0" dirty="0">
                <a:latin typeface="Arial" panose="020B0604020202020204" pitchFamily="34" charset="0"/>
              </a:rPr>
              <a:t>ENDS</a:t>
            </a:r>
            <a:r>
              <a:rPr lang="zh-CN" altLang="en-US" sz="2800" b="0" dirty="0">
                <a:latin typeface="Arial" panose="020B0604020202020204" pitchFamily="34" charset="0"/>
              </a:rPr>
              <a:t>和</a:t>
            </a:r>
            <a:r>
              <a:rPr lang="en-US" altLang="zh-CN" sz="2800" b="0" dirty="0">
                <a:latin typeface="Arial" panose="020B0604020202020204" pitchFamily="34" charset="0"/>
              </a:rPr>
              <a:t>ASSUME</a:t>
            </a:r>
          </a:p>
        </p:txBody>
      </p:sp>
    </p:spTree>
  </p:cSld>
  <p:clrMapOvr>
    <a:masterClrMapping/>
  </p:clrMapOvr>
  <p:transition>
    <p:rand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灯片编号占位符 32"/>
          <p:cNvSpPr>
            <a:spLocks noGrp="1"/>
          </p:cNvSpPr>
          <p:nvPr>
            <p:ph type="sldNum" sz="quarter" idx="12"/>
          </p:nvPr>
        </p:nvSpPr>
        <p:spPr/>
        <p:txBody>
          <a:bodyPr/>
          <a:lstStyle/>
          <a:p>
            <a:pPr>
              <a:defRPr/>
            </a:pPr>
            <a:fld id="{E55066B0-0620-4E47-B60C-DA6A686AE9C2}" type="slidenum">
              <a:rPr lang="en-US" altLang="zh-CN"/>
              <a:t>27</a:t>
            </a:fld>
            <a:endParaRPr lang="en-US" altLang="zh-CN"/>
          </a:p>
        </p:txBody>
      </p:sp>
      <p:graphicFrame>
        <p:nvGraphicFramePr>
          <p:cNvPr id="768002" name="Group 2"/>
          <p:cNvGraphicFramePr>
            <a:graphicFrameLocks noGrp="1"/>
          </p:cNvGraphicFramePr>
          <p:nvPr>
            <p:ph/>
          </p:nvPr>
        </p:nvGraphicFramePr>
        <p:xfrm>
          <a:off x="323850" y="1052513"/>
          <a:ext cx="8650288" cy="4195762"/>
        </p:xfrm>
        <a:graphic>
          <a:graphicData uri="http://schemas.openxmlformats.org/drawingml/2006/table">
            <a:tbl>
              <a:tblPr/>
              <a:tblGrid>
                <a:gridCol w="950913">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3529012">
                  <a:extLst>
                    <a:ext uri="{9D8B030D-6E8A-4147-A177-3AD203B41FA5}">
                      <a16:colId xmlns:a16="http://schemas.microsoft.com/office/drawing/2014/main" val="20002"/>
                    </a:ext>
                  </a:extLst>
                </a:gridCol>
                <a:gridCol w="2963863">
                  <a:extLst>
                    <a:ext uri="{9D8B030D-6E8A-4147-A177-3AD203B41FA5}">
                      <a16:colId xmlns:a16="http://schemas.microsoft.com/office/drawing/2014/main" val="20003"/>
                    </a:ext>
                  </a:extLst>
                </a:gridCol>
              </a:tblGrid>
              <a:tr h="763645">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2946">
                <a:tc rowSpan="6">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段定义</a:t>
                      </a:r>
                    </a:p>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SEGMENT</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SEGMENT[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定位类型</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lnTlToBr>
                      <a:noFill/>
                    </a:lnTlToBr>
                    <a:lnBlToTr>
                      <a:noFill/>
                    </a:lnBlToTr>
                    <a:noFill/>
                  </a:tcPr>
                </a:tc>
                <a:tc rowSpan="4">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定义一个逻辑段</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109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组合类型</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r>
                        <a:rPr kumimoji="0" lang="zh-CN" alt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2"/>
                  </a:ext>
                </a:extLst>
              </a:tr>
              <a:tr h="442946">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ENDS</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3"/>
                  </a:ext>
                </a:extLst>
              </a:tr>
              <a:tr h="442946">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段名 </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ENDS</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4"/>
                  </a:ext>
                </a:extLst>
              </a:tr>
              <a:tr h="70109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ASSUME</a:t>
                      </a:r>
                      <a:endParaRPr kumimoji="0" lang="en-US" altLang="zh-CN" sz="2000" b="1"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ASSUME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段寄存器名：段段名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设定逻辑段段址所在的段寄存器</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109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ORG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将地址计数器置为表达式的值</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23" marB="4572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9CD680D8-3CA3-4DC2-BE7F-4F0F8C135E76}" type="slidenum">
              <a:rPr lang="en-US" altLang="zh-CN"/>
              <a:t>28</a:t>
            </a:fld>
            <a:endParaRPr lang="en-US" altLang="zh-CN"/>
          </a:p>
        </p:txBody>
      </p:sp>
      <p:sp>
        <p:nvSpPr>
          <p:cNvPr id="36867" name="Rectangle 3"/>
          <p:cNvSpPr>
            <a:spLocks noGrp="1" noRot="1" noChangeArrowheads="1"/>
          </p:cNvSpPr>
          <p:nvPr>
            <p:ph type="body" idx="4294967295"/>
          </p:nvPr>
        </p:nvSpPr>
        <p:spPr>
          <a:xfrm>
            <a:off x="395288" y="476250"/>
            <a:ext cx="8424862" cy="5832475"/>
          </a:xfrm>
        </p:spPr>
        <p:txBody>
          <a:bodyPr/>
          <a:lstStyle/>
          <a:p>
            <a:pPr>
              <a:lnSpc>
                <a:spcPct val="80000"/>
              </a:lnSpc>
              <a:buFont typeface="Wingdings" panose="05000000000000000000" pitchFamily="2" charset="2"/>
              <a:buNone/>
            </a:pPr>
            <a:r>
              <a:rPr lang="en-US" altLang="zh-CN" sz="2000" dirty="0">
                <a:solidFill>
                  <a:schemeClr val="accent2"/>
                </a:solidFill>
              </a:rPr>
              <a:t>DATA       SEGMENT  </a:t>
            </a:r>
          </a:p>
          <a:p>
            <a:pPr>
              <a:lnSpc>
                <a:spcPct val="80000"/>
              </a:lnSpc>
              <a:buFont typeface="Wingdings" panose="05000000000000000000" pitchFamily="2" charset="2"/>
              <a:buNone/>
            </a:pPr>
            <a:r>
              <a:rPr lang="en-US" altLang="zh-CN" sz="2000" dirty="0">
                <a:solidFill>
                  <a:schemeClr val="accent2"/>
                </a:solidFill>
              </a:rPr>
              <a:t>         ┇</a:t>
            </a:r>
          </a:p>
          <a:p>
            <a:pPr>
              <a:lnSpc>
                <a:spcPct val="80000"/>
              </a:lnSpc>
              <a:buFont typeface="Wingdings" panose="05000000000000000000" pitchFamily="2" charset="2"/>
              <a:buNone/>
            </a:pPr>
            <a:r>
              <a:rPr lang="en-US" altLang="zh-CN" sz="2000" dirty="0">
                <a:solidFill>
                  <a:schemeClr val="accent2"/>
                </a:solidFill>
              </a:rPr>
              <a:t>DATA       ENDS</a:t>
            </a:r>
          </a:p>
          <a:p>
            <a:pPr>
              <a:lnSpc>
                <a:spcPct val="80000"/>
              </a:lnSpc>
              <a:buFont typeface="Wingdings" panose="05000000000000000000" pitchFamily="2" charset="2"/>
              <a:buNone/>
            </a:pPr>
            <a:endParaRPr lang="en-US" altLang="zh-CN" sz="2000" dirty="0">
              <a:solidFill>
                <a:schemeClr val="accent2"/>
              </a:solidFill>
            </a:endParaRPr>
          </a:p>
          <a:p>
            <a:pPr>
              <a:lnSpc>
                <a:spcPct val="80000"/>
              </a:lnSpc>
              <a:buFont typeface="Wingdings" panose="05000000000000000000" pitchFamily="2" charset="2"/>
              <a:buNone/>
            </a:pPr>
            <a:r>
              <a:rPr lang="en-US" altLang="zh-CN" sz="2000" dirty="0">
                <a:solidFill>
                  <a:srgbClr val="3366FF"/>
                </a:solidFill>
              </a:rPr>
              <a:t>STACK    SEGMENT  STACK</a:t>
            </a:r>
          </a:p>
          <a:p>
            <a:pPr>
              <a:lnSpc>
                <a:spcPct val="80000"/>
              </a:lnSpc>
              <a:buFont typeface="Wingdings" panose="05000000000000000000" pitchFamily="2" charset="2"/>
              <a:buNone/>
            </a:pPr>
            <a:r>
              <a:rPr lang="en-US" altLang="zh-CN" sz="2000" dirty="0">
                <a:solidFill>
                  <a:srgbClr val="3366FF"/>
                </a:solidFill>
              </a:rPr>
              <a:t>   ┇</a:t>
            </a:r>
          </a:p>
          <a:p>
            <a:pPr>
              <a:lnSpc>
                <a:spcPct val="80000"/>
              </a:lnSpc>
              <a:buFont typeface="Wingdings" panose="05000000000000000000" pitchFamily="2" charset="2"/>
              <a:buNone/>
            </a:pPr>
            <a:r>
              <a:rPr lang="en-US" altLang="zh-CN" sz="2000" dirty="0">
                <a:solidFill>
                  <a:srgbClr val="3366FF"/>
                </a:solidFill>
              </a:rPr>
              <a:t>STACK    ENDS</a:t>
            </a:r>
          </a:p>
          <a:p>
            <a:pPr>
              <a:lnSpc>
                <a:spcPct val="80000"/>
              </a:lnSpc>
              <a:buFont typeface="Wingdings" panose="05000000000000000000" pitchFamily="2" charset="2"/>
              <a:buNone/>
            </a:pPr>
            <a:endParaRPr lang="en-US" altLang="zh-CN" sz="2000" dirty="0">
              <a:solidFill>
                <a:srgbClr val="3366FF"/>
              </a:solidFill>
            </a:endParaRPr>
          </a:p>
          <a:p>
            <a:pPr>
              <a:lnSpc>
                <a:spcPct val="80000"/>
              </a:lnSpc>
              <a:buFont typeface="Wingdings" panose="05000000000000000000" pitchFamily="2" charset="2"/>
              <a:buNone/>
            </a:pPr>
            <a:r>
              <a:rPr lang="en-US" altLang="zh-CN" sz="2000" dirty="0"/>
              <a:t>CODE      SEGMENT</a:t>
            </a:r>
          </a:p>
          <a:p>
            <a:pPr>
              <a:lnSpc>
                <a:spcPct val="80000"/>
              </a:lnSpc>
              <a:buFont typeface="Wingdings" panose="05000000000000000000" pitchFamily="2" charset="2"/>
              <a:buNone/>
            </a:pPr>
            <a:r>
              <a:rPr lang="en-US" altLang="zh-CN" sz="2000" dirty="0"/>
              <a:t>          </a:t>
            </a:r>
            <a:r>
              <a:rPr lang="en-US" altLang="zh-CN" sz="2000" dirty="0">
                <a:solidFill>
                  <a:srgbClr val="FF0000"/>
                </a:solidFill>
              </a:rPr>
              <a:t>ASSUME  CS</a:t>
            </a:r>
            <a:r>
              <a:rPr lang="zh-CN" altLang="en-US" sz="2000" dirty="0">
                <a:solidFill>
                  <a:srgbClr val="FF0000"/>
                </a:solidFill>
              </a:rPr>
              <a:t>：</a:t>
            </a:r>
            <a:r>
              <a:rPr lang="en-US" altLang="zh-CN" sz="2000" dirty="0">
                <a:solidFill>
                  <a:srgbClr val="FF0000"/>
                </a:solidFill>
              </a:rPr>
              <a:t>CODE</a:t>
            </a:r>
            <a:r>
              <a:rPr lang="zh-CN" altLang="en-US" sz="2000" dirty="0">
                <a:solidFill>
                  <a:srgbClr val="FF0000"/>
                </a:solidFill>
              </a:rPr>
              <a:t>，</a:t>
            </a:r>
            <a:r>
              <a:rPr lang="en-US" altLang="zh-CN" sz="2000" dirty="0">
                <a:solidFill>
                  <a:srgbClr val="FF0000"/>
                </a:solidFill>
              </a:rPr>
              <a:t>DS</a:t>
            </a:r>
            <a:r>
              <a:rPr lang="zh-CN" altLang="en-US" sz="2000" dirty="0">
                <a:solidFill>
                  <a:srgbClr val="FF0000"/>
                </a:solidFill>
              </a:rPr>
              <a:t>：</a:t>
            </a:r>
            <a:r>
              <a:rPr lang="en-US" altLang="zh-CN" sz="2000" dirty="0">
                <a:solidFill>
                  <a:srgbClr val="FF0000"/>
                </a:solidFill>
              </a:rPr>
              <a:t>DATA</a:t>
            </a:r>
            <a:r>
              <a:rPr lang="zh-CN" altLang="en-US" sz="2000" dirty="0">
                <a:solidFill>
                  <a:srgbClr val="FF0000"/>
                </a:solidFill>
              </a:rPr>
              <a:t>，</a:t>
            </a:r>
            <a:r>
              <a:rPr lang="en-US" altLang="zh-CN" sz="2000" dirty="0">
                <a:solidFill>
                  <a:srgbClr val="FF0000"/>
                </a:solidFill>
              </a:rPr>
              <a:t>ES</a:t>
            </a:r>
            <a:r>
              <a:rPr lang="zh-CN" altLang="en-US" sz="2000" dirty="0">
                <a:solidFill>
                  <a:srgbClr val="FF0000"/>
                </a:solidFill>
              </a:rPr>
              <a:t>：</a:t>
            </a:r>
            <a:r>
              <a:rPr lang="en-US" altLang="zh-CN" sz="2000" dirty="0">
                <a:solidFill>
                  <a:srgbClr val="FF0000"/>
                </a:solidFill>
              </a:rPr>
              <a:t>DATA</a:t>
            </a:r>
            <a:r>
              <a:rPr lang="zh-CN" altLang="en-US" sz="2000" dirty="0">
                <a:solidFill>
                  <a:srgbClr val="FF0000"/>
                </a:solidFill>
              </a:rPr>
              <a:t>，</a:t>
            </a:r>
            <a:r>
              <a:rPr lang="en-US" altLang="zh-CN" sz="2000" dirty="0">
                <a:solidFill>
                  <a:srgbClr val="FF0000"/>
                </a:solidFill>
              </a:rPr>
              <a:t>SS</a:t>
            </a:r>
            <a:r>
              <a:rPr lang="zh-CN" altLang="en-US" sz="2000" dirty="0">
                <a:solidFill>
                  <a:srgbClr val="FF0000"/>
                </a:solidFill>
              </a:rPr>
              <a:t>：</a:t>
            </a:r>
            <a:r>
              <a:rPr lang="en-US" altLang="zh-CN" sz="2000" dirty="0">
                <a:solidFill>
                  <a:srgbClr val="FF0000"/>
                </a:solidFill>
              </a:rPr>
              <a:t>STACK</a:t>
            </a:r>
          </a:p>
          <a:p>
            <a:pPr>
              <a:lnSpc>
                <a:spcPct val="80000"/>
              </a:lnSpc>
              <a:buFont typeface="Wingdings" panose="05000000000000000000" pitchFamily="2" charset="2"/>
              <a:buNone/>
            </a:pPr>
            <a:r>
              <a:rPr lang="en-US" altLang="zh-CN" sz="2000" dirty="0"/>
              <a:t>BEGIN:    MOV  AX</a:t>
            </a:r>
            <a:r>
              <a:rPr lang="zh-CN" altLang="en-US" sz="2000" dirty="0"/>
              <a:t>，</a:t>
            </a:r>
            <a:r>
              <a:rPr lang="en-US" altLang="zh-CN" sz="2000" dirty="0"/>
              <a:t>DATA</a:t>
            </a:r>
          </a:p>
          <a:p>
            <a:pPr>
              <a:lnSpc>
                <a:spcPct val="80000"/>
              </a:lnSpc>
              <a:buFont typeface="Wingdings" panose="05000000000000000000" pitchFamily="2" charset="2"/>
              <a:buNone/>
            </a:pPr>
            <a:r>
              <a:rPr lang="en-US" altLang="zh-CN" sz="2000" dirty="0"/>
              <a:t>                MOV  DS</a:t>
            </a:r>
            <a:r>
              <a:rPr lang="zh-CN" altLang="en-US" sz="2000" dirty="0"/>
              <a:t>，</a:t>
            </a:r>
            <a:r>
              <a:rPr lang="en-US" altLang="zh-CN" sz="2000" dirty="0"/>
              <a:t>AX</a:t>
            </a:r>
          </a:p>
          <a:p>
            <a:pPr>
              <a:lnSpc>
                <a:spcPct val="80000"/>
              </a:lnSpc>
              <a:buFont typeface="Wingdings" panose="05000000000000000000" pitchFamily="2" charset="2"/>
              <a:buNone/>
            </a:pPr>
            <a:r>
              <a:rPr lang="en-US" altLang="zh-CN" sz="2000" dirty="0"/>
              <a:t>                MOV  ES</a:t>
            </a:r>
            <a:r>
              <a:rPr lang="zh-CN" altLang="en-US" sz="2000" dirty="0"/>
              <a:t>，</a:t>
            </a:r>
            <a:r>
              <a:rPr lang="en-US" altLang="zh-CN" sz="2000" dirty="0"/>
              <a:t>AX		</a:t>
            </a:r>
          </a:p>
          <a:p>
            <a:pPr>
              <a:lnSpc>
                <a:spcPct val="80000"/>
              </a:lnSpc>
              <a:buFont typeface="Wingdings" panose="05000000000000000000" pitchFamily="2" charset="2"/>
              <a:buNone/>
            </a:pPr>
            <a:r>
              <a:rPr lang="en-US" altLang="zh-CN" sz="2000" dirty="0"/>
              <a:t>                MOV  AX</a:t>
            </a:r>
            <a:r>
              <a:rPr lang="zh-CN" altLang="en-US" sz="2000" dirty="0"/>
              <a:t>，</a:t>
            </a:r>
            <a:r>
              <a:rPr lang="en-US" altLang="zh-CN" sz="2000" dirty="0"/>
              <a:t>STACK</a:t>
            </a:r>
          </a:p>
          <a:p>
            <a:pPr>
              <a:lnSpc>
                <a:spcPct val="80000"/>
              </a:lnSpc>
              <a:buFont typeface="Wingdings" panose="05000000000000000000" pitchFamily="2" charset="2"/>
              <a:buNone/>
            </a:pPr>
            <a:r>
              <a:rPr lang="en-US" altLang="zh-CN" sz="2000" dirty="0"/>
              <a:t>                MOV  SS</a:t>
            </a:r>
            <a:r>
              <a:rPr lang="zh-CN" altLang="en-US" sz="2000" dirty="0"/>
              <a:t>，</a:t>
            </a:r>
            <a:r>
              <a:rPr lang="en-US" altLang="zh-CN" sz="2000" dirty="0"/>
              <a:t>AX</a:t>
            </a:r>
          </a:p>
          <a:p>
            <a:pPr>
              <a:lnSpc>
                <a:spcPct val="80000"/>
              </a:lnSpc>
              <a:buFont typeface="Wingdings" panose="05000000000000000000" pitchFamily="2" charset="2"/>
              <a:buNone/>
            </a:pPr>
            <a:r>
              <a:rPr lang="en-US" altLang="zh-CN" sz="2000" dirty="0"/>
              <a:t>                ……</a:t>
            </a:r>
          </a:p>
          <a:p>
            <a:pPr>
              <a:lnSpc>
                <a:spcPct val="80000"/>
              </a:lnSpc>
              <a:buFont typeface="Wingdings" panose="05000000000000000000" pitchFamily="2" charset="2"/>
              <a:buNone/>
            </a:pPr>
            <a:r>
              <a:rPr lang="en-US" altLang="zh-CN" sz="2000" dirty="0"/>
              <a:t> CODE    ENDS</a:t>
            </a:r>
          </a:p>
          <a:p>
            <a:pPr>
              <a:lnSpc>
                <a:spcPct val="80000"/>
              </a:lnSpc>
              <a:buFont typeface="Wingdings" panose="05000000000000000000" pitchFamily="2" charset="2"/>
              <a:buNone/>
            </a:pPr>
            <a:r>
              <a:rPr lang="en-US" altLang="zh-CN" sz="2000" dirty="0"/>
              <a:t>               END  BEGIN                   </a:t>
            </a:r>
            <a:r>
              <a:rPr lang="zh-CN" altLang="en-US" sz="2000" dirty="0">
                <a:solidFill>
                  <a:srgbClr val="FF0000"/>
                </a:solidFill>
              </a:rPr>
              <a:t>；指明程序入口，结束汇编</a:t>
            </a:r>
            <a:r>
              <a:rPr lang="zh-CN" altLang="en-US" sz="2000" dirty="0"/>
              <a:t> </a:t>
            </a:r>
          </a:p>
        </p:txBody>
      </p:sp>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34"/>
          <p:cNvSpPr>
            <a:spLocks noGrp="1"/>
          </p:cNvSpPr>
          <p:nvPr>
            <p:ph type="sldNum" sz="quarter" idx="12"/>
          </p:nvPr>
        </p:nvSpPr>
        <p:spPr/>
        <p:txBody>
          <a:bodyPr/>
          <a:lstStyle/>
          <a:p>
            <a:pPr>
              <a:defRPr/>
            </a:pPr>
            <a:fld id="{87834693-0DD5-4277-98C2-E2B8668BA6DB}" type="slidenum">
              <a:rPr lang="en-US" altLang="zh-CN"/>
              <a:t>29</a:t>
            </a:fld>
            <a:endParaRPr lang="en-US" altLang="zh-CN"/>
          </a:p>
        </p:txBody>
      </p:sp>
      <p:graphicFrame>
        <p:nvGraphicFramePr>
          <p:cNvPr id="770110" name="Group 62"/>
          <p:cNvGraphicFramePr>
            <a:graphicFrameLocks noGrp="1"/>
          </p:cNvGraphicFramePr>
          <p:nvPr>
            <p:ph/>
            <p:extLst>
              <p:ext uri="{D42A27DB-BD31-4B8C-83A1-F6EECF244321}">
                <p14:modId xmlns:p14="http://schemas.microsoft.com/office/powerpoint/2010/main" val="4018750282"/>
              </p:ext>
            </p:extLst>
          </p:nvPr>
        </p:nvGraphicFramePr>
        <p:xfrm>
          <a:off x="0" y="1484313"/>
          <a:ext cx="9048750" cy="2981326"/>
        </p:xfrm>
        <a:graphic>
          <a:graphicData uri="http://schemas.openxmlformats.org/drawingml/2006/table">
            <a:tbl>
              <a:tblPr/>
              <a:tblGrid>
                <a:gridCol w="1206500">
                  <a:extLst>
                    <a:ext uri="{9D8B030D-6E8A-4147-A177-3AD203B41FA5}">
                      <a16:colId xmlns:a16="http://schemas.microsoft.com/office/drawing/2014/main" val="20000"/>
                    </a:ext>
                  </a:extLst>
                </a:gridCol>
                <a:gridCol w="1206500">
                  <a:extLst>
                    <a:ext uri="{9D8B030D-6E8A-4147-A177-3AD203B41FA5}">
                      <a16:colId xmlns:a16="http://schemas.microsoft.com/office/drawing/2014/main" val="20001"/>
                    </a:ext>
                  </a:extLst>
                </a:gridCol>
                <a:gridCol w="3382963">
                  <a:extLst>
                    <a:ext uri="{9D8B030D-6E8A-4147-A177-3AD203B41FA5}">
                      <a16:colId xmlns:a16="http://schemas.microsoft.com/office/drawing/2014/main" val="20002"/>
                    </a:ext>
                  </a:extLst>
                </a:gridCol>
                <a:gridCol w="3252787">
                  <a:extLst>
                    <a:ext uri="{9D8B030D-6E8A-4147-A177-3AD203B41FA5}">
                      <a16:colId xmlns:a16="http://schemas.microsoft.com/office/drawing/2014/main" val="20003"/>
                    </a:ext>
                  </a:extLst>
                </a:gridCol>
              </a:tblGrid>
              <a:tr h="763587">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4500">
                <a:tc rowSpan="5">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数据定义</a:t>
                      </a:r>
                    </a:p>
                    <a:p>
                      <a:pPr marL="342900" marR="0" lvl="0" indent="-34290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DB</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DB</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DW</a:t>
                      </a:r>
                      <a:endParaRPr kumimoji="0" lang="en-US" altLang="zh-CN" sz="20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en-US" altLang="zh-CN" sz="2000" b="1" i="0" u="none" strike="noStrike" cap="none" normalizeH="0" baseline="0">
                          <a:ln>
                            <a:noFill/>
                          </a:ln>
                          <a:solidFill>
                            <a:srgbClr val="FF0000"/>
                          </a:solidFill>
                          <a:effectLst/>
                          <a:latin typeface="宋体" panose="02010600030101010101" pitchFamily="2" charset="-122"/>
                          <a:ea typeface="宋体" panose="02010600030101010101" pitchFamily="2" charset="-122"/>
                        </a:rPr>
                        <a:t>DW</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定义字（</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DD</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DD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定义双字（</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4500">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DQ</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DQ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定义四字（</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8</a:t>
                      </a: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2913">
                <a:tc vMerge="1">
                  <a:txBody>
                    <a:bodyPr/>
                    <a:lstStyle/>
                    <a:p>
                      <a:endParaRPr lang="zh-CN"/>
                    </a:p>
                  </a:txBody>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DT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变量名</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 DT </a:t>
                      </a:r>
                      <a:r>
                        <a:rPr kumimoji="0" lang="zh-CN" altLang="en-US"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操作数</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en-US" altLang="zh-CN"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20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endParaRPr kumimoji="0" lang="en-US"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742950" indent="-285750"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1143000" indent="-228600"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1600200" indent="-228600"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2057400" indent="-228600"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定义十字节（</a:t>
                      </a:r>
                      <a:r>
                        <a:rPr kumimoji="0" lang="en-US" altLang="zh-CN"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10</a:t>
                      </a:r>
                      <a:r>
                        <a:rPr kumimoji="0" lang="zh-CN" altLang="en-US" sz="20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字节）变量</a:t>
                      </a:r>
                      <a:endParaRPr kumimoji="0" lang="zh-CN" altLang="en-US" sz="20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2"/>
          </p:nvPr>
        </p:nvSpPr>
        <p:spPr/>
        <p:txBody>
          <a:bodyPr/>
          <a:lstStyle/>
          <a:p>
            <a:pPr>
              <a:defRPr/>
            </a:pPr>
            <a:fld id="{3641D3AC-7833-465E-B750-1BC0DF5DF78A}" type="slidenum">
              <a:rPr lang="en-US" altLang="zh-CN"/>
              <a:t>30</a:t>
            </a:fld>
            <a:endParaRPr lang="en-US" altLang="zh-CN"/>
          </a:p>
        </p:txBody>
      </p:sp>
      <p:sp>
        <p:nvSpPr>
          <p:cNvPr id="38915" name="Rectangle 2"/>
          <p:cNvSpPr>
            <a:spLocks noGrp="1" noRot="1" noChangeArrowheads="1"/>
          </p:cNvSpPr>
          <p:nvPr>
            <p:ph type="body" idx="1"/>
          </p:nvPr>
        </p:nvSpPr>
        <p:spPr>
          <a:xfrm>
            <a:off x="250825" y="1844675"/>
            <a:ext cx="8496300" cy="4610100"/>
          </a:xfrm>
        </p:spPr>
        <p:txBody>
          <a:bodyPr/>
          <a:lstStyle/>
          <a:p>
            <a:r>
              <a:rPr lang="zh-CN" altLang="en-US"/>
              <a:t>主要包括下列几种：</a:t>
            </a:r>
          </a:p>
          <a:p>
            <a:pPr lvl="1">
              <a:buClr>
                <a:schemeClr val="tx2"/>
              </a:buClr>
            </a:pPr>
            <a:r>
              <a:rPr lang="en-US" altLang="zh-CN" sz="2400">
                <a:solidFill>
                  <a:srgbClr val="FF0000"/>
                </a:solidFill>
              </a:rPr>
              <a:t>DB</a:t>
            </a:r>
            <a:r>
              <a:rPr lang="zh-CN" altLang="en-US" sz="2400"/>
              <a:t>（</a:t>
            </a:r>
            <a:r>
              <a:rPr lang="en-US" altLang="zh-CN" sz="2400"/>
              <a:t>Define Byte</a:t>
            </a:r>
            <a:r>
              <a:rPr lang="zh-CN" altLang="en-US" sz="2400"/>
              <a:t>）：定义字节，后面的每个操作数占</a:t>
            </a:r>
            <a:r>
              <a:rPr lang="en-US" altLang="zh-CN" sz="2400"/>
              <a:t>1</a:t>
            </a:r>
            <a:r>
              <a:rPr lang="zh-CN" altLang="en-US" sz="2400"/>
              <a:t>个字节。</a:t>
            </a:r>
          </a:p>
          <a:p>
            <a:pPr lvl="1">
              <a:buClr>
                <a:schemeClr val="tx2"/>
              </a:buClr>
            </a:pPr>
            <a:r>
              <a:rPr lang="en-US" altLang="zh-CN" sz="2400">
                <a:solidFill>
                  <a:srgbClr val="FF0000"/>
                </a:solidFill>
              </a:rPr>
              <a:t>DW</a:t>
            </a:r>
            <a:r>
              <a:rPr lang="zh-CN" altLang="en-US" sz="2400"/>
              <a:t>（</a:t>
            </a:r>
            <a:r>
              <a:rPr lang="en-US" altLang="zh-CN" sz="2400"/>
              <a:t>Define Word</a:t>
            </a:r>
            <a:r>
              <a:rPr lang="zh-CN" altLang="en-US" sz="2400"/>
              <a:t>）：定义字，后面的每个操作数占</a:t>
            </a:r>
            <a:r>
              <a:rPr lang="en-US" altLang="zh-CN" sz="2400"/>
              <a:t>1</a:t>
            </a:r>
            <a:r>
              <a:rPr lang="zh-CN" altLang="en-US" sz="2400"/>
              <a:t>个字。</a:t>
            </a:r>
          </a:p>
          <a:p>
            <a:pPr lvl="1">
              <a:buClr>
                <a:schemeClr val="tx2"/>
              </a:buClr>
            </a:pPr>
            <a:r>
              <a:rPr lang="en-US" altLang="zh-CN" sz="2400"/>
              <a:t>DD</a:t>
            </a:r>
            <a:r>
              <a:rPr lang="zh-CN" altLang="en-US" sz="2400"/>
              <a:t>（</a:t>
            </a:r>
            <a:r>
              <a:rPr lang="en-US" altLang="zh-CN" sz="2400"/>
              <a:t>Define DWord</a:t>
            </a:r>
            <a:r>
              <a:rPr lang="zh-CN" altLang="en-US" sz="2400"/>
              <a:t>）：定义双字，后面的每个操作数占</a:t>
            </a:r>
            <a:r>
              <a:rPr lang="en-US" altLang="zh-CN" sz="2400"/>
              <a:t>2</a:t>
            </a:r>
            <a:r>
              <a:rPr lang="zh-CN" altLang="en-US" sz="2400"/>
              <a:t>个字。</a:t>
            </a:r>
          </a:p>
          <a:p>
            <a:pPr lvl="1">
              <a:buClr>
                <a:schemeClr val="tx2"/>
              </a:buClr>
            </a:pPr>
            <a:r>
              <a:rPr lang="en-US" altLang="zh-CN" sz="2400"/>
              <a:t>DQ</a:t>
            </a:r>
            <a:r>
              <a:rPr lang="zh-CN" altLang="en-US" sz="2400"/>
              <a:t>（</a:t>
            </a:r>
            <a:r>
              <a:rPr lang="en-US" altLang="zh-CN" sz="2400"/>
              <a:t>Define QWord</a:t>
            </a:r>
            <a:r>
              <a:rPr lang="zh-CN" altLang="en-US" sz="2400"/>
              <a:t>）：定义四字，后面的每个操作数占</a:t>
            </a:r>
            <a:r>
              <a:rPr lang="en-US" altLang="zh-CN" sz="2400"/>
              <a:t>4</a:t>
            </a:r>
            <a:r>
              <a:rPr lang="zh-CN" altLang="en-US" sz="2400"/>
              <a:t>个字。</a:t>
            </a:r>
          </a:p>
          <a:p>
            <a:pPr lvl="1">
              <a:buClr>
                <a:schemeClr val="tx2"/>
              </a:buClr>
            </a:pPr>
            <a:r>
              <a:rPr lang="en-US" altLang="zh-CN" sz="2400"/>
              <a:t>DT</a:t>
            </a:r>
            <a:r>
              <a:rPr lang="zh-CN" altLang="en-US" sz="2400"/>
              <a:t>（</a:t>
            </a:r>
            <a:r>
              <a:rPr lang="en-US" altLang="zh-CN" sz="2400"/>
              <a:t>Define Tbyte</a:t>
            </a:r>
            <a:r>
              <a:rPr lang="zh-CN" altLang="en-US" sz="2400"/>
              <a:t>）：定义十字节，后面的每个操作数占</a:t>
            </a:r>
            <a:r>
              <a:rPr lang="en-US" altLang="zh-CN" sz="2400"/>
              <a:t>10</a:t>
            </a:r>
            <a:r>
              <a:rPr lang="zh-CN" altLang="en-US" sz="2400"/>
              <a:t>个字节。</a:t>
            </a:r>
          </a:p>
        </p:txBody>
      </p:sp>
      <p:sp>
        <p:nvSpPr>
          <p:cNvPr id="38916" name="Text Box 5"/>
          <p:cNvSpPr txBox="1">
            <a:spLocks noChangeArrowheads="1"/>
          </p:cNvSpPr>
          <p:nvPr/>
        </p:nvSpPr>
        <p:spPr bwMode="auto">
          <a:xfrm>
            <a:off x="2195513" y="333375"/>
            <a:ext cx="3889375"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pPr>
            <a:r>
              <a:rPr lang="en-US" altLang="zh-CN" sz="2800">
                <a:solidFill>
                  <a:srgbClr val="FF0000"/>
                </a:solidFill>
              </a:rPr>
              <a:t>2.3.2   </a:t>
            </a:r>
            <a:r>
              <a:rPr lang="zh-CN" altLang="en-US" sz="2800">
                <a:solidFill>
                  <a:srgbClr val="FF0000"/>
                </a:solidFill>
              </a:rPr>
              <a:t>数据定义伪操作</a:t>
            </a:r>
          </a:p>
        </p:txBody>
      </p:sp>
      <p:sp>
        <p:nvSpPr>
          <p:cNvPr id="38917" name="Rectangle 6"/>
          <p:cNvSpPr>
            <a:spLocks noChangeArrowheads="1"/>
          </p:cNvSpPr>
          <p:nvPr/>
        </p:nvSpPr>
        <p:spPr bwMode="auto">
          <a:xfrm>
            <a:off x="684213" y="1268413"/>
            <a:ext cx="6540500" cy="4572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en-US" altLang="zh-CN"/>
              <a:t> </a:t>
            </a:r>
            <a:r>
              <a:rPr lang="en-US" altLang="zh-CN">
                <a:solidFill>
                  <a:srgbClr val="FF0000"/>
                </a:solidFill>
              </a:rPr>
              <a:t>[</a:t>
            </a:r>
            <a:r>
              <a:rPr lang="zh-CN" altLang="en-US">
                <a:solidFill>
                  <a:srgbClr val="FF0000"/>
                </a:solidFill>
              </a:rPr>
              <a:t>变量名</a:t>
            </a:r>
            <a:r>
              <a:rPr lang="en-US" altLang="zh-CN">
                <a:solidFill>
                  <a:srgbClr val="FF0000"/>
                </a:solidFill>
              </a:rPr>
              <a:t>]   </a:t>
            </a:r>
            <a:r>
              <a:rPr lang="zh-CN" altLang="en-US">
                <a:solidFill>
                  <a:srgbClr val="FF0000"/>
                </a:solidFill>
              </a:rPr>
              <a:t>变量定义符    操作数</a:t>
            </a:r>
            <a:r>
              <a:rPr lang="en-US" altLang="zh-CN">
                <a:solidFill>
                  <a:srgbClr val="FF0000"/>
                </a:solidFill>
              </a:rPr>
              <a:t>[</a:t>
            </a:r>
            <a:r>
              <a:rPr lang="zh-CN" altLang="en-US">
                <a:solidFill>
                  <a:srgbClr val="FF0000"/>
                </a:solidFill>
              </a:rPr>
              <a:t>，</a:t>
            </a:r>
            <a:r>
              <a:rPr lang="en-US" altLang="zh-CN">
                <a:solidFill>
                  <a:srgbClr val="FF0000"/>
                </a:solidFill>
              </a:rPr>
              <a:t>…</a:t>
            </a:r>
            <a:r>
              <a:rPr lang="zh-CN" altLang="en-US">
                <a:solidFill>
                  <a:srgbClr val="FF0000"/>
                </a:solidFill>
              </a:rPr>
              <a:t>，操作数</a:t>
            </a:r>
            <a:r>
              <a:rPr lang="en-US" altLang="zh-CN">
                <a:solidFill>
                  <a:srgbClr val="FF0000"/>
                </a:solidFill>
              </a:rPr>
              <a:t>]</a:t>
            </a:r>
            <a:r>
              <a:rPr lang="en-US" altLang="zh-CN"/>
              <a:t> </a:t>
            </a: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灯片编号占位符 31"/>
          <p:cNvSpPr>
            <a:spLocks noGrp="1"/>
          </p:cNvSpPr>
          <p:nvPr>
            <p:ph type="sldNum" sz="quarter" idx="12"/>
          </p:nvPr>
        </p:nvSpPr>
        <p:spPr/>
        <p:txBody>
          <a:bodyPr/>
          <a:lstStyle/>
          <a:p>
            <a:pPr>
              <a:defRPr/>
            </a:pPr>
            <a:fld id="{C39D8DEB-77A7-499A-B6A5-9B4103CDCC39}" type="slidenum">
              <a:rPr lang="en-US" altLang="zh-CN"/>
              <a:t>31</a:t>
            </a:fld>
            <a:endParaRPr lang="en-US" altLang="zh-CN"/>
          </a:p>
        </p:txBody>
      </p:sp>
      <p:sp>
        <p:nvSpPr>
          <p:cNvPr id="643074" name="Rectangle 2"/>
          <p:cNvSpPr>
            <a:spLocks noGrp="1" noRot="1" noChangeArrowheads="1"/>
          </p:cNvSpPr>
          <p:nvPr>
            <p:ph type="title"/>
          </p:nvPr>
        </p:nvSpPr>
        <p:spPr>
          <a:xfrm>
            <a:off x="1403350" y="549275"/>
            <a:ext cx="5494338" cy="600075"/>
          </a:xfrm>
        </p:spPr>
        <p:txBody>
          <a:bodyPr/>
          <a:lstStyle/>
          <a:p>
            <a:pPr>
              <a:defRPr/>
            </a:pPr>
            <a:r>
              <a:rPr lang="zh-CN" altLang="en-US" sz="3200"/>
              <a:t>字节量数据（</a:t>
            </a:r>
            <a:r>
              <a:rPr lang="en-US" altLang="zh-CN" sz="3200"/>
              <a:t>Byte-sized</a:t>
            </a:r>
            <a:r>
              <a:rPr lang="zh-CN" altLang="en-US" sz="3200"/>
              <a:t>）</a:t>
            </a:r>
          </a:p>
        </p:txBody>
      </p:sp>
      <p:sp>
        <p:nvSpPr>
          <p:cNvPr id="39940" name="Rectangle 3"/>
          <p:cNvSpPr>
            <a:spLocks noGrp="1" noRot="1" noChangeArrowheads="1"/>
          </p:cNvSpPr>
          <p:nvPr>
            <p:ph type="body" idx="1"/>
          </p:nvPr>
        </p:nvSpPr>
        <p:spPr>
          <a:xfrm>
            <a:off x="179388" y="1196975"/>
            <a:ext cx="8540750" cy="3240088"/>
          </a:xfrm>
        </p:spPr>
        <p:txBody>
          <a:bodyPr/>
          <a:lstStyle/>
          <a:p>
            <a:r>
              <a:rPr lang="en-US" altLang="zh-CN">
                <a:solidFill>
                  <a:srgbClr val="0000CC"/>
                </a:solidFill>
              </a:rPr>
              <a:t>1</a:t>
            </a:r>
            <a:r>
              <a:rPr lang="zh-CN" altLang="en-US">
                <a:solidFill>
                  <a:srgbClr val="0000CC"/>
                </a:solidFill>
              </a:rPr>
              <a:t>）</a:t>
            </a:r>
            <a:r>
              <a:rPr lang="en-US" altLang="zh-CN">
                <a:solidFill>
                  <a:srgbClr val="0000CC"/>
                </a:solidFill>
              </a:rPr>
              <a:t>DB</a:t>
            </a:r>
            <a:r>
              <a:rPr lang="zh-CN" altLang="en-US"/>
              <a:t>定义</a:t>
            </a:r>
            <a:r>
              <a:rPr lang="en-US" altLang="zh-CN"/>
              <a:t>8</a:t>
            </a:r>
            <a:r>
              <a:rPr lang="zh-CN" altLang="en-US"/>
              <a:t>位、字节量变量数据</a:t>
            </a:r>
          </a:p>
          <a:p>
            <a:pPr lvl="1"/>
            <a:r>
              <a:rPr lang="zh-CN" altLang="en-US" sz="2400"/>
              <a:t>无符号整数</a:t>
            </a:r>
            <a:r>
              <a:rPr lang="en-US" altLang="zh-CN" sz="2400"/>
              <a:t>0</a:t>
            </a:r>
            <a:r>
              <a:rPr lang="zh-CN" altLang="en-US" sz="2400"/>
              <a:t>～</a:t>
            </a:r>
            <a:r>
              <a:rPr lang="en-US" altLang="zh-CN" sz="2400"/>
              <a:t>255</a:t>
            </a:r>
          </a:p>
          <a:p>
            <a:pPr lvl="1"/>
            <a:r>
              <a:rPr lang="zh-CN" altLang="en-US" sz="2400"/>
              <a:t>补码表示的有符号整数：</a:t>
            </a:r>
            <a:r>
              <a:rPr lang="en-US" altLang="zh-CN" sz="2400"/>
              <a:t>-128</a:t>
            </a:r>
            <a:r>
              <a:rPr lang="zh-CN" altLang="en-US" sz="2400"/>
              <a:t>～</a:t>
            </a:r>
            <a:r>
              <a:rPr lang="en-US" altLang="zh-CN" sz="2400"/>
              <a:t>+127</a:t>
            </a:r>
          </a:p>
          <a:p>
            <a:pPr lvl="1"/>
            <a:r>
              <a:rPr lang="zh-CN" altLang="en-US" sz="2400"/>
              <a:t>一个字符（</a:t>
            </a:r>
            <a:r>
              <a:rPr lang="en-US" altLang="zh-CN" sz="2400"/>
              <a:t>ASCII</a:t>
            </a:r>
            <a:r>
              <a:rPr lang="zh-CN" altLang="en-US" sz="2400"/>
              <a:t>码值）</a:t>
            </a:r>
          </a:p>
          <a:p>
            <a:pPr lvl="1"/>
            <a:r>
              <a:rPr lang="zh-CN" altLang="en-US" sz="2400"/>
              <a:t>压缩</a:t>
            </a:r>
            <a:r>
              <a:rPr lang="en-US" altLang="zh-CN" sz="2400"/>
              <a:t>BCD</a:t>
            </a:r>
            <a:r>
              <a:rPr lang="zh-CN" altLang="en-US" sz="2400"/>
              <a:t>码：</a:t>
            </a:r>
            <a:r>
              <a:rPr lang="en-US" altLang="zh-CN" sz="2400"/>
              <a:t>0</a:t>
            </a:r>
            <a:r>
              <a:rPr lang="zh-CN" altLang="en-US" sz="2400"/>
              <a:t>～</a:t>
            </a:r>
            <a:r>
              <a:rPr lang="en-US" altLang="zh-CN" sz="2400"/>
              <a:t>99</a:t>
            </a:r>
          </a:p>
          <a:p>
            <a:pPr lvl="1"/>
            <a:r>
              <a:rPr lang="zh-CN" altLang="en-US" sz="2400"/>
              <a:t>非压缩</a:t>
            </a:r>
            <a:r>
              <a:rPr lang="en-US" altLang="zh-CN" sz="2400"/>
              <a:t>BCD</a:t>
            </a:r>
            <a:r>
              <a:rPr lang="zh-CN" altLang="en-US" sz="2400"/>
              <a:t>码：</a:t>
            </a:r>
            <a:r>
              <a:rPr lang="en-US" altLang="zh-CN" sz="2400"/>
              <a:t>0</a:t>
            </a:r>
            <a:r>
              <a:rPr lang="zh-CN" altLang="en-US" sz="2400"/>
              <a:t>～</a:t>
            </a:r>
            <a:r>
              <a:rPr lang="en-US" altLang="zh-CN" sz="2400"/>
              <a:t>9</a:t>
            </a:r>
          </a:p>
          <a:p>
            <a:pPr lvl="1"/>
            <a:r>
              <a:rPr lang="en-US" altLang="zh-CN" sz="2400"/>
              <a:t>……</a:t>
            </a:r>
          </a:p>
        </p:txBody>
      </p:sp>
      <p:sp>
        <p:nvSpPr>
          <p:cNvPr id="643076" name="AutoShape 4"/>
          <p:cNvSpPr>
            <a:spLocks noChangeArrowheads="1"/>
          </p:cNvSpPr>
          <p:nvPr/>
        </p:nvSpPr>
        <p:spPr bwMode="auto">
          <a:xfrm>
            <a:off x="611188" y="5661025"/>
            <a:ext cx="5688012" cy="503238"/>
          </a:xfrm>
          <a:prstGeom prst="roundRect">
            <a:avLst>
              <a:gd name="adj" fmla="val 16667"/>
            </a:avLst>
          </a:prstGeom>
          <a:solidFill>
            <a:schemeClr val="accent1"/>
          </a:solidFill>
          <a:ln w="12700" cap="rnd">
            <a:solidFill>
              <a:srgbClr val="660066"/>
            </a:solidFill>
            <a:prstDash val="sysDot"/>
            <a:round/>
          </a:ln>
          <a:effectLst>
            <a:outerShdw dist="35921" dir="2700000" algn="ctr" rotWithShape="0">
              <a:schemeClr val="bg2">
                <a:alpha val="50000"/>
              </a:schemeClr>
            </a:outerShdw>
          </a:effectLst>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a:t>字符串定义使用字节变量定义</a:t>
            </a:r>
            <a:r>
              <a:rPr lang="en-US" altLang="zh-CN" sz="2800"/>
              <a:t>DB</a:t>
            </a:r>
          </a:p>
        </p:txBody>
      </p:sp>
      <p:sp>
        <p:nvSpPr>
          <p:cNvPr id="39942" name="Text Box 5"/>
          <p:cNvSpPr txBox="1">
            <a:spLocks noChangeArrowheads="1"/>
          </p:cNvSpPr>
          <p:nvPr/>
        </p:nvSpPr>
        <p:spPr bwMode="auto">
          <a:xfrm>
            <a:off x="755650" y="4365625"/>
            <a:ext cx="4267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3200">
                <a:solidFill>
                  <a:srgbClr val="0000CC"/>
                </a:solidFill>
              </a:rPr>
              <a:t> </a:t>
            </a:r>
            <a:r>
              <a:rPr lang="en-US" altLang="zh-CN" sz="2800">
                <a:solidFill>
                  <a:srgbClr val="0000CC"/>
                </a:solidFill>
              </a:rPr>
              <a:t>DATA1  DB   50H,52H</a:t>
            </a:r>
          </a:p>
        </p:txBody>
      </p:sp>
      <p:grpSp>
        <p:nvGrpSpPr>
          <p:cNvPr id="39943" name="Group 6"/>
          <p:cNvGrpSpPr/>
          <p:nvPr/>
        </p:nvGrpSpPr>
        <p:grpSpPr bwMode="auto">
          <a:xfrm>
            <a:off x="5724525" y="3860800"/>
            <a:ext cx="2895600" cy="1828800"/>
            <a:chOff x="2592" y="1056"/>
            <a:chExt cx="1824" cy="1152"/>
          </a:xfrm>
        </p:grpSpPr>
        <p:sp>
          <p:nvSpPr>
            <p:cNvPr id="39944" name="Rectangle 7"/>
            <p:cNvSpPr>
              <a:spLocks noChangeArrowheads="1"/>
            </p:cNvSpPr>
            <p:nvPr/>
          </p:nvSpPr>
          <p:spPr bwMode="auto">
            <a:xfrm>
              <a:off x="3600" y="1917"/>
              <a:ext cx="8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45" name="Rectangle 8"/>
            <p:cNvSpPr>
              <a:spLocks noChangeArrowheads="1"/>
            </p:cNvSpPr>
            <p:nvPr/>
          </p:nvSpPr>
          <p:spPr bwMode="auto">
            <a:xfrm>
              <a:off x="3600" y="1630"/>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46" name="Rectangle 9"/>
            <p:cNvSpPr>
              <a:spLocks noChangeArrowheads="1"/>
            </p:cNvSpPr>
            <p:nvPr/>
          </p:nvSpPr>
          <p:spPr bwMode="auto">
            <a:xfrm>
              <a:off x="3600" y="1343"/>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52H</a:t>
              </a:r>
            </a:p>
          </p:txBody>
        </p:sp>
        <p:sp>
          <p:nvSpPr>
            <p:cNvPr id="39947" name="Rectangle 10"/>
            <p:cNvSpPr>
              <a:spLocks noChangeArrowheads="1"/>
            </p:cNvSpPr>
            <p:nvPr/>
          </p:nvSpPr>
          <p:spPr bwMode="auto">
            <a:xfrm>
              <a:off x="3600" y="1056"/>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50H</a:t>
              </a:r>
            </a:p>
          </p:txBody>
        </p:sp>
        <p:sp>
          <p:nvSpPr>
            <p:cNvPr id="39948" name="Line 11"/>
            <p:cNvSpPr>
              <a:spLocks noChangeShapeType="1"/>
            </p:cNvSpPr>
            <p:nvPr/>
          </p:nvSpPr>
          <p:spPr bwMode="auto">
            <a:xfrm>
              <a:off x="3600" y="1056"/>
              <a:ext cx="81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49" name="Line 12"/>
            <p:cNvSpPr>
              <a:spLocks noChangeShapeType="1"/>
            </p:cNvSpPr>
            <p:nvPr/>
          </p:nvSpPr>
          <p:spPr bwMode="auto">
            <a:xfrm>
              <a:off x="3600" y="1343"/>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0" name="Line 13"/>
            <p:cNvSpPr>
              <a:spLocks noChangeShapeType="1"/>
            </p:cNvSpPr>
            <p:nvPr/>
          </p:nvSpPr>
          <p:spPr bwMode="auto">
            <a:xfrm>
              <a:off x="3600" y="1630"/>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1" name="Line 14"/>
            <p:cNvSpPr>
              <a:spLocks noChangeShapeType="1"/>
            </p:cNvSpPr>
            <p:nvPr/>
          </p:nvSpPr>
          <p:spPr bwMode="auto">
            <a:xfrm>
              <a:off x="3600" y="1917"/>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2" name="Line 15"/>
            <p:cNvSpPr>
              <a:spLocks noChangeShapeType="1"/>
            </p:cNvSpPr>
            <p:nvPr/>
          </p:nvSpPr>
          <p:spPr bwMode="auto">
            <a:xfrm>
              <a:off x="3600" y="2208"/>
              <a:ext cx="81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3" name="Line 16"/>
            <p:cNvSpPr>
              <a:spLocks noChangeShapeType="1"/>
            </p:cNvSpPr>
            <p:nvPr/>
          </p:nvSpPr>
          <p:spPr bwMode="auto">
            <a:xfrm>
              <a:off x="3600" y="1056"/>
              <a:ext cx="0" cy="115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4" name="Line 17"/>
            <p:cNvSpPr>
              <a:spLocks noChangeShapeType="1"/>
            </p:cNvSpPr>
            <p:nvPr/>
          </p:nvSpPr>
          <p:spPr bwMode="auto">
            <a:xfrm>
              <a:off x="4416" y="1056"/>
              <a:ext cx="0" cy="115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55" name="Rectangle 18"/>
            <p:cNvSpPr>
              <a:spLocks noChangeArrowheads="1"/>
            </p:cNvSpPr>
            <p:nvPr/>
          </p:nvSpPr>
          <p:spPr bwMode="auto">
            <a:xfrm>
              <a:off x="2592" y="1917"/>
              <a:ext cx="10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56" name="Rectangle 19"/>
            <p:cNvSpPr>
              <a:spLocks noChangeArrowheads="1"/>
            </p:cNvSpPr>
            <p:nvPr/>
          </p:nvSpPr>
          <p:spPr bwMode="auto">
            <a:xfrm>
              <a:off x="2592" y="1630"/>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57" name="Rectangle 20"/>
            <p:cNvSpPr>
              <a:spLocks noChangeArrowheads="1"/>
            </p:cNvSpPr>
            <p:nvPr/>
          </p:nvSpPr>
          <p:spPr bwMode="auto">
            <a:xfrm>
              <a:off x="2592" y="1343"/>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39958" name="Rectangle 21"/>
            <p:cNvSpPr>
              <a:spLocks noChangeArrowheads="1"/>
            </p:cNvSpPr>
            <p:nvPr/>
          </p:nvSpPr>
          <p:spPr bwMode="auto">
            <a:xfrm>
              <a:off x="2592" y="1056"/>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DATA1</a:t>
              </a:r>
            </a:p>
          </p:txBody>
        </p:sp>
        <p:sp>
          <p:nvSpPr>
            <p:cNvPr id="39959" name="Line 22"/>
            <p:cNvSpPr>
              <a:spLocks noChangeShapeType="1"/>
            </p:cNvSpPr>
            <p:nvPr/>
          </p:nvSpPr>
          <p:spPr bwMode="auto">
            <a:xfrm>
              <a:off x="2592" y="1056"/>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0" name="Line 23"/>
            <p:cNvSpPr>
              <a:spLocks noChangeShapeType="1"/>
            </p:cNvSpPr>
            <p:nvPr/>
          </p:nvSpPr>
          <p:spPr bwMode="auto">
            <a:xfrm>
              <a:off x="2592" y="2208"/>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1" name="Line 24"/>
            <p:cNvSpPr>
              <a:spLocks noChangeShapeType="1"/>
            </p:cNvSpPr>
            <p:nvPr/>
          </p:nvSpPr>
          <p:spPr bwMode="auto">
            <a:xfrm>
              <a:off x="2592"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2" name="Line 25"/>
            <p:cNvSpPr>
              <a:spLocks noChangeShapeType="1"/>
            </p:cNvSpPr>
            <p:nvPr/>
          </p:nvSpPr>
          <p:spPr bwMode="auto">
            <a:xfrm>
              <a:off x="3600"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3" name="Line 26"/>
            <p:cNvSpPr>
              <a:spLocks noChangeShapeType="1"/>
            </p:cNvSpPr>
            <p:nvPr/>
          </p:nvSpPr>
          <p:spPr bwMode="auto">
            <a:xfrm>
              <a:off x="2592"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4" name="Line 27"/>
            <p:cNvSpPr>
              <a:spLocks noChangeShapeType="1"/>
            </p:cNvSpPr>
            <p:nvPr/>
          </p:nvSpPr>
          <p:spPr bwMode="auto">
            <a:xfrm>
              <a:off x="3600"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5" name="Line 28"/>
            <p:cNvSpPr>
              <a:spLocks noChangeShapeType="1"/>
            </p:cNvSpPr>
            <p:nvPr/>
          </p:nvSpPr>
          <p:spPr bwMode="auto">
            <a:xfrm>
              <a:off x="2592"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6" name="Line 29"/>
            <p:cNvSpPr>
              <a:spLocks noChangeShapeType="1"/>
            </p:cNvSpPr>
            <p:nvPr/>
          </p:nvSpPr>
          <p:spPr bwMode="auto">
            <a:xfrm>
              <a:off x="3600"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7" name="Line 30"/>
            <p:cNvSpPr>
              <a:spLocks noChangeShapeType="1"/>
            </p:cNvSpPr>
            <p:nvPr/>
          </p:nvSpPr>
          <p:spPr bwMode="auto">
            <a:xfrm>
              <a:off x="2592"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39968" name="Line 31"/>
            <p:cNvSpPr>
              <a:spLocks noChangeShapeType="1"/>
            </p:cNvSpPr>
            <p:nvPr/>
          </p:nvSpPr>
          <p:spPr bwMode="auto">
            <a:xfrm>
              <a:off x="3600"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3076"/>
                                        </p:tgtEl>
                                        <p:attrNameLst>
                                          <p:attrName>style.visibility</p:attrName>
                                        </p:attrNameLst>
                                      </p:cBhvr>
                                      <p:to>
                                        <p:strVal val="visible"/>
                                      </p:to>
                                    </p:set>
                                    <p:animEffect transition="in" filter="blinds(horizontal)">
                                      <p:cBhvr>
                                        <p:cTn id="7" dur="500"/>
                                        <p:tgtEl>
                                          <p:spTgt spid="64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7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30"/>
          <p:cNvSpPr>
            <a:spLocks noGrp="1"/>
          </p:cNvSpPr>
          <p:nvPr>
            <p:ph type="sldNum" sz="quarter" idx="12"/>
          </p:nvPr>
        </p:nvSpPr>
        <p:spPr/>
        <p:txBody>
          <a:bodyPr/>
          <a:lstStyle/>
          <a:p>
            <a:pPr>
              <a:defRPr/>
            </a:pPr>
            <a:fld id="{861BCF4B-2CAD-49AB-9825-E052C4951B69}" type="slidenum">
              <a:rPr lang="en-US" altLang="zh-CN"/>
              <a:t>32</a:t>
            </a:fld>
            <a:endParaRPr lang="en-US" altLang="zh-CN"/>
          </a:p>
        </p:txBody>
      </p:sp>
      <p:sp>
        <p:nvSpPr>
          <p:cNvPr id="644098" name="Rectangle 2"/>
          <p:cNvSpPr>
            <a:spLocks noGrp="1" noRot="1" noChangeArrowheads="1"/>
          </p:cNvSpPr>
          <p:nvPr>
            <p:ph type="title"/>
          </p:nvPr>
        </p:nvSpPr>
        <p:spPr>
          <a:xfrm>
            <a:off x="2051050" y="333375"/>
            <a:ext cx="4054475" cy="744538"/>
          </a:xfrm>
        </p:spPr>
        <p:txBody>
          <a:bodyPr/>
          <a:lstStyle/>
          <a:p>
            <a:pPr>
              <a:defRPr/>
            </a:pPr>
            <a:r>
              <a:rPr lang="zh-CN" altLang="en-US" sz="3200"/>
              <a:t>字变量数据</a:t>
            </a:r>
          </a:p>
        </p:txBody>
      </p:sp>
      <p:sp>
        <p:nvSpPr>
          <p:cNvPr id="40964" name="Rectangle 3"/>
          <p:cNvSpPr>
            <a:spLocks noGrp="1" noRot="1" noChangeArrowheads="1"/>
          </p:cNvSpPr>
          <p:nvPr>
            <p:ph type="body" idx="1"/>
          </p:nvPr>
        </p:nvSpPr>
        <p:spPr>
          <a:xfrm>
            <a:off x="323850" y="1341438"/>
            <a:ext cx="8540750" cy="2087562"/>
          </a:xfrm>
        </p:spPr>
        <p:txBody>
          <a:bodyPr/>
          <a:lstStyle/>
          <a:p>
            <a:r>
              <a:rPr lang="en-US" altLang="zh-CN">
                <a:solidFill>
                  <a:srgbClr val="0000CC"/>
                </a:solidFill>
              </a:rPr>
              <a:t>2</a:t>
            </a:r>
            <a:r>
              <a:rPr lang="zh-CN" altLang="en-US">
                <a:solidFill>
                  <a:srgbClr val="0000CC"/>
                </a:solidFill>
              </a:rPr>
              <a:t>）</a:t>
            </a:r>
            <a:r>
              <a:rPr lang="en-US" altLang="zh-CN">
                <a:solidFill>
                  <a:srgbClr val="0000CC"/>
                </a:solidFill>
              </a:rPr>
              <a:t>DW</a:t>
            </a:r>
            <a:r>
              <a:rPr lang="zh-CN" altLang="en-US"/>
              <a:t>定义</a:t>
            </a:r>
            <a:r>
              <a:rPr lang="en-US" altLang="zh-CN"/>
              <a:t>16</a:t>
            </a:r>
            <a:r>
              <a:rPr lang="zh-CN" altLang="en-US"/>
              <a:t>位、字量变量数据</a:t>
            </a:r>
          </a:p>
          <a:p>
            <a:pPr lvl="1"/>
            <a:r>
              <a:rPr lang="zh-CN" altLang="en-US" sz="2400"/>
              <a:t>包含高低两个字节，</a:t>
            </a:r>
            <a:r>
              <a:rPr lang="en-US" altLang="zh-CN" sz="2400"/>
              <a:t>16</a:t>
            </a:r>
            <a:r>
              <a:rPr lang="zh-CN" altLang="en-US" sz="2400"/>
              <a:t>位无符号和有符号整数</a:t>
            </a:r>
          </a:p>
          <a:p>
            <a:pPr lvl="1"/>
            <a:r>
              <a:rPr lang="en-US" altLang="zh-CN" sz="2400"/>
              <a:t>16</a:t>
            </a:r>
            <a:r>
              <a:rPr lang="zh-CN" altLang="en-US" sz="2400"/>
              <a:t>位段地址，</a:t>
            </a:r>
            <a:r>
              <a:rPr lang="en-US" altLang="zh-CN" sz="2400"/>
              <a:t>16</a:t>
            </a:r>
            <a:r>
              <a:rPr lang="zh-CN" altLang="en-US" sz="2400"/>
              <a:t>位偏移地址</a:t>
            </a:r>
          </a:p>
          <a:p>
            <a:pPr lvl="1"/>
            <a:r>
              <a:rPr lang="zh-CN" altLang="en-US" sz="2400"/>
              <a:t>占用</a:t>
            </a:r>
            <a:r>
              <a:rPr lang="en-US" altLang="zh-CN" sz="2400"/>
              <a:t>2</a:t>
            </a:r>
            <a:r>
              <a:rPr lang="zh-CN" altLang="en-US" sz="2400"/>
              <a:t>个连续的字节存储单元</a:t>
            </a:r>
            <a:endParaRPr lang="zh-CN" altLang="en-US" sz="2000"/>
          </a:p>
        </p:txBody>
      </p:sp>
      <p:grpSp>
        <p:nvGrpSpPr>
          <p:cNvPr id="40965" name="Group 4"/>
          <p:cNvGrpSpPr/>
          <p:nvPr/>
        </p:nvGrpSpPr>
        <p:grpSpPr bwMode="auto">
          <a:xfrm>
            <a:off x="5507038" y="3571875"/>
            <a:ext cx="2895600" cy="1828800"/>
            <a:chOff x="2592" y="1056"/>
            <a:chExt cx="1824" cy="1152"/>
          </a:xfrm>
        </p:grpSpPr>
        <p:sp>
          <p:nvSpPr>
            <p:cNvPr id="40967" name="Rectangle 5"/>
            <p:cNvSpPr>
              <a:spLocks noChangeArrowheads="1"/>
            </p:cNvSpPr>
            <p:nvPr/>
          </p:nvSpPr>
          <p:spPr bwMode="auto">
            <a:xfrm>
              <a:off x="3600" y="1917"/>
              <a:ext cx="81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68" name="Rectangle 6"/>
            <p:cNvSpPr>
              <a:spLocks noChangeArrowheads="1"/>
            </p:cNvSpPr>
            <p:nvPr/>
          </p:nvSpPr>
          <p:spPr bwMode="auto">
            <a:xfrm>
              <a:off x="3600" y="1630"/>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69" name="Rectangle 7"/>
            <p:cNvSpPr>
              <a:spLocks noChangeArrowheads="1"/>
            </p:cNvSpPr>
            <p:nvPr/>
          </p:nvSpPr>
          <p:spPr bwMode="auto">
            <a:xfrm>
              <a:off x="3600" y="1343"/>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34H</a:t>
              </a:r>
            </a:p>
          </p:txBody>
        </p:sp>
        <p:sp>
          <p:nvSpPr>
            <p:cNvPr id="40970" name="Rectangle 8"/>
            <p:cNvSpPr>
              <a:spLocks noChangeArrowheads="1"/>
            </p:cNvSpPr>
            <p:nvPr/>
          </p:nvSpPr>
          <p:spPr bwMode="auto">
            <a:xfrm>
              <a:off x="3600" y="1056"/>
              <a:ext cx="8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56H</a:t>
              </a:r>
            </a:p>
          </p:txBody>
        </p:sp>
        <p:sp>
          <p:nvSpPr>
            <p:cNvPr id="40971" name="Line 9"/>
            <p:cNvSpPr>
              <a:spLocks noChangeShapeType="1"/>
            </p:cNvSpPr>
            <p:nvPr/>
          </p:nvSpPr>
          <p:spPr bwMode="auto">
            <a:xfrm>
              <a:off x="3600" y="1056"/>
              <a:ext cx="81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2" name="Line 10"/>
            <p:cNvSpPr>
              <a:spLocks noChangeShapeType="1"/>
            </p:cNvSpPr>
            <p:nvPr/>
          </p:nvSpPr>
          <p:spPr bwMode="auto">
            <a:xfrm>
              <a:off x="3600" y="1343"/>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3" name="Line 11"/>
            <p:cNvSpPr>
              <a:spLocks noChangeShapeType="1"/>
            </p:cNvSpPr>
            <p:nvPr/>
          </p:nvSpPr>
          <p:spPr bwMode="auto">
            <a:xfrm>
              <a:off x="3600" y="1630"/>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4" name="Line 12"/>
            <p:cNvSpPr>
              <a:spLocks noChangeShapeType="1"/>
            </p:cNvSpPr>
            <p:nvPr/>
          </p:nvSpPr>
          <p:spPr bwMode="auto">
            <a:xfrm>
              <a:off x="3600" y="1917"/>
              <a:ext cx="816"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5" name="Line 13"/>
            <p:cNvSpPr>
              <a:spLocks noChangeShapeType="1"/>
            </p:cNvSpPr>
            <p:nvPr/>
          </p:nvSpPr>
          <p:spPr bwMode="auto">
            <a:xfrm>
              <a:off x="3600" y="2208"/>
              <a:ext cx="816" cy="0"/>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6" name="Line 14"/>
            <p:cNvSpPr>
              <a:spLocks noChangeShapeType="1"/>
            </p:cNvSpPr>
            <p:nvPr/>
          </p:nvSpPr>
          <p:spPr bwMode="auto">
            <a:xfrm>
              <a:off x="3600" y="1056"/>
              <a:ext cx="0" cy="115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7" name="Line 15"/>
            <p:cNvSpPr>
              <a:spLocks noChangeShapeType="1"/>
            </p:cNvSpPr>
            <p:nvPr/>
          </p:nvSpPr>
          <p:spPr bwMode="auto">
            <a:xfrm>
              <a:off x="4416" y="1056"/>
              <a:ext cx="0" cy="1152"/>
            </a:xfrm>
            <a:prstGeom prst="line">
              <a:avLst/>
            </a:prstGeom>
            <a:noFill/>
            <a:ln w="28575" cap="sq">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78" name="Rectangle 16"/>
            <p:cNvSpPr>
              <a:spLocks noChangeArrowheads="1"/>
            </p:cNvSpPr>
            <p:nvPr/>
          </p:nvSpPr>
          <p:spPr bwMode="auto">
            <a:xfrm>
              <a:off x="2592" y="1917"/>
              <a:ext cx="1008"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79" name="Rectangle 17"/>
            <p:cNvSpPr>
              <a:spLocks noChangeArrowheads="1"/>
            </p:cNvSpPr>
            <p:nvPr/>
          </p:nvSpPr>
          <p:spPr bwMode="auto">
            <a:xfrm>
              <a:off x="2592" y="1630"/>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80" name="Rectangle 18"/>
            <p:cNvSpPr>
              <a:spLocks noChangeArrowheads="1"/>
            </p:cNvSpPr>
            <p:nvPr/>
          </p:nvSpPr>
          <p:spPr bwMode="auto">
            <a:xfrm>
              <a:off x="2592" y="1343"/>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endParaRPr lang="zh-CN" altLang="zh-CN" b="0">
                <a:solidFill>
                  <a:srgbClr val="0000CC"/>
                </a:solidFill>
                <a:latin typeface="Arial" panose="020B0604020202020204" pitchFamily="34" charset="0"/>
              </a:endParaRPr>
            </a:p>
          </p:txBody>
        </p:sp>
        <p:sp>
          <p:nvSpPr>
            <p:cNvPr id="40981" name="Rectangle 19"/>
            <p:cNvSpPr>
              <a:spLocks noChangeArrowheads="1"/>
            </p:cNvSpPr>
            <p:nvPr/>
          </p:nvSpPr>
          <p:spPr bwMode="auto">
            <a:xfrm>
              <a:off x="2592" y="1056"/>
              <a:ext cx="1008"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557530" indent="-21463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857250" indent="-17145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2001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1543050" indent="-17145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0002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4574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29146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371850" indent="-17145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r" eaLnBrk="1" hangingPunct="1">
                <a:buClr>
                  <a:schemeClr val="folHlink"/>
                </a:buClr>
                <a:buFont typeface="Wingdings" panose="05000000000000000000" pitchFamily="2" charset="2"/>
                <a:buNone/>
              </a:pPr>
              <a:r>
                <a:rPr lang="en-US" altLang="zh-CN" b="0">
                  <a:solidFill>
                    <a:srgbClr val="0000CC"/>
                  </a:solidFill>
                  <a:latin typeface="Arial" panose="020B0604020202020204" pitchFamily="34" charset="0"/>
                </a:rPr>
                <a:t>DATA2</a:t>
              </a:r>
            </a:p>
          </p:txBody>
        </p:sp>
        <p:sp>
          <p:nvSpPr>
            <p:cNvPr id="40982" name="Line 20"/>
            <p:cNvSpPr>
              <a:spLocks noChangeShapeType="1"/>
            </p:cNvSpPr>
            <p:nvPr/>
          </p:nvSpPr>
          <p:spPr bwMode="auto">
            <a:xfrm>
              <a:off x="2592" y="1056"/>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3" name="Line 21"/>
            <p:cNvSpPr>
              <a:spLocks noChangeShapeType="1"/>
            </p:cNvSpPr>
            <p:nvPr/>
          </p:nvSpPr>
          <p:spPr bwMode="auto">
            <a:xfrm>
              <a:off x="2592" y="2208"/>
              <a:ext cx="1008"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4" name="Line 22"/>
            <p:cNvSpPr>
              <a:spLocks noChangeShapeType="1"/>
            </p:cNvSpPr>
            <p:nvPr/>
          </p:nvSpPr>
          <p:spPr bwMode="auto">
            <a:xfrm>
              <a:off x="2592"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5" name="Line 23"/>
            <p:cNvSpPr>
              <a:spLocks noChangeShapeType="1"/>
            </p:cNvSpPr>
            <p:nvPr/>
          </p:nvSpPr>
          <p:spPr bwMode="auto">
            <a:xfrm>
              <a:off x="3600" y="1056"/>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6" name="Line 24"/>
            <p:cNvSpPr>
              <a:spLocks noChangeShapeType="1"/>
            </p:cNvSpPr>
            <p:nvPr/>
          </p:nvSpPr>
          <p:spPr bwMode="auto">
            <a:xfrm>
              <a:off x="2592"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7" name="Line 25"/>
            <p:cNvSpPr>
              <a:spLocks noChangeShapeType="1"/>
            </p:cNvSpPr>
            <p:nvPr/>
          </p:nvSpPr>
          <p:spPr bwMode="auto">
            <a:xfrm>
              <a:off x="3600" y="1343"/>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8" name="Line 26"/>
            <p:cNvSpPr>
              <a:spLocks noChangeShapeType="1"/>
            </p:cNvSpPr>
            <p:nvPr/>
          </p:nvSpPr>
          <p:spPr bwMode="auto">
            <a:xfrm>
              <a:off x="2592"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89" name="Line 27"/>
            <p:cNvSpPr>
              <a:spLocks noChangeShapeType="1"/>
            </p:cNvSpPr>
            <p:nvPr/>
          </p:nvSpPr>
          <p:spPr bwMode="auto">
            <a:xfrm>
              <a:off x="3600" y="1630"/>
              <a:ext cx="0" cy="28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90" name="Line 28"/>
            <p:cNvSpPr>
              <a:spLocks noChangeShapeType="1"/>
            </p:cNvSpPr>
            <p:nvPr/>
          </p:nvSpPr>
          <p:spPr bwMode="auto">
            <a:xfrm>
              <a:off x="2592"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40991" name="Line 29"/>
            <p:cNvSpPr>
              <a:spLocks noChangeShapeType="1"/>
            </p:cNvSpPr>
            <p:nvPr/>
          </p:nvSpPr>
          <p:spPr bwMode="auto">
            <a:xfrm>
              <a:off x="3600" y="1917"/>
              <a:ext cx="0" cy="291"/>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chemeClr val="tx1"/>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grpSp>
      <p:sp>
        <p:nvSpPr>
          <p:cNvPr id="40966" name="Text Box 30"/>
          <p:cNvSpPr txBox="1">
            <a:spLocks noChangeArrowheads="1"/>
          </p:cNvSpPr>
          <p:nvPr/>
        </p:nvSpPr>
        <p:spPr bwMode="auto">
          <a:xfrm>
            <a:off x="1187450" y="4076700"/>
            <a:ext cx="4195763"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a:solidFill>
                  <a:srgbClr val="0000CC"/>
                </a:solidFill>
              </a:rPr>
              <a:t>DATA2  DW  3456H</a:t>
            </a: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10"/>
          <p:cNvSpPr>
            <a:spLocks noGrp="1"/>
          </p:cNvSpPr>
          <p:nvPr>
            <p:ph type="sldNum" sz="quarter" idx="12"/>
          </p:nvPr>
        </p:nvSpPr>
        <p:spPr/>
        <p:txBody>
          <a:bodyPr/>
          <a:lstStyle/>
          <a:p>
            <a:pPr>
              <a:defRPr/>
            </a:pPr>
            <a:fld id="{DCB2ECF8-47E5-41A7-9DC1-9282EB317892}" type="slidenum">
              <a:rPr lang="en-US" altLang="zh-CN"/>
              <a:t>33</a:t>
            </a:fld>
            <a:endParaRPr lang="en-US" altLang="zh-CN"/>
          </a:p>
        </p:txBody>
      </p:sp>
      <p:sp>
        <p:nvSpPr>
          <p:cNvPr id="41987" name="AutoShape 2"/>
          <p:cNvSpPr>
            <a:spLocks noChangeArrowheads="1"/>
          </p:cNvSpPr>
          <p:nvPr/>
        </p:nvSpPr>
        <p:spPr bwMode="auto">
          <a:xfrm>
            <a:off x="2051050" y="4508500"/>
            <a:ext cx="6102350" cy="1003300"/>
          </a:xfrm>
          <a:prstGeom prst="roundRect">
            <a:avLst>
              <a:gd name="adj" fmla="val 16667"/>
            </a:avLst>
          </a:prstGeom>
          <a:solidFill>
            <a:schemeClr val="bg1"/>
          </a:solidFill>
          <a:ln w="9525">
            <a:solidFill>
              <a:schemeClr va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41988" name="AutoShape 3"/>
          <p:cNvSpPr>
            <a:spLocks noChangeArrowheads="1"/>
          </p:cNvSpPr>
          <p:nvPr/>
        </p:nvSpPr>
        <p:spPr bwMode="auto">
          <a:xfrm>
            <a:off x="1066800" y="2057400"/>
            <a:ext cx="7681913" cy="1082675"/>
          </a:xfrm>
          <a:prstGeom prst="roundRect">
            <a:avLst>
              <a:gd name="adj" fmla="val 16667"/>
            </a:avLst>
          </a:prstGeom>
          <a:solidFill>
            <a:schemeClr val="bg1"/>
          </a:solidFill>
          <a:ln w="9525">
            <a:solidFill>
              <a:schemeClr val="hlink"/>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46148" name="Rectangle 4"/>
          <p:cNvSpPr>
            <a:spLocks noGrp="1" noRot="1" noChangeArrowheads="1"/>
          </p:cNvSpPr>
          <p:nvPr>
            <p:ph type="title" idx="4294967295"/>
          </p:nvPr>
        </p:nvSpPr>
        <p:spPr>
          <a:xfrm>
            <a:off x="768350" y="385763"/>
            <a:ext cx="1508125" cy="381000"/>
          </a:xfrm>
        </p:spPr>
        <p:txBody>
          <a:bodyPr/>
          <a:lstStyle/>
          <a:p>
            <a:pPr algn="l">
              <a:defRPr/>
            </a:pPr>
            <a:r>
              <a:rPr lang="zh-CN" altLang="en-US" sz="2400" dirty="0">
                <a:solidFill>
                  <a:srgbClr val="FF0000"/>
                </a:solidFill>
              </a:rPr>
              <a:t>？</a:t>
            </a:r>
            <a:r>
              <a:rPr lang="zh-CN" altLang="en-US" sz="2400" dirty="0">
                <a:solidFill>
                  <a:schemeClr val="tx1"/>
                </a:solidFill>
              </a:rPr>
              <a:t>表达式</a:t>
            </a:r>
          </a:p>
        </p:txBody>
      </p:sp>
      <p:sp>
        <p:nvSpPr>
          <p:cNvPr id="646149" name="Text Box 5"/>
          <p:cNvSpPr txBox="1">
            <a:spLocks noChangeArrowheads="1"/>
          </p:cNvSpPr>
          <p:nvPr/>
        </p:nvSpPr>
        <p:spPr bwMode="auto">
          <a:xfrm>
            <a:off x="617538" y="812800"/>
            <a:ext cx="81391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sz="1800" dirty="0"/>
              <a:t> </a:t>
            </a:r>
            <a:r>
              <a:rPr lang="en-US" altLang="zh-CN" dirty="0">
                <a:solidFill>
                  <a:srgbClr val="FF0000"/>
                </a:solidFill>
                <a:effectLst>
                  <a:outerShdw blurRad="38100" dist="38100" dir="2700000" algn="tl">
                    <a:srgbClr val="C0C0C0"/>
                  </a:outerShdw>
                </a:effectLst>
              </a:rPr>
              <a:t>●</a:t>
            </a:r>
            <a:r>
              <a:rPr lang="zh-CN" altLang="en-US" dirty="0"/>
              <a:t>这是为数据项分配存储单元的一种方法，只是存储单元中不预置确定的值，常用来预留存储单元，存放程序的中间结果或最终结果。</a:t>
            </a:r>
          </a:p>
        </p:txBody>
      </p:sp>
      <p:sp>
        <p:nvSpPr>
          <p:cNvPr id="646150" name="Text Box 6"/>
          <p:cNvSpPr txBox="1">
            <a:spLocks noChangeArrowheads="1"/>
          </p:cNvSpPr>
          <p:nvPr/>
        </p:nvSpPr>
        <p:spPr bwMode="auto">
          <a:xfrm>
            <a:off x="1258888" y="2349500"/>
            <a:ext cx="748982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dirty="0">
                <a:effectLst>
                  <a:outerShdw blurRad="38100" dist="38100" dir="2700000" algn="tl">
                    <a:srgbClr val="C0C0C0"/>
                  </a:outerShdw>
                </a:effectLst>
              </a:rPr>
              <a:t>RESULT  DB  </a:t>
            </a:r>
            <a:r>
              <a:rPr lang="zh-CN" altLang="en-US" dirty="0">
                <a:effectLst>
                  <a:outerShdw blurRad="38100" dist="38100" dir="2700000" algn="tl">
                    <a:srgbClr val="C0C0C0"/>
                  </a:outerShdw>
                </a:effectLst>
              </a:rPr>
              <a:t>？        ；预置一个字节单元，其值不定</a:t>
            </a:r>
          </a:p>
        </p:txBody>
      </p:sp>
      <p:sp>
        <p:nvSpPr>
          <p:cNvPr id="646151" name="Text Box 7"/>
          <p:cNvSpPr txBox="1">
            <a:spLocks noChangeArrowheads="1"/>
          </p:cNvSpPr>
          <p:nvPr/>
        </p:nvSpPr>
        <p:spPr bwMode="auto">
          <a:xfrm>
            <a:off x="684213" y="3284538"/>
            <a:ext cx="3429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a:effectLst>
                  <a:outerShdw blurRad="38100" dist="38100" dir="2700000" algn="tl">
                    <a:srgbClr val="C0C0C0"/>
                  </a:outerShdw>
                </a:effectLst>
              </a:rPr>
              <a:t>重复定义子句</a:t>
            </a:r>
            <a:r>
              <a:rPr lang="en-US" altLang="zh-CN">
                <a:solidFill>
                  <a:srgbClr val="FF0000"/>
                </a:solidFill>
                <a:effectLst>
                  <a:outerShdw blurRad="38100" dist="38100" dir="2700000" algn="tl">
                    <a:srgbClr val="C0C0C0"/>
                  </a:outerShdw>
                </a:effectLst>
              </a:rPr>
              <a:t>DUP</a:t>
            </a:r>
          </a:p>
        </p:txBody>
      </p:sp>
      <p:sp>
        <p:nvSpPr>
          <p:cNvPr id="646152" name="Text Box 8"/>
          <p:cNvSpPr txBox="1">
            <a:spLocks noChangeArrowheads="1"/>
          </p:cNvSpPr>
          <p:nvPr/>
        </p:nvSpPr>
        <p:spPr bwMode="auto">
          <a:xfrm>
            <a:off x="762000" y="3886200"/>
            <a:ext cx="7391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a:solidFill>
                  <a:srgbClr val="FF0000"/>
                </a:solidFill>
                <a:effectLst>
                  <a:outerShdw blurRad="38100" dist="38100" dir="2700000" algn="tl">
                    <a:srgbClr val="C0C0C0"/>
                  </a:outerShdw>
                </a:effectLst>
              </a:rPr>
              <a:t>●</a:t>
            </a:r>
            <a:r>
              <a:rPr lang="zh-CN" altLang="en-US">
                <a:effectLst>
                  <a:outerShdw blurRad="38100" dist="38100" dir="2700000" algn="tl">
                    <a:srgbClr val="C0C0C0"/>
                  </a:outerShdw>
                </a:effectLst>
              </a:rPr>
              <a:t>利用重复定义子句</a:t>
            </a:r>
            <a:r>
              <a:rPr lang="en-US" altLang="zh-CN">
                <a:effectLst>
                  <a:outerShdw blurRad="38100" dist="38100" dir="2700000" algn="tl">
                    <a:srgbClr val="C0C0C0"/>
                  </a:outerShdw>
                </a:effectLst>
              </a:rPr>
              <a:t>DUP</a:t>
            </a:r>
            <a:r>
              <a:rPr lang="zh-CN" altLang="en-US">
                <a:effectLst>
                  <a:outerShdw blurRad="38100" dist="38100" dir="2700000" algn="tl">
                    <a:srgbClr val="C0C0C0"/>
                  </a:outerShdw>
                </a:effectLst>
              </a:rPr>
              <a:t>可以为若干个重复数据分配存储单元。</a:t>
            </a:r>
          </a:p>
        </p:txBody>
      </p:sp>
      <p:sp>
        <p:nvSpPr>
          <p:cNvPr id="646153" name="Text Box 9"/>
          <p:cNvSpPr txBox="1">
            <a:spLocks noChangeArrowheads="1"/>
          </p:cNvSpPr>
          <p:nvPr/>
        </p:nvSpPr>
        <p:spPr bwMode="auto">
          <a:xfrm>
            <a:off x="2411413" y="4652963"/>
            <a:ext cx="5040312"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dirty="0">
                <a:effectLst>
                  <a:outerShdw blurRad="38100" dist="38100" dir="2700000" algn="tl">
                    <a:srgbClr val="C0C0C0"/>
                  </a:outerShdw>
                </a:effectLst>
              </a:rPr>
              <a:t>带</a:t>
            </a:r>
            <a:r>
              <a:rPr lang="en-US" altLang="zh-CN" dirty="0">
                <a:effectLst>
                  <a:outerShdw blurRad="38100" dist="38100" dir="2700000" algn="tl">
                    <a:srgbClr val="C0C0C0"/>
                  </a:outerShdw>
                </a:effectLst>
              </a:rPr>
              <a:t>DUP</a:t>
            </a:r>
            <a:r>
              <a:rPr lang="zh-CN" altLang="en-US" dirty="0">
                <a:effectLst>
                  <a:outerShdw blurRad="38100" dist="38100" dir="2700000" algn="tl">
                    <a:srgbClr val="C0C0C0"/>
                  </a:outerShdw>
                </a:effectLst>
              </a:rPr>
              <a:t>的表达式格式如下：</a:t>
            </a:r>
          </a:p>
          <a:p>
            <a:pPr eaLnBrk="1" hangingPunct="1">
              <a:defRPr/>
            </a:pPr>
            <a:r>
              <a:rPr lang="zh-CN" altLang="en-US" dirty="0">
                <a:effectLst>
                  <a:outerShdw blurRad="38100" dist="38100" dir="2700000" algn="tl">
                    <a:srgbClr val="C0C0C0"/>
                  </a:outerShdw>
                </a:effectLst>
              </a:rPr>
              <a:t>      </a:t>
            </a:r>
            <a:r>
              <a:rPr lang="en-US" altLang="zh-CN" dirty="0">
                <a:effectLst>
                  <a:outerShdw blurRad="38100" dist="38100" dir="2700000" algn="tl">
                    <a:srgbClr val="C0C0C0"/>
                  </a:outerShdw>
                </a:effectLst>
              </a:rPr>
              <a:t>n   DUP  </a:t>
            </a:r>
            <a:r>
              <a:rPr lang="zh-CN" altLang="en-US" dirty="0">
                <a:effectLst>
                  <a:outerShdw blurRad="38100" dist="38100" dir="2700000" algn="tl">
                    <a:srgbClr val="C0C0C0"/>
                  </a:outerShdw>
                </a:effectLst>
              </a:rPr>
              <a:t>（表达式）</a:t>
            </a:r>
          </a:p>
        </p:txBody>
      </p:sp>
      <p:sp>
        <p:nvSpPr>
          <p:cNvPr id="646154" name="Text Box 10"/>
          <p:cNvSpPr txBox="1">
            <a:spLocks noChangeArrowheads="1"/>
          </p:cNvSpPr>
          <p:nvPr/>
        </p:nvSpPr>
        <p:spPr bwMode="auto">
          <a:xfrm>
            <a:off x="755650" y="5805488"/>
            <a:ext cx="7489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a:solidFill>
                  <a:srgbClr val="FFFF00"/>
                </a:solidFill>
                <a:effectLst>
                  <a:outerShdw blurRad="38100" dist="38100" dir="2700000" algn="tl">
                    <a:srgbClr val="C0C0C0"/>
                  </a:outerShdw>
                </a:effectLst>
              </a:rPr>
              <a:t>●</a:t>
            </a:r>
            <a:r>
              <a:rPr lang="zh-CN" altLang="en-US">
                <a:effectLst>
                  <a:outerShdw blurRad="38100" dist="38100" dir="2700000" algn="tl">
                    <a:srgbClr val="C0C0C0"/>
                  </a:outerShdw>
                </a:effectLst>
              </a:rPr>
              <a:t>其中圆括号内的表达式是重复的内容，</a:t>
            </a:r>
            <a:r>
              <a:rPr lang="en-US" altLang="zh-CN">
                <a:effectLst>
                  <a:outerShdw blurRad="38100" dist="38100" dir="2700000" algn="tl">
                    <a:srgbClr val="C0C0C0"/>
                  </a:outerShdw>
                </a:effectLst>
              </a:rPr>
              <a:t>n </a:t>
            </a:r>
            <a:r>
              <a:rPr lang="zh-CN" altLang="en-US">
                <a:effectLst>
                  <a:outerShdw blurRad="38100" dist="38100" dir="2700000" algn="tl">
                    <a:srgbClr val="C0C0C0"/>
                  </a:outerShdw>
                </a:effectLst>
              </a:rPr>
              <a:t>是重复次数。</a:t>
            </a:r>
          </a:p>
        </p:txBody>
      </p:sp>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
          </p:nvPr>
        </p:nvSpPr>
        <p:spPr>
          <a:xfrm>
            <a:off x="684213" y="620713"/>
            <a:ext cx="8229600" cy="4937125"/>
          </a:xfrm>
        </p:spPr>
        <p:txBody>
          <a:bodyPr/>
          <a:lstStyle/>
          <a:p>
            <a:pPr marL="0" indent="0">
              <a:buFont typeface="Wingdings 3" panose="05040102010807070707" pitchFamily="18" charset="2"/>
              <a:buNone/>
              <a:defRPr/>
            </a:pPr>
            <a:r>
              <a:rPr lang="zh-CN" altLang="en-US" dirty="0">
                <a:solidFill>
                  <a:srgbClr val="C00000"/>
                </a:solidFill>
                <a:latin typeface="+mn-ea"/>
              </a:rPr>
              <a:t>常用伪指令</a:t>
            </a:r>
          </a:p>
          <a:p>
            <a:pPr marL="0" indent="0">
              <a:buFont typeface="Wingdings 3" panose="05040102010807070707" pitchFamily="18" charset="2"/>
              <a:buNone/>
              <a:defRPr/>
            </a:pPr>
            <a:r>
              <a:rPr lang="zh-CN" altLang="en-US" dirty="0">
                <a:solidFill>
                  <a:srgbClr val="000066"/>
                </a:solidFill>
                <a:latin typeface="+mn-ea"/>
              </a:rPr>
              <a:t>（</a:t>
            </a:r>
            <a:r>
              <a:rPr lang="en-US" altLang="zh-CN" dirty="0">
                <a:solidFill>
                  <a:srgbClr val="000066"/>
                </a:solidFill>
                <a:latin typeface="+mn-ea"/>
              </a:rPr>
              <a:t>1</a:t>
            </a:r>
            <a:r>
              <a:rPr lang="zh-CN" altLang="en-US" dirty="0">
                <a:solidFill>
                  <a:srgbClr val="000066"/>
                </a:solidFill>
                <a:latin typeface="+mn-ea"/>
              </a:rPr>
              <a:t>）数据字义伪指令：</a:t>
            </a:r>
            <a:r>
              <a:rPr lang="en-US" altLang="zh-CN" dirty="0">
                <a:latin typeface="+mn-ea"/>
              </a:rPr>
              <a:t>DB</a:t>
            </a:r>
            <a:r>
              <a:rPr lang="zh-CN" altLang="en-US" dirty="0">
                <a:latin typeface="+mn-ea"/>
              </a:rPr>
              <a:t>、</a:t>
            </a:r>
            <a:r>
              <a:rPr lang="en-US" altLang="zh-CN" dirty="0">
                <a:latin typeface="+mn-ea"/>
              </a:rPr>
              <a:t>DW</a:t>
            </a:r>
            <a:r>
              <a:rPr lang="zh-CN" altLang="en-US" dirty="0">
                <a:latin typeface="+mn-ea"/>
              </a:rPr>
              <a:t>、</a:t>
            </a:r>
            <a:r>
              <a:rPr lang="en-US" altLang="zh-CN" dirty="0">
                <a:latin typeface="+mn-ea"/>
              </a:rPr>
              <a:t>DD</a:t>
            </a:r>
          </a:p>
          <a:p>
            <a:pPr marL="0" indent="0">
              <a:buFont typeface="Wingdings 3" panose="05040102010807070707" pitchFamily="18" charset="2"/>
              <a:buNone/>
              <a:defRPr/>
            </a:pPr>
            <a:r>
              <a:rPr lang="zh-CN" altLang="en-US" dirty="0">
                <a:solidFill>
                  <a:srgbClr val="000066"/>
                </a:solidFill>
                <a:latin typeface="+mn-ea"/>
              </a:rPr>
              <a:t>（</a:t>
            </a:r>
            <a:r>
              <a:rPr lang="en-US" altLang="zh-CN" dirty="0">
                <a:solidFill>
                  <a:srgbClr val="000066"/>
                </a:solidFill>
                <a:latin typeface="+mn-ea"/>
              </a:rPr>
              <a:t>2</a:t>
            </a:r>
            <a:r>
              <a:rPr lang="zh-CN" altLang="en-US" dirty="0">
                <a:solidFill>
                  <a:srgbClr val="000066"/>
                </a:solidFill>
                <a:latin typeface="+mn-ea"/>
              </a:rPr>
              <a:t>）等值伪指令：</a:t>
            </a:r>
            <a:r>
              <a:rPr lang="en-US" altLang="zh-CN" dirty="0">
                <a:latin typeface="+mn-ea"/>
              </a:rPr>
              <a:t>EQU</a:t>
            </a:r>
            <a:r>
              <a:rPr lang="zh-CN" altLang="en-US" dirty="0">
                <a:latin typeface="+mn-ea"/>
              </a:rPr>
              <a:t>、</a:t>
            </a:r>
            <a:r>
              <a:rPr lang="en-US" altLang="zh-CN" dirty="0">
                <a:latin typeface="+mn-ea"/>
              </a:rPr>
              <a:t>=</a:t>
            </a:r>
          </a:p>
          <a:p>
            <a:pPr marL="0" indent="0">
              <a:buFont typeface="Wingdings 3" panose="05040102010807070707" pitchFamily="18" charset="2"/>
              <a:buNone/>
              <a:defRPr/>
            </a:pPr>
            <a:r>
              <a:rPr lang="zh-CN" altLang="en-US" dirty="0">
                <a:solidFill>
                  <a:srgbClr val="C00000"/>
                </a:solidFill>
                <a:latin typeface="+mn-ea"/>
              </a:rPr>
              <a:t>常用运算符</a:t>
            </a:r>
          </a:p>
          <a:p>
            <a:pPr>
              <a:defRPr/>
            </a:pPr>
            <a:r>
              <a:rPr lang="en-US" altLang="zh-CN" dirty="0">
                <a:cs typeface="Times New Roman" panose="02020603050405020304" pitchFamily="18" charset="0"/>
              </a:rPr>
              <a:t>$</a:t>
            </a:r>
            <a:r>
              <a:rPr lang="zh-CN" altLang="en-US" dirty="0">
                <a:latin typeface="+mn-ea"/>
              </a:rPr>
              <a:t>运算符、</a:t>
            </a:r>
            <a:r>
              <a:rPr lang="en-US" altLang="zh-CN" dirty="0">
                <a:latin typeface="+mn-ea"/>
              </a:rPr>
              <a:t>SEG</a:t>
            </a:r>
            <a:r>
              <a:rPr lang="zh-CN" altLang="en-US" dirty="0">
                <a:latin typeface="+mn-ea"/>
              </a:rPr>
              <a:t>运算符、</a:t>
            </a:r>
            <a:r>
              <a:rPr lang="en-US" altLang="zh-CN" dirty="0">
                <a:latin typeface="+mn-ea"/>
              </a:rPr>
              <a:t>OFFSET</a:t>
            </a:r>
            <a:r>
              <a:rPr lang="zh-CN" altLang="en-US" dirty="0">
                <a:latin typeface="+mn-ea"/>
              </a:rPr>
              <a:t>运算符、 </a:t>
            </a:r>
            <a:r>
              <a:rPr lang="en-US" altLang="zh-CN" dirty="0">
                <a:latin typeface="+mn-ea"/>
              </a:rPr>
              <a:t>PTR</a:t>
            </a:r>
            <a:r>
              <a:rPr lang="zh-CN" altLang="en-US" dirty="0">
                <a:latin typeface="+mn-ea"/>
              </a:rPr>
              <a:t>运算符、</a:t>
            </a:r>
            <a:r>
              <a:rPr lang="en-US" altLang="zh-CN" dirty="0">
                <a:cs typeface="Times New Roman" panose="02020603050405020304" pitchFamily="18" charset="0"/>
              </a:rPr>
              <a:t>[ ]</a:t>
            </a:r>
          </a:p>
          <a:p>
            <a:pPr marL="274320" indent="-274320" eaLnBrk="1" fontAlgn="auto" hangingPunct="1">
              <a:lnSpc>
                <a:spcPct val="80000"/>
              </a:lnSpc>
              <a:spcBef>
                <a:spcPct val="50000"/>
              </a:spcBef>
              <a:spcAft>
                <a:spcPts val="0"/>
              </a:spcAft>
              <a:buFont typeface="Wingdings 3" panose="05040102010807070707"/>
              <a:buChar char=""/>
              <a:defRPr/>
            </a:pPr>
            <a:r>
              <a:rPr lang="zh-CN" altLang="en-US" dirty="0">
                <a:cs typeface="Times New Roman" panose="02020603050405020304" pitchFamily="18" charset="0"/>
              </a:rPr>
              <a:t>例：</a:t>
            </a:r>
            <a:r>
              <a:rPr lang="en-US" altLang="zh-CN" sz="2000" dirty="0">
                <a:solidFill>
                  <a:schemeClr val="tx2"/>
                </a:solidFill>
                <a:cs typeface="Times New Roman" panose="02020603050405020304" pitchFamily="18" charset="0"/>
              </a:rPr>
              <a:t>BUF	DB	‘THE QUICK BROWN FOX’</a:t>
            </a:r>
            <a:r>
              <a:rPr lang="en-US" altLang="zh-CN" sz="2000" dirty="0">
                <a:cs typeface="Times New Roman" panose="02020603050405020304" pitchFamily="18" charset="0"/>
              </a:rPr>
              <a:t> </a:t>
            </a:r>
          </a:p>
          <a:p>
            <a:pPr marL="274320" lvl="1" indent="0" eaLnBrk="1" fontAlgn="auto" hangingPunct="1">
              <a:lnSpc>
                <a:spcPct val="80000"/>
              </a:lnSpc>
              <a:spcBef>
                <a:spcPct val="50000"/>
              </a:spcBef>
              <a:spcAft>
                <a:spcPts val="0"/>
              </a:spcAft>
              <a:buFont typeface="Wingdings 3" panose="05040102010807070707"/>
              <a:buNone/>
              <a:defRPr/>
            </a:pPr>
            <a:r>
              <a:rPr lang="en-US" altLang="zh-CN" sz="2000" dirty="0">
                <a:cs typeface="Times New Roman" panose="02020603050405020304" pitchFamily="18" charset="0"/>
              </a:rPr>
              <a:t>	LL	EQU	$-BUF</a:t>
            </a:r>
          </a:p>
          <a:p>
            <a:pPr marL="274320" lvl="1" indent="0" eaLnBrk="1" fontAlgn="auto" hangingPunct="1">
              <a:lnSpc>
                <a:spcPct val="80000"/>
              </a:lnSpc>
              <a:spcBef>
                <a:spcPct val="50000"/>
              </a:spcBef>
              <a:spcAft>
                <a:spcPts val="0"/>
              </a:spcAft>
              <a:buFont typeface="Wingdings 3" panose="05040102010807070707"/>
              <a:buNone/>
              <a:defRPr/>
            </a:pPr>
            <a:r>
              <a:rPr lang="en-US" altLang="zh-CN" sz="2000" dirty="0">
                <a:cs typeface="Times New Roman" panose="02020603050405020304" pitchFamily="18" charset="0"/>
              </a:rPr>
              <a:t>	S	DB	‘HELLO’</a:t>
            </a:r>
          </a:p>
          <a:p>
            <a:pPr marL="274320" lvl="1" indent="0" eaLnBrk="1" fontAlgn="auto" hangingPunct="1">
              <a:lnSpc>
                <a:spcPct val="80000"/>
              </a:lnSpc>
              <a:spcBef>
                <a:spcPct val="50000"/>
              </a:spcBef>
              <a:spcAft>
                <a:spcPts val="0"/>
              </a:spcAft>
              <a:buFont typeface="Wingdings 3" panose="05040102010807070707"/>
              <a:buNone/>
              <a:defRPr/>
            </a:pPr>
            <a:r>
              <a:rPr lang="en-US" altLang="zh-CN" sz="2000" dirty="0">
                <a:cs typeface="Times New Roman" panose="02020603050405020304" pitchFamily="18" charset="0"/>
              </a:rPr>
              <a:t>	LLL	EQU	$-S</a:t>
            </a:r>
          </a:p>
          <a:p>
            <a:pPr marL="274320" lvl="1" indent="0" eaLnBrk="1" fontAlgn="auto" hangingPunct="1">
              <a:lnSpc>
                <a:spcPct val="80000"/>
              </a:lnSpc>
              <a:spcBef>
                <a:spcPct val="50000"/>
              </a:spcBef>
              <a:spcAft>
                <a:spcPts val="0"/>
              </a:spcAft>
              <a:buFont typeface="Wingdings 3" panose="05040102010807070707"/>
              <a:buNone/>
              <a:defRPr/>
            </a:pPr>
            <a:r>
              <a:rPr lang="en-US" altLang="zh-CN" sz="2000" dirty="0">
                <a:cs typeface="Times New Roman" panose="02020603050405020304" pitchFamily="18" charset="0"/>
              </a:rPr>
              <a:t>	LLLL	EQU	$-BUF</a:t>
            </a:r>
          </a:p>
          <a:p>
            <a:pPr marL="274320" lvl="1" indent="0" eaLnBrk="1" fontAlgn="auto" hangingPunct="1">
              <a:lnSpc>
                <a:spcPct val="80000"/>
              </a:lnSpc>
              <a:spcBef>
                <a:spcPct val="50000"/>
              </a:spcBef>
              <a:spcAft>
                <a:spcPts val="0"/>
              </a:spcAft>
              <a:buFont typeface="Wingdings 3" panose="05040102010807070707"/>
              <a:buNone/>
              <a:defRPr/>
            </a:pPr>
            <a:r>
              <a:rPr lang="zh-CN" altLang="en-US" sz="2000" dirty="0">
                <a:cs typeface="Times New Roman" panose="02020603050405020304" pitchFamily="18" charset="0"/>
              </a:rPr>
              <a:t>分别写出</a:t>
            </a:r>
            <a:r>
              <a:rPr lang="en-US" altLang="zh-CN" sz="2000" dirty="0">
                <a:cs typeface="Times New Roman" panose="02020603050405020304" pitchFamily="18" charset="0"/>
              </a:rPr>
              <a:t>LL=</a:t>
            </a:r>
            <a:r>
              <a:rPr lang="en-US" altLang="zh-CN" sz="2000" u="sng" dirty="0">
                <a:cs typeface="Times New Roman" panose="02020603050405020304" pitchFamily="18" charset="0"/>
              </a:rPr>
              <a:t>             </a:t>
            </a:r>
            <a:r>
              <a:rPr lang="zh-CN" altLang="en-US" sz="2000" dirty="0">
                <a:cs typeface="Times New Roman" panose="02020603050405020304" pitchFamily="18" charset="0"/>
              </a:rPr>
              <a:t>，</a:t>
            </a:r>
            <a:r>
              <a:rPr lang="en-US" altLang="zh-CN" sz="2000" dirty="0">
                <a:cs typeface="Times New Roman" panose="02020603050405020304" pitchFamily="18" charset="0"/>
              </a:rPr>
              <a:t>LLL=</a:t>
            </a:r>
            <a:r>
              <a:rPr lang="en-US" altLang="zh-CN" sz="2000" u="sng" dirty="0">
                <a:cs typeface="Times New Roman" panose="02020603050405020304" pitchFamily="18" charset="0"/>
              </a:rPr>
              <a:t>             </a:t>
            </a:r>
            <a:r>
              <a:rPr lang="zh-CN" altLang="en-US" sz="2000" dirty="0">
                <a:cs typeface="Times New Roman" panose="02020603050405020304" pitchFamily="18" charset="0"/>
              </a:rPr>
              <a:t>，</a:t>
            </a:r>
            <a:r>
              <a:rPr lang="en-US" altLang="zh-CN" sz="2000" dirty="0">
                <a:cs typeface="Times New Roman" panose="02020603050405020304" pitchFamily="18" charset="0"/>
              </a:rPr>
              <a:t>LLLL=</a:t>
            </a:r>
            <a:r>
              <a:rPr lang="en-US" altLang="zh-CN" sz="2000" u="sng" dirty="0">
                <a:cs typeface="Times New Roman" panose="02020603050405020304" pitchFamily="18" charset="0"/>
              </a:rPr>
              <a:t>              </a:t>
            </a:r>
            <a:r>
              <a:rPr lang="zh-CN" altLang="en-US" sz="2000" dirty="0">
                <a:cs typeface="Times New Roman" panose="02020603050405020304" pitchFamily="18" charset="0"/>
              </a:rPr>
              <a:t>。</a:t>
            </a:r>
            <a:endParaRPr lang="en-US" altLang="zh-CN" sz="2000" dirty="0">
              <a:cs typeface="Times New Roman" panose="02020603050405020304" pitchFamily="18" charset="0"/>
            </a:endParaRPr>
          </a:p>
          <a:p>
            <a:pPr>
              <a:defRPr/>
            </a:pPr>
            <a:endParaRPr lang="en-US" altLang="zh-CN" dirty="0">
              <a:latin typeface="+mn-ea"/>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762000" y="457200"/>
            <a:ext cx="1981200" cy="762000"/>
          </a:xfrm>
          <a:solidFill>
            <a:schemeClr val="folHlink">
              <a:alpha val="37000"/>
            </a:schemeClr>
          </a:solidFill>
        </p:spPr>
        <p:txBody>
          <a:bodyPr/>
          <a:lstStyle/>
          <a:p>
            <a:pPr algn="l" eaLnBrk="1" hangingPunct="1">
              <a:defRPr/>
            </a:pPr>
            <a:r>
              <a:rPr lang="zh-CN" altLang="en-US" b="0">
                <a:effectLst>
                  <a:outerShdw blurRad="38100" dist="38100" dir="2700000" algn="tl">
                    <a:srgbClr val="000000"/>
                  </a:outerShdw>
                </a:effectLst>
                <a:ea typeface="黑体" panose="02010609060101010101" pitchFamily="2" charset="-122"/>
              </a:rPr>
              <a:t>举例</a:t>
            </a:r>
          </a:p>
        </p:txBody>
      </p:sp>
      <p:sp>
        <p:nvSpPr>
          <p:cNvPr id="117763" name="Rectangle 3"/>
          <p:cNvSpPr>
            <a:spLocks noGrp="1" noChangeArrowheads="1"/>
          </p:cNvSpPr>
          <p:nvPr>
            <p:ph type="body" idx="1"/>
          </p:nvPr>
        </p:nvSpPr>
        <p:spPr>
          <a:xfrm>
            <a:off x="609600" y="1447800"/>
            <a:ext cx="7772400" cy="4114800"/>
          </a:xfrm>
        </p:spPr>
        <p:txBody>
          <a:bodyPr/>
          <a:lstStyle/>
          <a:p>
            <a:pPr eaLnBrk="1" hangingPunct="1"/>
            <a:r>
              <a:rPr lang="en-US" altLang="zh-CN" b="0"/>
              <a:t>DATA_BYTE  DB 10,4,?</a:t>
            </a:r>
          </a:p>
          <a:p>
            <a:pPr eaLnBrk="1" hangingPunct="1"/>
            <a:r>
              <a:rPr lang="en-US" altLang="zh-CN" b="0"/>
              <a:t>ORG  $+2</a:t>
            </a:r>
          </a:p>
          <a:p>
            <a:pPr eaLnBrk="1" hangingPunct="1"/>
            <a:r>
              <a:rPr lang="en-US" altLang="zh-CN" b="0"/>
              <a:t>DATA_WORD DW 100,100H,-5,?</a:t>
            </a:r>
          </a:p>
          <a:p>
            <a:pPr eaLnBrk="1" hangingPunct="1"/>
            <a:r>
              <a:rPr lang="en-US" altLang="zh-CN" b="0"/>
              <a:t>COUNT  EQU ($-DATA_WORD)/2</a:t>
            </a:r>
          </a:p>
          <a:p>
            <a:pPr eaLnBrk="1" hangingPunct="1">
              <a:buFont typeface="Wingdings" panose="05000000000000000000" pitchFamily="2" charset="2"/>
              <a:buNone/>
            </a:pPr>
            <a:endParaRPr lang="en-US" altLang="zh-CN"/>
          </a:p>
        </p:txBody>
      </p:sp>
      <p:sp>
        <p:nvSpPr>
          <p:cNvPr id="44075" name="Rectangle 21"/>
          <p:cNvSpPr>
            <a:spLocks noChangeArrowheads="1"/>
          </p:cNvSpPr>
          <p:nvPr/>
        </p:nvSpPr>
        <p:spPr bwMode="auto">
          <a:xfrm>
            <a:off x="7409180" y="181165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6" name="Text Box 22"/>
          <p:cNvSpPr txBox="1">
            <a:spLocks noChangeArrowheads="1"/>
          </p:cNvSpPr>
          <p:nvPr/>
        </p:nvSpPr>
        <p:spPr bwMode="auto">
          <a:xfrm>
            <a:off x="7409180" y="1811655"/>
            <a:ext cx="1166495" cy="337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endParaRPr lang="en-US" altLang="zh-CN" sz="1600" u="none">
              <a:solidFill>
                <a:srgbClr val="FF3300"/>
              </a:solidFill>
              <a:latin typeface="Lucida Console" panose="020B0609040504020204" pitchFamily="49" charset="0"/>
            </a:endParaRPr>
          </a:p>
        </p:txBody>
      </p:sp>
      <p:sp>
        <p:nvSpPr>
          <p:cNvPr id="44073" name="Rectangle 24"/>
          <p:cNvSpPr>
            <a:spLocks noChangeArrowheads="1"/>
          </p:cNvSpPr>
          <p:nvPr/>
        </p:nvSpPr>
        <p:spPr bwMode="auto">
          <a:xfrm>
            <a:off x="7409180" y="2264410"/>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45" name="Line 44"/>
          <p:cNvSpPr>
            <a:spLocks noChangeShapeType="1"/>
          </p:cNvSpPr>
          <p:nvPr/>
        </p:nvSpPr>
        <p:spPr bwMode="auto">
          <a:xfrm>
            <a:off x="8575675" y="0"/>
            <a:ext cx="0" cy="56578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46" name="Line 45"/>
          <p:cNvSpPr>
            <a:spLocks noChangeShapeType="1"/>
          </p:cNvSpPr>
          <p:nvPr/>
        </p:nvSpPr>
        <p:spPr bwMode="auto">
          <a:xfrm>
            <a:off x="7409180" y="0"/>
            <a:ext cx="0" cy="56578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47" name="Line 46"/>
          <p:cNvSpPr>
            <a:spLocks noChangeShapeType="1"/>
          </p:cNvSpPr>
          <p:nvPr/>
        </p:nvSpPr>
        <p:spPr bwMode="auto">
          <a:xfrm>
            <a:off x="8575675" y="5887720"/>
            <a:ext cx="0" cy="56578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48" name="Line 47"/>
          <p:cNvSpPr>
            <a:spLocks noChangeShapeType="1"/>
          </p:cNvSpPr>
          <p:nvPr/>
        </p:nvSpPr>
        <p:spPr bwMode="auto">
          <a:xfrm>
            <a:off x="7409180" y="5887720"/>
            <a:ext cx="0" cy="565785"/>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4081" name="Rectangle 12"/>
          <p:cNvSpPr>
            <a:spLocks noChangeArrowheads="1"/>
          </p:cNvSpPr>
          <p:nvPr/>
        </p:nvSpPr>
        <p:spPr bwMode="auto">
          <a:xfrm>
            <a:off x="7409180" y="45275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9" name="Rectangle 15"/>
          <p:cNvSpPr>
            <a:spLocks noChangeArrowheads="1"/>
          </p:cNvSpPr>
          <p:nvPr/>
        </p:nvSpPr>
        <p:spPr bwMode="auto">
          <a:xfrm>
            <a:off x="7409180" y="90614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7" name="Rectangle 18"/>
          <p:cNvSpPr>
            <a:spLocks noChangeArrowheads="1"/>
          </p:cNvSpPr>
          <p:nvPr/>
        </p:nvSpPr>
        <p:spPr bwMode="auto">
          <a:xfrm>
            <a:off x="7409180" y="135826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grpSp>
        <p:nvGrpSpPr>
          <p:cNvPr id="5" name="组合 4"/>
          <p:cNvGrpSpPr/>
          <p:nvPr/>
        </p:nvGrpSpPr>
        <p:grpSpPr>
          <a:xfrm>
            <a:off x="5652135" y="452755"/>
            <a:ext cx="2922905" cy="1242060"/>
            <a:chOff x="8901" y="713"/>
            <a:chExt cx="4603" cy="1956"/>
          </a:xfrm>
        </p:grpSpPr>
        <p:sp>
          <p:nvSpPr>
            <p:cNvPr id="44082" name="Text Box 13"/>
            <p:cNvSpPr txBox="1">
              <a:spLocks noChangeArrowheads="1"/>
            </p:cNvSpPr>
            <p:nvPr/>
          </p:nvSpPr>
          <p:spPr bwMode="auto">
            <a:xfrm>
              <a:off x="11668" y="713"/>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0AH</a:t>
              </a:r>
            </a:p>
          </p:txBody>
        </p:sp>
        <p:sp>
          <p:nvSpPr>
            <p:cNvPr id="44080" name="Text Box 16"/>
            <p:cNvSpPr txBox="1">
              <a:spLocks noChangeArrowheads="1"/>
            </p:cNvSpPr>
            <p:nvPr/>
          </p:nvSpPr>
          <p:spPr bwMode="auto">
            <a:xfrm>
              <a:off x="11668" y="1423"/>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 04H</a:t>
              </a:r>
            </a:p>
          </p:txBody>
        </p:sp>
        <p:sp>
          <p:nvSpPr>
            <p:cNvPr id="44078" name="Text Box 19"/>
            <p:cNvSpPr txBox="1">
              <a:spLocks noChangeArrowheads="1"/>
            </p:cNvSpPr>
            <p:nvPr/>
          </p:nvSpPr>
          <p:spPr bwMode="auto">
            <a:xfrm>
              <a:off x="11668" y="2139"/>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 ?</a:t>
              </a:r>
            </a:p>
          </p:txBody>
        </p:sp>
        <p:sp>
          <p:nvSpPr>
            <p:cNvPr id="44041" name="Text Box 48"/>
            <p:cNvSpPr txBox="1">
              <a:spLocks noChangeArrowheads="1"/>
            </p:cNvSpPr>
            <p:nvPr/>
          </p:nvSpPr>
          <p:spPr bwMode="auto">
            <a:xfrm>
              <a:off x="8901" y="804"/>
              <a:ext cx="2633"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DATA_BYTE </a:t>
              </a:r>
              <a:r>
                <a:rPr lang="en-US" altLang="zh-CN" sz="1600" u="none">
                  <a:solidFill>
                    <a:srgbClr val="FF3300"/>
                  </a:solidFill>
                  <a:latin typeface="Lucida Console" panose="020B0609040504020204" pitchFamily="49" charset="0"/>
                  <a:sym typeface="Symbol" panose="05050102010706020507" pitchFamily="18" charset="2"/>
                </a:rPr>
                <a:t></a:t>
              </a:r>
              <a:endParaRPr lang="en-US" altLang="zh-CN" sz="1600" u="none">
                <a:solidFill>
                  <a:srgbClr val="FF3300"/>
                </a:solidFill>
                <a:latin typeface="Lucida Console" panose="020B0609040504020204" pitchFamily="49" charset="0"/>
              </a:endParaRPr>
            </a:p>
          </p:txBody>
        </p:sp>
      </p:grpSp>
      <p:sp>
        <p:nvSpPr>
          <p:cNvPr id="44083" name="Rectangle 7"/>
          <p:cNvSpPr>
            <a:spLocks noChangeArrowheads="1"/>
          </p:cNvSpPr>
          <p:nvPr/>
        </p:nvSpPr>
        <p:spPr bwMode="auto">
          <a:xfrm>
            <a:off x="7409180" y="5434330"/>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71" name="Rectangle 27"/>
          <p:cNvSpPr>
            <a:spLocks noChangeArrowheads="1"/>
          </p:cNvSpPr>
          <p:nvPr/>
        </p:nvSpPr>
        <p:spPr bwMode="auto">
          <a:xfrm>
            <a:off x="7409180" y="271716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69" name="Rectangle 30"/>
          <p:cNvSpPr>
            <a:spLocks noChangeArrowheads="1"/>
          </p:cNvSpPr>
          <p:nvPr/>
        </p:nvSpPr>
        <p:spPr bwMode="auto">
          <a:xfrm>
            <a:off x="7409180" y="3169920"/>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67" name="Rectangle 33"/>
          <p:cNvSpPr>
            <a:spLocks noChangeArrowheads="1"/>
          </p:cNvSpPr>
          <p:nvPr/>
        </p:nvSpPr>
        <p:spPr bwMode="auto">
          <a:xfrm>
            <a:off x="7409180" y="3623310"/>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65" name="Rectangle 36"/>
          <p:cNvSpPr>
            <a:spLocks noChangeArrowheads="1"/>
          </p:cNvSpPr>
          <p:nvPr/>
        </p:nvSpPr>
        <p:spPr bwMode="auto">
          <a:xfrm>
            <a:off x="7409180" y="407606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54" name="Rectangle 39"/>
          <p:cNvSpPr>
            <a:spLocks noChangeArrowheads="1"/>
          </p:cNvSpPr>
          <p:nvPr/>
        </p:nvSpPr>
        <p:spPr bwMode="auto">
          <a:xfrm>
            <a:off x="7409180" y="4528820"/>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4052" name="Rectangle 42"/>
          <p:cNvSpPr>
            <a:spLocks noChangeArrowheads="1"/>
          </p:cNvSpPr>
          <p:nvPr/>
        </p:nvSpPr>
        <p:spPr bwMode="auto">
          <a:xfrm>
            <a:off x="7409180" y="4981575"/>
            <a:ext cx="1166495" cy="452755"/>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grpSp>
        <p:nvGrpSpPr>
          <p:cNvPr id="6" name="组合 5"/>
          <p:cNvGrpSpPr/>
          <p:nvPr/>
        </p:nvGrpSpPr>
        <p:grpSpPr>
          <a:xfrm>
            <a:off x="5796280" y="2703195"/>
            <a:ext cx="2778760" cy="3605530"/>
            <a:chOff x="9128" y="4257"/>
            <a:chExt cx="4376" cy="5678"/>
          </a:xfrm>
        </p:grpSpPr>
        <p:sp>
          <p:nvSpPr>
            <p:cNvPr id="44084" name="Text Box 8"/>
            <p:cNvSpPr txBox="1">
              <a:spLocks noChangeArrowheads="1"/>
            </p:cNvSpPr>
            <p:nvPr/>
          </p:nvSpPr>
          <p:spPr bwMode="auto">
            <a:xfrm>
              <a:off x="11668" y="9405"/>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 -</a:t>
              </a:r>
            </a:p>
          </p:txBody>
        </p:sp>
        <p:sp>
          <p:nvSpPr>
            <p:cNvPr id="44074" name="Text Box 25"/>
            <p:cNvSpPr txBox="1">
              <a:spLocks noChangeArrowheads="1"/>
            </p:cNvSpPr>
            <p:nvPr/>
          </p:nvSpPr>
          <p:spPr bwMode="auto">
            <a:xfrm>
              <a:off x="11668" y="4346"/>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64H</a:t>
              </a:r>
            </a:p>
          </p:txBody>
        </p:sp>
        <p:sp>
          <p:nvSpPr>
            <p:cNvPr id="44072" name="Text Box 28"/>
            <p:cNvSpPr txBox="1">
              <a:spLocks noChangeArrowheads="1"/>
            </p:cNvSpPr>
            <p:nvPr/>
          </p:nvSpPr>
          <p:spPr bwMode="auto">
            <a:xfrm>
              <a:off x="11668" y="5126"/>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00H</a:t>
              </a:r>
            </a:p>
          </p:txBody>
        </p:sp>
        <p:sp>
          <p:nvSpPr>
            <p:cNvPr id="44070" name="Text Box 31"/>
            <p:cNvSpPr txBox="1">
              <a:spLocks noChangeArrowheads="1"/>
            </p:cNvSpPr>
            <p:nvPr/>
          </p:nvSpPr>
          <p:spPr bwMode="auto">
            <a:xfrm>
              <a:off x="11668" y="5843"/>
              <a:ext cx="1837"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00H</a:t>
              </a:r>
            </a:p>
          </p:txBody>
        </p:sp>
        <p:sp>
          <p:nvSpPr>
            <p:cNvPr id="44068" name="Text Box 34"/>
            <p:cNvSpPr txBox="1">
              <a:spLocks noChangeArrowheads="1"/>
            </p:cNvSpPr>
            <p:nvPr/>
          </p:nvSpPr>
          <p:spPr bwMode="auto">
            <a:xfrm>
              <a:off x="11668" y="6553"/>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01H</a:t>
              </a:r>
            </a:p>
          </p:txBody>
        </p:sp>
        <p:sp>
          <p:nvSpPr>
            <p:cNvPr id="44066" name="Text Box 37"/>
            <p:cNvSpPr txBox="1">
              <a:spLocks noChangeArrowheads="1"/>
            </p:cNvSpPr>
            <p:nvPr/>
          </p:nvSpPr>
          <p:spPr bwMode="auto">
            <a:xfrm>
              <a:off x="11668" y="7266"/>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FBH</a:t>
              </a:r>
            </a:p>
          </p:txBody>
        </p:sp>
        <p:sp>
          <p:nvSpPr>
            <p:cNvPr id="44055" name="Text Box 40"/>
            <p:cNvSpPr txBox="1">
              <a:spLocks noChangeArrowheads="1"/>
            </p:cNvSpPr>
            <p:nvPr/>
          </p:nvSpPr>
          <p:spPr bwMode="auto">
            <a:xfrm>
              <a:off x="11668" y="7983"/>
              <a:ext cx="1837" cy="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FFH</a:t>
              </a:r>
            </a:p>
          </p:txBody>
        </p:sp>
        <p:sp>
          <p:nvSpPr>
            <p:cNvPr id="44053" name="Text Box 43"/>
            <p:cNvSpPr txBox="1">
              <a:spLocks noChangeArrowheads="1"/>
            </p:cNvSpPr>
            <p:nvPr/>
          </p:nvSpPr>
          <p:spPr bwMode="auto">
            <a:xfrm>
              <a:off x="11668" y="8692"/>
              <a:ext cx="1837"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FF3300"/>
                  </a:solidFill>
                  <a:latin typeface="Lucida Console" panose="020B0609040504020204" pitchFamily="49" charset="0"/>
                </a:rPr>
                <a:t>  </a:t>
              </a:r>
              <a:r>
                <a:rPr lang="en-US" altLang="zh-CN" sz="1600" u="none">
                  <a:solidFill>
                    <a:srgbClr val="FF3300"/>
                  </a:solidFill>
                  <a:latin typeface="Lucida Console" panose="020B0609040504020204" pitchFamily="49" charset="0"/>
                </a:rPr>
                <a:t>-</a:t>
              </a:r>
            </a:p>
          </p:txBody>
        </p:sp>
        <p:sp>
          <p:nvSpPr>
            <p:cNvPr id="44042" name="Text Box 49"/>
            <p:cNvSpPr txBox="1">
              <a:spLocks noChangeArrowheads="1"/>
            </p:cNvSpPr>
            <p:nvPr/>
          </p:nvSpPr>
          <p:spPr bwMode="auto">
            <a:xfrm>
              <a:off x="9128" y="4257"/>
              <a:ext cx="2700"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FF3300"/>
                  </a:solidFill>
                  <a:latin typeface="Lucida Console" panose="020B0609040504020204" pitchFamily="49" charset="0"/>
                </a:rPr>
                <a:t>DATA_WORD </a:t>
              </a:r>
              <a:r>
                <a:rPr lang="en-US" altLang="zh-CN" sz="1600" u="none">
                  <a:solidFill>
                    <a:srgbClr val="FF3300"/>
                  </a:solidFill>
                  <a:latin typeface="Lucida Console" panose="020B0609040504020204" pitchFamily="49" charset="0"/>
                  <a:sym typeface="Symbol" panose="05050102010706020507" pitchFamily="18" charset="2"/>
                </a:rPr>
                <a:t></a:t>
              </a:r>
              <a:endParaRPr lang="en-US" altLang="zh-CN" sz="1600" u="none">
                <a:solidFill>
                  <a:srgbClr val="FF3300"/>
                </a:solidFill>
                <a:latin typeface="Lucida Console" panose="020B0609040504020204" pitchFamily="49" charset="0"/>
              </a:endParaRPr>
            </a:p>
          </p:txBody>
        </p:sp>
      </p:grpSp>
      <p:sp>
        <p:nvSpPr>
          <p:cNvPr id="117810" name="Text Box 50"/>
          <p:cNvSpPr txBox="1">
            <a:spLocks noChangeArrowheads="1"/>
          </p:cNvSpPr>
          <p:nvPr/>
        </p:nvSpPr>
        <p:spPr bwMode="auto">
          <a:xfrm>
            <a:off x="522288" y="3573463"/>
            <a:ext cx="544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u="none">
                <a:solidFill>
                  <a:srgbClr val="0000FF"/>
                </a:solidFill>
              </a:rPr>
              <a:t>MOV AX,WORD PTR DATA_BYTE+1</a:t>
            </a:r>
          </a:p>
        </p:txBody>
      </p:sp>
      <p:sp>
        <p:nvSpPr>
          <p:cNvPr id="117811" name="Text Box 51"/>
          <p:cNvSpPr txBox="1">
            <a:spLocks noChangeArrowheads="1"/>
          </p:cNvSpPr>
          <p:nvPr/>
        </p:nvSpPr>
        <p:spPr bwMode="auto">
          <a:xfrm>
            <a:off x="539750" y="4283075"/>
            <a:ext cx="542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en-US" altLang="zh-CN" u="none">
                <a:solidFill>
                  <a:srgbClr val="0000FF"/>
                </a:solidFill>
              </a:rPr>
              <a:t>MOV AL,BYTE PTR DATA_WORD+3</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77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2"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776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776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776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78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78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3" grpId="0" uiExpand="1" build="p"/>
      <p:bldP spid="117810" grpId="0"/>
      <p:bldP spid="1178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Text Box 3"/>
          <p:cNvSpPr txBox="1">
            <a:spLocks noGrp="1" noChangeArrowheads="1"/>
          </p:cNvSpPr>
          <p:nvPr>
            <p:ph type="title"/>
          </p:nvPr>
        </p:nvSpPr>
        <p:spPr>
          <a:xfrm>
            <a:off x="685800" y="163286"/>
            <a:ext cx="7772400" cy="1143000"/>
          </a:xfrm>
        </p:spPr>
        <p:txBody>
          <a:bodyPr/>
          <a:lstStyle/>
          <a:p>
            <a:pPr algn="l" eaLnBrk="1" hangingPunct="1">
              <a:defRPr/>
            </a:pPr>
            <a:r>
              <a:rPr lang="zh-CN" altLang="en-US" sz="2800">
                <a:solidFill>
                  <a:schemeClr val="hlink"/>
                </a:solidFill>
                <a:latin typeface="黑体" panose="02010609060101010101" pitchFamily="2" charset="-122"/>
                <a:ea typeface="黑体" panose="02010609060101010101" pitchFamily="2" charset="-122"/>
              </a:rPr>
              <a:t>举例：</a:t>
            </a:r>
            <a:br>
              <a:rPr lang="zh-CN" altLang="en-US" sz="2800">
                <a:solidFill>
                  <a:schemeClr val="hlink"/>
                </a:solidFill>
                <a:latin typeface="黑体" panose="02010609060101010101" pitchFamily="2" charset="-122"/>
                <a:ea typeface="黑体" panose="02010609060101010101" pitchFamily="2" charset="-122"/>
              </a:rPr>
            </a:br>
            <a:r>
              <a:rPr lang="zh-CN" altLang="en-US" sz="2800">
                <a:solidFill>
                  <a:schemeClr val="hlink"/>
                </a:solidFill>
                <a:latin typeface="黑体" panose="02010609060101010101" pitchFamily="2" charset="-122"/>
                <a:ea typeface="黑体" panose="02010609060101010101" pitchFamily="2" charset="-122"/>
              </a:rPr>
              <a:t> </a:t>
            </a:r>
            <a:r>
              <a:rPr lang="en-US" altLang="zh-CN" sz="2800" b="0">
                <a:solidFill>
                  <a:schemeClr val="hlink"/>
                </a:solidFill>
                <a:latin typeface="黑体" panose="02010609060101010101" pitchFamily="2" charset="-122"/>
                <a:ea typeface="黑体" panose="02010609060101010101" pitchFamily="2" charset="-122"/>
              </a:rPr>
              <a:t>ARRAY  DW  1, 2 , $+4 , 3 , 4 , $+4</a:t>
            </a:r>
          </a:p>
        </p:txBody>
      </p:sp>
      <p:grpSp>
        <p:nvGrpSpPr>
          <p:cNvPr id="45060" name="Group 4"/>
          <p:cNvGrpSpPr/>
          <p:nvPr/>
        </p:nvGrpSpPr>
        <p:grpSpPr bwMode="auto">
          <a:xfrm>
            <a:off x="2133600" y="1752600"/>
            <a:ext cx="4419600" cy="4876800"/>
            <a:chOff x="3456" y="1632"/>
            <a:chExt cx="1968" cy="2496"/>
          </a:xfrm>
        </p:grpSpPr>
        <p:grpSp>
          <p:nvGrpSpPr>
            <p:cNvPr id="45061" name="Group 5"/>
            <p:cNvGrpSpPr/>
            <p:nvPr/>
          </p:nvGrpSpPr>
          <p:grpSpPr bwMode="auto">
            <a:xfrm>
              <a:off x="3456" y="1632"/>
              <a:ext cx="1440" cy="2496"/>
              <a:chOff x="3552" y="1440"/>
              <a:chExt cx="1440" cy="2736"/>
            </a:xfrm>
          </p:grpSpPr>
          <p:grpSp>
            <p:nvGrpSpPr>
              <p:cNvPr id="45065" name="Group 6"/>
              <p:cNvGrpSpPr/>
              <p:nvPr/>
            </p:nvGrpSpPr>
            <p:grpSpPr bwMode="auto">
              <a:xfrm>
                <a:off x="4512" y="1440"/>
                <a:ext cx="480" cy="2736"/>
                <a:chOff x="4512" y="1440"/>
                <a:chExt cx="480" cy="2736"/>
              </a:xfrm>
            </p:grpSpPr>
            <p:grpSp>
              <p:nvGrpSpPr>
                <p:cNvPr id="45068" name="Group 7"/>
                <p:cNvGrpSpPr/>
                <p:nvPr/>
              </p:nvGrpSpPr>
              <p:grpSpPr bwMode="auto">
                <a:xfrm>
                  <a:off x="4512" y="3744"/>
                  <a:ext cx="480" cy="192"/>
                  <a:chOff x="4176" y="2352"/>
                  <a:chExt cx="480" cy="192"/>
                </a:xfrm>
              </p:grpSpPr>
              <p:sp>
                <p:nvSpPr>
                  <p:cNvPr id="45108" name="Rectangle 8"/>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9" name="Text Box 9"/>
                  <p:cNvSpPr txBox="1">
                    <a:spLocks noChangeArrowheads="1"/>
                  </p:cNvSpPr>
                  <p:nvPr/>
                </p:nvSpPr>
                <p:spPr bwMode="auto">
                  <a:xfrm>
                    <a:off x="4176" y="2352"/>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00H</a:t>
                    </a:r>
                  </a:p>
                </p:txBody>
              </p:sp>
            </p:grpSp>
            <p:grpSp>
              <p:nvGrpSpPr>
                <p:cNvPr id="45069" name="Group 10"/>
                <p:cNvGrpSpPr/>
                <p:nvPr/>
              </p:nvGrpSpPr>
              <p:grpSpPr bwMode="auto">
                <a:xfrm>
                  <a:off x="4512" y="1632"/>
                  <a:ext cx="480" cy="2112"/>
                  <a:chOff x="4176" y="1920"/>
                  <a:chExt cx="480" cy="2112"/>
                </a:xfrm>
              </p:grpSpPr>
              <p:grpSp>
                <p:nvGrpSpPr>
                  <p:cNvPr id="45074" name="Group 11"/>
                  <p:cNvGrpSpPr/>
                  <p:nvPr/>
                </p:nvGrpSpPr>
                <p:grpSpPr bwMode="auto">
                  <a:xfrm>
                    <a:off x="4176" y="1920"/>
                    <a:ext cx="480" cy="1728"/>
                    <a:chOff x="4176" y="2352"/>
                    <a:chExt cx="480" cy="1728"/>
                  </a:xfrm>
                </p:grpSpPr>
                <p:grpSp>
                  <p:nvGrpSpPr>
                    <p:cNvPr id="45081" name="Group 12"/>
                    <p:cNvGrpSpPr/>
                    <p:nvPr/>
                  </p:nvGrpSpPr>
                  <p:grpSpPr bwMode="auto">
                    <a:xfrm>
                      <a:off x="4176" y="2352"/>
                      <a:ext cx="480" cy="192"/>
                      <a:chOff x="4176" y="2352"/>
                      <a:chExt cx="480" cy="192"/>
                    </a:xfrm>
                  </p:grpSpPr>
                  <p:sp>
                    <p:nvSpPr>
                      <p:cNvPr id="45106" name="Rectangle 13"/>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7" name="Text Box 14"/>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01H</a:t>
                        </a:r>
                      </a:p>
                    </p:txBody>
                  </p:sp>
                </p:grpSp>
                <p:grpSp>
                  <p:nvGrpSpPr>
                    <p:cNvPr id="45082" name="Group 15"/>
                    <p:cNvGrpSpPr/>
                    <p:nvPr/>
                  </p:nvGrpSpPr>
                  <p:grpSpPr bwMode="auto">
                    <a:xfrm>
                      <a:off x="4176" y="2544"/>
                      <a:ext cx="480" cy="192"/>
                      <a:chOff x="4176" y="2352"/>
                      <a:chExt cx="480" cy="192"/>
                    </a:xfrm>
                  </p:grpSpPr>
                  <p:sp>
                    <p:nvSpPr>
                      <p:cNvPr id="45104" name="Rectangle 16"/>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5" name="Text Box 17"/>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83" name="Group 18"/>
                    <p:cNvGrpSpPr/>
                    <p:nvPr/>
                  </p:nvGrpSpPr>
                  <p:grpSpPr bwMode="auto">
                    <a:xfrm>
                      <a:off x="4176" y="2735"/>
                      <a:ext cx="480" cy="193"/>
                      <a:chOff x="4176" y="2351"/>
                      <a:chExt cx="480" cy="193"/>
                    </a:xfrm>
                  </p:grpSpPr>
                  <p:sp>
                    <p:nvSpPr>
                      <p:cNvPr id="45102" name="Rectangle 19"/>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3" name="Text Box 20"/>
                      <p:cNvSpPr txBox="1">
                        <a:spLocks noChangeArrowheads="1"/>
                      </p:cNvSpPr>
                      <p:nvPr/>
                    </p:nvSpPr>
                    <p:spPr bwMode="auto">
                      <a:xfrm>
                        <a:off x="4176" y="2351"/>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02H</a:t>
                        </a:r>
                      </a:p>
                    </p:txBody>
                  </p:sp>
                </p:grpSp>
                <p:grpSp>
                  <p:nvGrpSpPr>
                    <p:cNvPr id="45084" name="Group 21"/>
                    <p:cNvGrpSpPr/>
                    <p:nvPr/>
                  </p:nvGrpSpPr>
                  <p:grpSpPr bwMode="auto">
                    <a:xfrm>
                      <a:off x="4176" y="2928"/>
                      <a:ext cx="480" cy="192"/>
                      <a:chOff x="4176" y="2352"/>
                      <a:chExt cx="480" cy="192"/>
                    </a:xfrm>
                  </p:grpSpPr>
                  <p:sp>
                    <p:nvSpPr>
                      <p:cNvPr id="45100" name="Rectangle 22"/>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101" name="Text Box 23"/>
                      <p:cNvSpPr txBox="1">
                        <a:spLocks noChangeArrowheads="1"/>
                      </p:cNvSpPr>
                      <p:nvPr/>
                    </p:nvSpPr>
                    <p:spPr bwMode="auto">
                      <a:xfrm>
                        <a:off x="4176" y="2352"/>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85" name="Group 24"/>
                    <p:cNvGrpSpPr/>
                    <p:nvPr/>
                  </p:nvGrpSpPr>
                  <p:grpSpPr bwMode="auto">
                    <a:xfrm>
                      <a:off x="4176" y="3120"/>
                      <a:ext cx="480" cy="192"/>
                      <a:chOff x="4176" y="2352"/>
                      <a:chExt cx="480" cy="192"/>
                    </a:xfrm>
                  </p:grpSpPr>
                  <p:sp>
                    <p:nvSpPr>
                      <p:cNvPr id="45098" name="Rectangle 25"/>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9" name="Text Box 26"/>
                      <p:cNvSpPr txBox="1">
                        <a:spLocks noChangeArrowheads="1"/>
                      </p:cNvSpPr>
                      <p:nvPr/>
                    </p:nvSpPr>
                    <p:spPr bwMode="auto">
                      <a:xfrm>
                        <a:off x="4176" y="2352"/>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7CH</a:t>
                        </a:r>
                      </a:p>
                    </p:txBody>
                  </p:sp>
                </p:grpSp>
                <p:grpSp>
                  <p:nvGrpSpPr>
                    <p:cNvPr id="45086" name="Group 27"/>
                    <p:cNvGrpSpPr/>
                    <p:nvPr/>
                  </p:nvGrpSpPr>
                  <p:grpSpPr bwMode="auto">
                    <a:xfrm>
                      <a:off x="4176" y="3312"/>
                      <a:ext cx="480" cy="192"/>
                      <a:chOff x="4176" y="2352"/>
                      <a:chExt cx="480" cy="192"/>
                    </a:xfrm>
                  </p:grpSpPr>
                  <p:sp>
                    <p:nvSpPr>
                      <p:cNvPr id="45096" name="Rectangle 28"/>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7" name="Text Box 29"/>
                      <p:cNvSpPr txBox="1">
                        <a:spLocks noChangeArrowheads="1"/>
                      </p:cNvSpPr>
                      <p:nvPr/>
                    </p:nvSpPr>
                    <p:spPr bwMode="auto">
                      <a:xfrm>
                        <a:off x="4176" y="2352"/>
                        <a:ext cx="48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00H</a:t>
                        </a:r>
                      </a:p>
                    </p:txBody>
                  </p:sp>
                </p:grpSp>
                <p:grpSp>
                  <p:nvGrpSpPr>
                    <p:cNvPr id="45087" name="Group 30"/>
                    <p:cNvGrpSpPr/>
                    <p:nvPr/>
                  </p:nvGrpSpPr>
                  <p:grpSpPr bwMode="auto">
                    <a:xfrm>
                      <a:off x="4176" y="3504"/>
                      <a:ext cx="480" cy="192"/>
                      <a:chOff x="4176" y="2352"/>
                      <a:chExt cx="480" cy="192"/>
                    </a:xfrm>
                  </p:grpSpPr>
                  <p:sp>
                    <p:nvSpPr>
                      <p:cNvPr id="45094" name="Rectangle 31"/>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5" name="Text Box 32"/>
                      <p:cNvSpPr txBox="1">
                        <a:spLocks noChangeArrowheads="1"/>
                      </p:cNvSpPr>
                      <p:nvPr/>
                    </p:nvSpPr>
                    <p:spPr bwMode="auto">
                      <a:xfrm>
                        <a:off x="4176" y="2352"/>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03H</a:t>
                        </a:r>
                      </a:p>
                    </p:txBody>
                  </p:sp>
                </p:grpSp>
                <p:grpSp>
                  <p:nvGrpSpPr>
                    <p:cNvPr id="45088" name="Group 33"/>
                    <p:cNvGrpSpPr/>
                    <p:nvPr/>
                  </p:nvGrpSpPr>
                  <p:grpSpPr bwMode="auto">
                    <a:xfrm>
                      <a:off x="4176" y="3696"/>
                      <a:ext cx="480" cy="192"/>
                      <a:chOff x="4176" y="2352"/>
                      <a:chExt cx="480" cy="192"/>
                    </a:xfrm>
                  </p:grpSpPr>
                  <p:sp>
                    <p:nvSpPr>
                      <p:cNvPr id="45092" name="Rectangle 34"/>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3" name="Text Box 35"/>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89" name="Group 36"/>
                    <p:cNvGrpSpPr/>
                    <p:nvPr/>
                  </p:nvGrpSpPr>
                  <p:grpSpPr bwMode="auto">
                    <a:xfrm>
                      <a:off x="4176" y="3888"/>
                      <a:ext cx="480" cy="192"/>
                      <a:chOff x="4176" y="2352"/>
                      <a:chExt cx="480" cy="192"/>
                    </a:xfrm>
                  </p:grpSpPr>
                  <p:sp>
                    <p:nvSpPr>
                      <p:cNvPr id="45090" name="Rectangle 37"/>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91" name="Text Box 38"/>
                      <p:cNvSpPr txBox="1">
                        <a:spLocks noChangeArrowheads="1"/>
                      </p:cNvSpPr>
                      <p:nvPr/>
                    </p:nvSpPr>
                    <p:spPr bwMode="auto">
                      <a:xfrm>
                        <a:off x="4176" y="2353"/>
                        <a:ext cx="48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04H</a:t>
                        </a:r>
                      </a:p>
                    </p:txBody>
                  </p:sp>
                </p:grpSp>
              </p:grpSp>
              <p:grpSp>
                <p:nvGrpSpPr>
                  <p:cNvPr id="45075" name="Group 39"/>
                  <p:cNvGrpSpPr/>
                  <p:nvPr/>
                </p:nvGrpSpPr>
                <p:grpSpPr bwMode="auto">
                  <a:xfrm>
                    <a:off x="4176" y="3647"/>
                    <a:ext cx="480" cy="193"/>
                    <a:chOff x="4176" y="2351"/>
                    <a:chExt cx="480" cy="193"/>
                  </a:xfrm>
                </p:grpSpPr>
                <p:sp>
                  <p:nvSpPr>
                    <p:cNvPr id="45079" name="Rectangle 40"/>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80" name="Text Box 41"/>
                    <p:cNvSpPr txBox="1">
                      <a:spLocks noChangeArrowheads="1"/>
                    </p:cNvSpPr>
                    <p:nvPr/>
                  </p:nvSpPr>
                  <p:spPr bwMode="auto">
                    <a:xfrm>
                      <a:off x="4176" y="2351"/>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00H</a:t>
                      </a:r>
                    </a:p>
                  </p:txBody>
                </p:sp>
              </p:grpSp>
              <p:grpSp>
                <p:nvGrpSpPr>
                  <p:cNvPr id="45076" name="Group 42"/>
                  <p:cNvGrpSpPr/>
                  <p:nvPr/>
                </p:nvGrpSpPr>
                <p:grpSpPr bwMode="auto">
                  <a:xfrm>
                    <a:off x="4176" y="3839"/>
                    <a:ext cx="480" cy="193"/>
                    <a:chOff x="4176" y="2351"/>
                    <a:chExt cx="480" cy="193"/>
                  </a:xfrm>
                </p:grpSpPr>
                <p:sp>
                  <p:nvSpPr>
                    <p:cNvPr id="45077" name="Rectangle 43"/>
                    <p:cNvSpPr>
                      <a:spLocks noChangeArrowheads="1"/>
                    </p:cNvSpPr>
                    <p:nvPr/>
                  </p:nvSpPr>
                  <p:spPr bwMode="auto">
                    <a:xfrm>
                      <a:off x="4176" y="2352"/>
                      <a:ext cx="480" cy="192"/>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b="0">
                        <a:solidFill>
                          <a:srgbClr val="000000"/>
                        </a:solidFill>
                      </a:endParaRPr>
                    </a:p>
                  </p:txBody>
                </p:sp>
                <p:sp>
                  <p:nvSpPr>
                    <p:cNvPr id="45078" name="Text Box 44"/>
                    <p:cNvSpPr txBox="1">
                      <a:spLocks noChangeArrowheads="1"/>
                    </p:cNvSpPr>
                    <p:nvPr/>
                  </p:nvSpPr>
                  <p:spPr bwMode="auto">
                    <a:xfrm>
                      <a:off x="4176" y="2351"/>
                      <a:ext cx="480"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t>
                      </a:r>
                      <a:r>
                        <a:rPr lang="en-US" altLang="zh-CN" sz="1600" u="none">
                          <a:solidFill>
                            <a:srgbClr val="000000"/>
                          </a:solidFill>
                          <a:latin typeface="Lucida Console" panose="020B0609040504020204" pitchFamily="49" charset="0"/>
                        </a:rPr>
                        <a:t>82H</a:t>
                      </a:r>
                    </a:p>
                  </p:txBody>
                </p:sp>
              </p:grpSp>
            </p:grpSp>
            <p:sp>
              <p:nvSpPr>
                <p:cNvPr id="45070" name="Line 45"/>
                <p:cNvSpPr>
                  <a:spLocks noChangeShapeType="1"/>
                </p:cNvSpPr>
                <p:nvPr/>
              </p:nvSpPr>
              <p:spPr bwMode="auto">
                <a:xfrm>
                  <a:off x="4992"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5071" name="Line 46"/>
                <p:cNvSpPr>
                  <a:spLocks noChangeShapeType="1"/>
                </p:cNvSpPr>
                <p:nvPr/>
              </p:nvSpPr>
              <p:spPr bwMode="auto">
                <a:xfrm>
                  <a:off x="4512" y="1440"/>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5072" name="Line 47"/>
                <p:cNvSpPr>
                  <a:spLocks noChangeShapeType="1"/>
                </p:cNvSpPr>
                <p:nvPr/>
              </p:nvSpPr>
              <p:spPr bwMode="auto">
                <a:xfrm>
                  <a:off x="4992" y="39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45073" name="Line 48"/>
                <p:cNvSpPr>
                  <a:spLocks noChangeShapeType="1"/>
                </p:cNvSpPr>
                <p:nvPr/>
              </p:nvSpPr>
              <p:spPr bwMode="auto">
                <a:xfrm>
                  <a:off x="4512" y="3936"/>
                  <a:ext cx="0" cy="24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45066" name="Text Box 49"/>
              <p:cNvSpPr txBox="1">
                <a:spLocks noChangeArrowheads="1"/>
              </p:cNvSpPr>
              <p:nvPr/>
            </p:nvSpPr>
            <p:spPr bwMode="auto">
              <a:xfrm>
                <a:off x="3552" y="1633"/>
                <a:ext cx="1056"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b="0" u="none">
                    <a:solidFill>
                      <a:srgbClr val="000000"/>
                    </a:solidFill>
                    <a:latin typeface="Lucida Console" panose="020B0609040504020204" pitchFamily="49" charset="0"/>
                  </a:rPr>
                  <a:t>    ARRAY </a:t>
                </a:r>
                <a:r>
                  <a:rPr lang="en-US" altLang="zh-CN" sz="1600" b="0" u="none">
                    <a:solidFill>
                      <a:srgbClr val="000000"/>
                    </a:solidFill>
                    <a:latin typeface="Lucida Console" panose="020B0609040504020204" pitchFamily="49" charset="0"/>
                    <a:sym typeface="Symbol" panose="05050102010706020507" pitchFamily="18" charset="2"/>
                  </a:rPr>
                  <a:t></a:t>
                </a:r>
                <a:endParaRPr lang="en-US" altLang="zh-CN" sz="1600" b="0" u="none">
                  <a:solidFill>
                    <a:srgbClr val="000000"/>
                  </a:solidFill>
                  <a:latin typeface="Lucida Console" panose="020B0609040504020204" pitchFamily="49" charset="0"/>
                </a:endParaRPr>
              </a:p>
            </p:txBody>
          </p:sp>
          <p:sp>
            <p:nvSpPr>
              <p:cNvPr id="45067" name="Text Box 50"/>
              <p:cNvSpPr txBox="1">
                <a:spLocks noChangeArrowheads="1"/>
              </p:cNvSpPr>
              <p:nvPr/>
            </p:nvSpPr>
            <p:spPr bwMode="auto">
              <a:xfrm>
                <a:off x="3552" y="2400"/>
                <a:ext cx="1056"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zh-CN" sz="1600" b="0" u="none">
                  <a:solidFill>
                    <a:srgbClr val="000000"/>
                  </a:solidFill>
                  <a:latin typeface="Lucida Console" panose="020B0609040504020204" pitchFamily="49" charset="0"/>
                </a:endParaRPr>
              </a:p>
            </p:txBody>
          </p:sp>
        </p:grpSp>
        <p:sp>
          <p:nvSpPr>
            <p:cNvPr id="45062" name="Text Box 51"/>
            <p:cNvSpPr txBox="1">
              <a:spLocks noChangeArrowheads="1"/>
            </p:cNvSpPr>
            <p:nvPr/>
          </p:nvSpPr>
          <p:spPr bwMode="auto">
            <a:xfrm>
              <a:off x="4896" y="3552"/>
              <a:ext cx="52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000000"/>
                  </a:solidFill>
                  <a:latin typeface="Lucida Console" panose="020B0609040504020204" pitchFamily="49" charset="0"/>
                </a:rPr>
                <a:t>007E</a:t>
              </a:r>
            </a:p>
          </p:txBody>
        </p:sp>
        <p:sp>
          <p:nvSpPr>
            <p:cNvPr id="45063" name="Text Box 52"/>
            <p:cNvSpPr txBox="1">
              <a:spLocks noChangeArrowheads="1"/>
            </p:cNvSpPr>
            <p:nvPr/>
          </p:nvSpPr>
          <p:spPr bwMode="auto">
            <a:xfrm>
              <a:off x="4896" y="2496"/>
              <a:ext cx="52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000000"/>
                  </a:solidFill>
                  <a:latin typeface="Lucida Console" panose="020B0609040504020204" pitchFamily="49" charset="0"/>
                </a:rPr>
                <a:t>0078</a:t>
              </a:r>
            </a:p>
          </p:txBody>
        </p:sp>
        <p:sp>
          <p:nvSpPr>
            <p:cNvPr id="45064" name="Text Box 53"/>
            <p:cNvSpPr txBox="1">
              <a:spLocks noChangeArrowheads="1"/>
            </p:cNvSpPr>
            <p:nvPr/>
          </p:nvSpPr>
          <p:spPr bwMode="auto">
            <a:xfrm>
              <a:off x="4896" y="1776"/>
              <a:ext cx="52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1600" u="none">
                  <a:solidFill>
                    <a:srgbClr val="000000"/>
                  </a:solidFill>
                  <a:latin typeface="Lucida Console" panose="020B0609040504020204" pitchFamily="49" charset="0"/>
                </a:rPr>
                <a:t>0074</a:t>
              </a:r>
            </a:p>
          </p:txBody>
        </p:sp>
      </p:grpSp>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27"/>
          <p:cNvSpPr>
            <a:spLocks noGrp="1"/>
          </p:cNvSpPr>
          <p:nvPr>
            <p:ph type="sldNum" sz="quarter" idx="12"/>
          </p:nvPr>
        </p:nvSpPr>
        <p:spPr/>
        <p:txBody>
          <a:bodyPr/>
          <a:lstStyle/>
          <a:p>
            <a:pPr>
              <a:defRPr/>
            </a:pPr>
            <a:fld id="{B45FBD5A-D272-4C38-AFA1-F665ECA15FBD}" type="slidenum">
              <a:rPr lang="en-US" altLang="zh-CN"/>
              <a:t>37</a:t>
            </a:fld>
            <a:endParaRPr lang="en-US" altLang="zh-CN"/>
          </a:p>
        </p:txBody>
      </p:sp>
      <p:graphicFrame>
        <p:nvGraphicFramePr>
          <p:cNvPr id="771127" name="Group 55"/>
          <p:cNvGraphicFramePr>
            <a:graphicFrameLocks noGrp="1"/>
          </p:cNvGraphicFramePr>
          <p:nvPr>
            <p:ph/>
          </p:nvPr>
        </p:nvGraphicFramePr>
        <p:xfrm>
          <a:off x="250825" y="1628775"/>
          <a:ext cx="8640763" cy="1737224"/>
        </p:xfrm>
        <a:graphic>
          <a:graphicData uri="http://schemas.openxmlformats.org/drawingml/2006/table">
            <a:tbl>
              <a:tblPr/>
              <a:tblGrid>
                <a:gridCol w="1295400">
                  <a:extLst>
                    <a:ext uri="{9D8B030D-6E8A-4147-A177-3AD203B41FA5}">
                      <a16:colId xmlns:a16="http://schemas.microsoft.com/office/drawing/2014/main" val="20000"/>
                    </a:ext>
                  </a:extLst>
                </a:gridCol>
                <a:gridCol w="960438">
                  <a:extLst>
                    <a:ext uri="{9D8B030D-6E8A-4147-A177-3AD203B41FA5}">
                      <a16:colId xmlns:a16="http://schemas.microsoft.com/office/drawing/2014/main" val="20001"/>
                    </a:ext>
                  </a:extLst>
                </a:gridCol>
                <a:gridCol w="3417887">
                  <a:extLst>
                    <a:ext uri="{9D8B030D-6E8A-4147-A177-3AD203B41FA5}">
                      <a16:colId xmlns:a16="http://schemas.microsoft.com/office/drawing/2014/main" val="20002"/>
                    </a:ext>
                  </a:extLst>
                </a:gridCol>
                <a:gridCol w="2967038">
                  <a:extLst>
                    <a:ext uri="{9D8B030D-6E8A-4147-A177-3AD203B41FA5}">
                      <a16:colId xmlns:a16="http://schemas.microsoft.com/office/drawing/2014/main" val="20003"/>
                    </a:ext>
                  </a:extLst>
                </a:gridCol>
              </a:tblGrid>
              <a:tr h="639846">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26">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符号定义伪操作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EQU</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EQU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给名字赋值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26">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同上，但允许重复赋值</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5626">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名字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LABEL </a:t>
                      </a: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表达式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定义变量或标号的类型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6108" name="Text Box 56"/>
          <p:cNvSpPr txBox="1">
            <a:spLocks noChangeArrowheads="1"/>
          </p:cNvSpPr>
          <p:nvPr/>
        </p:nvSpPr>
        <p:spPr bwMode="auto">
          <a:xfrm>
            <a:off x="395288" y="549275"/>
            <a:ext cx="4211637" cy="560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a:solidFill>
                  <a:srgbClr val="FF0000"/>
                </a:solidFill>
              </a:rPr>
              <a:t>2.3.3  </a:t>
            </a:r>
            <a:r>
              <a:rPr lang="zh-CN" altLang="en-US" sz="2800">
                <a:solidFill>
                  <a:srgbClr val="FF0000"/>
                </a:solidFill>
              </a:rPr>
              <a:t>符号定义伪操作</a:t>
            </a:r>
          </a:p>
        </p:txBody>
      </p:sp>
    </p:spTree>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9BBFE1C4-2671-4339-9CC7-2CA8A3343BC2}" type="slidenum">
              <a:rPr lang="en-US" altLang="zh-CN"/>
              <a:t>38</a:t>
            </a:fld>
            <a:endParaRPr lang="en-US" altLang="zh-CN"/>
          </a:p>
        </p:txBody>
      </p:sp>
      <p:sp>
        <p:nvSpPr>
          <p:cNvPr id="47107" name="Rectangle 3"/>
          <p:cNvSpPr>
            <a:spLocks noGrp="1" noRot="1" noChangeArrowheads="1"/>
          </p:cNvSpPr>
          <p:nvPr>
            <p:ph type="body" idx="4294967295"/>
          </p:nvPr>
        </p:nvSpPr>
        <p:spPr>
          <a:xfrm>
            <a:off x="395288" y="476250"/>
            <a:ext cx="8229600" cy="5832475"/>
          </a:xfrm>
        </p:spPr>
        <p:txBody>
          <a:bodyPr/>
          <a:lstStyle/>
          <a:p>
            <a:pPr marL="381000" indent="-381000">
              <a:lnSpc>
                <a:spcPct val="90000"/>
              </a:lnSpc>
            </a:pPr>
            <a:r>
              <a:rPr lang="en-US" altLang="zh-CN" sz="2800">
                <a:solidFill>
                  <a:srgbClr val="FF0000"/>
                </a:solidFill>
              </a:rPr>
              <a:t>1. EQU</a:t>
            </a:r>
            <a:r>
              <a:rPr lang="zh-CN" altLang="en-US" sz="2800">
                <a:solidFill>
                  <a:srgbClr val="FF0000"/>
                </a:solidFill>
              </a:rPr>
              <a:t>伪操作</a:t>
            </a:r>
          </a:p>
          <a:p>
            <a:pPr marL="381000" indent="-381000">
              <a:lnSpc>
                <a:spcPct val="90000"/>
              </a:lnSpc>
              <a:buFont typeface="Wingdings" panose="05000000000000000000" pitchFamily="2" charset="2"/>
              <a:buNone/>
            </a:pPr>
            <a:endParaRPr lang="zh-CN" altLang="en-US"/>
          </a:p>
          <a:p>
            <a:pPr marL="381000" indent="-381000">
              <a:lnSpc>
                <a:spcPct val="90000"/>
              </a:lnSpc>
              <a:buFont typeface="Wingdings" panose="05000000000000000000" pitchFamily="2" charset="2"/>
              <a:buNone/>
            </a:pPr>
            <a:r>
              <a:rPr lang="zh-CN" altLang="en-US"/>
              <a:t>     </a:t>
            </a:r>
            <a:r>
              <a:rPr lang="en-US" altLang="zh-CN"/>
              <a:t>EQU</a:t>
            </a:r>
            <a:r>
              <a:rPr lang="zh-CN" altLang="en-US"/>
              <a:t>伪操作就表达式的值赋予一个名字。在程序中，凡是出现该符号的地方，汇编时均用其值代替，如： </a:t>
            </a:r>
          </a:p>
          <a:p>
            <a:pPr marL="381000" indent="-381000">
              <a:lnSpc>
                <a:spcPct val="90000"/>
              </a:lnSpc>
            </a:pPr>
            <a:endParaRPr lang="zh-CN" altLang="en-US"/>
          </a:p>
          <a:p>
            <a:pPr marL="381000" indent="-381000">
              <a:lnSpc>
                <a:spcPct val="90000"/>
              </a:lnSpc>
              <a:buFont typeface="Wingdings" panose="05000000000000000000" pitchFamily="2" charset="2"/>
              <a:buNone/>
            </a:pPr>
            <a:r>
              <a:rPr lang="zh-CN" altLang="en-US"/>
              <a:t>	</a:t>
            </a:r>
            <a:r>
              <a:rPr lang="en-US" altLang="zh-CN"/>
              <a:t>CR  	EQU	  0DH	                        ;</a:t>
            </a:r>
            <a:r>
              <a:rPr lang="zh-CN" altLang="en-US"/>
              <a:t>常数</a:t>
            </a:r>
          </a:p>
          <a:p>
            <a:pPr marL="381000" indent="-381000">
              <a:lnSpc>
                <a:spcPct val="90000"/>
              </a:lnSpc>
              <a:buFont typeface="Wingdings" panose="05000000000000000000" pitchFamily="2" charset="2"/>
              <a:buNone/>
            </a:pPr>
            <a:r>
              <a:rPr lang="zh-CN" altLang="en-US"/>
              <a:t>	</a:t>
            </a:r>
            <a:r>
              <a:rPr lang="en-US" altLang="zh-CN"/>
              <a:t>LF	           EQU	  0AH	                        ;</a:t>
            </a:r>
            <a:r>
              <a:rPr lang="zh-CN" altLang="en-US"/>
              <a:t>常数</a:t>
            </a:r>
          </a:p>
          <a:p>
            <a:pPr marL="381000" indent="-381000">
              <a:lnSpc>
                <a:spcPct val="90000"/>
              </a:lnSpc>
              <a:buFont typeface="Wingdings" panose="05000000000000000000" pitchFamily="2" charset="2"/>
              <a:buNone/>
            </a:pPr>
            <a:r>
              <a:rPr lang="zh-CN" altLang="en-US"/>
              <a:t>	</a:t>
            </a:r>
            <a:r>
              <a:rPr lang="en-US" altLang="zh-CN"/>
              <a:t>ABL	EQU	  ASCII_TABLE         ;</a:t>
            </a:r>
            <a:r>
              <a:rPr lang="zh-CN" altLang="en-US"/>
              <a:t>变量</a:t>
            </a:r>
          </a:p>
          <a:p>
            <a:pPr marL="381000" indent="-381000">
              <a:lnSpc>
                <a:spcPct val="90000"/>
              </a:lnSpc>
              <a:buFont typeface="Wingdings" panose="05000000000000000000" pitchFamily="2" charset="2"/>
              <a:buNone/>
            </a:pPr>
            <a:r>
              <a:rPr lang="zh-CN" altLang="en-US"/>
              <a:t>	</a:t>
            </a:r>
            <a:r>
              <a:rPr lang="en-US" altLang="zh-CN"/>
              <a:t>STR	EQU	  64</a:t>
            </a:r>
            <a:r>
              <a:rPr lang="en-US" altLang="zh-CN">
                <a:latin typeface="宋体" panose="02010600030101010101" pitchFamily="2" charset="-122"/>
              </a:rPr>
              <a:t>*</a:t>
            </a:r>
            <a:r>
              <a:rPr lang="en-US" altLang="zh-CN"/>
              <a:t>1024	             ;</a:t>
            </a:r>
            <a:r>
              <a:rPr lang="zh-CN" altLang="en-US"/>
              <a:t>数值表达式 </a:t>
            </a:r>
          </a:p>
          <a:p>
            <a:pPr marL="381000" indent="-381000">
              <a:lnSpc>
                <a:spcPct val="90000"/>
              </a:lnSpc>
              <a:buFont typeface="Wingdings" panose="05000000000000000000" pitchFamily="2" charset="2"/>
              <a:buNone/>
            </a:pPr>
            <a:r>
              <a:rPr lang="zh-CN" altLang="en-US"/>
              <a:t>    </a:t>
            </a:r>
            <a:r>
              <a:rPr lang="en-US" altLang="zh-CN"/>
              <a:t>ADR	EQU	  ES:[BX+SI+5]          ;</a:t>
            </a:r>
            <a:r>
              <a:rPr lang="zh-CN" altLang="en-US"/>
              <a:t>地址表达式</a:t>
            </a:r>
          </a:p>
          <a:p>
            <a:pPr marL="381000" indent="-381000">
              <a:lnSpc>
                <a:spcPct val="90000"/>
              </a:lnSpc>
              <a:buFont typeface="Wingdings" panose="05000000000000000000" pitchFamily="2" charset="2"/>
              <a:buNone/>
            </a:pPr>
            <a:r>
              <a:rPr lang="zh-CN" altLang="en-US"/>
              <a:t>    </a:t>
            </a:r>
            <a:r>
              <a:rPr lang="en-US" altLang="zh-CN"/>
              <a:t>CBD	EQU	  AAM	                        ;</a:t>
            </a:r>
            <a:r>
              <a:rPr lang="zh-CN" altLang="en-US"/>
              <a:t>指令助记符</a:t>
            </a:r>
          </a:p>
          <a:p>
            <a:pPr marL="381000" indent="-381000">
              <a:lnSpc>
                <a:spcPct val="90000"/>
              </a:lnSpc>
              <a:buFont typeface="Wingdings" panose="05000000000000000000" pitchFamily="2" charset="2"/>
              <a:buNone/>
            </a:pPr>
            <a:endParaRPr lang="zh-CN" altLang="en-US"/>
          </a:p>
          <a:p>
            <a:pPr marL="381000" indent="-381000">
              <a:lnSpc>
                <a:spcPct val="90000"/>
              </a:lnSpc>
            </a:pPr>
            <a:r>
              <a:rPr lang="zh-CN" altLang="en-US"/>
              <a:t>需要注意的是，一个符号一经</a:t>
            </a:r>
            <a:r>
              <a:rPr lang="en-US" altLang="zh-CN"/>
              <a:t>EQU</a:t>
            </a:r>
            <a:r>
              <a:rPr lang="zh-CN" altLang="en-US"/>
              <a:t>伪操作赋值后，在整个程序中，</a:t>
            </a:r>
            <a:r>
              <a:rPr lang="zh-CN" altLang="en-US">
                <a:solidFill>
                  <a:srgbClr val="FF0000"/>
                </a:solidFill>
              </a:rPr>
              <a:t>不允许再对同一个符号重新定义</a:t>
            </a:r>
            <a:r>
              <a:rPr lang="zh-CN" altLang="en-US"/>
              <a:t>。 </a:t>
            </a:r>
          </a:p>
          <a:p>
            <a:pPr marL="381000" indent="-381000">
              <a:lnSpc>
                <a:spcPct val="90000"/>
              </a:lnSpc>
            </a:pPr>
            <a:endParaRPr lang="en-US" altLang="zh-CN"/>
          </a:p>
        </p:txBody>
      </p:sp>
      <p:sp>
        <p:nvSpPr>
          <p:cNvPr id="47108" name="Text Box 3"/>
          <p:cNvSpPr txBox="1">
            <a:spLocks noChangeArrowheads="1"/>
          </p:cNvSpPr>
          <p:nvPr/>
        </p:nvSpPr>
        <p:spPr bwMode="auto">
          <a:xfrm>
            <a:off x="3708400" y="620713"/>
            <a:ext cx="3365500" cy="558800"/>
          </a:xfrm>
          <a:prstGeom prst="rect">
            <a:avLst/>
          </a:prstGeom>
          <a:noFill/>
          <a:ln w="28575">
            <a:solidFill>
              <a:srgbClr val="3366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a:t>名字    </a:t>
            </a:r>
            <a:r>
              <a:rPr lang="en-US" altLang="zh-CN">
                <a:solidFill>
                  <a:srgbClr val="FF0000"/>
                </a:solidFill>
              </a:rPr>
              <a:t>EQU</a:t>
            </a:r>
            <a:r>
              <a:rPr lang="en-US" altLang="zh-CN"/>
              <a:t>    </a:t>
            </a:r>
            <a:r>
              <a:rPr lang="zh-CN" altLang="en-US"/>
              <a:t>表达式</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D7CA5BD-19A1-457E-8C62-6E56E4A3075E}" type="slidenum">
              <a:rPr lang="en-US" altLang="zh-CN"/>
              <a:t>39</a:t>
            </a:fld>
            <a:endParaRPr lang="en-US" altLang="zh-CN"/>
          </a:p>
        </p:txBody>
      </p:sp>
      <p:sp>
        <p:nvSpPr>
          <p:cNvPr id="48131" name="Rectangle 3"/>
          <p:cNvSpPr>
            <a:spLocks noGrp="1" noRot="1" noChangeArrowheads="1"/>
          </p:cNvSpPr>
          <p:nvPr>
            <p:ph type="body" idx="4294967295"/>
          </p:nvPr>
        </p:nvSpPr>
        <p:spPr>
          <a:xfrm>
            <a:off x="468313" y="620713"/>
            <a:ext cx="8229600" cy="4968875"/>
          </a:xfrm>
        </p:spPr>
        <p:txBody>
          <a:bodyPr/>
          <a:lstStyle/>
          <a:p>
            <a:pPr marL="381000" indent="-381000">
              <a:lnSpc>
                <a:spcPct val="90000"/>
              </a:lnSpc>
            </a:pPr>
            <a:r>
              <a:rPr lang="en-US" altLang="zh-CN" sz="2800">
                <a:solidFill>
                  <a:srgbClr val="FF0000"/>
                </a:solidFill>
              </a:rPr>
              <a:t>2. =</a:t>
            </a:r>
            <a:r>
              <a:rPr lang="zh-CN" altLang="en-US" sz="2800">
                <a:solidFill>
                  <a:srgbClr val="FF0000"/>
                </a:solidFill>
              </a:rPr>
              <a:t>（等号）伪操作</a:t>
            </a:r>
          </a:p>
          <a:p>
            <a:pPr marL="381000" indent="-381000">
              <a:lnSpc>
                <a:spcPct val="90000"/>
              </a:lnSpc>
              <a:buFont typeface="Wingdings" panose="05000000000000000000" pitchFamily="2" charset="2"/>
              <a:buNone/>
            </a:pPr>
            <a:endParaRPr lang="zh-CN" altLang="en-US" sz="2800"/>
          </a:p>
          <a:p>
            <a:pPr marL="381000" indent="-381000">
              <a:lnSpc>
                <a:spcPct val="90000"/>
              </a:lnSpc>
              <a:buFont typeface="Wingdings" panose="05000000000000000000" pitchFamily="2" charset="2"/>
              <a:buNone/>
            </a:pPr>
            <a:r>
              <a:rPr lang="zh-CN" altLang="en-US" sz="2800"/>
              <a:t>    “</a:t>
            </a:r>
            <a:r>
              <a:rPr lang="en-US" altLang="zh-CN" sz="2800"/>
              <a:t>=”</a:t>
            </a:r>
            <a:r>
              <a:rPr lang="zh-CN" altLang="en-US" sz="2800"/>
              <a:t>伪操作的功能与</a:t>
            </a:r>
            <a:r>
              <a:rPr lang="en-US" altLang="zh-CN" sz="2800"/>
              <a:t>EQU</a:t>
            </a:r>
            <a:r>
              <a:rPr lang="zh-CN" altLang="en-US" sz="2800"/>
              <a:t>相似，主要区别在于它可以对同一个名字重复定义，如： </a:t>
            </a:r>
          </a:p>
          <a:p>
            <a:pPr marL="381000" indent="-381000">
              <a:lnSpc>
                <a:spcPct val="90000"/>
              </a:lnSpc>
            </a:pPr>
            <a:endParaRPr lang="zh-CN" altLang="en-US" sz="2800"/>
          </a:p>
          <a:p>
            <a:pPr marL="381000" indent="-381000">
              <a:lnSpc>
                <a:spcPct val="90000"/>
              </a:lnSpc>
              <a:buFont typeface="Wingdings" panose="05000000000000000000" pitchFamily="2" charset="2"/>
              <a:buNone/>
            </a:pPr>
            <a:r>
              <a:rPr lang="zh-CN" altLang="en-US" sz="2800"/>
              <a:t>	</a:t>
            </a:r>
            <a:r>
              <a:rPr lang="en-US" altLang="zh-CN" sz="2800"/>
              <a:t>COUNT = 10</a:t>
            </a:r>
          </a:p>
          <a:p>
            <a:pPr marL="381000" indent="-381000">
              <a:lnSpc>
                <a:spcPct val="90000"/>
              </a:lnSpc>
              <a:buFont typeface="Wingdings" panose="05000000000000000000" pitchFamily="2" charset="2"/>
              <a:buNone/>
            </a:pPr>
            <a:r>
              <a:rPr lang="en-US" altLang="zh-CN" sz="2800"/>
              <a:t>	MOV         CX,COUNT	               ;CX</a:t>
            </a:r>
            <a:r>
              <a:rPr lang="en-US" altLang="zh-CN" sz="2800">
                <a:cs typeface="Arial" panose="020B0604020202020204" pitchFamily="34" charset="0"/>
              </a:rPr>
              <a:t>←10</a:t>
            </a:r>
          </a:p>
          <a:p>
            <a:pPr marL="381000" indent="-381000">
              <a:lnSpc>
                <a:spcPct val="90000"/>
              </a:lnSpc>
              <a:buFont typeface="Wingdings" panose="05000000000000000000" pitchFamily="2" charset="2"/>
              <a:buNone/>
            </a:pPr>
            <a:r>
              <a:rPr lang="en-US" altLang="zh-CN" sz="2800"/>
              <a:t>	...</a:t>
            </a:r>
          </a:p>
          <a:p>
            <a:pPr marL="381000" indent="-381000">
              <a:lnSpc>
                <a:spcPct val="90000"/>
              </a:lnSpc>
              <a:buFont typeface="Wingdings" panose="05000000000000000000" pitchFamily="2" charset="2"/>
              <a:buNone/>
            </a:pPr>
            <a:r>
              <a:rPr lang="en-US" altLang="zh-CN" sz="2800"/>
              <a:t>	COUNT=COUNT-1	</a:t>
            </a:r>
          </a:p>
          <a:p>
            <a:pPr marL="381000" indent="-381000">
              <a:lnSpc>
                <a:spcPct val="90000"/>
              </a:lnSpc>
              <a:buFont typeface="Wingdings" panose="05000000000000000000" pitchFamily="2" charset="2"/>
              <a:buNone/>
            </a:pPr>
            <a:r>
              <a:rPr lang="en-US" altLang="zh-CN" sz="2800"/>
              <a:t>    MOV         BX,COUNT                     ;BX</a:t>
            </a:r>
            <a:r>
              <a:rPr lang="en-US" altLang="zh-CN" sz="2800">
                <a:cs typeface="Arial" panose="020B0604020202020204" pitchFamily="34" charset="0"/>
              </a:rPr>
              <a:t>←9</a:t>
            </a:r>
          </a:p>
        </p:txBody>
      </p:sp>
      <p:sp>
        <p:nvSpPr>
          <p:cNvPr id="48132" name="Text Box 3"/>
          <p:cNvSpPr txBox="1">
            <a:spLocks noChangeArrowheads="1"/>
          </p:cNvSpPr>
          <p:nvPr/>
        </p:nvSpPr>
        <p:spPr bwMode="auto">
          <a:xfrm>
            <a:off x="4787900" y="549275"/>
            <a:ext cx="3365500" cy="558800"/>
          </a:xfrm>
          <a:prstGeom prst="rect">
            <a:avLst/>
          </a:prstGeom>
          <a:noFill/>
          <a:ln w="28575">
            <a:solidFill>
              <a:srgbClr val="3366FF"/>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zh-CN" altLang="en-US"/>
              <a:t>名字    </a:t>
            </a:r>
            <a:r>
              <a:rPr lang="en-US" altLang="zh-CN">
                <a:solidFill>
                  <a:srgbClr val="FF0000"/>
                </a:solidFill>
              </a:rPr>
              <a:t>= </a:t>
            </a:r>
            <a:r>
              <a:rPr lang="en-US" altLang="zh-CN"/>
              <a:t>   </a:t>
            </a:r>
            <a:r>
              <a:rPr lang="zh-CN" altLang="en-US"/>
              <a:t>表达式</a:t>
            </a: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24"/>
          <p:cNvSpPr>
            <a:spLocks noGrp="1"/>
          </p:cNvSpPr>
          <p:nvPr>
            <p:ph type="sldNum" sz="quarter" idx="12"/>
          </p:nvPr>
        </p:nvSpPr>
        <p:spPr/>
        <p:txBody>
          <a:bodyPr/>
          <a:lstStyle/>
          <a:p>
            <a:pPr>
              <a:defRPr/>
            </a:pPr>
            <a:fld id="{D5B3F1E8-9438-4DC2-978A-C9131AAA847E}" type="slidenum">
              <a:rPr lang="en-US" altLang="zh-CN"/>
              <a:t>40</a:t>
            </a:fld>
            <a:endParaRPr lang="en-US" altLang="zh-CN"/>
          </a:p>
        </p:txBody>
      </p:sp>
      <p:graphicFrame>
        <p:nvGraphicFramePr>
          <p:cNvPr id="772152" name="Group 56"/>
          <p:cNvGraphicFramePr>
            <a:graphicFrameLocks noGrp="1"/>
          </p:cNvGraphicFramePr>
          <p:nvPr>
            <p:ph/>
          </p:nvPr>
        </p:nvGraphicFramePr>
        <p:xfrm>
          <a:off x="323850" y="2420938"/>
          <a:ext cx="8640763" cy="1737224"/>
        </p:xfrm>
        <a:graphic>
          <a:graphicData uri="http://schemas.openxmlformats.org/drawingml/2006/table">
            <a:tbl>
              <a:tblPr/>
              <a:tblGrid>
                <a:gridCol w="1295400">
                  <a:extLst>
                    <a:ext uri="{9D8B030D-6E8A-4147-A177-3AD203B41FA5}">
                      <a16:colId xmlns:a16="http://schemas.microsoft.com/office/drawing/2014/main" val="20000"/>
                    </a:ext>
                  </a:extLst>
                </a:gridCol>
                <a:gridCol w="960438">
                  <a:extLst>
                    <a:ext uri="{9D8B030D-6E8A-4147-A177-3AD203B41FA5}">
                      <a16:colId xmlns:a16="http://schemas.microsoft.com/office/drawing/2014/main" val="20001"/>
                    </a:ext>
                  </a:extLst>
                </a:gridCol>
                <a:gridCol w="3417887">
                  <a:extLst>
                    <a:ext uri="{9D8B030D-6E8A-4147-A177-3AD203B41FA5}">
                      <a16:colId xmlns:a16="http://schemas.microsoft.com/office/drawing/2014/main" val="20002"/>
                    </a:ext>
                  </a:extLst>
                </a:gridCol>
                <a:gridCol w="2967038">
                  <a:extLst>
                    <a:ext uri="{9D8B030D-6E8A-4147-A177-3AD203B41FA5}">
                      <a16:colId xmlns:a16="http://schemas.microsoft.com/office/drawing/2014/main" val="20003"/>
                    </a:ext>
                  </a:extLst>
                </a:gridCol>
              </a:tblGrid>
              <a:tr h="639846">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类别</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伪操作名</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格式</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功能</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5626">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过程定义伪操作</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PROC</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PROC [NEAR/FAR]</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定义一个过程</a:t>
                      </a: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626">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2"/>
                  </a:ext>
                </a:extLst>
              </a:tr>
              <a:tr h="365626">
                <a:tc vMerge="1">
                  <a:txBody>
                    <a:bodyPr/>
                    <a:lstStyle/>
                    <a:p>
                      <a:endParaRPr lang="zh-CN"/>
                    </a:p>
                  </a:txBody>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en-US" altLang="zh-CN" sz="1800" b="1" i="0" u="none" strike="noStrike" cap="none" normalizeH="0" baseline="0">
                          <a:ln>
                            <a:noFill/>
                          </a:ln>
                          <a:solidFill>
                            <a:srgbClr val="FF0000"/>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rgbClr val="FF0000"/>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lgn="l">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lgn="l">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algn="l">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lgn="l">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algn="l">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ctr" latinLnBrk="0" hangingPunct="1">
                        <a:lnSpc>
                          <a:spcPct val="10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过程名 </a:t>
                      </a:r>
                      <a:r>
                        <a:rPr kumimoji="0" lang="en-US" altLang="zh-CN" sz="1800" b="1" i="0" u="none" strike="noStrike" cap="none" normalizeH="0" baseline="0">
                          <a:ln>
                            <a:noFill/>
                          </a:ln>
                          <a:solidFill>
                            <a:schemeClr val="tx1"/>
                          </a:solidFill>
                          <a:effectLst/>
                          <a:latin typeface="宋体" panose="02010600030101010101" pitchFamily="2" charset="-122"/>
                          <a:ea typeface="宋体" panose="02010600030101010101" pitchFamily="2" charset="-122"/>
                        </a:rPr>
                        <a:t>ENDP</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703" marB="45703"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p>
                  </a:txBody>
                  <a:tcPr/>
                </a:tc>
                <a:extLst>
                  <a:ext uri="{0D108BD9-81ED-4DB2-BD59-A6C34878D82A}">
                    <a16:rowId xmlns:a16="http://schemas.microsoft.com/office/drawing/2014/main" val="10003"/>
                  </a:ext>
                </a:extLst>
              </a:tr>
            </a:tbl>
          </a:graphicData>
        </a:graphic>
      </p:graphicFrame>
    </p:spTree>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7A2B59F5-352B-497C-97F6-94049B9046E0}" type="slidenum">
              <a:rPr lang="en-US" altLang="zh-CN"/>
              <a:t>41</a:t>
            </a:fld>
            <a:endParaRPr lang="en-US" altLang="zh-CN"/>
          </a:p>
        </p:txBody>
      </p:sp>
      <p:sp>
        <p:nvSpPr>
          <p:cNvPr id="670722" name="Text Box 2"/>
          <p:cNvSpPr txBox="1">
            <a:spLocks noChangeArrowheads="1"/>
          </p:cNvSpPr>
          <p:nvPr/>
        </p:nvSpPr>
        <p:spPr bwMode="auto">
          <a:xfrm>
            <a:off x="684213" y="1557338"/>
            <a:ext cx="8280400" cy="304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dirty="0">
                <a:effectLst>
                  <a:outerShdw blurRad="38100" dist="38100" dir="2700000" algn="tl">
                    <a:srgbClr val="C0C0C0"/>
                  </a:outerShdw>
                </a:effectLst>
              </a:rPr>
              <a:t>格式：  </a:t>
            </a:r>
            <a:r>
              <a:rPr lang="zh-CN" altLang="en-US" dirty="0">
                <a:solidFill>
                  <a:srgbClr val="FF0000"/>
                </a:solidFill>
                <a:effectLst>
                  <a:outerShdw blurRad="38100" dist="38100" dir="2700000" algn="tl">
                    <a:srgbClr val="C0C0C0"/>
                  </a:outerShdw>
                </a:effectLst>
              </a:rPr>
              <a:t>过程名      </a:t>
            </a:r>
            <a:r>
              <a:rPr lang="en-US" altLang="zh-CN" dirty="0">
                <a:solidFill>
                  <a:srgbClr val="FF0000"/>
                </a:solidFill>
                <a:effectLst>
                  <a:outerShdw blurRad="38100" dist="38100" dir="2700000" algn="tl">
                    <a:srgbClr val="C0C0C0"/>
                  </a:outerShdw>
                </a:effectLst>
              </a:rPr>
              <a:t>PROC</a:t>
            </a:r>
            <a:r>
              <a:rPr lang="en-US" altLang="zh-CN" dirty="0">
                <a:effectLst>
                  <a:outerShdw blurRad="38100" dist="38100" dir="2700000" algn="tl">
                    <a:srgbClr val="C0C0C0"/>
                  </a:outerShdw>
                </a:effectLst>
              </a:rPr>
              <a:t>   </a:t>
            </a:r>
            <a:r>
              <a:rPr lang="zh-CN" altLang="en-US" dirty="0">
                <a:effectLst>
                  <a:outerShdw blurRad="38100" dist="38100" dir="2700000" algn="tl">
                    <a:srgbClr val="C0C0C0"/>
                  </a:outerShdw>
                </a:effectLst>
              </a:rPr>
              <a:t>［</a:t>
            </a:r>
            <a:r>
              <a:rPr lang="en-US" altLang="zh-CN" dirty="0">
                <a:effectLst>
                  <a:outerShdw blurRad="38100" dist="38100" dir="2700000" algn="tl">
                    <a:srgbClr val="C0C0C0"/>
                  </a:outerShdw>
                </a:effectLst>
              </a:rPr>
              <a:t>NEAR / FAR</a:t>
            </a:r>
            <a:r>
              <a:rPr lang="zh-CN" altLang="en-US" dirty="0">
                <a:effectLst>
                  <a:outerShdw blurRad="38100" dist="38100" dir="2700000" algn="tl">
                    <a:srgbClr val="C0C0C0"/>
                  </a:outerShdw>
                </a:effectLst>
              </a:rPr>
              <a:t>］</a:t>
            </a:r>
          </a:p>
          <a:p>
            <a:pPr eaLnBrk="1" hangingPunct="1">
              <a:defRPr/>
            </a:pPr>
            <a:endParaRPr lang="zh-CN" altLang="en-US" dirty="0">
              <a:effectLst>
                <a:outerShdw blurRad="38100" dist="38100" dir="2700000" algn="tl">
                  <a:srgbClr val="C0C0C0"/>
                </a:outerShdw>
              </a:effectLst>
            </a:endParaRPr>
          </a:p>
          <a:p>
            <a:pPr eaLnBrk="1" hangingPunct="1">
              <a:defRPr/>
            </a:pPr>
            <a:r>
              <a:rPr lang="zh-CN" altLang="en-US" dirty="0">
                <a:effectLst>
                  <a:outerShdw blurRad="38100" dist="38100" dir="2700000" algn="tl">
                    <a:srgbClr val="C0C0C0"/>
                  </a:outerShdw>
                </a:effectLst>
              </a:rPr>
              <a:t>                                  ┇      </a:t>
            </a:r>
            <a:r>
              <a:rPr lang="en-US" altLang="zh-CN" dirty="0">
                <a:effectLst>
                  <a:outerShdw blurRad="38100" dist="38100" dir="2700000" algn="tl">
                    <a:srgbClr val="C0C0C0"/>
                  </a:outerShdw>
                </a:effectLst>
              </a:rPr>
              <a:t>} </a:t>
            </a:r>
            <a:r>
              <a:rPr lang="zh-CN" altLang="en-US" dirty="0">
                <a:effectLst>
                  <a:outerShdw blurRad="38100" dist="38100" dir="2700000" algn="tl">
                    <a:srgbClr val="C0C0C0"/>
                  </a:outerShdw>
                </a:effectLst>
              </a:rPr>
              <a:t>过程体</a:t>
            </a:r>
          </a:p>
          <a:p>
            <a:pPr eaLnBrk="1" hangingPunct="1">
              <a:defRPr/>
            </a:pPr>
            <a:r>
              <a:rPr lang="zh-CN" altLang="en-US" dirty="0">
                <a:effectLst>
                  <a:outerShdw blurRad="38100" dist="38100" dir="2700000" algn="tl">
                    <a:srgbClr val="C0C0C0"/>
                  </a:outerShdw>
                </a:effectLst>
              </a:rPr>
              <a:t>                                 </a:t>
            </a:r>
            <a:r>
              <a:rPr lang="en-US" altLang="zh-CN" dirty="0">
                <a:effectLst>
                  <a:outerShdw blurRad="38100" dist="38100" dir="2700000" algn="tl">
                    <a:srgbClr val="C0C0C0"/>
                  </a:outerShdw>
                </a:effectLst>
              </a:rPr>
              <a:t>RET</a:t>
            </a:r>
          </a:p>
          <a:p>
            <a:pPr eaLnBrk="1" hangingPunct="1">
              <a:defRPr/>
            </a:pPr>
            <a:endParaRPr lang="en-US" altLang="zh-CN" dirty="0">
              <a:effectLst>
                <a:outerShdw blurRad="38100" dist="38100" dir="2700000" algn="tl">
                  <a:srgbClr val="C0C0C0"/>
                </a:outerShdw>
              </a:effectLst>
            </a:endParaRPr>
          </a:p>
          <a:p>
            <a:pPr eaLnBrk="1" hangingPunct="1">
              <a:defRPr/>
            </a:pPr>
            <a:r>
              <a:rPr lang="en-US" altLang="zh-CN" dirty="0">
                <a:effectLst>
                  <a:outerShdw blurRad="38100" dist="38100" dir="2700000" algn="tl">
                    <a:srgbClr val="C0C0C0"/>
                  </a:outerShdw>
                </a:effectLst>
              </a:rPr>
              <a:t>             </a:t>
            </a:r>
            <a:r>
              <a:rPr lang="zh-CN" altLang="en-US" dirty="0">
                <a:solidFill>
                  <a:srgbClr val="FF0000"/>
                </a:solidFill>
                <a:effectLst>
                  <a:outerShdw blurRad="38100" dist="38100" dir="2700000" algn="tl">
                    <a:srgbClr val="C0C0C0"/>
                  </a:outerShdw>
                </a:effectLst>
              </a:rPr>
              <a:t>过程名       </a:t>
            </a:r>
            <a:r>
              <a:rPr lang="en-US" altLang="zh-CN" dirty="0">
                <a:solidFill>
                  <a:srgbClr val="FF0000"/>
                </a:solidFill>
                <a:effectLst>
                  <a:outerShdw blurRad="38100" dist="38100" dir="2700000" algn="tl">
                    <a:srgbClr val="C0C0C0"/>
                  </a:outerShdw>
                </a:effectLst>
              </a:rPr>
              <a:t>ENDP</a:t>
            </a:r>
          </a:p>
          <a:p>
            <a:pPr eaLnBrk="1" hangingPunct="1">
              <a:defRPr/>
            </a:pPr>
            <a:endParaRPr lang="en-US" altLang="zh-CN" dirty="0">
              <a:solidFill>
                <a:srgbClr val="FF0000"/>
              </a:solidFill>
              <a:effectLst>
                <a:outerShdw blurRad="38100" dist="38100" dir="2700000" algn="tl">
                  <a:srgbClr val="C0C0C0"/>
                </a:outerShdw>
              </a:effectLst>
            </a:endParaRPr>
          </a:p>
          <a:p>
            <a:pPr eaLnBrk="1" hangingPunct="1">
              <a:defRPr/>
            </a:pPr>
            <a:r>
              <a:rPr lang="zh-CN" altLang="en-US" dirty="0">
                <a:effectLst>
                  <a:outerShdw blurRad="38100" dist="38100" dir="2700000" algn="tl">
                    <a:srgbClr val="C0C0C0"/>
                  </a:outerShdw>
                </a:effectLst>
              </a:rPr>
              <a:t>功能：完成过程定义，在过程体中实现过程的操作功能</a:t>
            </a:r>
            <a:r>
              <a:rPr lang="zh-CN" altLang="en-US" sz="1800" dirty="0"/>
              <a:t>                                                                                        </a:t>
            </a:r>
          </a:p>
        </p:txBody>
      </p:sp>
      <p:sp>
        <p:nvSpPr>
          <p:cNvPr id="51204" name="AutoShape 3"/>
          <p:cNvSpPr>
            <a:spLocks noChangeArrowheads="1"/>
          </p:cNvSpPr>
          <p:nvPr/>
        </p:nvSpPr>
        <p:spPr bwMode="auto">
          <a:xfrm>
            <a:off x="179388" y="1412875"/>
            <a:ext cx="8496300" cy="3455988"/>
          </a:xfrm>
          <a:prstGeom prst="flowChartAlternateProcess">
            <a:avLst/>
          </a:prstGeom>
          <a:noFill/>
          <a:ln w="9525">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05" name="Text Box 4"/>
          <p:cNvSpPr txBox="1">
            <a:spLocks noChangeArrowheads="1"/>
          </p:cNvSpPr>
          <p:nvPr/>
        </p:nvSpPr>
        <p:spPr bwMode="auto">
          <a:xfrm>
            <a:off x="468313" y="404813"/>
            <a:ext cx="4032250"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20000"/>
              </a:spcBef>
            </a:pPr>
            <a:r>
              <a:rPr lang="en-US" altLang="zh-CN" sz="2800">
                <a:solidFill>
                  <a:srgbClr val="FF0000"/>
                </a:solidFill>
              </a:rPr>
              <a:t>2.3.4   </a:t>
            </a:r>
            <a:r>
              <a:rPr lang="zh-CN" altLang="en-US" sz="2800">
                <a:solidFill>
                  <a:srgbClr val="FF0000"/>
                </a:solidFill>
              </a:rPr>
              <a:t>过程定义伪操作</a:t>
            </a:r>
            <a:endParaRPr lang="zh-CN" altLang="en-US" sz="2800"/>
          </a:p>
        </p:txBody>
      </p:sp>
      <p:sp>
        <p:nvSpPr>
          <p:cNvPr id="670725" name="Rectangle 5"/>
          <p:cNvSpPr>
            <a:spLocks noChangeArrowheads="1"/>
          </p:cNvSpPr>
          <p:nvPr/>
        </p:nvSpPr>
        <p:spPr bwMode="auto">
          <a:xfrm>
            <a:off x="1258888" y="5397500"/>
            <a:ext cx="6337300" cy="519113"/>
          </a:xfrm>
          <a:prstGeom prst="rect">
            <a:avLst/>
          </a:prstGeom>
          <a:noFill/>
          <a:ln>
            <a:noFill/>
          </a:ln>
          <a:effectLst/>
          <a:extLst>
            <a:ext uri="{909E8E84-426E-40DD-AFC4-6F175D3DCCD1}">
              <a14:hiddenFill xmlns:a14="http://schemas.microsoft.com/office/drawing/2010/main">
                <a:gradFill rotWithShape="0">
                  <a:gsLst>
                    <a:gs pos="0">
                      <a:srgbClr val="993366">
                        <a:gamma/>
                        <a:shade val="46275"/>
                        <a:invGamma/>
                      </a:srgbClr>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zh-CN" altLang="en-US" sz="2800" dirty="0">
                <a:solidFill>
                  <a:srgbClr val="FF0000"/>
                </a:solidFill>
                <a:effectLst>
                  <a:outerShdw blurRad="38100" dist="38100" dir="2700000" algn="tl">
                    <a:srgbClr val="C0C0C0"/>
                  </a:outerShdw>
                </a:effectLst>
              </a:rPr>
              <a:t>过程名是过程入口的符号地址</a:t>
            </a:r>
          </a:p>
        </p:txBody>
      </p:sp>
    </p:spTree>
  </p:cSld>
  <p:clrMapOvr>
    <a:masterClrMapping/>
  </p:clrMapOvr>
  <p:transition>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6EF9EC1D-C654-4DB4-84FD-4F822885136B}" type="slidenum">
              <a:rPr lang="en-US" altLang="zh-CN"/>
              <a:t>42</a:t>
            </a:fld>
            <a:endParaRPr lang="en-US" altLang="zh-CN"/>
          </a:p>
        </p:txBody>
      </p:sp>
      <p:sp>
        <p:nvSpPr>
          <p:cNvPr id="52227" name="Rectangle 2"/>
          <p:cNvSpPr>
            <a:spLocks noGrp="1" noRot="1" noChangeArrowheads="1"/>
          </p:cNvSpPr>
          <p:nvPr>
            <p:ph type="body" idx="1"/>
          </p:nvPr>
        </p:nvSpPr>
        <p:spPr>
          <a:xfrm>
            <a:off x="611188" y="981075"/>
            <a:ext cx="8229600" cy="3816350"/>
          </a:xfrm>
        </p:spPr>
        <p:txBody>
          <a:bodyPr/>
          <a:lstStyle/>
          <a:p>
            <a:pPr marL="609600" indent="-609600"/>
            <a:r>
              <a:rPr lang="zh-CN" altLang="en-US"/>
              <a:t>当主程序调用过程时，使用</a:t>
            </a:r>
            <a:r>
              <a:rPr lang="en-US" altLang="zh-CN"/>
              <a:t>CALL</a:t>
            </a:r>
            <a:r>
              <a:rPr lang="zh-CN" altLang="en-US"/>
              <a:t>指令。</a:t>
            </a:r>
          </a:p>
          <a:p>
            <a:pPr marL="609600" indent="-609600">
              <a:buFont typeface="Wingdings" panose="05000000000000000000" pitchFamily="2" charset="2"/>
              <a:buNone/>
            </a:pPr>
            <a:endParaRPr lang="zh-CN" altLang="en-US"/>
          </a:p>
          <a:p>
            <a:pPr marL="609600" indent="-609600"/>
            <a:r>
              <a:rPr lang="zh-CN" altLang="en-US">
                <a:solidFill>
                  <a:schemeClr val="hlink"/>
                </a:solidFill>
              </a:rPr>
              <a:t>（</a:t>
            </a:r>
            <a:r>
              <a:rPr lang="en-US" altLang="zh-CN">
                <a:solidFill>
                  <a:schemeClr val="hlink"/>
                </a:solidFill>
              </a:rPr>
              <a:t>1</a:t>
            </a:r>
            <a:r>
              <a:rPr lang="zh-CN" altLang="en-US">
                <a:solidFill>
                  <a:schemeClr val="hlink"/>
                </a:solidFill>
              </a:rPr>
              <a:t>）主程序调用过程</a:t>
            </a:r>
          </a:p>
          <a:p>
            <a:pPr marL="609600" indent="-609600">
              <a:buFont typeface="Wingdings" panose="05000000000000000000" pitchFamily="2" charset="2"/>
              <a:buNone/>
            </a:pPr>
            <a:r>
              <a:rPr lang="zh-CN" altLang="en-US"/>
              <a:t>                     </a:t>
            </a:r>
            <a:r>
              <a:rPr lang="en-US" altLang="zh-CN">
                <a:solidFill>
                  <a:srgbClr val="FF0000"/>
                </a:solidFill>
              </a:rPr>
              <a:t>CALL    </a:t>
            </a:r>
            <a:r>
              <a:rPr lang="zh-CN" altLang="en-US">
                <a:solidFill>
                  <a:srgbClr val="FF0000"/>
                </a:solidFill>
              </a:rPr>
              <a:t>过程名</a:t>
            </a:r>
          </a:p>
          <a:p>
            <a:pPr marL="609600" indent="-609600">
              <a:buFont typeface="Wingdings" panose="05000000000000000000" pitchFamily="2" charset="2"/>
              <a:buNone/>
            </a:pPr>
            <a:r>
              <a:rPr lang="zh-CN" altLang="en-US"/>
              <a:t>             </a:t>
            </a:r>
            <a:r>
              <a:rPr lang="en-US" altLang="zh-CN"/>
              <a:t>CALL</a:t>
            </a:r>
            <a:r>
              <a:rPr lang="zh-CN" altLang="en-US"/>
              <a:t>负责将断点压栈，并转向过程入口。</a:t>
            </a:r>
          </a:p>
          <a:p>
            <a:pPr marL="609600" indent="-609600">
              <a:buFont typeface="Wingdings" panose="05000000000000000000" pitchFamily="2" charset="2"/>
              <a:buNone/>
            </a:pPr>
            <a:endParaRPr lang="zh-CN" altLang="en-US"/>
          </a:p>
          <a:p>
            <a:pPr marL="609600" indent="-609600"/>
            <a:r>
              <a:rPr lang="zh-CN" altLang="en-US">
                <a:solidFill>
                  <a:schemeClr val="hlink"/>
                </a:solidFill>
              </a:rPr>
              <a:t>（</a:t>
            </a:r>
            <a:r>
              <a:rPr lang="en-US" altLang="zh-CN">
                <a:solidFill>
                  <a:schemeClr val="hlink"/>
                </a:solidFill>
              </a:rPr>
              <a:t>2</a:t>
            </a:r>
            <a:r>
              <a:rPr lang="zh-CN" altLang="en-US">
                <a:solidFill>
                  <a:schemeClr val="hlink"/>
                </a:solidFill>
              </a:rPr>
              <a:t>）子程序返回</a:t>
            </a:r>
          </a:p>
          <a:p>
            <a:pPr marL="609600" indent="-609600">
              <a:buFont typeface="Wingdings" panose="05000000000000000000" pitchFamily="2" charset="2"/>
              <a:buNone/>
            </a:pPr>
            <a:r>
              <a:rPr lang="zh-CN" altLang="en-US"/>
              <a:t>           过程返回主程序时用</a:t>
            </a:r>
            <a:r>
              <a:rPr lang="en-US" altLang="zh-CN"/>
              <a:t>RET</a:t>
            </a:r>
            <a:r>
              <a:rPr lang="zh-CN" altLang="en-US"/>
              <a:t>或</a:t>
            </a:r>
            <a:r>
              <a:rPr lang="en-US" altLang="zh-CN"/>
              <a:t>RET n</a:t>
            </a:r>
            <a:r>
              <a:rPr lang="zh-CN" altLang="en-US"/>
              <a:t>。</a:t>
            </a: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8"/>
          <p:cNvSpPr>
            <a:spLocks noGrp="1"/>
          </p:cNvSpPr>
          <p:nvPr>
            <p:ph type="sldNum" sz="quarter" idx="12"/>
          </p:nvPr>
        </p:nvSpPr>
        <p:spPr/>
        <p:txBody>
          <a:bodyPr/>
          <a:lstStyle/>
          <a:p>
            <a:pPr>
              <a:defRPr/>
            </a:pPr>
            <a:fld id="{232247D6-D84C-4330-9340-3065E64D7FF4}" type="slidenum">
              <a:rPr lang="en-US" altLang="zh-CN"/>
              <a:t>43</a:t>
            </a:fld>
            <a:endParaRPr lang="en-US" altLang="zh-CN"/>
          </a:p>
        </p:txBody>
      </p:sp>
      <p:sp>
        <p:nvSpPr>
          <p:cNvPr id="53251" name="Text Box 2"/>
          <p:cNvSpPr txBox="1">
            <a:spLocks noChangeArrowheads="1"/>
          </p:cNvSpPr>
          <p:nvPr/>
        </p:nvSpPr>
        <p:spPr bwMode="auto">
          <a:xfrm>
            <a:off x="755650" y="908050"/>
            <a:ext cx="45720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lang="zh-CN" altLang="en-US">
                <a:solidFill>
                  <a:srgbClr val="FF0000"/>
                </a:solidFill>
              </a:rPr>
              <a:t>代码段名   </a:t>
            </a:r>
            <a:r>
              <a:rPr lang="en-US" altLang="zh-CN">
                <a:solidFill>
                  <a:srgbClr val="FF0000"/>
                </a:solidFill>
              </a:rPr>
              <a:t>SEGMENT</a:t>
            </a:r>
          </a:p>
          <a:p>
            <a:pPr eaLnBrk="1" hangingPunct="1"/>
            <a:r>
              <a:rPr lang="zh-CN" altLang="en-US">
                <a:solidFill>
                  <a:srgbClr val="0000CC"/>
                </a:solidFill>
              </a:rPr>
              <a:t>过程名</a:t>
            </a:r>
            <a:r>
              <a:rPr lang="en-US" altLang="zh-CN">
                <a:solidFill>
                  <a:srgbClr val="0000CC"/>
                </a:solidFill>
              </a:rPr>
              <a:t>1  PROC  FAR</a:t>
            </a:r>
          </a:p>
          <a:p>
            <a:pPr eaLnBrk="1" hangingPunct="1"/>
            <a:r>
              <a:rPr lang="en-US" altLang="zh-CN">
                <a:solidFill>
                  <a:srgbClr val="0000CC"/>
                </a:solidFill>
              </a:rPr>
              <a:t>                 ……</a:t>
            </a:r>
          </a:p>
          <a:p>
            <a:pPr eaLnBrk="1" hangingPunct="1"/>
            <a:r>
              <a:rPr lang="en-US" altLang="zh-CN">
                <a:solidFill>
                  <a:srgbClr val="0000CC"/>
                </a:solidFill>
              </a:rPr>
              <a:t>                 RET</a:t>
            </a:r>
          </a:p>
          <a:p>
            <a:pPr eaLnBrk="1" hangingPunct="1"/>
            <a:r>
              <a:rPr lang="zh-CN" altLang="en-US">
                <a:solidFill>
                  <a:srgbClr val="0000CC"/>
                </a:solidFill>
              </a:rPr>
              <a:t>过程名</a:t>
            </a:r>
            <a:r>
              <a:rPr lang="en-US" altLang="zh-CN">
                <a:solidFill>
                  <a:srgbClr val="0000CC"/>
                </a:solidFill>
              </a:rPr>
              <a:t>1  ENDP</a:t>
            </a:r>
          </a:p>
          <a:p>
            <a:pPr eaLnBrk="1" hangingPunct="1"/>
            <a:r>
              <a:rPr lang="zh-CN" altLang="en-US">
                <a:solidFill>
                  <a:srgbClr val="009900"/>
                </a:solidFill>
              </a:rPr>
              <a:t>过程名</a:t>
            </a:r>
            <a:r>
              <a:rPr lang="en-US" altLang="zh-CN">
                <a:solidFill>
                  <a:srgbClr val="009900"/>
                </a:solidFill>
              </a:rPr>
              <a:t>2  PROC  NEAR</a:t>
            </a:r>
          </a:p>
          <a:p>
            <a:pPr eaLnBrk="1" hangingPunct="1"/>
            <a:r>
              <a:rPr lang="en-US" altLang="zh-CN">
                <a:solidFill>
                  <a:srgbClr val="009900"/>
                </a:solidFill>
              </a:rPr>
              <a:t>                 ……</a:t>
            </a:r>
          </a:p>
          <a:p>
            <a:pPr eaLnBrk="1" hangingPunct="1"/>
            <a:r>
              <a:rPr lang="en-US" altLang="zh-CN">
                <a:solidFill>
                  <a:srgbClr val="009900"/>
                </a:solidFill>
              </a:rPr>
              <a:t>                 RET</a:t>
            </a:r>
          </a:p>
          <a:p>
            <a:pPr eaLnBrk="1" hangingPunct="1"/>
            <a:r>
              <a:rPr lang="zh-CN" altLang="en-US">
                <a:solidFill>
                  <a:srgbClr val="009900"/>
                </a:solidFill>
              </a:rPr>
              <a:t>过程名</a:t>
            </a:r>
            <a:r>
              <a:rPr lang="en-US" altLang="zh-CN">
                <a:solidFill>
                  <a:srgbClr val="009900"/>
                </a:solidFill>
              </a:rPr>
              <a:t>2   ENDP</a:t>
            </a:r>
          </a:p>
          <a:p>
            <a:pPr eaLnBrk="1" hangingPunct="1"/>
            <a:r>
              <a:rPr lang="en-US" altLang="zh-CN"/>
              <a:t>……</a:t>
            </a:r>
          </a:p>
          <a:p>
            <a:pPr eaLnBrk="1" hangingPunct="1"/>
            <a:r>
              <a:rPr lang="en-US" altLang="zh-CN"/>
              <a:t>……</a:t>
            </a:r>
          </a:p>
          <a:p>
            <a:pPr eaLnBrk="1" hangingPunct="1"/>
            <a:r>
              <a:rPr lang="zh-CN" altLang="en-US">
                <a:solidFill>
                  <a:srgbClr val="FF0000"/>
                </a:solidFill>
              </a:rPr>
              <a:t>代码段名    </a:t>
            </a:r>
            <a:r>
              <a:rPr lang="en-US" altLang="zh-CN">
                <a:solidFill>
                  <a:srgbClr val="FF0000"/>
                </a:solidFill>
              </a:rPr>
              <a:t>ENDS</a:t>
            </a:r>
          </a:p>
        </p:txBody>
      </p:sp>
      <p:sp>
        <p:nvSpPr>
          <p:cNvPr id="53252" name="AutoShape 3"/>
          <p:cNvSpPr/>
          <p:nvPr/>
        </p:nvSpPr>
        <p:spPr bwMode="auto">
          <a:xfrm>
            <a:off x="3803650" y="1441450"/>
            <a:ext cx="381000" cy="1143000"/>
          </a:xfrm>
          <a:prstGeom prst="rightBrace">
            <a:avLst>
              <a:gd name="adj1" fmla="val 25000"/>
              <a:gd name="adj2" fmla="val 50000"/>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3" name="AutoShape 4"/>
          <p:cNvSpPr/>
          <p:nvPr/>
        </p:nvSpPr>
        <p:spPr bwMode="auto">
          <a:xfrm>
            <a:off x="4032250" y="2965450"/>
            <a:ext cx="381000" cy="1143000"/>
          </a:xfrm>
          <a:prstGeom prst="rightBrace">
            <a:avLst>
              <a:gd name="adj1" fmla="val 25000"/>
              <a:gd name="adj2" fmla="val 50000"/>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3254" name="AutoShape 5"/>
          <p:cNvSpPr/>
          <p:nvPr/>
        </p:nvSpPr>
        <p:spPr bwMode="auto">
          <a:xfrm flipH="1">
            <a:off x="374650" y="1136650"/>
            <a:ext cx="381000" cy="3962400"/>
          </a:xfrm>
          <a:prstGeom prst="rightBrace">
            <a:avLst>
              <a:gd name="adj1" fmla="val 86667"/>
              <a:gd name="adj2" fmla="val 50000"/>
            </a:avLst>
          </a:prstGeom>
          <a:noFill/>
          <a:ln w="38100">
            <a:solidFill>
              <a:srgbClr val="FF0000"/>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72774" name="Text Box 6"/>
          <p:cNvSpPr txBox="1">
            <a:spLocks noChangeArrowheads="1"/>
          </p:cNvSpPr>
          <p:nvPr/>
        </p:nvSpPr>
        <p:spPr bwMode="auto">
          <a:xfrm>
            <a:off x="4716463" y="1268413"/>
            <a:ext cx="4176712"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defRPr/>
            </a:pPr>
            <a:r>
              <a:rPr lang="en-US" altLang="zh-CN" dirty="0">
                <a:effectLst>
                  <a:outerShdw blurRad="38100" dist="38100" dir="2700000" algn="tl">
                    <a:srgbClr val="C0C0C0"/>
                  </a:outerShdw>
                </a:effectLst>
              </a:rPr>
              <a:t>NAME1    PROC   FAR</a:t>
            </a:r>
          </a:p>
          <a:p>
            <a:pPr eaLnBrk="1" hangingPunct="1">
              <a:defRPr/>
            </a:pPr>
            <a:r>
              <a:rPr lang="en-US" altLang="zh-CN" dirty="0">
                <a:effectLst>
                  <a:outerShdw blurRad="38100" dist="38100" dir="2700000" algn="tl">
                    <a:srgbClr val="C0C0C0"/>
                  </a:outerShdw>
                </a:effectLst>
              </a:rPr>
              <a:t>                       ┆</a:t>
            </a:r>
          </a:p>
          <a:p>
            <a:pPr eaLnBrk="1" hangingPunct="1">
              <a:defRPr/>
            </a:pPr>
            <a:r>
              <a:rPr lang="en-US" altLang="zh-CN" dirty="0">
                <a:effectLst>
                  <a:outerShdw blurRad="38100" dist="38100" dir="2700000" algn="tl">
                    <a:srgbClr val="C0C0C0"/>
                  </a:outerShdw>
                </a:effectLst>
              </a:rPr>
              <a:t>                  CALL   NAME2</a:t>
            </a:r>
          </a:p>
          <a:p>
            <a:pPr eaLnBrk="1" hangingPunct="1">
              <a:defRPr/>
            </a:pPr>
            <a:r>
              <a:rPr lang="en-US" altLang="zh-CN" dirty="0">
                <a:effectLst>
                  <a:outerShdw blurRad="38100" dist="38100" dir="2700000" algn="tl">
                    <a:srgbClr val="C0C0C0"/>
                  </a:outerShdw>
                </a:effectLst>
              </a:rPr>
              <a:t>                       ┆</a:t>
            </a:r>
          </a:p>
          <a:p>
            <a:pPr eaLnBrk="1" hangingPunct="1">
              <a:defRPr/>
            </a:pPr>
            <a:r>
              <a:rPr lang="en-US" altLang="zh-CN" dirty="0">
                <a:effectLst>
                  <a:outerShdw blurRad="38100" dist="38100" dir="2700000" algn="tl">
                    <a:srgbClr val="C0C0C0"/>
                  </a:outerShdw>
                </a:effectLst>
              </a:rPr>
              <a:t>                  RET</a:t>
            </a:r>
          </a:p>
          <a:p>
            <a:pPr eaLnBrk="1" hangingPunct="1">
              <a:defRPr/>
            </a:pPr>
            <a:r>
              <a:rPr lang="en-US" altLang="zh-CN" dirty="0">
                <a:effectLst>
                  <a:outerShdw blurRad="38100" dist="38100" dir="2700000" algn="tl">
                    <a:srgbClr val="C0C0C0"/>
                  </a:outerShdw>
                </a:effectLst>
              </a:rPr>
              <a:t>                  </a:t>
            </a:r>
            <a:r>
              <a:rPr lang="en-US" altLang="zh-CN" dirty="0">
                <a:solidFill>
                  <a:srgbClr val="FF0000"/>
                </a:solidFill>
                <a:effectLst>
                  <a:outerShdw blurRad="38100" dist="38100" dir="2700000" algn="tl">
                    <a:srgbClr val="C0C0C0"/>
                  </a:outerShdw>
                </a:effectLst>
              </a:rPr>
              <a:t>NAME2    PROC  NEAR</a:t>
            </a:r>
          </a:p>
          <a:p>
            <a:pPr eaLnBrk="1" hangingPunct="1">
              <a:defRPr/>
            </a:pPr>
            <a:r>
              <a:rPr lang="en-US" altLang="zh-CN" dirty="0">
                <a:solidFill>
                  <a:srgbClr val="FF0000"/>
                </a:solidFill>
                <a:effectLst>
                  <a:outerShdw blurRad="38100" dist="38100" dir="2700000" algn="tl">
                    <a:srgbClr val="C0C0C0"/>
                  </a:outerShdw>
                </a:effectLst>
              </a:rPr>
              <a:t>                                    ┆</a:t>
            </a:r>
          </a:p>
          <a:p>
            <a:pPr eaLnBrk="1" hangingPunct="1">
              <a:defRPr/>
            </a:pPr>
            <a:r>
              <a:rPr lang="en-US" altLang="zh-CN" dirty="0">
                <a:solidFill>
                  <a:srgbClr val="FF0000"/>
                </a:solidFill>
                <a:effectLst>
                  <a:outerShdw blurRad="38100" dist="38100" dir="2700000" algn="tl">
                    <a:srgbClr val="C0C0C0"/>
                  </a:outerShdw>
                </a:effectLst>
              </a:rPr>
              <a:t>                                    RET  </a:t>
            </a:r>
          </a:p>
          <a:p>
            <a:pPr eaLnBrk="1" hangingPunct="1">
              <a:defRPr/>
            </a:pPr>
            <a:r>
              <a:rPr lang="en-US" altLang="zh-CN" dirty="0">
                <a:solidFill>
                  <a:srgbClr val="FF0000"/>
                </a:solidFill>
                <a:effectLst>
                  <a:outerShdw blurRad="38100" dist="38100" dir="2700000" algn="tl">
                    <a:srgbClr val="C0C0C0"/>
                  </a:outerShdw>
                </a:effectLst>
              </a:rPr>
              <a:t>                  NAME2   ENDP</a:t>
            </a:r>
          </a:p>
          <a:p>
            <a:pPr eaLnBrk="1" hangingPunct="1">
              <a:defRPr/>
            </a:pPr>
            <a:r>
              <a:rPr lang="en-US" altLang="zh-CN" dirty="0">
                <a:effectLst>
                  <a:outerShdw blurRad="38100" dist="38100" dir="2700000" algn="tl">
                    <a:srgbClr val="C0C0C0"/>
                  </a:outerShdw>
                </a:effectLst>
              </a:rPr>
              <a:t>NAME1    ENDP </a:t>
            </a:r>
            <a:r>
              <a:rPr lang="en-US" altLang="zh-CN" sz="1800" dirty="0"/>
              <a:t>                  </a:t>
            </a:r>
          </a:p>
        </p:txBody>
      </p:sp>
      <p:sp>
        <p:nvSpPr>
          <p:cNvPr id="53256" name="Line 7"/>
          <p:cNvSpPr>
            <a:spLocks noChangeShapeType="1"/>
          </p:cNvSpPr>
          <p:nvPr/>
        </p:nvSpPr>
        <p:spPr bwMode="auto">
          <a:xfrm>
            <a:off x="4572000" y="549275"/>
            <a:ext cx="0" cy="5688013"/>
          </a:xfrm>
          <a:prstGeom prst="line">
            <a:avLst/>
          </a:prstGeom>
          <a:noFill/>
          <a:ln w="38100">
            <a:solidFill>
              <a:schemeClr val="hlink"/>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3257" name="Text Box 8"/>
          <p:cNvSpPr txBox="1">
            <a:spLocks noChangeArrowheads="1"/>
          </p:cNvSpPr>
          <p:nvPr/>
        </p:nvSpPr>
        <p:spPr bwMode="auto">
          <a:xfrm>
            <a:off x="5076825" y="5649913"/>
            <a:ext cx="2952750" cy="1004887"/>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a:solidFill>
                  <a:srgbClr val="FF0000"/>
                </a:solidFill>
              </a:rPr>
              <a:t>过程的定义和调用</a:t>
            </a:r>
          </a:p>
          <a:p>
            <a:pPr eaLnBrk="1" hangingPunct="1">
              <a:spcBef>
                <a:spcPct val="50000"/>
              </a:spcBef>
            </a:pPr>
            <a:r>
              <a:rPr lang="zh-CN" altLang="en-US">
                <a:solidFill>
                  <a:srgbClr val="FF0000"/>
                </a:solidFill>
              </a:rPr>
              <a:t>均可嵌套</a:t>
            </a:r>
          </a:p>
        </p:txBody>
      </p:sp>
    </p:spTree>
  </p:cSld>
  <p:clrMapOvr>
    <a:masterClrMapping/>
  </p:clrMapOvr>
  <p:transition>
    <p:rand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6"/>
          <p:cNvSpPr>
            <a:spLocks noGrp="1"/>
          </p:cNvSpPr>
          <p:nvPr>
            <p:ph type="sldNum" sz="quarter" idx="12"/>
          </p:nvPr>
        </p:nvSpPr>
        <p:spPr/>
        <p:txBody>
          <a:bodyPr/>
          <a:lstStyle/>
          <a:p>
            <a:pPr>
              <a:defRPr/>
            </a:pPr>
            <a:fld id="{B39C037C-173B-4061-A262-6250D28C50BF}" type="slidenum">
              <a:rPr lang="en-US" altLang="zh-CN"/>
              <a:t>44</a:t>
            </a:fld>
            <a:endParaRPr lang="en-US" altLang="zh-CN"/>
          </a:p>
        </p:txBody>
      </p:sp>
      <p:sp>
        <p:nvSpPr>
          <p:cNvPr id="54275" name="Text Box 2"/>
          <p:cNvSpPr txBox="1">
            <a:spLocks noChangeArrowheads="1"/>
          </p:cNvSpPr>
          <p:nvPr/>
        </p:nvSpPr>
        <p:spPr bwMode="auto">
          <a:xfrm>
            <a:off x="1547813" y="476250"/>
            <a:ext cx="2232025" cy="26828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a:t>
            </a:r>
          </a:p>
          <a:p>
            <a:pPr eaLnBrk="1" hangingPunct="1">
              <a:spcBef>
                <a:spcPct val="50000"/>
              </a:spcBef>
            </a:pPr>
            <a:r>
              <a:rPr lang="en-US" altLang="zh-CN"/>
              <a:t>——————</a:t>
            </a:r>
          </a:p>
          <a:p>
            <a:pPr eaLnBrk="1" hangingPunct="1">
              <a:spcBef>
                <a:spcPct val="50000"/>
              </a:spcBef>
            </a:pPr>
            <a:r>
              <a:rPr lang="en-US" altLang="zh-CN"/>
              <a:t>CALL   PPP</a:t>
            </a:r>
          </a:p>
          <a:p>
            <a:pPr eaLnBrk="1" hangingPunct="1">
              <a:spcBef>
                <a:spcPct val="50000"/>
              </a:spcBef>
            </a:pPr>
            <a:r>
              <a:rPr lang="en-US" altLang="zh-CN"/>
              <a:t>——————</a:t>
            </a:r>
          </a:p>
          <a:p>
            <a:pPr eaLnBrk="1" hangingPunct="1">
              <a:spcBef>
                <a:spcPct val="50000"/>
              </a:spcBef>
            </a:pPr>
            <a:r>
              <a:rPr lang="en-US" altLang="zh-CN"/>
              <a:t>——————</a:t>
            </a:r>
          </a:p>
          <a:p>
            <a:pPr eaLnBrk="1" hangingPunct="1">
              <a:spcBef>
                <a:spcPct val="50000"/>
              </a:spcBef>
            </a:pPr>
            <a:r>
              <a:rPr lang="en-US" altLang="zh-CN"/>
              <a:t>——————</a:t>
            </a:r>
          </a:p>
        </p:txBody>
      </p:sp>
      <p:sp>
        <p:nvSpPr>
          <p:cNvPr id="54276" name="Text Box 3"/>
          <p:cNvSpPr txBox="1">
            <a:spLocks noChangeArrowheads="1"/>
          </p:cNvSpPr>
          <p:nvPr/>
        </p:nvSpPr>
        <p:spPr bwMode="auto">
          <a:xfrm>
            <a:off x="5148263" y="836613"/>
            <a:ext cx="3311525" cy="17684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PPP   PROC   NEAR</a:t>
            </a:r>
          </a:p>
          <a:p>
            <a:pPr eaLnBrk="1" hangingPunct="1">
              <a:spcBef>
                <a:spcPct val="50000"/>
              </a:spcBef>
            </a:pPr>
            <a:r>
              <a:rPr lang="en-US" altLang="zh-CN"/>
              <a:t>          MOV AX,1234H</a:t>
            </a:r>
          </a:p>
          <a:p>
            <a:pPr eaLnBrk="1" hangingPunct="1">
              <a:spcBef>
                <a:spcPct val="50000"/>
              </a:spcBef>
            </a:pPr>
            <a:r>
              <a:rPr lang="en-US" altLang="zh-CN"/>
              <a:t>          RET   </a:t>
            </a:r>
          </a:p>
          <a:p>
            <a:pPr eaLnBrk="1" hangingPunct="1">
              <a:spcBef>
                <a:spcPct val="50000"/>
              </a:spcBef>
            </a:pPr>
            <a:r>
              <a:rPr lang="en-US" altLang="zh-CN"/>
              <a:t>PPP  ENDP</a:t>
            </a:r>
          </a:p>
        </p:txBody>
      </p:sp>
      <p:sp>
        <p:nvSpPr>
          <p:cNvPr id="54277" name="Line 4"/>
          <p:cNvSpPr>
            <a:spLocks noChangeShapeType="1"/>
          </p:cNvSpPr>
          <p:nvPr/>
        </p:nvSpPr>
        <p:spPr bwMode="auto">
          <a:xfrm flipV="1">
            <a:off x="3132138" y="1484313"/>
            <a:ext cx="2592387" cy="144462"/>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4278" name="Line 5"/>
          <p:cNvSpPr>
            <a:spLocks noChangeShapeType="1"/>
          </p:cNvSpPr>
          <p:nvPr/>
        </p:nvSpPr>
        <p:spPr bwMode="auto">
          <a:xfrm>
            <a:off x="5724525" y="1557338"/>
            <a:ext cx="0" cy="431800"/>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54279" name="Line 6"/>
          <p:cNvSpPr>
            <a:spLocks noChangeShapeType="1"/>
          </p:cNvSpPr>
          <p:nvPr/>
        </p:nvSpPr>
        <p:spPr bwMode="auto">
          <a:xfrm flipH="1">
            <a:off x="3276600" y="2060575"/>
            <a:ext cx="2447925" cy="0"/>
          </a:xfrm>
          <a:prstGeom prst="line">
            <a:avLst/>
          </a:prstGeom>
          <a:noFill/>
          <a:ln w="28575">
            <a:solidFill>
              <a:schemeClr val="hlink"/>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Tree>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p:nvPr/>
        </p:nvSpPr>
        <p:spPr>
          <a:xfrm>
            <a:off x="457200" y="981075"/>
            <a:ext cx="8229600" cy="5327650"/>
          </a:xfrm>
          <a:prstGeom prst="rect">
            <a:avLst/>
          </a:prstGeom>
        </p:spPr>
        <p:txBody>
          <a:bodyPr>
            <a:normAutofit/>
          </a:bodyPr>
          <a:lstStyle/>
          <a:p>
            <a:pPr marL="274320" indent="-274320" eaLnBrk="1" fontAlgn="auto" hangingPunct="1">
              <a:spcBef>
                <a:spcPct val="20000"/>
              </a:spcBef>
              <a:spcAft>
                <a:spcPts val="1200"/>
              </a:spcAft>
              <a:buClr>
                <a:schemeClr val="accent3"/>
              </a:buClr>
              <a:buSzPct val="95000"/>
              <a:buFont typeface="Wingdings 2" panose="05020102010507070707"/>
              <a:buNone/>
              <a:defRPr/>
            </a:pPr>
            <a:r>
              <a:rPr lang="en-US" altLang="zh-CN" sz="3600" b="1" dirty="0">
                <a:solidFill>
                  <a:srgbClr val="A50021"/>
                </a:solidFill>
                <a:ea typeface="楷体" panose="02010609060101010101" pitchFamily="49" charset="-122"/>
                <a:cs typeface="Times New Roman" panose="02020603050405020304" pitchFamily="18" charset="0"/>
              </a:rPr>
              <a:t>    </a:t>
            </a:r>
            <a:r>
              <a:rPr lang="en-US" altLang="zh-CN" sz="3600" b="1" dirty="0">
                <a:solidFill>
                  <a:srgbClr val="A50021"/>
                </a:solidFill>
                <a:latin typeface="楷体" panose="02010609060101010101" pitchFamily="49" charset="-122"/>
                <a:ea typeface="楷体" panose="02010609060101010101" pitchFamily="49" charset="-122"/>
                <a:cs typeface="Times New Roman" panose="02020603050405020304" pitchFamily="18" charset="0"/>
              </a:rPr>
              <a:t>2. </a:t>
            </a:r>
            <a:r>
              <a:rPr lang="zh-CN" altLang="en-US" sz="3600" b="1" dirty="0">
                <a:solidFill>
                  <a:srgbClr val="A50021"/>
                </a:solidFill>
                <a:latin typeface="楷体" panose="02010609060101010101" pitchFamily="49" charset="-122"/>
                <a:ea typeface="楷体" panose="02010609060101010101" pitchFamily="49" charset="-122"/>
                <a:cs typeface="Times New Roman" panose="02020603050405020304" pitchFamily="18" charset="0"/>
              </a:rPr>
              <a:t>宏定义伪指令</a:t>
            </a:r>
            <a:endParaRPr kumimoji="0" lang="en-US" altLang="zh-CN" sz="3600" b="1" u="none" dirty="0">
              <a:latin typeface="楷体" panose="02010609060101010101" pitchFamily="49" charset="-122"/>
              <a:ea typeface="楷体" panose="02010609060101010101" pitchFamily="49" charset="-122"/>
              <a:cs typeface="Times New Roman" panose="02020603050405020304" pitchFamily="18" charset="0"/>
            </a:endParaRPr>
          </a:p>
          <a:p>
            <a:pPr marL="514350" indent="-514350" eaLnBrk="1" hangingPunct="1">
              <a:spcBef>
                <a:spcPct val="20000"/>
              </a:spcBef>
              <a:buClr>
                <a:srgbClr val="C87608"/>
              </a:buClr>
              <a:buSzPct val="95000"/>
              <a:buFont typeface="Wingdings" panose="05000000000000000000" pitchFamily="2" charset="2"/>
              <a:buChar char="u"/>
              <a:defRPr/>
            </a:pPr>
            <a:r>
              <a:rPr lang="zh-CN" altLang="zh-CN" sz="2800" b="1" dirty="0">
                <a:solidFill>
                  <a:srgbClr val="FF0000"/>
                </a:solidFill>
              </a:rPr>
              <a:t>宏定义</a:t>
            </a:r>
            <a:r>
              <a:rPr lang="zh-CN" altLang="zh-CN" sz="2800" b="1" dirty="0"/>
              <a:t>伪指令用于定义</a:t>
            </a:r>
            <a:r>
              <a:rPr lang="zh-CN" altLang="zh-CN" sz="2800" b="1" dirty="0">
                <a:solidFill>
                  <a:srgbClr val="FF0000"/>
                </a:solidFill>
              </a:rPr>
              <a:t>宏指令</a:t>
            </a:r>
            <a:r>
              <a:rPr lang="zh-CN" altLang="zh-CN" sz="2800" b="1" dirty="0"/>
              <a:t>，其语句格式如下：</a:t>
            </a:r>
            <a:endParaRPr lang="en-US" altLang="zh-CN" sz="2800" b="1" dirty="0"/>
          </a:p>
          <a:p>
            <a:pPr eaLnBrk="1" hangingPunct="1">
              <a:defRPr/>
            </a:pPr>
            <a:endParaRPr lang="en-US" altLang="zh-CN" b="1" dirty="0">
              <a:latin typeface="黑体" panose="02010609060101010101" pitchFamily="2" charset="-122"/>
              <a:ea typeface="黑体" panose="02010609060101010101" pitchFamily="2" charset="-122"/>
            </a:endParaRPr>
          </a:p>
          <a:p>
            <a:pPr eaLnBrk="1" hangingPunct="1">
              <a:defRPr/>
            </a:pPr>
            <a:r>
              <a:rPr lang="en-US" altLang="zh-CN" b="1" dirty="0">
                <a:latin typeface="黑体" panose="02010609060101010101" pitchFamily="2" charset="-122"/>
                <a:ea typeface="黑体" panose="02010609060101010101" pitchFamily="2" charset="-122"/>
              </a:rPr>
              <a:t>            </a:t>
            </a:r>
            <a:r>
              <a:rPr lang="zh-CN" altLang="en-US" b="1" dirty="0">
                <a:solidFill>
                  <a:srgbClr val="0000FF"/>
                </a:solidFill>
                <a:latin typeface="黑体" panose="02010609060101010101" pitchFamily="2" charset="-122"/>
                <a:ea typeface="黑体" panose="02010609060101010101" pitchFamily="2" charset="-122"/>
              </a:rPr>
              <a:t>宏指令</a:t>
            </a:r>
            <a:r>
              <a:rPr lang="zh-CN" altLang="zh-CN" b="1" dirty="0">
                <a:solidFill>
                  <a:srgbClr val="0000FF"/>
                </a:solidFill>
                <a:latin typeface="黑体" panose="02010609060101010101" pitchFamily="2" charset="-122"/>
                <a:ea typeface="黑体" panose="02010609060101010101" pitchFamily="2" charset="-122"/>
              </a:rPr>
              <a:t>名</a:t>
            </a:r>
            <a:r>
              <a:rPr lang="en-US" altLang="zh-CN" b="1" dirty="0">
                <a:latin typeface="黑体" panose="02010609060101010101" pitchFamily="2" charset="-122"/>
                <a:ea typeface="黑体" panose="02010609060101010101" pitchFamily="2" charset="-122"/>
              </a:rPr>
              <a:t>  </a:t>
            </a:r>
            <a:r>
              <a:rPr lang="en-US" altLang="zh-CN" b="1" dirty="0">
                <a:solidFill>
                  <a:srgbClr val="FF0000"/>
                </a:solidFill>
                <a:latin typeface="黑体" panose="02010609060101010101" pitchFamily="2" charset="-122"/>
                <a:ea typeface="黑体" panose="02010609060101010101" pitchFamily="2" charset="-122"/>
              </a:rPr>
              <a:t>MACRO</a:t>
            </a:r>
            <a:r>
              <a:rPr lang="en-US" altLang="zh-CN" b="1" dirty="0">
                <a:latin typeface="黑体" panose="02010609060101010101" pitchFamily="2" charset="-122"/>
                <a:ea typeface="黑体" panose="02010609060101010101" pitchFamily="2" charset="-122"/>
              </a:rPr>
              <a:t>  [</a:t>
            </a:r>
            <a:r>
              <a:rPr lang="zh-CN" altLang="en-US" b="1" dirty="0">
                <a:latin typeface="黑体" panose="02010609060101010101" pitchFamily="2" charset="-122"/>
                <a:ea typeface="黑体" panose="02010609060101010101" pitchFamily="2" charset="-122"/>
              </a:rPr>
              <a:t>形式参数表</a:t>
            </a:r>
            <a:r>
              <a:rPr lang="en-US" altLang="zh-CN" b="1" dirty="0">
                <a:latin typeface="黑体" panose="02010609060101010101" pitchFamily="2" charset="-122"/>
                <a:ea typeface="黑体" panose="02010609060101010101" pitchFamily="2" charset="-122"/>
              </a:rPr>
              <a:t>]</a:t>
            </a:r>
            <a:endParaRPr lang="zh-CN" altLang="zh-CN" b="1" dirty="0">
              <a:latin typeface="黑体" panose="02010609060101010101" pitchFamily="2" charset="-122"/>
              <a:ea typeface="黑体" panose="02010609060101010101" pitchFamily="2" charset="-122"/>
            </a:endParaRPr>
          </a:p>
          <a:p>
            <a:pPr eaLnBrk="1" hangingPunct="1">
              <a:defRPr/>
            </a:pPr>
            <a:r>
              <a:rPr lang="en-US" altLang="zh-CN" b="1" dirty="0">
                <a:latin typeface="黑体" panose="02010609060101010101" pitchFamily="2" charset="-122"/>
                <a:ea typeface="黑体" panose="02010609060101010101" pitchFamily="2" charset="-122"/>
              </a:rPr>
              <a:t>                …… ;</a:t>
            </a:r>
            <a:r>
              <a:rPr lang="zh-CN" altLang="en-US" b="1" dirty="0">
                <a:latin typeface="+mn-ea"/>
              </a:rPr>
              <a:t>宏体</a:t>
            </a:r>
            <a:endParaRPr lang="zh-CN" altLang="zh-CN" b="1" dirty="0">
              <a:latin typeface="+mn-ea"/>
            </a:endParaRPr>
          </a:p>
          <a:p>
            <a:pPr eaLnBrk="1" hangingPunct="1">
              <a:defRPr/>
            </a:pPr>
            <a:r>
              <a:rPr lang="en-US" altLang="zh-CN" b="1" dirty="0">
                <a:latin typeface="黑体" panose="02010609060101010101" pitchFamily="2" charset="-122"/>
                <a:ea typeface="黑体" panose="02010609060101010101" pitchFamily="2" charset="-122"/>
              </a:rPr>
              <a:t>            </a:t>
            </a:r>
            <a:r>
              <a:rPr lang="en-US" altLang="zh-CN" b="1" dirty="0">
                <a:solidFill>
                  <a:srgbClr val="FF0000"/>
                </a:solidFill>
                <a:latin typeface="黑体" panose="02010609060101010101" pitchFamily="2" charset="-122"/>
                <a:ea typeface="黑体" panose="02010609060101010101" pitchFamily="2" charset="-122"/>
              </a:rPr>
              <a:t>ENDM</a:t>
            </a:r>
          </a:p>
          <a:p>
            <a:pPr eaLnBrk="1" hangingPunct="1">
              <a:defRPr/>
            </a:pPr>
            <a:endParaRPr lang="zh-CN" altLang="zh-CN" b="1" dirty="0">
              <a:solidFill>
                <a:srgbClr val="FF0000"/>
              </a:solidFill>
              <a:latin typeface="黑体" panose="02010609060101010101" pitchFamily="2" charset="-122"/>
              <a:ea typeface="黑体" panose="02010609060101010101" pitchFamily="2" charset="-122"/>
            </a:endParaRPr>
          </a:p>
          <a:p>
            <a:pPr marL="514350" indent="-514350" eaLnBrk="1" hangingPunct="1">
              <a:spcBef>
                <a:spcPct val="20000"/>
              </a:spcBef>
              <a:buClr>
                <a:srgbClr val="C87608"/>
              </a:buClr>
              <a:buSzPct val="95000"/>
              <a:buFont typeface="Wingdings" panose="05000000000000000000" pitchFamily="2" charset="2"/>
              <a:buChar char="u"/>
              <a:defRPr/>
            </a:pPr>
            <a:r>
              <a:rPr lang="zh-CN" altLang="zh-CN" sz="2800" b="1" dirty="0"/>
              <a:t>宏指令经定义后，即可在程序中使用，称为</a:t>
            </a:r>
            <a:r>
              <a:rPr lang="zh-CN" altLang="zh-CN" sz="2800" b="1" dirty="0">
                <a:solidFill>
                  <a:srgbClr val="FF0000"/>
                </a:solidFill>
              </a:rPr>
              <a:t>宏调用</a:t>
            </a:r>
            <a:r>
              <a:rPr lang="zh-CN" altLang="zh-CN" sz="2800" b="1" dirty="0"/>
              <a:t>。</a:t>
            </a:r>
            <a:endParaRPr lang="en-US" altLang="zh-CN" sz="2800" b="1" dirty="0">
              <a:cs typeface="Times New Roman" panose="02020603050405020304" pitchFamily="18" charset="0"/>
            </a:endParaRPr>
          </a:p>
          <a:p>
            <a:pPr eaLnBrk="1" hangingPunct="1">
              <a:defRPr/>
            </a:pPr>
            <a:endParaRPr lang="en-US" altLang="zh-CN" b="1" dirty="0"/>
          </a:p>
        </p:txBody>
      </p:sp>
    </p:spTree>
  </p:cSld>
  <p:clrMapOvr>
    <a:masterClrMapping/>
  </p:clrMapOvr>
  <p:transition>
    <p:random/>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322" name="Group 2"/>
          <p:cNvGrpSpPr/>
          <p:nvPr/>
        </p:nvGrpSpPr>
        <p:grpSpPr bwMode="auto">
          <a:xfrm>
            <a:off x="1828800" y="1676400"/>
            <a:ext cx="6781800" cy="2225675"/>
            <a:chOff x="768" y="1680"/>
            <a:chExt cx="4272" cy="1402"/>
          </a:xfrm>
        </p:grpSpPr>
        <p:sp>
          <p:nvSpPr>
            <p:cNvPr id="56325" name="Text Box 3"/>
            <p:cNvSpPr txBox="1">
              <a:spLocks noChangeArrowheads="1"/>
            </p:cNvSpPr>
            <p:nvPr/>
          </p:nvSpPr>
          <p:spPr bwMode="auto">
            <a:xfrm>
              <a:off x="2736" y="168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u="none">
                  <a:solidFill>
                    <a:srgbClr val="0000FF"/>
                  </a:solidFill>
                  <a:ea typeface="楷体_GB2312" panose="02010609030101010101" pitchFamily="49" charset="-122"/>
                </a:rPr>
                <a:t>汇编程序</a:t>
              </a:r>
            </a:p>
          </p:txBody>
        </p:sp>
        <p:sp>
          <p:nvSpPr>
            <p:cNvPr id="56326" name="Text Box 4"/>
            <p:cNvSpPr txBox="1">
              <a:spLocks noChangeArrowheads="1"/>
            </p:cNvSpPr>
            <p:nvPr/>
          </p:nvSpPr>
          <p:spPr bwMode="auto">
            <a:xfrm>
              <a:off x="768" y="168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u="none">
                  <a:solidFill>
                    <a:srgbClr val="000000"/>
                  </a:solidFill>
                  <a:ea typeface="楷体_GB2312" panose="02010609030101010101" pitchFamily="49" charset="-122"/>
                </a:rPr>
                <a:t>编辑程序</a:t>
              </a:r>
            </a:p>
          </p:txBody>
        </p:sp>
        <p:sp>
          <p:nvSpPr>
            <p:cNvPr id="56327" name="Text Box 5"/>
            <p:cNvSpPr txBox="1">
              <a:spLocks noChangeArrowheads="1"/>
            </p:cNvSpPr>
            <p:nvPr/>
          </p:nvSpPr>
          <p:spPr bwMode="auto">
            <a:xfrm>
              <a:off x="4032" y="2304"/>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u="none">
                  <a:solidFill>
                    <a:srgbClr val="000000"/>
                  </a:solidFill>
                  <a:ea typeface="楷体_GB2312" panose="02010609030101010101" pitchFamily="49" charset="-122"/>
                </a:rPr>
                <a:t>连接程序</a:t>
              </a:r>
            </a:p>
          </p:txBody>
        </p:sp>
        <p:sp>
          <p:nvSpPr>
            <p:cNvPr id="56328" name="Line 6"/>
            <p:cNvSpPr>
              <a:spLocks noChangeShapeType="1"/>
            </p:cNvSpPr>
            <p:nvPr/>
          </p:nvSpPr>
          <p:spPr bwMode="auto">
            <a:xfrm>
              <a:off x="816" y="1968"/>
              <a:ext cx="76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6329" name="Text Box 7"/>
            <p:cNvSpPr txBox="1">
              <a:spLocks noChangeArrowheads="1"/>
            </p:cNvSpPr>
            <p:nvPr/>
          </p:nvSpPr>
          <p:spPr bwMode="auto">
            <a:xfrm>
              <a:off x="1536" y="1824"/>
              <a:ext cx="1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2000" i="1" u="none">
                  <a:solidFill>
                    <a:srgbClr val="000000"/>
                  </a:solidFill>
                  <a:ea typeface="楷体_GB2312" panose="02010609030101010101" pitchFamily="49" charset="-122"/>
                </a:rPr>
                <a:t>  </a:t>
              </a:r>
              <a:r>
                <a:rPr lang="en-US" altLang="zh-CN" sz="2000" u="none">
                  <a:solidFill>
                    <a:srgbClr val="000000"/>
                  </a:solidFill>
                  <a:latin typeface="Lucida Console" panose="020B0609040504020204" pitchFamily="49" charset="0"/>
                  <a:ea typeface="楷体_GB2312" panose="02010609030101010101" pitchFamily="49" charset="-122"/>
                </a:rPr>
                <a:t>program.asm</a:t>
              </a:r>
              <a:endParaRPr lang="en-US" altLang="zh-CN" b="0" u="none">
                <a:solidFill>
                  <a:srgbClr val="000000"/>
                </a:solidFill>
                <a:latin typeface="Lucida Console" panose="020B0609040504020204" pitchFamily="49" charset="0"/>
                <a:ea typeface="楷体_GB2312" panose="02010609030101010101" pitchFamily="49" charset="-122"/>
              </a:endParaRPr>
            </a:p>
          </p:txBody>
        </p:sp>
        <p:sp>
          <p:nvSpPr>
            <p:cNvPr id="56330" name="Line 8"/>
            <p:cNvSpPr>
              <a:spLocks noChangeShapeType="1"/>
            </p:cNvSpPr>
            <p:nvPr/>
          </p:nvSpPr>
          <p:spPr bwMode="auto">
            <a:xfrm>
              <a:off x="2832" y="1968"/>
              <a:ext cx="768" cy="0"/>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56331" name="Text Box 9"/>
            <p:cNvSpPr txBox="1">
              <a:spLocks noChangeArrowheads="1"/>
            </p:cNvSpPr>
            <p:nvPr/>
          </p:nvSpPr>
          <p:spPr bwMode="auto">
            <a:xfrm>
              <a:off x="3552" y="1824"/>
              <a:ext cx="14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b="0" u="none">
                  <a:solidFill>
                    <a:srgbClr val="000000"/>
                  </a:solidFill>
                  <a:ea typeface="楷体_GB2312" panose="02010609030101010101" pitchFamily="49" charset="-122"/>
                </a:rPr>
                <a:t>  </a:t>
              </a:r>
              <a:r>
                <a:rPr lang="en-US" altLang="zh-CN" sz="2000" u="none">
                  <a:solidFill>
                    <a:srgbClr val="000000"/>
                  </a:solidFill>
                  <a:latin typeface="Lucida Console" panose="020B0609040504020204" pitchFamily="49" charset="0"/>
                  <a:ea typeface="楷体_GB2312" panose="02010609030101010101" pitchFamily="49" charset="-122"/>
                </a:rPr>
                <a:t>program.obj</a:t>
              </a:r>
              <a:endParaRPr lang="en-US" altLang="zh-CN" sz="2000" u="none">
                <a:solidFill>
                  <a:srgbClr val="000000"/>
                </a:solidFill>
                <a:ea typeface="楷体_GB2312" panose="02010609030101010101" pitchFamily="49" charset="-122"/>
              </a:endParaRPr>
            </a:p>
          </p:txBody>
        </p:sp>
        <p:sp>
          <p:nvSpPr>
            <p:cNvPr id="56332" name="Line 10"/>
            <p:cNvSpPr>
              <a:spLocks noChangeShapeType="1"/>
            </p:cNvSpPr>
            <p:nvPr/>
          </p:nvSpPr>
          <p:spPr bwMode="auto">
            <a:xfrm>
              <a:off x="4032" y="2112"/>
              <a:ext cx="0" cy="67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56333" name="Text Box 11"/>
            <p:cNvSpPr txBox="1">
              <a:spLocks noChangeArrowheads="1"/>
            </p:cNvSpPr>
            <p:nvPr/>
          </p:nvSpPr>
          <p:spPr bwMode="auto">
            <a:xfrm>
              <a:off x="3552" y="2832"/>
              <a:ext cx="1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2000" u="none">
                  <a:solidFill>
                    <a:srgbClr val="000000"/>
                  </a:solidFill>
                  <a:latin typeface="Lucida Console" panose="020B0609040504020204" pitchFamily="49" charset="0"/>
                  <a:ea typeface="楷体_GB2312" panose="02010609030101010101" pitchFamily="49" charset="-122"/>
                </a:rPr>
                <a:t>program.exe</a:t>
              </a:r>
            </a:p>
          </p:txBody>
        </p:sp>
      </p:grpSp>
      <p:sp>
        <p:nvSpPr>
          <p:cNvPr id="56323" name="Rectangle 12"/>
          <p:cNvSpPr>
            <a:spLocks noChangeArrowheads="1"/>
          </p:cNvSpPr>
          <p:nvPr/>
        </p:nvSpPr>
        <p:spPr bwMode="auto">
          <a:xfrm>
            <a:off x="1905000" y="762000"/>
            <a:ext cx="29638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3600" u="none">
                <a:solidFill>
                  <a:srgbClr val="000000"/>
                </a:solidFill>
                <a:latin typeface="Arial" panose="020B0604020202020204" pitchFamily="34" charset="0"/>
              </a:rPr>
              <a:t>汇编程序功能</a:t>
            </a:r>
          </a:p>
        </p:txBody>
      </p:sp>
      <p:sp>
        <p:nvSpPr>
          <p:cNvPr id="56324" name="Text Box 13"/>
          <p:cNvSpPr txBox="1">
            <a:spLocks noChangeArrowheads="1"/>
          </p:cNvSpPr>
          <p:nvPr/>
        </p:nvSpPr>
        <p:spPr bwMode="auto">
          <a:xfrm>
            <a:off x="1828800" y="4191000"/>
            <a:ext cx="6477000" cy="210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24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1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5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5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u="none">
                <a:solidFill>
                  <a:srgbClr val="000000"/>
                </a:solidFill>
              </a:rPr>
              <a:t>汇编程序的主要功能：</a:t>
            </a:r>
          </a:p>
          <a:p>
            <a:pPr eaLnBrk="1" hangingPunct="1">
              <a:spcBef>
                <a:spcPct val="50000"/>
              </a:spcBef>
              <a:buClrTx/>
              <a:buFontTx/>
              <a:buChar char="•"/>
            </a:pPr>
            <a:r>
              <a:rPr lang="zh-CN" altLang="en-US" b="0" u="none">
                <a:solidFill>
                  <a:srgbClr val="000000"/>
                </a:solidFill>
                <a:latin typeface="楷体_GB2312" panose="02010609030101010101" pitchFamily="49" charset="-122"/>
                <a:ea typeface="楷体_GB2312" panose="02010609030101010101" pitchFamily="49" charset="-122"/>
              </a:rPr>
              <a:t> </a:t>
            </a:r>
            <a:r>
              <a:rPr lang="zh-CN" altLang="en-US" u="none">
                <a:solidFill>
                  <a:srgbClr val="000000"/>
                </a:solidFill>
                <a:latin typeface="楷体_GB2312" panose="02010609030101010101" pitchFamily="49" charset="-122"/>
                <a:ea typeface="楷体_GB2312" panose="02010609030101010101" pitchFamily="49" charset="-122"/>
              </a:rPr>
              <a:t>检查源程序，给出出错信息。</a:t>
            </a:r>
          </a:p>
          <a:p>
            <a:pPr eaLnBrk="1" hangingPunct="1">
              <a:spcBef>
                <a:spcPct val="50000"/>
              </a:spcBef>
              <a:buClrTx/>
              <a:buFontTx/>
              <a:buChar char="•"/>
            </a:pPr>
            <a:r>
              <a:rPr lang="zh-CN" altLang="en-US" u="none">
                <a:solidFill>
                  <a:srgbClr val="000000"/>
                </a:solidFill>
                <a:latin typeface="楷体_GB2312" panose="02010609030101010101" pitchFamily="49" charset="-122"/>
                <a:ea typeface="楷体_GB2312" panose="02010609030101010101" pitchFamily="49" charset="-122"/>
              </a:rPr>
              <a:t> 产生目标文件</a:t>
            </a:r>
            <a:r>
              <a:rPr lang="en-US" altLang="zh-CN" u="none">
                <a:solidFill>
                  <a:srgbClr val="000000"/>
                </a:solidFill>
                <a:latin typeface="楷体_GB2312" panose="02010609030101010101" pitchFamily="49" charset="-122"/>
                <a:ea typeface="楷体_GB2312" panose="02010609030101010101" pitchFamily="49" charset="-122"/>
              </a:rPr>
              <a:t>(</a:t>
            </a:r>
            <a:r>
              <a:rPr lang="en-US" altLang="zh-CN" u="none">
                <a:solidFill>
                  <a:srgbClr val="000000"/>
                </a:solidFill>
                <a:latin typeface="Lucida Console" panose="020B0609040504020204" pitchFamily="49" charset="0"/>
              </a:rPr>
              <a:t>.obj</a:t>
            </a:r>
            <a:r>
              <a:rPr lang="en-US" altLang="zh-CN" u="none">
                <a:solidFill>
                  <a:srgbClr val="000000"/>
                </a:solidFill>
                <a:latin typeface="楷体_GB2312" panose="02010609030101010101" pitchFamily="49" charset="-122"/>
                <a:ea typeface="楷体_GB2312" panose="02010609030101010101" pitchFamily="49" charset="-122"/>
              </a:rPr>
              <a:t>)</a:t>
            </a:r>
            <a:r>
              <a:rPr lang="zh-CN" altLang="en-US" u="none">
                <a:solidFill>
                  <a:srgbClr val="000000"/>
                </a:solidFill>
                <a:latin typeface="楷体_GB2312" panose="02010609030101010101" pitchFamily="49" charset="-122"/>
                <a:ea typeface="楷体_GB2312" panose="02010609030101010101" pitchFamily="49" charset="-122"/>
              </a:rPr>
              <a:t>和列表文件</a:t>
            </a:r>
            <a:r>
              <a:rPr lang="en-US" altLang="zh-CN" u="none">
                <a:solidFill>
                  <a:srgbClr val="000000"/>
                </a:solidFill>
                <a:latin typeface="楷体_GB2312" panose="02010609030101010101" pitchFamily="49" charset="-122"/>
                <a:ea typeface="楷体_GB2312" panose="02010609030101010101" pitchFamily="49" charset="-122"/>
              </a:rPr>
              <a:t>(</a:t>
            </a:r>
            <a:r>
              <a:rPr lang="en-US" altLang="zh-CN" u="none">
                <a:solidFill>
                  <a:srgbClr val="000000"/>
                </a:solidFill>
                <a:latin typeface="Lucida Console" panose="020B0609040504020204" pitchFamily="49" charset="0"/>
                <a:ea typeface="楷体_GB2312" panose="02010609030101010101" pitchFamily="49" charset="-122"/>
              </a:rPr>
              <a:t>.lst</a:t>
            </a:r>
            <a:r>
              <a:rPr lang="en-US" altLang="zh-CN" u="none">
                <a:solidFill>
                  <a:srgbClr val="000000"/>
                </a:solidFill>
                <a:latin typeface="楷体_GB2312" panose="02010609030101010101" pitchFamily="49" charset="-122"/>
                <a:ea typeface="楷体_GB2312" panose="02010609030101010101" pitchFamily="49" charset="-122"/>
              </a:rPr>
              <a:t>)</a:t>
            </a:r>
            <a:r>
              <a:rPr lang="zh-CN" altLang="en-US" u="none">
                <a:solidFill>
                  <a:srgbClr val="000000"/>
                </a:solidFill>
                <a:latin typeface="楷体_GB2312" panose="02010609030101010101" pitchFamily="49" charset="-122"/>
                <a:ea typeface="楷体_GB2312" panose="02010609030101010101" pitchFamily="49" charset="-122"/>
              </a:rPr>
              <a:t>。</a:t>
            </a:r>
          </a:p>
          <a:p>
            <a:pPr eaLnBrk="1" hangingPunct="1">
              <a:spcBef>
                <a:spcPct val="50000"/>
              </a:spcBef>
              <a:buClrTx/>
              <a:buFontTx/>
              <a:buChar char="•"/>
            </a:pPr>
            <a:r>
              <a:rPr lang="zh-CN" altLang="en-US" u="none">
                <a:solidFill>
                  <a:srgbClr val="000000"/>
                </a:solidFill>
                <a:latin typeface="楷体_GB2312" panose="02010609030101010101" pitchFamily="49" charset="-122"/>
                <a:ea typeface="楷体_GB2312" panose="02010609030101010101" pitchFamily="49" charset="-122"/>
              </a:rPr>
              <a:t> 展开宏指令。</a:t>
            </a:r>
          </a:p>
        </p:txBody>
      </p:sp>
    </p:spTree>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defRPr/>
            </a:pPr>
            <a:r>
              <a:rPr lang="en-US" altLang="zh-CN" sz="3600">
                <a:solidFill>
                  <a:srgbClr val="FF0000"/>
                </a:solidFill>
                <a:latin typeface="宋体" panose="02010600030101010101" pitchFamily="2" charset="-122"/>
              </a:rPr>
              <a:t>8086</a:t>
            </a:r>
            <a:r>
              <a:rPr lang="zh-CN" altLang="en-US" sz="3600">
                <a:solidFill>
                  <a:srgbClr val="FF0000"/>
                </a:solidFill>
                <a:latin typeface="宋体" panose="02010600030101010101" pitchFamily="2" charset="-122"/>
              </a:rPr>
              <a:t>的寻址方式和指令系统</a:t>
            </a:r>
          </a:p>
        </p:txBody>
      </p:sp>
      <p:sp>
        <p:nvSpPr>
          <p:cNvPr id="57347" name="Rectangle 3"/>
          <p:cNvSpPr>
            <a:spLocks noGrp="1" noChangeArrowheads="1"/>
          </p:cNvSpPr>
          <p:nvPr>
            <p:ph type="body" idx="1"/>
          </p:nvPr>
        </p:nvSpPr>
        <p:spPr/>
        <p:txBody>
          <a:bodyPr/>
          <a:lstStyle/>
          <a:p>
            <a:pPr eaLnBrk="1" hangingPunct="1">
              <a:buFont typeface="Wingdings" panose="05000000000000000000" pitchFamily="2" charset="2"/>
              <a:buNone/>
            </a:pPr>
            <a:r>
              <a:rPr lang="zh-CN" altLang="en-US">
                <a:solidFill>
                  <a:schemeClr val="hlink"/>
                </a:solidFill>
              </a:rPr>
              <a:t>熟练掌握</a:t>
            </a:r>
            <a:r>
              <a:rPr lang="zh-CN" altLang="en-US"/>
              <a:t>：</a:t>
            </a:r>
          </a:p>
          <a:p>
            <a:pPr eaLnBrk="1" hangingPunct="1"/>
            <a:r>
              <a:rPr lang="zh-CN" altLang="en-US">
                <a:solidFill>
                  <a:schemeClr val="hlink"/>
                </a:solidFill>
              </a:rPr>
              <a:t>七种最基本的操作数寻址方式的含义，有效地址</a:t>
            </a:r>
          </a:p>
          <a:p>
            <a:pPr eaLnBrk="1" hangingPunct="1"/>
            <a:r>
              <a:rPr lang="zh-CN" altLang="en-US"/>
              <a:t>各种</a:t>
            </a:r>
            <a:r>
              <a:rPr lang="zh-CN" altLang="en-US">
                <a:solidFill>
                  <a:schemeClr val="hlink"/>
                </a:solidFill>
              </a:rPr>
              <a:t>指令的功能、特殊要求</a:t>
            </a:r>
            <a:r>
              <a:rPr lang="en-US" altLang="zh-CN">
                <a:solidFill>
                  <a:schemeClr val="hlink"/>
                </a:solidFill>
              </a:rPr>
              <a:t>(</a:t>
            </a:r>
            <a:r>
              <a:rPr lang="zh-CN" altLang="en-US">
                <a:solidFill>
                  <a:schemeClr val="hlink"/>
                </a:solidFill>
              </a:rPr>
              <a:t>注意事项</a:t>
            </a:r>
            <a:r>
              <a:rPr lang="en-US" altLang="zh-CN">
                <a:solidFill>
                  <a:schemeClr val="hlink"/>
                </a:solidFill>
              </a:rPr>
              <a:t>)</a:t>
            </a:r>
            <a:r>
              <a:rPr lang="zh-CN" altLang="en-US">
                <a:solidFill>
                  <a:schemeClr val="hlink"/>
                </a:solidFill>
              </a:rPr>
              <a:t>和隐含操作数</a:t>
            </a:r>
          </a:p>
          <a:p>
            <a:pPr eaLnBrk="1" hangingPunct="1"/>
            <a:endParaRPr lang="zh-CN" altLang="en-US"/>
          </a:p>
          <a:p>
            <a:pPr eaLnBrk="1" hangingPunct="1"/>
            <a:endParaRPr lang="en-US" altLang="zh-CN"/>
          </a:p>
        </p:txBody>
      </p:sp>
    </p:spTree>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2286000" y="2127250"/>
            <a:ext cx="5486400"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ts val="3500"/>
              </a:lnSpc>
              <a:spcBef>
                <a:spcPct val="50000"/>
              </a:spcBef>
              <a:buClr>
                <a:schemeClr val="tx2"/>
              </a:buClr>
              <a:buSzPct val="90000"/>
              <a:buFont typeface="Symbol" panose="05050102010706020507" pitchFamily="18" charset="2"/>
              <a:buNone/>
            </a:pPr>
            <a:r>
              <a:rPr lang="en-US" altLang="zh-CN" u="none">
                <a:latin typeface="Arial" panose="020B0604020202020204" pitchFamily="34" charset="0"/>
                <a:sym typeface="Symbol" panose="05050102010706020507" pitchFamily="18" charset="2"/>
              </a:rPr>
              <a:t></a:t>
            </a:r>
            <a:r>
              <a:rPr lang="en-US" altLang="zh-CN" u="none">
                <a:latin typeface="Arial" panose="020B0604020202020204" pitchFamily="34" charset="0"/>
              </a:rPr>
              <a:t>  </a:t>
            </a:r>
            <a:r>
              <a:rPr lang="zh-CN" altLang="en-US" u="none">
                <a:solidFill>
                  <a:srgbClr val="009900"/>
                </a:solidFill>
                <a:latin typeface="Arial" panose="020B0604020202020204" pitchFamily="34" charset="0"/>
              </a:rPr>
              <a:t>指令系统</a:t>
            </a:r>
          </a:p>
          <a:p>
            <a:pPr eaLnBrk="1" hangingPunct="1">
              <a:lnSpc>
                <a:spcPts val="3500"/>
              </a:lnSpc>
              <a:spcBef>
                <a:spcPct val="5000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a:t>
            </a:r>
            <a:r>
              <a:rPr lang="zh-CN" altLang="en-US" u="none">
                <a:solidFill>
                  <a:srgbClr val="009900"/>
                </a:solidFill>
                <a:latin typeface="Arial" panose="020B0604020202020204" pitchFamily="34" charset="0"/>
              </a:rPr>
              <a:t>寻址方式</a:t>
            </a:r>
          </a:p>
          <a:p>
            <a:pPr eaLnBrk="1" hangingPunct="1">
              <a:lnSpc>
                <a:spcPts val="3500"/>
              </a:lnSpc>
              <a:spcBef>
                <a:spcPct val="50000"/>
              </a:spcBef>
              <a:buClr>
                <a:schemeClr val="tx2"/>
              </a:buClr>
              <a:buSzPct val="90000"/>
              <a:buFont typeface="Symbol" panose="05050102010706020507" pitchFamily="18" charset="2"/>
              <a:buNone/>
            </a:pPr>
            <a:r>
              <a:rPr lang="zh-CN" altLang="en-US" sz="2800" u="none">
                <a:latin typeface="楷体_GB2312" panose="02010609030101010101" pitchFamily="49" charset="-122"/>
                <a:ea typeface="楷体_GB2312" panose="02010609030101010101" pitchFamily="49" charset="-122"/>
              </a:rPr>
              <a:t>  与</a:t>
            </a:r>
            <a:r>
              <a:rPr lang="zh-CN" altLang="en-US" sz="2800" u="none">
                <a:solidFill>
                  <a:schemeClr val="hlink"/>
                </a:solidFill>
                <a:latin typeface="楷体_GB2312" panose="02010609030101010101" pitchFamily="49" charset="-122"/>
                <a:ea typeface="楷体_GB2312" panose="02010609030101010101" pitchFamily="49" charset="-122"/>
              </a:rPr>
              <a:t>数据</a:t>
            </a:r>
            <a:r>
              <a:rPr lang="zh-CN" altLang="en-US" sz="2800" u="none">
                <a:latin typeface="楷体_GB2312" panose="02010609030101010101" pitchFamily="49" charset="-122"/>
                <a:ea typeface="楷体_GB2312" panose="02010609030101010101" pitchFamily="49" charset="-122"/>
              </a:rPr>
              <a:t>有关的寻址方式</a:t>
            </a:r>
          </a:p>
          <a:p>
            <a:pPr eaLnBrk="1" hangingPunct="1">
              <a:spcBef>
                <a:spcPct val="50000"/>
              </a:spcBef>
              <a:buClrTx/>
              <a:buFontTx/>
              <a:buNone/>
            </a:pPr>
            <a:r>
              <a:rPr lang="zh-CN" altLang="en-US" sz="2800" u="none">
                <a:latin typeface="楷体_GB2312" panose="02010609030101010101" pitchFamily="49" charset="-122"/>
                <a:ea typeface="楷体_GB2312" panose="02010609030101010101" pitchFamily="49" charset="-122"/>
              </a:rPr>
              <a:t>  与</a:t>
            </a:r>
            <a:r>
              <a:rPr lang="zh-CN" altLang="en-US" sz="2800" u="none">
                <a:solidFill>
                  <a:schemeClr val="hlink"/>
                </a:solidFill>
                <a:latin typeface="楷体_GB2312" panose="02010609030101010101" pitchFamily="49" charset="-122"/>
                <a:ea typeface="楷体_GB2312" panose="02010609030101010101" pitchFamily="49" charset="-122"/>
              </a:rPr>
              <a:t>转移地址</a:t>
            </a:r>
            <a:r>
              <a:rPr lang="zh-CN" altLang="en-US" sz="2800" u="none">
                <a:latin typeface="楷体_GB2312" panose="02010609030101010101" pitchFamily="49" charset="-122"/>
                <a:ea typeface="楷体_GB2312" panose="02010609030101010101" pitchFamily="49" charset="-122"/>
              </a:rPr>
              <a:t>有关的寻址方式</a:t>
            </a:r>
            <a:endParaRPr lang="zh-CN" altLang="en-US" u="none">
              <a:latin typeface="Arial" panose="020B0604020202020204" pitchFamily="34" charset="0"/>
            </a:endParaRPr>
          </a:p>
        </p:txBody>
      </p:sp>
      <p:sp>
        <p:nvSpPr>
          <p:cNvPr id="58371" name="Rectangle 3"/>
          <p:cNvSpPr>
            <a:spLocks noChangeArrowheads="1"/>
          </p:cNvSpPr>
          <p:nvPr/>
        </p:nvSpPr>
        <p:spPr bwMode="auto">
          <a:xfrm>
            <a:off x="1371600" y="533400"/>
            <a:ext cx="7391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3600" i="1" u="none">
                <a:solidFill>
                  <a:srgbClr val="FF0000"/>
                </a:solidFill>
                <a:latin typeface="黑体" panose="02010609060101010101" pitchFamily="2" charset="-122"/>
                <a:ea typeface="黑体" panose="02010609060101010101" pitchFamily="2" charset="-122"/>
              </a:rPr>
              <a:t>重要知识点</a:t>
            </a:r>
          </a:p>
        </p:txBody>
      </p:sp>
      <p:sp>
        <p:nvSpPr>
          <p:cNvPr id="30724" name="Text Box 4"/>
          <p:cNvSpPr txBox="1">
            <a:spLocks noChangeArrowheads="1"/>
          </p:cNvSpPr>
          <p:nvPr/>
        </p:nvSpPr>
        <p:spPr bwMode="auto">
          <a:xfrm>
            <a:off x="2124075" y="5445125"/>
            <a:ext cx="58054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a:solidFill>
                  <a:srgbClr val="FF0000"/>
                </a:solidFill>
              </a:rPr>
              <a:t>问题</a:t>
            </a:r>
            <a:r>
              <a:rPr lang="en-US" altLang="zh-CN">
                <a:solidFill>
                  <a:srgbClr val="FF0000"/>
                </a:solidFill>
              </a:rPr>
              <a:t>:</a:t>
            </a:r>
            <a:r>
              <a:rPr lang="zh-CN" altLang="en-US">
                <a:solidFill>
                  <a:srgbClr val="FF0000"/>
                </a:solidFill>
              </a:rPr>
              <a:t>哪些寄存器可以用来寻址</a:t>
            </a:r>
            <a:r>
              <a:rPr lang="en-US" altLang="zh-CN">
                <a:solidFill>
                  <a:srgbClr val="FF0000"/>
                </a:solidFill>
              </a:rPr>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1524000" y="457200"/>
            <a:ext cx="4256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hlink"/>
                </a:solidFill>
                <a:latin typeface="Arial" panose="020B0604020202020204" pitchFamily="34" charset="0"/>
              </a:rPr>
              <a:t>1.  8086</a:t>
            </a:r>
            <a:r>
              <a:rPr lang="zh-CN" altLang="en-US" sz="3600" u="none">
                <a:solidFill>
                  <a:schemeClr val="hlink"/>
                </a:solidFill>
                <a:latin typeface="Arial" panose="020B0604020202020204" pitchFamily="34" charset="0"/>
              </a:rPr>
              <a:t>的寻址方式</a:t>
            </a:r>
            <a:r>
              <a:rPr lang="zh-CN" altLang="en-US" sz="3600" u="none">
                <a:solidFill>
                  <a:schemeClr val="tx2"/>
                </a:solidFill>
                <a:latin typeface="Arial" panose="020B0604020202020204" pitchFamily="34" charset="0"/>
              </a:rPr>
              <a:t> </a:t>
            </a:r>
          </a:p>
        </p:txBody>
      </p:sp>
      <p:sp>
        <p:nvSpPr>
          <p:cNvPr id="59395" name="Rectangle 3"/>
          <p:cNvSpPr>
            <a:spLocks noChangeArrowheads="1"/>
          </p:cNvSpPr>
          <p:nvPr/>
        </p:nvSpPr>
        <p:spPr bwMode="auto">
          <a:xfrm>
            <a:off x="1676400" y="1524000"/>
            <a:ext cx="7010400"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latin typeface="宋体" panose="02010600030101010101" pitchFamily="2" charset="-122"/>
              </a:rPr>
              <a:t>与数据有关的寻址方式</a:t>
            </a:r>
            <a:r>
              <a:rPr lang="zh-CN" altLang="en-US" sz="2800" u="none"/>
              <a:t>：</a:t>
            </a:r>
            <a:endParaRPr lang="zh-CN" altLang="en-US" sz="2800" u="none">
              <a:ea typeface="方正舒体" panose="02010601030101010101" pitchFamily="2" charset="-122"/>
            </a:endParaRPr>
          </a:p>
          <a:p>
            <a:pPr eaLnBrk="1" hangingPunct="1">
              <a:spcBef>
                <a:spcPct val="0"/>
              </a:spcBef>
              <a:buClrTx/>
              <a:buFontTx/>
              <a:buNone/>
            </a:pPr>
            <a:endParaRPr lang="zh-CN" altLang="en-US" sz="2800" u="none">
              <a:latin typeface="宋体" panose="02010600030101010101" pitchFamily="2" charset="-122"/>
            </a:endParaRPr>
          </a:p>
          <a:p>
            <a:pPr eaLnBrk="1" hangingPunct="1">
              <a:lnSpc>
                <a:spcPct val="130000"/>
              </a:lnSpc>
              <a:spcBef>
                <a:spcPct val="0"/>
              </a:spcBef>
              <a:buClrTx/>
              <a:buFontTx/>
              <a:buChar char="•"/>
            </a:pPr>
            <a:r>
              <a:rPr lang="zh-CN" altLang="en-US" sz="2600" u="none">
                <a:ea typeface="楷体_GB2312" panose="02010609030101010101" pitchFamily="49" charset="-122"/>
              </a:rPr>
              <a:t>立即寻址                    </a:t>
            </a:r>
            <a:r>
              <a:rPr lang="en-US" altLang="zh-CN" sz="2000" u="none"/>
              <a:t>MOV  AX , 3069H</a:t>
            </a:r>
          </a:p>
          <a:p>
            <a:pPr eaLnBrk="1" hangingPunct="1">
              <a:lnSpc>
                <a:spcPct val="130000"/>
              </a:lnSpc>
              <a:spcBef>
                <a:spcPct val="0"/>
              </a:spcBef>
              <a:buClrTx/>
              <a:buFontTx/>
              <a:buChar char="•"/>
            </a:pPr>
            <a:r>
              <a:rPr lang="zh-CN" altLang="en-US" sz="2600" u="none">
                <a:ea typeface="楷体_GB2312" panose="02010609030101010101" pitchFamily="49" charset="-122"/>
              </a:rPr>
              <a:t>寄存器寻址                </a:t>
            </a:r>
            <a:r>
              <a:rPr lang="en-US" altLang="zh-CN" sz="2000" u="none"/>
              <a:t>MOV  AL , BH</a:t>
            </a:r>
            <a:endParaRPr lang="en-US" altLang="zh-CN" sz="2000" u="none">
              <a:ea typeface="楷体_GB2312" panose="02010609030101010101" pitchFamily="49" charset="-122"/>
            </a:endParaRPr>
          </a:p>
          <a:p>
            <a:pPr eaLnBrk="1" hangingPunct="1">
              <a:lnSpc>
                <a:spcPct val="130000"/>
              </a:lnSpc>
              <a:spcBef>
                <a:spcPct val="0"/>
              </a:spcBef>
              <a:buClrTx/>
              <a:buFontTx/>
              <a:buChar char="•"/>
            </a:pPr>
            <a:r>
              <a:rPr lang="zh-CN" altLang="en-US" sz="2600" u="none">
                <a:ea typeface="楷体_GB2312" panose="02010609030101010101" pitchFamily="49" charset="-122"/>
              </a:rPr>
              <a:t>直接寻址                    </a:t>
            </a:r>
            <a:r>
              <a:rPr lang="en-US" altLang="zh-CN" sz="2000" u="none"/>
              <a:t>MOV  AX , [ 2000H ]</a:t>
            </a:r>
            <a:endParaRPr lang="en-US" altLang="zh-CN" sz="2000" u="none">
              <a:ea typeface="楷体_GB2312" panose="02010609030101010101" pitchFamily="49" charset="-122"/>
            </a:endParaRPr>
          </a:p>
          <a:p>
            <a:pPr eaLnBrk="1" hangingPunct="1">
              <a:lnSpc>
                <a:spcPct val="130000"/>
              </a:lnSpc>
              <a:spcBef>
                <a:spcPct val="0"/>
              </a:spcBef>
              <a:buClrTx/>
              <a:buFontTx/>
              <a:buChar char="•"/>
            </a:pPr>
            <a:r>
              <a:rPr lang="zh-CN" altLang="en-US" sz="2600" u="none">
                <a:ea typeface="楷体_GB2312" panose="02010609030101010101" pitchFamily="49" charset="-122"/>
              </a:rPr>
              <a:t>寄存器间接寻址        </a:t>
            </a:r>
            <a:r>
              <a:rPr lang="en-US" altLang="zh-CN" sz="2000" u="none"/>
              <a:t>MOV  AX , [ BX ]</a:t>
            </a:r>
            <a:r>
              <a:rPr lang="en-US" altLang="zh-CN" sz="2400" u="none"/>
              <a:t> </a:t>
            </a:r>
            <a:endParaRPr lang="en-US" altLang="zh-CN" sz="2600" u="none">
              <a:ea typeface="楷体_GB2312" panose="02010609030101010101" pitchFamily="49" charset="-122"/>
            </a:endParaRPr>
          </a:p>
          <a:p>
            <a:pPr eaLnBrk="1" hangingPunct="1">
              <a:lnSpc>
                <a:spcPct val="130000"/>
              </a:lnSpc>
              <a:spcBef>
                <a:spcPct val="0"/>
              </a:spcBef>
              <a:buClrTx/>
              <a:buFontTx/>
              <a:buChar char="•"/>
            </a:pPr>
            <a:r>
              <a:rPr lang="zh-CN" altLang="en-US" sz="2600" u="none">
                <a:ea typeface="楷体_GB2312" panose="02010609030101010101" pitchFamily="49" charset="-122"/>
              </a:rPr>
              <a:t>寄存器相对寻址        </a:t>
            </a:r>
            <a:r>
              <a:rPr lang="en-US" altLang="zh-CN" sz="2000" u="none"/>
              <a:t>MOV  AX , COUNT [ SI ]</a:t>
            </a:r>
            <a:r>
              <a:rPr lang="en-US" altLang="zh-CN" sz="2400" u="none"/>
              <a:t> </a:t>
            </a:r>
            <a:endParaRPr lang="en-US" altLang="zh-CN" sz="2600" u="none">
              <a:ea typeface="楷体_GB2312" panose="02010609030101010101" pitchFamily="49" charset="-122"/>
            </a:endParaRPr>
          </a:p>
          <a:p>
            <a:pPr eaLnBrk="1" hangingPunct="1">
              <a:lnSpc>
                <a:spcPct val="130000"/>
              </a:lnSpc>
              <a:spcBef>
                <a:spcPct val="0"/>
              </a:spcBef>
              <a:buClrTx/>
              <a:buFontTx/>
              <a:buChar char="•"/>
            </a:pPr>
            <a:r>
              <a:rPr lang="zh-CN" altLang="en-US" sz="2600" u="none">
                <a:ea typeface="楷体_GB2312" panose="02010609030101010101" pitchFamily="49" charset="-122"/>
              </a:rPr>
              <a:t>基址变址寻址            </a:t>
            </a:r>
            <a:r>
              <a:rPr lang="en-US" altLang="zh-CN" sz="2000" u="none"/>
              <a:t>MOV  AX , [ BP ] [ DI ]</a:t>
            </a:r>
            <a:endParaRPr lang="en-US" altLang="zh-CN" sz="2000" u="none">
              <a:ea typeface="楷体_GB2312" panose="02010609030101010101" pitchFamily="49" charset="-122"/>
            </a:endParaRPr>
          </a:p>
          <a:p>
            <a:pPr eaLnBrk="1" hangingPunct="1">
              <a:lnSpc>
                <a:spcPct val="130000"/>
              </a:lnSpc>
              <a:spcBef>
                <a:spcPct val="0"/>
              </a:spcBef>
              <a:buClrTx/>
              <a:buFontTx/>
              <a:buChar char="•"/>
            </a:pPr>
            <a:r>
              <a:rPr lang="zh-CN" altLang="en-US" sz="2600" u="none">
                <a:ea typeface="楷体_GB2312" panose="02010609030101010101" pitchFamily="49" charset="-122"/>
              </a:rPr>
              <a:t>相对基址变址寻址    </a:t>
            </a:r>
            <a:r>
              <a:rPr lang="en-US" altLang="zh-CN" sz="2000" u="none"/>
              <a:t>MOV  AX , MASK [ BX ] [ SI ]</a:t>
            </a:r>
          </a:p>
        </p:txBody>
      </p:sp>
    </p:spTree>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ChangeArrowheads="1"/>
          </p:cNvSpPr>
          <p:nvPr/>
        </p:nvSpPr>
        <p:spPr bwMode="auto">
          <a:xfrm>
            <a:off x="1981200" y="762000"/>
            <a:ext cx="48402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800" u="none"/>
              <a:t>与转移地址有关的寻址方式：</a:t>
            </a:r>
          </a:p>
        </p:txBody>
      </p:sp>
      <p:sp>
        <p:nvSpPr>
          <p:cNvPr id="60419" name="Rectangle 3"/>
          <p:cNvSpPr>
            <a:spLocks noChangeArrowheads="1"/>
          </p:cNvSpPr>
          <p:nvPr/>
        </p:nvSpPr>
        <p:spPr bwMode="auto">
          <a:xfrm>
            <a:off x="2133600" y="1600200"/>
            <a:ext cx="6248400" cy="412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Char char="•"/>
            </a:pPr>
            <a:r>
              <a:rPr lang="en-US" altLang="zh-CN" sz="2600" u="none">
                <a:latin typeface="宋体" panose="02010600030101010101" pitchFamily="2" charset="-122"/>
              </a:rPr>
              <a:t>  </a:t>
            </a:r>
            <a:r>
              <a:rPr lang="zh-CN" altLang="en-US" sz="2600" u="none">
                <a:solidFill>
                  <a:schemeClr val="hlink"/>
                </a:solidFill>
                <a:latin typeface="宋体" panose="02010600030101010101" pitchFamily="2" charset="-122"/>
              </a:rPr>
              <a:t>段内</a:t>
            </a:r>
            <a:r>
              <a:rPr lang="zh-CN" altLang="en-US" sz="2600" u="none">
                <a:latin typeface="宋体" panose="02010600030101010101" pitchFamily="2" charset="-122"/>
              </a:rPr>
              <a:t>寻址</a:t>
            </a:r>
          </a:p>
          <a:p>
            <a:pPr eaLnBrk="1" hangingPunct="1">
              <a:spcBef>
                <a:spcPct val="50000"/>
              </a:spcBef>
              <a:buClrTx/>
              <a:buFontTx/>
              <a:buNone/>
            </a:pPr>
            <a:r>
              <a:rPr lang="zh-CN" altLang="en-US" sz="2400" u="none">
                <a:latin typeface="楷体_GB2312" panose="02010609030101010101" pitchFamily="49" charset="-122"/>
                <a:ea typeface="楷体_GB2312" panose="02010609030101010101" pitchFamily="49" charset="-122"/>
              </a:rPr>
              <a:t>   段内直接寻址    </a:t>
            </a:r>
            <a:r>
              <a:rPr lang="en-US" altLang="zh-CN" sz="2000" u="none"/>
              <a:t>JMP    NEAR PTR  NEXT </a:t>
            </a:r>
            <a:endParaRPr lang="en-US" altLang="zh-CN" sz="2400" u="none">
              <a:latin typeface="楷体_GB2312" panose="02010609030101010101" pitchFamily="49" charset="-122"/>
              <a:ea typeface="楷体_GB2312" panose="02010609030101010101" pitchFamily="49" charset="-122"/>
            </a:endParaRPr>
          </a:p>
          <a:p>
            <a:pPr eaLnBrk="1" hangingPunct="1">
              <a:spcBef>
                <a:spcPct val="50000"/>
              </a:spcBef>
              <a:buClrTx/>
              <a:buFontTx/>
              <a:buNone/>
            </a:pPr>
            <a:r>
              <a:rPr lang="en-US" altLang="zh-CN" sz="2400" u="none">
                <a:latin typeface="楷体_GB2312" panose="02010609030101010101" pitchFamily="49" charset="-122"/>
                <a:ea typeface="楷体_GB2312" panose="02010609030101010101" pitchFamily="49" charset="-122"/>
              </a:rPr>
              <a:t>   </a:t>
            </a:r>
            <a:r>
              <a:rPr lang="zh-CN" altLang="en-US" sz="2400" u="none">
                <a:latin typeface="楷体_GB2312" panose="02010609030101010101" pitchFamily="49" charset="-122"/>
                <a:ea typeface="楷体_GB2312" panose="02010609030101010101" pitchFamily="49" charset="-122"/>
              </a:rPr>
              <a:t>段内间接寻址    </a:t>
            </a:r>
            <a:r>
              <a:rPr lang="en-US" altLang="zh-CN" sz="2000" u="none"/>
              <a:t>JMP    TABLE [ BX ]</a:t>
            </a:r>
            <a:endParaRPr lang="en-US" altLang="zh-CN" sz="2400" u="none">
              <a:latin typeface="楷体_GB2312" panose="02010609030101010101" pitchFamily="49" charset="-122"/>
              <a:ea typeface="楷体_GB2312" panose="02010609030101010101" pitchFamily="49" charset="-122"/>
            </a:endParaRPr>
          </a:p>
          <a:p>
            <a:pPr eaLnBrk="1" hangingPunct="1">
              <a:spcBef>
                <a:spcPct val="50000"/>
              </a:spcBef>
              <a:buClrTx/>
              <a:buFontTx/>
              <a:buNone/>
            </a:pPr>
            <a:endParaRPr lang="en-US" altLang="zh-CN" sz="2600" u="none">
              <a:latin typeface="宋体" panose="02010600030101010101" pitchFamily="2" charset="-122"/>
            </a:endParaRPr>
          </a:p>
          <a:p>
            <a:pPr eaLnBrk="1" hangingPunct="1">
              <a:spcBef>
                <a:spcPct val="0"/>
              </a:spcBef>
              <a:buClrTx/>
              <a:buFontTx/>
              <a:buChar char="•"/>
            </a:pPr>
            <a:r>
              <a:rPr lang="en-US" altLang="zh-CN" sz="2600" u="none"/>
              <a:t>    </a:t>
            </a:r>
            <a:r>
              <a:rPr lang="zh-CN" altLang="en-US" sz="2600" u="none">
                <a:solidFill>
                  <a:schemeClr val="hlink"/>
                </a:solidFill>
              </a:rPr>
              <a:t>段间</a:t>
            </a:r>
            <a:r>
              <a:rPr lang="zh-CN" altLang="en-US" sz="2600" u="none"/>
              <a:t>寻址</a:t>
            </a:r>
            <a:endParaRPr lang="zh-CN" altLang="en-US" sz="2600" u="none">
              <a:latin typeface="宋体" panose="02010600030101010101" pitchFamily="2" charset="-122"/>
            </a:endParaRPr>
          </a:p>
          <a:p>
            <a:pPr eaLnBrk="1" hangingPunct="1">
              <a:spcBef>
                <a:spcPct val="50000"/>
              </a:spcBef>
              <a:buClrTx/>
              <a:buFontTx/>
              <a:buNone/>
            </a:pPr>
            <a:r>
              <a:rPr lang="zh-CN" altLang="en-US" sz="2200" u="none"/>
              <a:t>       </a:t>
            </a:r>
            <a:r>
              <a:rPr lang="zh-CN" altLang="en-US" sz="2400" u="none">
                <a:latin typeface="楷体_GB2312" panose="02010609030101010101" pitchFamily="49" charset="-122"/>
                <a:ea typeface="楷体_GB2312" panose="02010609030101010101" pitchFamily="49" charset="-122"/>
              </a:rPr>
              <a:t>段间直接寻址    </a:t>
            </a:r>
            <a:r>
              <a:rPr lang="en-US" altLang="zh-CN" sz="2000" u="none"/>
              <a:t>JMP    FAR PTR  NEXT</a:t>
            </a:r>
            <a:r>
              <a:rPr lang="en-US" altLang="zh-CN" sz="2400" u="none"/>
              <a:t> </a:t>
            </a:r>
            <a:endParaRPr lang="en-US" altLang="zh-CN" sz="2400" u="none">
              <a:latin typeface="楷体_GB2312" panose="02010609030101010101" pitchFamily="49" charset="-122"/>
              <a:ea typeface="楷体_GB2312" panose="02010609030101010101" pitchFamily="49" charset="-122"/>
            </a:endParaRPr>
          </a:p>
          <a:p>
            <a:pPr eaLnBrk="1" hangingPunct="1">
              <a:spcBef>
                <a:spcPct val="50000"/>
              </a:spcBef>
              <a:buClrTx/>
              <a:buFontTx/>
              <a:buNone/>
            </a:pPr>
            <a:r>
              <a:rPr lang="en-US" altLang="zh-CN" sz="2400" u="none">
                <a:latin typeface="楷体_GB2312" panose="02010609030101010101" pitchFamily="49" charset="-122"/>
                <a:ea typeface="楷体_GB2312" panose="02010609030101010101" pitchFamily="49" charset="-122"/>
              </a:rPr>
              <a:t>   </a:t>
            </a:r>
            <a:r>
              <a:rPr lang="zh-CN" altLang="en-US" sz="2400" u="none">
                <a:latin typeface="楷体_GB2312" panose="02010609030101010101" pitchFamily="49" charset="-122"/>
                <a:ea typeface="楷体_GB2312" panose="02010609030101010101" pitchFamily="49" charset="-122"/>
              </a:rPr>
              <a:t>段间间接寻址    </a:t>
            </a:r>
            <a:r>
              <a:rPr lang="en-US" altLang="zh-CN" sz="2000" u="none"/>
              <a:t>JMP    DWORD PTR [ BX ]</a:t>
            </a:r>
            <a:endParaRPr lang="en-US" altLang="zh-CN" sz="2000" u="none" baseline="30000">
              <a:sym typeface="Monotype Sorts" pitchFamily="2" charset="2"/>
            </a:endParaRPr>
          </a:p>
          <a:p>
            <a:pPr eaLnBrk="1" hangingPunct="1">
              <a:spcBef>
                <a:spcPct val="50000"/>
              </a:spcBef>
              <a:buClrTx/>
              <a:buFontTx/>
              <a:buNone/>
            </a:pPr>
            <a:endParaRPr lang="en-US" altLang="zh-CN" sz="2000" u="none"/>
          </a:p>
        </p:txBody>
      </p:sp>
    </p:spTree>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2514600" y="1905000"/>
            <a:ext cx="3276600" cy="346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600" u="none">
                <a:sym typeface="Symbol" panose="05050102010706020507" pitchFamily="18" charset="2"/>
              </a:rPr>
              <a:t> </a:t>
            </a:r>
            <a:r>
              <a:rPr lang="en-US" altLang="zh-CN" sz="2600" b="0" u="none">
                <a:sym typeface="Symbol" panose="05050102010706020507" pitchFamily="18" charset="2"/>
              </a:rPr>
              <a:t>  </a:t>
            </a:r>
            <a:r>
              <a:rPr lang="zh-CN" altLang="en-US" sz="2600" u="none"/>
              <a:t>数据传送指令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算术指令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逻辑指令</a:t>
            </a:r>
            <a:endParaRPr lang="zh-CN" altLang="en-US" sz="2600" u="none">
              <a:hlinkClick r:id="rId2" action="ppaction://hlinksldjump"/>
            </a:endParaRPr>
          </a:p>
          <a:p>
            <a:pPr eaLnBrk="1" hangingPunct="1">
              <a:spcBef>
                <a:spcPct val="50000"/>
              </a:spcBef>
              <a:buClrTx/>
              <a:buFontTx/>
              <a:buNone/>
            </a:pPr>
            <a:r>
              <a:rPr lang="zh-CN" altLang="en-US" sz="2600" u="none">
                <a:sym typeface="Symbol" panose="05050102010706020507" pitchFamily="18" charset="2"/>
              </a:rPr>
              <a:t>  </a:t>
            </a:r>
            <a:r>
              <a:rPr lang="zh-CN" altLang="en-US" sz="2600" u="none"/>
              <a:t> 串处理指令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控制转移指令</a:t>
            </a:r>
          </a:p>
          <a:p>
            <a:pPr eaLnBrk="1" hangingPunct="1">
              <a:spcBef>
                <a:spcPct val="50000"/>
              </a:spcBef>
              <a:buClrTx/>
              <a:buFontTx/>
              <a:buNone/>
            </a:pPr>
            <a:r>
              <a:rPr lang="zh-CN" altLang="en-US" sz="2600" u="none">
                <a:sym typeface="Symbol" panose="05050102010706020507" pitchFamily="18" charset="2"/>
              </a:rPr>
              <a:t>  </a:t>
            </a:r>
            <a:r>
              <a:rPr lang="zh-CN" altLang="en-US" sz="2600" u="none"/>
              <a:t> 处理机控制指令</a:t>
            </a:r>
            <a:endParaRPr lang="zh-CN" altLang="en-US" sz="2600" b="0" u="none"/>
          </a:p>
        </p:txBody>
      </p:sp>
      <p:sp>
        <p:nvSpPr>
          <p:cNvPr id="61443" name="Rectangle 3"/>
          <p:cNvSpPr>
            <a:spLocks noChangeArrowheads="1"/>
          </p:cNvSpPr>
          <p:nvPr/>
        </p:nvSpPr>
        <p:spPr bwMode="auto">
          <a:xfrm>
            <a:off x="1828800" y="685800"/>
            <a:ext cx="41290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hlink"/>
                </a:solidFill>
                <a:latin typeface="Arial" panose="020B0604020202020204" pitchFamily="34" charset="0"/>
              </a:rPr>
              <a:t>2.  8086</a:t>
            </a:r>
            <a:r>
              <a:rPr lang="zh-CN" altLang="en-US" sz="3600" u="none">
                <a:solidFill>
                  <a:schemeClr val="hlink"/>
                </a:solidFill>
                <a:latin typeface="Arial" panose="020B0604020202020204" pitchFamily="34" charset="0"/>
              </a:rPr>
              <a:t>的指令系统</a:t>
            </a:r>
          </a:p>
        </p:txBody>
      </p:sp>
    </p:spTree>
  </p:cSld>
  <p:clrMapOvr>
    <a:masterClrMapping/>
  </p:clrMapOvr>
  <p:transition>
    <p:random/>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
          <p:cNvSpPr txBox="1">
            <a:spLocks noChangeArrowheads="1"/>
          </p:cNvSpPr>
          <p:nvPr/>
        </p:nvSpPr>
        <p:spPr bwMode="auto">
          <a:xfrm>
            <a:off x="2209800" y="1066800"/>
            <a:ext cx="5746750"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u="none">
                <a:solidFill>
                  <a:schemeClr val="hlink"/>
                </a:solidFill>
                <a:ea typeface="楷体_GB2312" panose="02010609030101010101" pitchFamily="49" charset="-122"/>
              </a:rPr>
              <a:t>重点关注！</a:t>
            </a:r>
          </a:p>
          <a:p>
            <a:pPr eaLnBrk="1" hangingPunct="1">
              <a:spcBef>
                <a:spcPct val="50000"/>
              </a:spcBef>
              <a:buClrTx/>
              <a:buFontTx/>
              <a:buChar char="•"/>
            </a:pPr>
            <a:r>
              <a:rPr lang="zh-CN" altLang="en-US" u="none">
                <a:ea typeface="楷体_GB2312" panose="02010609030101010101" pitchFamily="49" charset="-122"/>
              </a:rPr>
              <a:t>指令的汇编格式</a:t>
            </a:r>
          </a:p>
          <a:p>
            <a:pPr eaLnBrk="1" hangingPunct="1">
              <a:spcBef>
                <a:spcPct val="50000"/>
              </a:spcBef>
              <a:buClrTx/>
              <a:buFontTx/>
              <a:buChar char="•"/>
            </a:pPr>
            <a:r>
              <a:rPr lang="zh-CN" altLang="en-US" u="none">
                <a:ea typeface="楷体_GB2312" panose="02010609030101010101" pitchFamily="49" charset="-122"/>
              </a:rPr>
              <a:t>指令的基本功能</a:t>
            </a:r>
          </a:p>
          <a:p>
            <a:pPr eaLnBrk="1" hangingPunct="1">
              <a:spcBef>
                <a:spcPct val="50000"/>
              </a:spcBef>
              <a:buClrTx/>
              <a:buFontTx/>
              <a:buChar char="•"/>
            </a:pPr>
            <a:r>
              <a:rPr lang="zh-CN" altLang="en-US" u="none">
                <a:ea typeface="楷体_GB2312" panose="02010609030101010101" pitchFamily="49" charset="-122"/>
              </a:rPr>
              <a:t>指令支持的寻址方式</a:t>
            </a:r>
          </a:p>
          <a:p>
            <a:pPr eaLnBrk="1" hangingPunct="1">
              <a:spcBef>
                <a:spcPct val="50000"/>
              </a:spcBef>
              <a:buClrTx/>
              <a:buFontTx/>
              <a:buChar char="•"/>
            </a:pPr>
            <a:r>
              <a:rPr lang="zh-CN" altLang="en-US" u="none">
                <a:ea typeface="楷体_GB2312" panose="02010609030101010101" pitchFamily="49" charset="-122"/>
              </a:rPr>
              <a:t>指令的执行对标志位的影响</a:t>
            </a:r>
          </a:p>
          <a:p>
            <a:pPr eaLnBrk="1" hangingPunct="1">
              <a:spcBef>
                <a:spcPct val="50000"/>
              </a:spcBef>
              <a:buClrTx/>
              <a:buFontTx/>
              <a:buChar char="•"/>
            </a:pPr>
            <a:r>
              <a:rPr lang="zh-CN" altLang="en-US" u="none">
                <a:ea typeface="楷体_GB2312" panose="02010609030101010101" pitchFamily="49" charset="-122"/>
              </a:rPr>
              <a:t>指令的特殊要求</a:t>
            </a:r>
          </a:p>
        </p:txBody>
      </p:sp>
      <p:sp>
        <p:nvSpPr>
          <p:cNvPr id="62467" name="Text Box 3"/>
          <p:cNvSpPr txBox="1">
            <a:spLocks noChangeArrowheads="1"/>
          </p:cNvSpPr>
          <p:nvPr/>
        </p:nvSpPr>
        <p:spPr bwMode="auto">
          <a:xfrm>
            <a:off x="1905000" y="1219200"/>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endParaRPr lang="zh-CN" altLang="zh-CN" sz="2800" u="none"/>
          </a:p>
        </p:txBody>
      </p:sp>
      <p:sp>
        <p:nvSpPr>
          <p:cNvPr id="34820" name="AutoShape 4"/>
          <p:cNvSpPr>
            <a:spLocks noChangeArrowheads="1"/>
          </p:cNvSpPr>
          <p:nvPr/>
        </p:nvSpPr>
        <p:spPr bwMode="auto">
          <a:xfrm>
            <a:off x="4343400" y="1143000"/>
            <a:ext cx="533400" cy="457200"/>
          </a:xfrm>
          <a:prstGeom prst="star5">
            <a:avLst/>
          </a:prstGeom>
          <a:solidFill>
            <a:srgbClr val="FF0000"/>
          </a:solidFill>
          <a:ln w="9525">
            <a:solidFill>
              <a:schemeClr val="tx1"/>
            </a:solidFill>
            <a:miter lim="800000"/>
          </a:ln>
          <a:effectLst/>
        </p:spPr>
        <p:txBody>
          <a:bodyPr wrap="none" anchor="ctr"/>
          <a:lstStyle/>
          <a:p>
            <a:pPr algn="ctr" eaLnBrk="1" hangingPunct="1">
              <a:defRPr/>
            </a:pPr>
            <a:endParaRPr lang="zh-CN" altLang="zh-CN">
              <a:solidFill>
                <a:srgbClr val="FF0000"/>
              </a:solidFill>
              <a:ea typeface="宋体" panose="02010600030101010101" pitchFamily="2" charset="-122"/>
            </a:endParaRPr>
          </a:p>
        </p:txBody>
      </p:sp>
    </p:spTree>
  </p:cSld>
  <p:clrMapOvr>
    <a:masterClrMapping/>
  </p:clrMapOvr>
  <p:transition>
    <p:rand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body" idx="1"/>
          </p:nvPr>
        </p:nvSpPr>
        <p:spPr>
          <a:xfrm>
            <a:off x="1835150" y="838200"/>
            <a:ext cx="5861050" cy="5257800"/>
          </a:xfrm>
        </p:spPr>
        <p:txBody>
          <a:bodyPr/>
          <a:lstStyle/>
          <a:p>
            <a:pPr algn="just" eaLnBrk="1" hangingPunct="1">
              <a:buFont typeface="Wingdings" panose="05000000000000000000" pitchFamily="2" charset="2"/>
              <a:buNone/>
              <a:defRPr/>
            </a:pPr>
            <a:r>
              <a:rPr lang="zh-CN" altLang="en-US" sz="2800" dirty="0">
                <a:solidFill>
                  <a:schemeClr val="hlink"/>
                </a:solidFill>
              </a:rPr>
              <a:t>数据传送指令</a:t>
            </a:r>
            <a:r>
              <a:rPr lang="zh-CN" altLang="en-US" sz="2600" dirty="0"/>
              <a:t>：</a:t>
            </a:r>
          </a:p>
          <a:p>
            <a:pPr algn="just" eaLnBrk="1" hangingPunct="1">
              <a:buFont typeface="Wingdings" panose="05000000000000000000" pitchFamily="2" charset="2"/>
              <a:buNone/>
              <a:defRPr/>
            </a:pPr>
            <a:endParaRPr lang="zh-CN" altLang="en-US" sz="2600" dirty="0"/>
          </a:p>
          <a:p>
            <a:pPr lvl="2" algn="just" eaLnBrk="1" hangingPunct="1">
              <a:lnSpc>
                <a:spcPct val="130000"/>
              </a:lnSpc>
              <a:buFontTx/>
              <a:buNone/>
              <a:defRPr/>
            </a:pPr>
            <a:r>
              <a:rPr lang="zh-CN" altLang="en-US" sz="1800" dirty="0">
                <a:sym typeface="Symbol" panose="05050102010706020507" pitchFamily="18" charset="2"/>
              </a:rPr>
              <a:t></a:t>
            </a:r>
            <a:r>
              <a:rPr lang="zh-CN" altLang="en-US" sz="2000" dirty="0">
                <a:sym typeface="Symbol" panose="05050102010706020507" pitchFamily="18" charset="2"/>
              </a:rPr>
              <a:t>   </a:t>
            </a:r>
            <a:r>
              <a:rPr lang="zh-CN" altLang="en-US" dirty="0">
                <a:ea typeface="楷体_GB2312" panose="02010609030101010101" pitchFamily="49" charset="-122"/>
              </a:rPr>
              <a:t>通用数据传送指令</a:t>
            </a:r>
          </a:p>
          <a:p>
            <a:pPr lvl="2" algn="just" eaLnBrk="1" hangingPunct="1">
              <a:lnSpc>
                <a:spcPct val="130000"/>
              </a:lnSpc>
              <a:buFontTx/>
              <a:buNone/>
              <a:defRPr/>
            </a:pPr>
            <a:r>
              <a:rPr lang="zh-CN" altLang="en-US" sz="2000" dirty="0"/>
              <a:t>      </a:t>
            </a:r>
            <a:r>
              <a:rPr lang="en-US" altLang="zh-CN" sz="2000" dirty="0">
                <a:solidFill>
                  <a:schemeClr val="hlink"/>
                </a:solidFill>
              </a:rPr>
              <a:t>MOV</a:t>
            </a:r>
            <a:r>
              <a:rPr lang="zh-CN" altLang="en-US" sz="2000" dirty="0"/>
              <a:t>、</a:t>
            </a:r>
            <a:r>
              <a:rPr lang="en-US" altLang="zh-CN" sz="2000" dirty="0">
                <a:solidFill>
                  <a:schemeClr val="hlink"/>
                </a:solidFill>
              </a:rPr>
              <a:t>PUSH</a:t>
            </a:r>
            <a:r>
              <a:rPr lang="zh-CN" altLang="en-US" sz="2000" dirty="0"/>
              <a:t>、</a:t>
            </a:r>
            <a:r>
              <a:rPr lang="en-US" altLang="zh-CN" sz="2000" dirty="0">
                <a:solidFill>
                  <a:schemeClr val="hlink"/>
                </a:solidFill>
              </a:rPr>
              <a:t>POP</a:t>
            </a:r>
            <a:r>
              <a:rPr lang="zh-CN" altLang="en-US" sz="2000" dirty="0"/>
              <a:t>、</a:t>
            </a:r>
            <a:r>
              <a:rPr lang="en-US" altLang="zh-CN" sz="2000" dirty="0">
                <a:solidFill>
                  <a:schemeClr val="hlink"/>
                </a:solidFill>
              </a:rPr>
              <a:t>XCHG</a:t>
            </a:r>
            <a:r>
              <a:rPr lang="en-US" altLang="zh-CN" sz="2000" dirty="0"/>
              <a:t> </a:t>
            </a:r>
          </a:p>
          <a:p>
            <a:pPr lvl="2" algn="just" eaLnBrk="1" hangingPunct="1">
              <a:lnSpc>
                <a:spcPct val="130000"/>
              </a:lnSpc>
              <a:buFontTx/>
              <a:buNone/>
              <a:defRPr/>
            </a:pPr>
            <a:r>
              <a:rPr lang="en-US" altLang="zh-CN" sz="1800" dirty="0">
                <a:sym typeface="Symbol" panose="05050102010706020507" pitchFamily="18" charset="2"/>
              </a:rPr>
              <a:t></a:t>
            </a:r>
            <a:r>
              <a:rPr lang="en-US" altLang="zh-CN" sz="2000" dirty="0">
                <a:sym typeface="Symbol" panose="05050102010706020507" pitchFamily="18" charset="2"/>
              </a:rPr>
              <a:t>   </a:t>
            </a:r>
            <a:r>
              <a:rPr lang="zh-CN" altLang="en-US" dirty="0">
                <a:ea typeface="楷体_GB2312" panose="02010609030101010101" pitchFamily="49" charset="-122"/>
              </a:rPr>
              <a:t>累加器专用传送指令</a:t>
            </a:r>
          </a:p>
          <a:p>
            <a:pPr lvl="2" algn="just" eaLnBrk="1" hangingPunct="1">
              <a:lnSpc>
                <a:spcPct val="130000"/>
              </a:lnSpc>
              <a:buFontTx/>
              <a:buNone/>
              <a:defRPr/>
            </a:pPr>
            <a:r>
              <a:rPr lang="zh-CN" altLang="en-US" sz="2000" dirty="0"/>
              <a:t>      </a:t>
            </a:r>
            <a:r>
              <a:rPr lang="en-US" altLang="zh-CN" sz="2000" dirty="0"/>
              <a:t>IN</a:t>
            </a:r>
            <a:r>
              <a:rPr lang="zh-CN" altLang="en-US" sz="2000" dirty="0"/>
              <a:t>、</a:t>
            </a:r>
            <a:r>
              <a:rPr lang="en-US" altLang="zh-CN" sz="2000" dirty="0"/>
              <a:t>OUT</a:t>
            </a:r>
            <a:r>
              <a:rPr lang="zh-CN" altLang="en-US" sz="2000" dirty="0"/>
              <a:t>、</a:t>
            </a:r>
            <a:r>
              <a:rPr lang="en-US" altLang="zh-CN" sz="2800" dirty="0">
                <a:solidFill>
                  <a:schemeClr val="hlink"/>
                </a:solidFill>
                <a:cs typeface="+mn-cs"/>
              </a:rPr>
              <a:t>XLAT</a:t>
            </a:r>
            <a:r>
              <a:rPr lang="en-US" altLang="zh-CN" sz="2000" dirty="0">
                <a:solidFill>
                  <a:schemeClr val="accent2"/>
                </a:solidFill>
              </a:rPr>
              <a:t> </a:t>
            </a:r>
          </a:p>
          <a:p>
            <a:pPr lvl="2" algn="just" eaLnBrk="1" hangingPunct="1">
              <a:lnSpc>
                <a:spcPct val="130000"/>
              </a:lnSpc>
              <a:buFontTx/>
              <a:buNone/>
              <a:defRPr/>
            </a:pPr>
            <a:r>
              <a:rPr lang="en-US" altLang="zh-CN" sz="1800" dirty="0">
                <a:sym typeface="Symbol" panose="05050102010706020507" pitchFamily="18" charset="2"/>
              </a:rPr>
              <a:t></a:t>
            </a:r>
            <a:r>
              <a:rPr lang="en-US" altLang="zh-CN" dirty="0">
                <a:sym typeface="Symbol" panose="05050102010706020507" pitchFamily="18" charset="2"/>
              </a:rPr>
              <a:t>   </a:t>
            </a:r>
            <a:r>
              <a:rPr lang="zh-CN" altLang="en-US" dirty="0">
                <a:ea typeface="楷体_GB2312" panose="02010609030101010101" pitchFamily="49" charset="-122"/>
              </a:rPr>
              <a:t>地址传送指令</a:t>
            </a:r>
          </a:p>
          <a:p>
            <a:pPr lvl="2" algn="just" eaLnBrk="1" hangingPunct="1">
              <a:lnSpc>
                <a:spcPct val="130000"/>
              </a:lnSpc>
              <a:buFontTx/>
              <a:buNone/>
              <a:defRPr/>
            </a:pPr>
            <a:r>
              <a:rPr lang="zh-CN" altLang="en-US" sz="2000" dirty="0"/>
              <a:t>      </a:t>
            </a:r>
            <a:r>
              <a:rPr lang="en-US" altLang="zh-CN" sz="2000" dirty="0">
                <a:solidFill>
                  <a:schemeClr val="hlink"/>
                </a:solidFill>
              </a:rPr>
              <a:t>LEA</a:t>
            </a:r>
            <a:r>
              <a:rPr lang="zh-CN" altLang="en-US" sz="2000" dirty="0"/>
              <a:t>、</a:t>
            </a:r>
            <a:r>
              <a:rPr lang="en-US" altLang="zh-CN" sz="2000" dirty="0"/>
              <a:t>LDS</a:t>
            </a:r>
            <a:r>
              <a:rPr lang="zh-CN" altLang="en-US" sz="2000" dirty="0"/>
              <a:t>、</a:t>
            </a:r>
            <a:r>
              <a:rPr lang="en-US" altLang="zh-CN" sz="2000" dirty="0"/>
              <a:t>LES </a:t>
            </a:r>
          </a:p>
          <a:p>
            <a:pPr lvl="2" algn="just" eaLnBrk="1" hangingPunct="1">
              <a:lnSpc>
                <a:spcPct val="130000"/>
              </a:lnSpc>
              <a:buFontTx/>
              <a:buNone/>
              <a:defRPr/>
            </a:pPr>
            <a:r>
              <a:rPr lang="en-US" altLang="zh-CN" sz="1800" dirty="0">
                <a:sym typeface="Symbol" panose="05050102010706020507" pitchFamily="18" charset="2"/>
              </a:rPr>
              <a:t></a:t>
            </a:r>
            <a:r>
              <a:rPr lang="en-US" altLang="zh-CN" sz="2000" dirty="0">
                <a:sym typeface="Symbol" panose="05050102010706020507" pitchFamily="18" charset="2"/>
              </a:rPr>
              <a:t>   </a:t>
            </a:r>
            <a:r>
              <a:rPr lang="zh-CN" altLang="en-US" dirty="0">
                <a:ea typeface="楷体_GB2312" panose="02010609030101010101" pitchFamily="49" charset="-122"/>
              </a:rPr>
              <a:t>标志寄存器传送指令</a:t>
            </a:r>
          </a:p>
          <a:p>
            <a:pPr lvl="2" algn="just" eaLnBrk="1" hangingPunct="1">
              <a:lnSpc>
                <a:spcPct val="130000"/>
              </a:lnSpc>
              <a:buFontTx/>
              <a:buNone/>
              <a:defRPr/>
            </a:pPr>
            <a:r>
              <a:rPr lang="zh-CN" altLang="en-US" sz="2000" dirty="0"/>
              <a:t>      </a:t>
            </a:r>
            <a:r>
              <a:rPr lang="en-US" altLang="zh-CN" sz="2000" dirty="0"/>
              <a:t>LAHF</a:t>
            </a:r>
            <a:r>
              <a:rPr lang="zh-CN" altLang="en-US" sz="2000" dirty="0"/>
              <a:t>、</a:t>
            </a:r>
            <a:r>
              <a:rPr lang="en-US" altLang="zh-CN" sz="2000" dirty="0"/>
              <a:t>SAHF</a:t>
            </a:r>
            <a:r>
              <a:rPr lang="zh-CN" altLang="en-US" sz="2000" dirty="0"/>
              <a:t>、</a:t>
            </a:r>
            <a:r>
              <a:rPr lang="en-US" altLang="zh-CN" sz="2000" dirty="0"/>
              <a:t>PUSHF</a:t>
            </a:r>
            <a:r>
              <a:rPr lang="zh-CN" altLang="en-US" sz="2000" dirty="0"/>
              <a:t>、</a:t>
            </a:r>
            <a:r>
              <a:rPr lang="en-US" altLang="zh-CN" sz="2000" dirty="0"/>
              <a:t>POPF </a:t>
            </a:r>
          </a:p>
        </p:txBody>
      </p:sp>
    </p:spTree>
  </p:cSld>
  <p:clrMapOvr>
    <a:masterClrMapping/>
  </p:clrMapOvr>
  <p:transition>
    <p:rand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ChangeArrowheads="1"/>
          </p:cNvSpPr>
          <p:nvPr/>
        </p:nvSpPr>
        <p:spPr bwMode="auto">
          <a:xfrm>
            <a:off x="1752600" y="381000"/>
            <a:ext cx="6705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buClr>
                <a:schemeClr val="tx2"/>
              </a:buClr>
              <a:buSzPct val="90000"/>
              <a:buFont typeface="Symbol" panose="05050102010706020507" pitchFamily="18" charset="2"/>
              <a:buNone/>
            </a:pPr>
            <a:r>
              <a:rPr lang="zh-CN" altLang="en-US" sz="2600" u="none">
                <a:solidFill>
                  <a:schemeClr val="hlink"/>
                </a:solidFill>
              </a:rPr>
              <a:t>算术指令：</a:t>
            </a:r>
            <a:endParaRPr lang="zh-CN" altLang="en-US" sz="2600" b="0" u="none">
              <a:solidFill>
                <a:schemeClr val="hlink"/>
              </a:solidFill>
            </a:endParaRPr>
          </a:p>
          <a:p>
            <a:pPr lvl="2" algn="just" eaLnBrk="1" hangingPunct="1">
              <a:lnSpc>
                <a:spcPct val="115000"/>
              </a:lnSpc>
              <a:buFontTx/>
              <a:buNone/>
            </a:pPr>
            <a:r>
              <a:rPr lang="zh-CN" altLang="en-US" sz="1800" u="none">
                <a:sym typeface="Symbol" panose="05050102010706020507" pitchFamily="18" charset="2"/>
              </a:rPr>
              <a:t></a:t>
            </a:r>
            <a:r>
              <a:rPr lang="zh-CN" altLang="en-US" sz="2000" u="none">
                <a:sym typeface="Symbol" panose="05050102010706020507" pitchFamily="18" charset="2"/>
              </a:rPr>
              <a:t>   </a:t>
            </a:r>
            <a:r>
              <a:rPr lang="zh-CN" altLang="en-US" u="none">
                <a:ea typeface="楷体_GB2312" panose="02010609030101010101" pitchFamily="49" charset="-122"/>
              </a:rPr>
              <a:t>加法指令</a:t>
            </a:r>
          </a:p>
          <a:p>
            <a:pPr lvl="2" algn="just" eaLnBrk="1" hangingPunct="1">
              <a:lnSpc>
                <a:spcPct val="115000"/>
              </a:lnSpc>
              <a:buFontTx/>
              <a:buNone/>
            </a:pPr>
            <a:r>
              <a:rPr lang="zh-CN" altLang="en-US" sz="2000" u="none"/>
              <a:t>      </a:t>
            </a:r>
            <a:r>
              <a:rPr lang="en-US" altLang="zh-CN" sz="2000" u="none">
                <a:solidFill>
                  <a:schemeClr val="hlink"/>
                </a:solidFill>
              </a:rPr>
              <a:t>ADD</a:t>
            </a:r>
            <a:r>
              <a:rPr lang="zh-CN" altLang="en-US" sz="2000" u="none">
                <a:solidFill>
                  <a:schemeClr val="hlink"/>
                </a:solidFill>
              </a:rPr>
              <a:t>、</a:t>
            </a:r>
            <a:r>
              <a:rPr lang="en-US" altLang="zh-CN" sz="2000" u="none">
                <a:solidFill>
                  <a:schemeClr val="hlink"/>
                </a:solidFill>
              </a:rPr>
              <a:t>ADC</a:t>
            </a:r>
            <a:r>
              <a:rPr lang="zh-CN" altLang="en-US" sz="2000" u="none">
                <a:solidFill>
                  <a:schemeClr val="hlink"/>
                </a:solidFill>
              </a:rPr>
              <a:t>、</a:t>
            </a:r>
            <a:r>
              <a:rPr lang="en-US" altLang="zh-CN" sz="2000" u="none">
                <a:solidFill>
                  <a:schemeClr val="hlink"/>
                </a:solidFill>
              </a:rPr>
              <a:t>INC</a:t>
            </a:r>
          </a:p>
          <a:p>
            <a:pPr lvl="2" algn="just" eaLnBrk="1" hangingPunct="1">
              <a:lnSpc>
                <a:spcPct val="115000"/>
              </a:lnSpc>
              <a:buFontTx/>
              <a:buNone/>
            </a:pPr>
            <a:r>
              <a:rPr lang="en-US" altLang="zh-CN" sz="1800" u="none">
                <a:sym typeface="Symbol" panose="05050102010706020507" pitchFamily="18" charset="2"/>
              </a:rPr>
              <a:t></a:t>
            </a:r>
            <a:r>
              <a:rPr lang="en-US" altLang="zh-CN" sz="2000" u="none">
                <a:sym typeface="Symbol" panose="05050102010706020507" pitchFamily="18" charset="2"/>
              </a:rPr>
              <a:t>   </a:t>
            </a:r>
            <a:r>
              <a:rPr lang="zh-CN" altLang="en-US" u="none">
                <a:ea typeface="楷体_GB2312" panose="02010609030101010101" pitchFamily="49" charset="-122"/>
              </a:rPr>
              <a:t>减法指令</a:t>
            </a:r>
          </a:p>
          <a:p>
            <a:pPr lvl="2" algn="just" eaLnBrk="1" hangingPunct="1">
              <a:lnSpc>
                <a:spcPct val="115000"/>
              </a:lnSpc>
              <a:buFontTx/>
              <a:buNone/>
            </a:pPr>
            <a:r>
              <a:rPr lang="zh-CN" altLang="en-US" sz="2000" u="none"/>
              <a:t>      </a:t>
            </a:r>
            <a:r>
              <a:rPr lang="en-US" altLang="zh-CN" sz="2000" u="none">
                <a:solidFill>
                  <a:schemeClr val="hlink"/>
                </a:solidFill>
              </a:rPr>
              <a:t>SUB</a:t>
            </a:r>
            <a:r>
              <a:rPr lang="zh-CN" altLang="en-US" sz="2000" u="none">
                <a:solidFill>
                  <a:schemeClr val="hlink"/>
                </a:solidFill>
              </a:rPr>
              <a:t>、</a:t>
            </a:r>
            <a:r>
              <a:rPr lang="en-US" altLang="zh-CN" sz="2000" u="none">
                <a:solidFill>
                  <a:schemeClr val="hlink"/>
                </a:solidFill>
              </a:rPr>
              <a:t>SBB</a:t>
            </a:r>
            <a:r>
              <a:rPr lang="zh-CN" altLang="en-US" sz="2000" u="none">
                <a:solidFill>
                  <a:schemeClr val="hlink"/>
                </a:solidFill>
              </a:rPr>
              <a:t>、</a:t>
            </a:r>
            <a:r>
              <a:rPr lang="en-US" altLang="zh-CN" sz="2000" u="none">
                <a:solidFill>
                  <a:schemeClr val="hlink"/>
                </a:solidFill>
              </a:rPr>
              <a:t>DEC</a:t>
            </a:r>
            <a:r>
              <a:rPr lang="zh-CN" altLang="en-US" sz="2000" u="none">
                <a:solidFill>
                  <a:schemeClr val="hlink"/>
                </a:solidFill>
              </a:rPr>
              <a:t>、</a:t>
            </a:r>
            <a:r>
              <a:rPr lang="en-US" altLang="zh-CN" sz="2000" u="none">
                <a:solidFill>
                  <a:schemeClr val="hlink"/>
                </a:solidFill>
              </a:rPr>
              <a:t>NEG</a:t>
            </a:r>
            <a:r>
              <a:rPr lang="zh-CN" altLang="en-US" sz="2000" u="none">
                <a:solidFill>
                  <a:schemeClr val="hlink"/>
                </a:solidFill>
              </a:rPr>
              <a:t>、</a:t>
            </a:r>
            <a:r>
              <a:rPr lang="en-US" altLang="zh-CN" sz="2000" u="none">
                <a:solidFill>
                  <a:schemeClr val="hlink"/>
                </a:solidFill>
              </a:rPr>
              <a:t>CMP</a:t>
            </a:r>
          </a:p>
          <a:p>
            <a:pPr lvl="2" algn="just" eaLnBrk="1" hangingPunct="1">
              <a:lnSpc>
                <a:spcPct val="115000"/>
              </a:lnSpc>
              <a:buFontTx/>
              <a:buNone/>
            </a:pPr>
            <a:r>
              <a:rPr lang="en-US" altLang="zh-CN" sz="1800" u="none">
                <a:sym typeface="Symbol" panose="05050102010706020507" pitchFamily="18" charset="2"/>
              </a:rPr>
              <a:t></a:t>
            </a:r>
            <a:r>
              <a:rPr lang="en-US" altLang="zh-CN" u="none">
                <a:sym typeface="Symbol" panose="05050102010706020507" pitchFamily="18" charset="2"/>
              </a:rPr>
              <a:t>   </a:t>
            </a:r>
            <a:r>
              <a:rPr lang="zh-CN" altLang="en-US" u="none">
                <a:ea typeface="楷体_GB2312" panose="02010609030101010101" pitchFamily="49" charset="-122"/>
              </a:rPr>
              <a:t>乘法指令</a:t>
            </a:r>
          </a:p>
          <a:p>
            <a:pPr lvl="2" algn="just" eaLnBrk="1" hangingPunct="1">
              <a:lnSpc>
                <a:spcPct val="115000"/>
              </a:lnSpc>
              <a:buFontTx/>
              <a:buNone/>
            </a:pPr>
            <a:r>
              <a:rPr lang="zh-CN" altLang="en-US" sz="2000" u="none"/>
              <a:t>      </a:t>
            </a:r>
            <a:r>
              <a:rPr lang="en-US" altLang="zh-CN" sz="2000" u="none">
                <a:solidFill>
                  <a:schemeClr val="hlink"/>
                </a:solidFill>
              </a:rPr>
              <a:t>MUL</a:t>
            </a:r>
            <a:r>
              <a:rPr lang="zh-CN" altLang="en-US" sz="2000" u="none">
                <a:solidFill>
                  <a:schemeClr val="hlink"/>
                </a:solidFill>
              </a:rPr>
              <a:t>、</a:t>
            </a:r>
            <a:r>
              <a:rPr lang="en-US" altLang="zh-CN" sz="2000" u="none">
                <a:solidFill>
                  <a:schemeClr val="hlink"/>
                </a:solidFill>
              </a:rPr>
              <a:t>IMUL  </a:t>
            </a:r>
          </a:p>
          <a:p>
            <a:pPr lvl="2" algn="just" eaLnBrk="1" hangingPunct="1">
              <a:lnSpc>
                <a:spcPct val="115000"/>
              </a:lnSpc>
              <a:buFontTx/>
              <a:buNone/>
            </a:pPr>
            <a:r>
              <a:rPr lang="en-US" altLang="zh-CN" sz="1800" u="none">
                <a:sym typeface="Symbol" panose="05050102010706020507" pitchFamily="18" charset="2"/>
              </a:rPr>
              <a:t></a:t>
            </a:r>
            <a:r>
              <a:rPr lang="en-US" altLang="zh-CN" sz="2000" u="none">
                <a:sym typeface="Symbol" panose="05050102010706020507" pitchFamily="18" charset="2"/>
              </a:rPr>
              <a:t>   </a:t>
            </a:r>
            <a:r>
              <a:rPr lang="zh-CN" altLang="en-US" u="none">
                <a:ea typeface="楷体_GB2312" panose="02010609030101010101" pitchFamily="49" charset="-122"/>
              </a:rPr>
              <a:t>除法指令</a:t>
            </a:r>
          </a:p>
          <a:p>
            <a:pPr lvl="2" algn="just" eaLnBrk="1" hangingPunct="1">
              <a:lnSpc>
                <a:spcPct val="115000"/>
              </a:lnSpc>
              <a:buFontTx/>
              <a:buNone/>
            </a:pPr>
            <a:r>
              <a:rPr lang="zh-CN" altLang="en-US" sz="2000" u="none"/>
              <a:t>      </a:t>
            </a:r>
            <a:r>
              <a:rPr lang="en-US" altLang="zh-CN" sz="2000" u="none">
                <a:solidFill>
                  <a:schemeClr val="hlink"/>
                </a:solidFill>
              </a:rPr>
              <a:t>DIV</a:t>
            </a:r>
            <a:r>
              <a:rPr lang="zh-CN" altLang="en-US" sz="2000" u="none">
                <a:solidFill>
                  <a:schemeClr val="hlink"/>
                </a:solidFill>
              </a:rPr>
              <a:t>、</a:t>
            </a:r>
            <a:r>
              <a:rPr lang="en-US" altLang="zh-CN" sz="2000" u="none">
                <a:solidFill>
                  <a:schemeClr val="hlink"/>
                </a:solidFill>
              </a:rPr>
              <a:t>IDIV</a:t>
            </a:r>
          </a:p>
          <a:p>
            <a:pPr lvl="2" algn="just" eaLnBrk="1" hangingPunct="1">
              <a:lnSpc>
                <a:spcPct val="115000"/>
              </a:lnSpc>
              <a:buFontTx/>
              <a:buNone/>
            </a:pPr>
            <a:r>
              <a:rPr lang="en-US" altLang="zh-CN" sz="1800" u="none">
                <a:sym typeface="Symbol" panose="05050102010706020507" pitchFamily="18" charset="2"/>
              </a:rPr>
              <a:t></a:t>
            </a:r>
            <a:r>
              <a:rPr lang="en-US" altLang="zh-CN" u="none">
                <a:sym typeface="Symbol" panose="05050102010706020507" pitchFamily="18" charset="2"/>
              </a:rPr>
              <a:t>   </a:t>
            </a:r>
            <a:r>
              <a:rPr lang="zh-CN" altLang="en-US" u="none">
                <a:ea typeface="楷体_GB2312" panose="02010609030101010101" pitchFamily="49" charset="-122"/>
              </a:rPr>
              <a:t>符号扩展指令</a:t>
            </a:r>
          </a:p>
          <a:p>
            <a:pPr lvl="2" algn="just" eaLnBrk="1" hangingPunct="1">
              <a:lnSpc>
                <a:spcPct val="115000"/>
              </a:lnSpc>
              <a:buFontTx/>
              <a:buNone/>
            </a:pPr>
            <a:r>
              <a:rPr lang="zh-CN" altLang="en-US" sz="2000" u="none"/>
              <a:t>      </a:t>
            </a:r>
            <a:r>
              <a:rPr lang="en-US" altLang="zh-CN" sz="2000" u="none">
                <a:solidFill>
                  <a:schemeClr val="hlink"/>
                </a:solidFill>
              </a:rPr>
              <a:t>CBW</a:t>
            </a:r>
            <a:r>
              <a:rPr lang="zh-CN" altLang="en-US" sz="2000" u="none">
                <a:solidFill>
                  <a:schemeClr val="hlink"/>
                </a:solidFill>
              </a:rPr>
              <a:t>、</a:t>
            </a:r>
            <a:r>
              <a:rPr lang="en-US" altLang="zh-CN" sz="2000" u="none">
                <a:solidFill>
                  <a:schemeClr val="hlink"/>
                </a:solidFill>
              </a:rPr>
              <a:t>CWD </a:t>
            </a:r>
          </a:p>
          <a:p>
            <a:pPr lvl="2" algn="just" eaLnBrk="1" hangingPunct="1">
              <a:lnSpc>
                <a:spcPct val="115000"/>
              </a:lnSpc>
              <a:buFontTx/>
              <a:buNone/>
            </a:pPr>
            <a:r>
              <a:rPr lang="en-US" altLang="zh-CN" sz="1800" u="none">
                <a:sym typeface="Symbol" panose="05050102010706020507" pitchFamily="18" charset="2"/>
              </a:rPr>
              <a:t></a:t>
            </a:r>
            <a:r>
              <a:rPr lang="en-US" altLang="zh-CN" sz="2000" u="none">
                <a:sym typeface="Symbol" panose="05050102010706020507" pitchFamily="18" charset="2"/>
              </a:rPr>
              <a:t>   </a:t>
            </a:r>
            <a:r>
              <a:rPr lang="zh-CN" altLang="en-US" u="none">
                <a:ea typeface="楷体_GB2312" panose="02010609030101010101" pitchFamily="49" charset="-122"/>
              </a:rPr>
              <a:t>十进制调整指令</a:t>
            </a:r>
          </a:p>
          <a:p>
            <a:pPr lvl="2" algn="just" eaLnBrk="1" hangingPunct="1">
              <a:lnSpc>
                <a:spcPct val="115000"/>
              </a:lnSpc>
              <a:buFontTx/>
              <a:buNone/>
            </a:pPr>
            <a:r>
              <a:rPr lang="zh-CN" altLang="en-US" sz="2000" u="none"/>
              <a:t>      </a:t>
            </a:r>
            <a:r>
              <a:rPr lang="en-US" altLang="zh-CN" sz="2000" u="none"/>
              <a:t>DAA</a:t>
            </a:r>
            <a:r>
              <a:rPr lang="zh-CN" altLang="en-US" sz="2000" u="none"/>
              <a:t>、</a:t>
            </a:r>
            <a:r>
              <a:rPr lang="en-US" altLang="zh-CN" sz="2000" u="none"/>
              <a:t>DAS</a:t>
            </a:r>
            <a:r>
              <a:rPr lang="zh-CN" altLang="en-US" sz="2000" u="none"/>
              <a:t>、</a:t>
            </a:r>
          </a:p>
          <a:p>
            <a:pPr lvl="2" algn="just" eaLnBrk="1" hangingPunct="1">
              <a:lnSpc>
                <a:spcPct val="115000"/>
              </a:lnSpc>
              <a:buFontTx/>
              <a:buNone/>
            </a:pPr>
            <a:r>
              <a:rPr lang="zh-CN" altLang="en-US" sz="2000" u="none"/>
              <a:t>      </a:t>
            </a:r>
            <a:r>
              <a:rPr lang="en-US" altLang="zh-CN" sz="2000" u="none"/>
              <a:t>AAA</a:t>
            </a:r>
            <a:r>
              <a:rPr lang="zh-CN" altLang="en-US" sz="2000" u="none"/>
              <a:t>、</a:t>
            </a:r>
            <a:r>
              <a:rPr lang="en-US" altLang="zh-CN" sz="2000" u="none"/>
              <a:t>AAS</a:t>
            </a:r>
            <a:r>
              <a:rPr lang="zh-CN" altLang="en-US" sz="2000" u="none"/>
              <a:t>、</a:t>
            </a:r>
            <a:r>
              <a:rPr lang="en-US" altLang="zh-CN" sz="2000" u="none"/>
              <a:t>AAM</a:t>
            </a:r>
            <a:r>
              <a:rPr lang="zh-CN" altLang="en-US" sz="2000" u="none"/>
              <a:t>、</a:t>
            </a:r>
            <a:r>
              <a:rPr lang="en-US" altLang="zh-CN" sz="2000" u="none"/>
              <a:t>AAD</a:t>
            </a:r>
          </a:p>
        </p:txBody>
      </p:sp>
    </p:spTree>
  </p:cSld>
  <p:clrMapOvr>
    <a:masterClrMapping/>
  </p:clrMapOvr>
  <p:transition>
    <p:rand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ChangeArrowheads="1"/>
          </p:cNvSpPr>
          <p:nvPr/>
        </p:nvSpPr>
        <p:spPr bwMode="auto">
          <a:xfrm>
            <a:off x="1752600" y="762000"/>
            <a:ext cx="5562600" cy="386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lang="zh-CN" altLang="en-US" sz="2600" u="none">
                <a:solidFill>
                  <a:schemeClr val="hlink"/>
                </a:solidFill>
              </a:rPr>
              <a:t>逻辑指令</a:t>
            </a:r>
            <a:r>
              <a:rPr lang="zh-CN" altLang="en-US" sz="2600" u="none"/>
              <a:t>：</a:t>
            </a:r>
          </a:p>
          <a:p>
            <a:pPr eaLnBrk="1" hangingPunct="1">
              <a:spcBef>
                <a:spcPct val="50000"/>
              </a:spcBef>
              <a:buClr>
                <a:schemeClr val="tx2"/>
              </a:buClr>
              <a:buSzPct val="90000"/>
              <a:buFont typeface="Symbol" panose="05050102010706020507" pitchFamily="18" charset="2"/>
              <a:buNone/>
            </a:pPr>
            <a:endParaRPr lang="zh-CN" altLang="en-US" sz="1800" u="none">
              <a:sym typeface="Symbol" panose="05050102010706020507" pitchFamily="18" charset="2"/>
            </a:endParaRPr>
          </a:p>
          <a:p>
            <a:pPr eaLnBrk="1" hangingPunct="1">
              <a:spcBef>
                <a:spcPct val="50000"/>
              </a:spcBef>
              <a:buClr>
                <a:schemeClr val="tx2"/>
              </a:buClr>
              <a:buSzPct val="90000"/>
              <a:buFont typeface="Symbol" panose="05050102010706020507" pitchFamily="18" charset="2"/>
              <a:buNone/>
            </a:pPr>
            <a:r>
              <a:rPr lang="zh-CN" altLang="en-US" sz="1800" u="none">
                <a:sym typeface="Symbol" panose="05050102010706020507" pitchFamily="18" charset="2"/>
              </a:rPr>
              <a:t>      </a:t>
            </a:r>
            <a:r>
              <a:rPr lang="zh-CN" altLang="en-US" sz="2000" u="none">
                <a:sym typeface="Symbol" panose="05050102010706020507" pitchFamily="18" charset="2"/>
              </a:rPr>
              <a:t>   </a:t>
            </a:r>
            <a:r>
              <a:rPr lang="zh-CN" altLang="en-US" sz="2400" u="none">
                <a:ea typeface="楷体_GB2312" panose="02010609030101010101" pitchFamily="49" charset="-122"/>
              </a:rPr>
              <a:t>逻辑运算指令</a:t>
            </a:r>
          </a:p>
          <a:p>
            <a:pPr eaLnBrk="1" hangingPunct="1">
              <a:spcBef>
                <a:spcPct val="50000"/>
              </a:spcBef>
              <a:buClr>
                <a:schemeClr val="tx2"/>
              </a:buClr>
              <a:buSzPct val="90000"/>
              <a:buFont typeface="Symbol" panose="05050102010706020507" pitchFamily="18" charset="2"/>
              <a:buNone/>
            </a:pPr>
            <a:r>
              <a:rPr lang="zh-CN" altLang="en-US" sz="2400" u="none">
                <a:ea typeface="楷体_GB2312" panose="02010609030101010101" pitchFamily="49" charset="-122"/>
              </a:rPr>
              <a:t>         </a:t>
            </a:r>
            <a:r>
              <a:rPr lang="en-US" altLang="zh-CN" sz="2000" u="none">
                <a:solidFill>
                  <a:schemeClr val="accent2"/>
                </a:solidFill>
              </a:rPr>
              <a:t>AND</a:t>
            </a:r>
            <a:r>
              <a:rPr lang="zh-CN" altLang="en-US" sz="2000" u="none">
                <a:solidFill>
                  <a:schemeClr val="accent2"/>
                </a:solidFill>
              </a:rPr>
              <a:t>、</a:t>
            </a:r>
            <a:r>
              <a:rPr lang="en-US" altLang="zh-CN" sz="2000" u="none">
                <a:solidFill>
                  <a:schemeClr val="accent2"/>
                </a:solidFill>
              </a:rPr>
              <a:t>OR</a:t>
            </a:r>
            <a:r>
              <a:rPr lang="zh-CN" altLang="en-US" sz="2000" u="none">
                <a:solidFill>
                  <a:schemeClr val="accent2"/>
                </a:solidFill>
              </a:rPr>
              <a:t>、</a:t>
            </a:r>
            <a:r>
              <a:rPr lang="en-US" altLang="zh-CN" sz="2000" u="none">
                <a:solidFill>
                  <a:schemeClr val="accent2"/>
                </a:solidFill>
              </a:rPr>
              <a:t>NOT</a:t>
            </a:r>
            <a:r>
              <a:rPr lang="zh-CN" altLang="en-US" sz="2000" u="none">
                <a:solidFill>
                  <a:schemeClr val="accent2"/>
                </a:solidFill>
              </a:rPr>
              <a:t>、</a:t>
            </a:r>
            <a:r>
              <a:rPr lang="en-US" altLang="zh-CN" sz="2000" u="none">
                <a:solidFill>
                  <a:schemeClr val="accent2"/>
                </a:solidFill>
              </a:rPr>
              <a:t>XOR</a:t>
            </a:r>
            <a:r>
              <a:rPr lang="zh-CN" altLang="en-US" sz="2000" u="none">
                <a:solidFill>
                  <a:schemeClr val="accent2"/>
                </a:solidFill>
              </a:rPr>
              <a:t>、</a:t>
            </a:r>
            <a:r>
              <a:rPr lang="en-US" altLang="zh-CN" sz="2000" u="none">
                <a:solidFill>
                  <a:schemeClr val="accent2"/>
                </a:solidFill>
              </a:rPr>
              <a:t>TEST </a:t>
            </a:r>
          </a:p>
          <a:p>
            <a:pPr eaLnBrk="1" hangingPunct="1">
              <a:lnSpc>
                <a:spcPct val="130000"/>
              </a:lnSpc>
              <a:spcBef>
                <a:spcPct val="50000"/>
              </a:spcBef>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anose="02010609030101010101" pitchFamily="49" charset="-122"/>
              </a:rPr>
              <a:t>移位指令</a:t>
            </a:r>
          </a:p>
          <a:p>
            <a:pPr eaLnBrk="1" hangingPunct="1">
              <a:lnSpc>
                <a:spcPct val="130000"/>
              </a:lnSpc>
              <a:spcBef>
                <a:spcPct val="50000"/>
              </a:spcBef>
              <a:buClrTx/>
              <a:buFontTx/>
              <a:buNone/>
            </a:pPr>
            <a:r>
              <a:rPr lang="zh-CN" altLang="en-US" sz="2400" u="none">
                <a:ea typeface="楷体_GB2312" panose="02010609030101010101" pitchFamily="49" charset="-122"/>
              </a:rPr>
              <a:t>         </a:t>
            </a:r>
            <a:r>
              <a:rPr lang="en-US" altLang="zh-CN" sz="2000" u="none">
                <a:solidFill>
                  <a:schemeClr val="accent2"/>
                </a:solidFill>
              </a:rPr>
              <a:t>SHL</a:t>
            </a:r>
            <a:r>
              <a:rPr lang="zh-CN" altLang="en-US" sz="2000" u="none">
                <a:solidFill>
                  <a:schemeClr val="accent2"/>
                </a:solidFill>
              </a:rPr>
              <a:t>、</a:t>
            </a:r>
            <a:r>
              <a:rPr lang="en-US" altLang="zh-CN" sz="2000" u="none">
                <a:solidFill>
                  <a:schemeClr val="accent2"/>
                </a:solidFill>
              </a:rPr>
              <a:t>SAL</a:t>
            </a:r>
            <a:r>
              <a:rPr lang="zh-CN" altLang="en-US" sz="2000" u="none">
                <a:solidFill>
                  <a:schemeClr val="accent2"/>
                </a:solidFill>
              </a:rPr>
              <a:t>、</a:t>
            </a:r>
            <a:r>
              <a:rPr lang="en-US" altLang="zh-CN" sz="2000" u="none">
                <a:solidFill>
                  <a:schemeClr val="accent2"/>
                </a:solidFill>
              </a:rPr>
              <a:t>SHR</a:t>
            </a:r>
            <a:r>
              <a:rPr lang="zh-CN" altLang="en-US" sz="2000" u="none">
                <a:solidFill>
                  <a:schemeClr val="accent2"/>
                </a:solidFill>
              </a:rPr>
              <a:t>、</a:t>
            </a:r>
            <a:r>
              <a:rPr lang="en-US" altLang="zh-CN" sz="2000" u="none">
                <a:solidFill>
                  <a:schemeClr val="accent2"/>
                </a:solidFill>
              </a:rPr>
              <a:t>SAR</a:t>
            </a:r>
            <a:r>
              <a:rPr lang="zh-CN" altLang="en-US" sz="2000" u="none">
                <a:solidFill>
                  <a:schemeClr val="accent2"/>
                </a:solidFill>
              </a:rPr>
              <a:t>、</a:t>
            </a:r>
          </a:p>
          <a:p>
            <a:pPr eaLnBrk="1" hangingPunct="1">
              <a:lnSpc>
                <a:spcPct val="130000"/>
              </a:lnSpc>
              <a:spcBef>
                <a:spcPct val="50000"/>
              </a:spcBef>
              <a:buClrTx/>
              <a:buFontTx/>
              <a:buNone/>
            </a:pPr>
            <a:r>
              <a:rPr lang="zh-CN" altLang="en-US" sz="2000" u="none">
                <a:solidFill>
                  <a:schemeClr val="accent2"/>
                </a:solidFill>
              </a:rPr>
              <a:t>          </a:t>
            </a:r>
            <a:r>
              <a:rPr lang="en-US" altLang="zh-CN" sz="2000" u="none">
                <a:solidFill>
                  <a:schemeClr val="accent2"/>
                </a:solidFill>
              </a:rPr>
              <a:t>ROL</a:t>
            </a:r>
            <a:r>
              <a:rPr lang="zh-CN" altLang="en-US" sz="2000" u="none">
                <a:solidFill>
                  <a:schemeClr val="accent2"/>
                </a:solidFill>
              </a:rPr>
              <a:t>、</a:t>
            </a:r>
            <a:r>
              <a:rPr lang="en-US" altLang="zh-CN" sz="2000" u="none">
                <a:solidFill>
                  <a:schemeClr val="accent2"/>
                </a:solidFill>
              </a:rPr>
              <a:t>ROR</a:t>
            </a:r>
            <a:r>
              <a:rPr lang="zh-CN" altLang="en-US" sz="2000" u="none">
                <a:solidFill>
                  <a:schemeClr val="accent2"/>
                </a:solidFill>
              </a:rPr>
              <a:t>、</a:t>
            </a:r>
            <a:r>
              <a:rPr lang="en-US" altLang="zh-CN" sz="2000" u="none">
                <a:solidFill>
                  <a:schemeClr val="accent2"/>
                </a:solidFill>
              </a:rPr>
              <a:t>RCL</a:t>
            </a:r>
            <a:r>
              <a:rPr lang="zh-CN" altLang="en-US" sz="2000" u="none">
                <a:solidFill>
                  <a:schemeClr val="accent2"/>
                </a:solidFill>
              </a:rPr>
              <a:t>、</a:t>
            </a:r>
            <a:r>
              <a:rPr lang="en-US" altLang="zh-CN" sz="2000" u="none">
                <a:solidFill>
                  <a:schemeClr val="accent2"/>
                </a:solidFill>
              </a:rPr>
              <a:t>RCR</a:t>
            </a:r>
          </a:p>
        </p:txBody>
      </p:sp>
    </p:spTree>
  </p:cSld>
  <p:clrMapOvr>
    <a:masterClrMapping/>
  </p:clrMapOvr>
  <p:transition>
    <p:rand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1524000" y="838200"/>
            <a:ext cx="7239000" cy="5430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lang="zh-CN" altLang="en-US" sz="2800" u="none">
                <a:solidFill>
                  <a:schemeClr val="hlink"/>
                </a:solidFill>
              </a:rPr>
              <a:t>串处理指令</a:t>
            </a:r>
            <a:r>
              <a:rPr lang="zh-CN" altLang="en-US" sz="2600" u="none"/>
              <a:t>：</a:t>
            </a:r>
          </a:p>
          <a:p>
            <a:pPr eaLnBrk="1" hangingPunct="1">
              <a:spcBef>
                <a:spcPct val="50000"/>
              </a:spcBef>
              <a:buClr>
                <a:schemeClr val="tx2"/>
              </a:buClr>
              <a:buSzPct val="90000"/>
              <a:buFont typeface="Symbol" panose="05050102010706020507" pitchFamily="18" charset="2"/>
              <a:buNone/>
            </a:pPr>
            <a:endParaRPr lang="zh-CN" altLang="en-US" sz="1800" u="none">
              <a:sym typeface="Symbol" panose="05050102010706020507" pitchFamily="18" charset="2"/>
            </a:endParaRPr>
          </a:p>
          <a:p>
            <a:pPr eaLnBrk="1" hangingPunct="1">
              <a:spcBef>
                <a:spcPct val="50000"/>
              </a:spcBef>
              <a:buClr>
                <a:schemeClr val="tx2"/>
              </a:buClr>
              <a:buSzPct val="90000"/>
              <a:buFont typeface="Symbol" panose="05050102010706020507" pitchFamily="18" charset="2"/>
              <a:buNone/>
            </a:pPr>
            <a:r>
              <a:rPr lang="zh-CN" altLang="en-US" sz="1800" u="none">
                <a:sym typeface="Symbol" panose="05050102010706020507" pitchFamily="18" charset="2"/>
              </a:rPr>
              <a:t>      </a:t>
            </a:r>
            <a:r>
              <a:rPr lang="zh-CN" altLang="en-US" sz="2000" u="none">
                <a:sym typeface="Symbol" panose="05050102010706020507" pitchFamily="18" charset="2"/>
              </a:rPr>
              <a:t>   </a:t>
            </a:r>
            <a:r>
              <a:rPr lang="zh-CN" altLang="en-US" sz="2400" u="none">
                <a:ea typeface="楷体_GB2312" panose="02010609030101010101" pitchFamily="49" charset="-122"/>
              </a:rPr>
              <a:t>设置方向标志指令</a:t>
            </a:r>
          </a:p>
          <a:p>
            <a:pPr eaLnBrk="1" hangingPunct="1">
              <a:spcBef>
                <a:spcPct val="50000"/>
              </a:spcBef>
              <a:buClr>
                <a:schemeClr val="tx2"/>
              </a:buClr>
              <a:buSzPct val="90000"/>
              <a:buFont typeface="Symbol" panose="05050102010706020507" pitchFamily="18" charset="2"/>
              <a:buNone/>
            </a:pPr>
            <a:r>
              <a:rPr lang="zh-CN" altLang="en-US" sz="2400" u="none">
                <a:ea typeface="楷体_GB2312" panose="02010609030101010101" pitchFamily="49" charset="-122"/>
              </a:rPr>
              <a:t>         </a:t>
            </a:r>
            <a:r>
              <a:rPr lang="en-US" altLang="zh-CN" sz="2000" u="none">
                <a:solidFill>
                  <a:schemeClr val="accent2"/>
                </a:solidFill>
              </a:rPr>
              <a:t>CLD</a:t>
            </a:r>
            <a:r>
              <a:rPr lang="zh-CN" altLang="en-US" sz="2000" u="none">
                <a:solidFill>
                  <a:schemeClr val="accent2"/>
                </a:solidFill>
              </a:rPr>
              <a:t>、</a:t>
            </a:r>
            <a:r>
              <a:rPr lang="en-US" altLang="zh-CN" sz="2000" u="none">
                <a:solidFill>
                  <a:schemeClr val="accent2"/>
                </a:solidFill>
              </a:rPr>
              <a:t>STD</a:t>
            </a:r>
          </a:p>
          <a:p>
            <a:pPr eaLnBrk="1" hangingPunct="1">
              <a:lnSpc>
                <a:spcPct val="130000"/>
              </a:lnSpc>
              <a:spcBef>
                <a:spcPct val="50000"/>
              </a:spcBef>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anose="02010609030101010101" pitchFamily="49" charset="-122"/>
              </a:rPr>
              <a:t>串处理指令                          </a:t>
            </a:r>
            <a:r>
              <a:rPr lang="zh-CN" altLang="en-US" sz="1800" u="none">
                <a:sym typeface="Symbol" panose="05050102010706020507" pitchFamily="18" charset="2"/>
              </a:rPr>
              <a:t></a:t>
            </a:r>
            <a:r>
              <a:rPr lang="zh-CN" altLang="en-US" sz="2000" u="none">
                <a:sym typeface="Symbol" panose="05050102010706020507" pitchFamily="18" charset="2"/>
              </a:rPr>
              <a:t>   </a:t>
            </a:r>
            <a:r>
              <a:rPr lang="zh-CN" altLang="en-US" sz="2400" u="none">
                <a:ea typeface="楷体_GB2312" panose="02010609030101010101" pitchFamily="49" charset="-122"/>
              </a:rPr>
              <a:t>串重复前缀</a:t>
            </a:r>
          </a:p>
          <a:p>
            <a:pPr eaLnBrk="1" hangingPunct="1">
              <a:lnSpc>
                <a:spcPct val="130000"/>
              </a:lnSpc>
              <a:spcBef>
                <a:spcPct val="50000"/>
              </a:spcBef>
              <a:buClrTx/>
              <a:buFontTx/>
              <a:buNone/>
            </a:pPr>
            <a:r>
              <a:rPr lang="zh-CN" altLang="en-US" sz="2000" u="none"/>
              <a:t>          </a:t>
            </a:r>
            <a:r>
              <a:rPr lang="en-US" altLang="zh-CN" sz="2000" u="none">
                <a:solidFill>
                  <a:schemeClr val="accent2"/>
                </a:solidFill>
              </a:rPr>
              <a:t>MOVSB  /  MOVSW                         REP</a:t>
            </a:r>
          </a:p>
          <a:p>
            <a:pPr eaLnBrk="1" hangingPunct="1">
              <a:lnSpc>
                <a:spcPct val="130000"/>
              </a:lnSpc>
              <a:spcBef>
                <a:spcPct val="50000"/>
              </a:spcBef>
              <a:buClrTx/>
              <a:buFontTx/>
              <a:buNone/>
            </a:pPr>
            <a:r>
              <a:rPr lang="en-US" altLang="zh-CN" sz="2000" u="none">
                <a:solidFill>
                  <a:schemeClr val="accent2"/>
                </a:solidFill>
              </a:rPr>
              <a:t>          STOSB  /  STOSW                            REPE  /  REPZ</a:t>
            </a:r>
          </a:p>
          <a:p>
            <a:pPr eaLnBrk="1" hangingPunct="1">
              <a:lnSpc>
                <a:spcPct val="130000"/>
              </a:lnSpc>
              <a:spcBef>
                <a:spcPct val="50000"/>
              </a:spcBef>
              <a:buClrTx/>
              <a:buFontTx/>
              <a:buNone/>
            </a:pPr>
            <a:r>
              <a:rPr lang="en-US" altLang="zh-CN" sz="2000" u="none">
                <a:solidFill>
                  <a:schemeClr val="accent2"/>
                </a:solidFill>
              </a:rPr>
              <a:t>          LODSB  /  LODSW                           REPNE  /  REPNZ</a:t>
            </a:r>
          </a:p>
          <a:p>
            <a:pPr eaLnBrk="1" hangingPunct="1">
              <a:lnSpc>
                <a:spcPct val="130000"/>
              </a:lnSpc>
              <a:spcBef>
                <a:spcPct val="50000"/>
              </a:spcBef>
              <a:buClrTx/>
              <a:buFontTx/>
              <a:buNone/>
            </a:pPr>
            <a:r>
              <a:rPr lang="en-US" altLang="zh-CN" sz="2000" u="none">
                <a:solidFill>
                  <a:schemeClr val="accent2"/>
                </a:solidFill>
              </a:rPr>
              <a:t>          CMPSB  /  CMPSW</a:t>
            </a:r>
          </a:p>
          <a:p>
            <a:pPr eaLnBrk="1" hangingPunct="1">
              <a:lnSpc>
                <a:spcPct val="130000"/>
              </a:lnSpc>
              <a:spcBef>
                <a:spcPct val="50000"/>
              </a:spcBef>
              <a:buClrTx/>
              <a:buFontTx/>
              <a:buNone/>
            </a:pPr>
            <a:r>
              <a:rPr lang="en-US" altLang="zh-CN" sz="2000" u="none">
                <a:solidFill>
                  <a:schemeClr val="accent2"/>
                </a:solidFill>
              </a:rPr>
              <a:t>          SCASB  /  SCASW</a:t>
            </a:r>
            <a:r>
              <a:rPr lang="en-US" altLang="zh-CN" sz="1800" u="none">
                <a:solidFill>
                  <a:schemeClr val="accent2"/>
                </a:solidFill>
                <a:sym typeface="Symbol" panose="05050102010706020507" pitchFamily="18" charset="2"/>
              </a:rPr>
              <a:t>      </a:t>
            </a:r>
          </a:p>
        </p:txBody>
      </p:sp>
    </p:spTree>
  </p:cSld>
  <p:clrMapOvr>
    <a:masterClrMapping/>
  </p:clrMapOvr>
  <p:transition>
    <p:rand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ChangeArrowheads="1"/>
          </p:cNvSpPr>
          <p:nvPr/>
        </p:nvSpPr>
        <p:spPr bwMode="auto">
          <a:xfrm>
            <a:off x="1447800" y="533400"/>
            <a:ext cx="73152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50000"/>
              </a:lnSpc>
              <a:spcBef>
                <a:spcPct val="0"/>
              </a:spcBef>
              <a:buClr>
                <a:schemeClr val="tx2"/>
              </a:buClr>
              <a:buSzPct val="90000"/>
              <a:buFont typeface="Symbol" panose="05050102010706020507" pitchFamily="18" charset="2"/>
              <a:buNone/>
            </a:pPr>
            <a:r>
              <a:rPr lang="en-US" altLang="zh-CN" sz="2600" u="none"/>
              <a:t>    </a:t>
            </a:r>
            <a:r>
              <a:rPr lang="zh-CN" altLang="en-US" sz="2600" u="none">
                <a:solidFill>
                  <a:schemeClr val="hlink"/>
                </a:solidFill>
              </a:rPr>
              <a:t>控制转移指令</a:t>
            </a:r>
            <a:r>
              <a:rPr lang="zh-CN" altLang="en-US" sz="2600" u="none"/>
              <a:t>：</a:t>
            </a:r>
          </a:p>
          <a:p>
            <a:pPr algn="just" eaLnBrk="1" hangingPunct="1">
              <a:lnSpc>
                <a:spcPct val="150000"/>
              </a:lnSpc>
              <a:spcBef>
                <a:spcPct val="0"/>
              </a:spcBef>
              <a:buClr>
                <a:schemeClr val="tx2"/>
              </a:buClr>
              <a:buSzPct val="90000"/>
              <a:buFont typeface="Symbol" panose="05050102010706020507" pitchFamily="18" charset="2"/>
              <a:buNone/>
            </a:pPr>
            <a:r>
              <a:rPr lang="zh-CN" altLang="en-US" sz="2600" b="0" u="none"/>
              <a:t>        </a:t>
            </a:r>
            <a:r>
              <a:rPr lang="zh-CN" altLang="en-US" sz="1800" u="none">
                <a:sym typeface="Symbol" panose="05050102010706020507" pitchFamily="18" charset="2"/>
              </a:rPr>
              <a:t></a:t>
            </a:r>
            <a:r>
              <a:rPr lang="zh-CN" altLang="en-US" sz="2000" u="none">
                <a:sym typeface="Symbol" panose="05050102010706020507" pitchFamily="18" charset="2"/>
              </a:rPr>
              <a:t>   </a:t>
            </a:r>
            <a:r>
              <a:rPr lang="zh-CN" altLang="en-US" sz="2400" u="none">
                <a:ea typeface="楷体_GB2312" panose="02010609030101010101" pitchFamily="49" charset="-122"/>
              </a:rPr>
              <a:t>无条件转移指令</a:t>
            </a:r>
          </a:p>
          <a:p>
            <a:pPr lvl="2" algn="just" eaLnBrk="1" hangingPunct="1">
              <a:lnSpc>
                <a:spcPct val="115000"/>
              </a:lnSpc>
              <a:buFontTx/>
              <a:buNone/>
            </a:pPr>
            <a:r>
              <a:rPr lang="zh-CN" altLang="en-US" sz="2000" u="none"/>
              <a:t> </a:t>
            </a:r>
            <a:r>
              <a:rPr lang="en-US" altLang="zh-CN" sz="2000" u="none">
                <a:solidFill>
                  <a:schemeClr val="hlink"/>
                </a:solidFill>
              </a:rPr>
              <a:t>JMP</a:t>
            </a:r>
          </a:p>
          <a:p>
            <a:pPr lvl="1" algn="just" eaLnBrk="1" hangingPunct="1">
              <a:lnSpc>
                <a:spcPct val="115000"/>
              </a:lnSpc>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anose="02010609030101010101" pitchFamily="49" charset="-122"/>
              </a:rPr>
              <a:t>条件转移指令</a:t>
            </a:r>
          </a:p>
          <a:p>
            <a:pPr lvl="2" algn="just" eaLnBrk="1" hangingPunct="1">
              <a:lnSpc>
                <a:spcPct val="115000"/>
              </a:lnSpc>
              <a:buFontTx/>
              <a:buNone/>
            </a:pPr>
            <a:r>
              <a:rPr lang="en-US" altLang="zh-CN" sz="2000" u="none">
                <a:solidFill>
                  <a:schemeClr val="hlink"/>
                </a:solidFill>
              </a:rPr>
              <a:t>JZ / JNZ </a:t>
            </a:r>
            <a:r>
              <a:rPr lang="zh-CN" altLang="en-US" sz="2000" u="none">
                <a:solidFill>
                  <a:schemeClr val="hlink"/>
                </a:solidFill>
              </a:rPr>
              <a:t>、 </a:t>
            </a:r>
            <a:r>
              <a:rPr lang="en-US" altLang="zh-CN" sz="2000" u="none">
                <a:solidFill>
                  <a:schemeClr val="hlink"/>
                </a:solidFill>
              </a:rPr>
              <a:t>JE / JNE</a:t>
            </a:r>
            <a:r>
              <a:rPr lang="zh-CN" altLang="en-US" sz="2000" u="none">
                <a:solidFill>
                  <a:schemeClr val="hlink"/>
                </a:solidFill>
              </a:rPr>
              <a:t>、 </a:t>
            </a:r>
            <a:r>
              <a:rPr lang="en-US" altLang="zh-CN" sz="2000" u="none">
                <a:solidFill>
                  <a:schemeClr val="hlink"/>
                </a:solidFill>
              </a:rPr>
              <a:t>JS / JNS</a:t>
            </a:r>
            <a:r>
              <a:rPr lang="zh-CN" altLang="en-US" sz="2000" u="none">
                <a:solidFill>
                  <a:schemeClr val="hlink"/>
                </a:solidFill>
              </a:rPr>
              <a:t>、 </a:t>
            </a:r>
            <a:r>
              <a:rPr lang="en-US" altLang="zh-CN" sz="2000" u="none">
                <a:solidFill>
                  <a:schemeClr val="hlink"/>
                </a:solidFill>
              </a:rPr>
              <a:t>JO / JNO</a:t>
            </a:r>
            <a:r>
              <a:rPr lang="zh-CN" altLang="en-US" sz="2000" u="none">
                <a:solidFill>
                  <a:schemeClr val="hlink"/>
                </a:solidFill>
              </a:rPr>
              <a:t>、</a:t>
            </a:r>
          </a:p>
          <a:p>
            <a:pPr lvl="2" algn="just" eaLnBrk="1" hangingPunct="1">
              <a:lnSpc>
                <a:spcPct val="115000"/>
              </a:lnSpc>
              <a:buFontTx/>
              <a:buNone/>
            </a:pPr>
            <a:r>
              <a:rPr lang="en-US" altLang="zh-CN" sz="2000" u="none">
                <a:solidFill>
                  <a:schemeClr val="hlink"/>
                </a:solidFill>
              </a:rPr>
              <a:t>JP / JNP</a:t>
            </a:r>
            <a:r>
              <a:rPr lang="zh-CN" altLang="en-US" sz="2000" u="none">
                <a:solidFill>
                  <a:schemeClr val="hlink"/>
                </a:solidFill>
              </a:rPr>
              <a:t>、 </a:t>
            </a:r>
            <a:r>
              <a:rPr lang="en-US" altLang="zh-CN" sz="2000" u="none">
                <a:solidFill>
                  <a:schemeClr val="hlink"/>
                </a:solidFill>
              </a:rPr>
              <a:t>JB / JNB</a:t>
            </a:r>
            <a:r>
              <a:rPr lang="zh-CN" altLang="en-US" sz="2000" u="none">
                <a:solidFill>
                  <a:schemeClr val="hlink"/>
                </a:solidFill>
              </a:rPr>
              <a:t>、 </a:t>
            </a:r>
            <a:r>
              <a:rPr lang="en-US" altLang="zh-CN" sz="2000" u="none">
                <a:solidFill>
                  <a:schemeClr val="hlink"/>
                </a:solidFill>
              </a:rPr>
              <a:t>JL / JNL</a:t>
            </a:r>
            <a:r>
              <a:rPr lang="zh-CN" altLang="en-US" sz="2000" u="none">
                <a:solidFill>
                  <a:schemeClr val="hlink"/>
                </a:solidFill>
              </a:rPr>
              <a:t>、 </a:t>
            </a:r>
            <a:r>
              <a:rPr lang="en-US" altLang="zh-CN" sz="2000" u="none">
                <a:solidFill>
                  <a:schemeClr val="hlink"/>
                </a:solidFill>
              </a:rPr>
              <a:t>JBE / JNBE</a:t>
            </a:r>
            <a:r>
              <a:rPr lang="zh-CN" altLang="en-US" sz="2000" u="none">
                <a:solidFill>
                  <a:schemeClr val="hlink"/>
                </a:solidFill>
              </a:rPr>
              <a:t>、</a:t>
            </a:r>
          </a:p>
          <a:p>
            <a:pPr lvl="2" algn="just" eaLnBrk="1" hangingPunct="1">
              <a:lnSpc>
                <a:spcPct val="115000"/>
              </a:lnSpc>
              <a:buFontTx/>
              <a:buNone/>
            </a:pPr>
            <a:r>
              <a:rPr lang="en-US" altLang="zh-CN" sz="2000" u="none">
                <a:solidFill>
                  <a:schemeClr val="hlink"/>
                </a:solidFill>
              </a:rPr>
              <a:t>JLE / JNLE</a:t>
            </a:r>
            <a:r>
              <a:rPr lang="zh-CN" altLang="en-US" sz="2000" u="none">
                <a:solidFill>
                  <a:schemeClr val="hlink"/>
                </a:solidFill>
              </a:rPr>
              <a:t>、 </a:t>
            </a:r>
            <a:r>
              <a:rPr lang="en-US" altLang="zh-CN" sz="2000" u="none">
                <a:solidFill>
                  <a:schemeClr val="hlink"/>
                </a:solidFill>
              </a:rPr>
              <a:t>JCXZ </a:t>
            </a:r>
          </a:p>
          <a:p>
            <a:pPr lvl="1" algn="just" eaLnBrk="1" hangingPunct="1">
              <a:lnSpc>
                <a:spcPct val="115000"/>
              </a:lnSpc>
              <a:buClrTx/>
              <a:buFontTx/>
              <a:buNone/>
            </a:pPr>
            <a:r>
              <a:rPr lang="en-US" altLang="zh-CN" sz="1800" u="none">
                <a:sym typeface="Symbol" panose="05050102010706020507" pitchFamily="18" charset="2"/>
              </a:rPr>
              <a:t>   </a:t>
            </a:r>
            <a:r>
              <a:rPr lang="en-US" altLang="zh-CN" sz="2400" u="none">
                <a:sym typeface="Symbol" panose="05050102010706020507" pitchFamily="18" charset="2"/>
              </a:rPr>
              <a:t>   </a:t>
            </a:r>
            <a:r>
              <a:rPr lang="zh-CN" altLang="en-US" sz="2400" u="none">
                <a:ea typeface="楷体_GB2312" panose="02010609030101010101" pitchFamily="49" charset="-122"/>
              </a:rPr>
              <a:t>循环指令</a:t>
            </a:r>
          </a:p>
          <a:p>
            <a:pPr lvl="2" algn="just" eaLnBrk="1" hangingPunct="1">
              <a:lnSpc>
                <a:spcPct val="115000"/>
              </a:lnSpc>
              <a:buFontTx/>
              <a:buNone/>
            </a:pPr>
            <a:r>
              <a:rPr lang="zh-CN" altLang="en-US" sz="2000" u="none"/>
              <a:t> </a:t>
            </a:r>
            <a:r>
              <a:rPr lang="en-US" altLang="zh-CN" sz="2000" u="none">
                <a:solidFill>
                  <a:schemeClr val="hlink"/>
                </a:solidFill>
              </a:rPr>
              <a:t>LOOP</a:t>
            </a:r>
            <a:r>
              <a:rPr lang="zh-CN" altLang="en-US" sz="2000" u="none">
                <a:solidFill>
                  <a:schemeClr val="hlink"/>
                </a:solidFill>
              </a:rPr>
              <a:t>、</a:t>
            </a:r>
            <a:r>
              <a:rPr lang="en-US" altLang="zh-CN" sz="2000" u="none">
                <a:solidFill>
                  <a:schemeClr val="hlink"/>
                </a:solidFill>
              </a:rPr>
              <a:t>LOOPZ / LOOPE</a:t>
            </a:r>
            <a:r>
              <a:rPr lang="zh-CN" altLang="en-US" sz="2000" u="none">
                <a:solidFill>
                  <a:schemeClr val="hlink"/>
                </a:solidFill>
              </a:rPr>
              <a:t>、</a:t>
            </a:r>
            <a:r>
              <a:rPr lang="en-US" altLang="zh-CN" sz="2000" u="none">
                <a:solidFill>
                  <a:schemeClr val="hlink"/>
                </a:solidFill>
              </a:rPr>
              <a:t>LOOPNZ / LOOPNE</a:t>
            </a:r>
            <a:r>
              <a:rPr lang="en-US" altLang="zh-CN" sz="2000" u="none"/>
              <a:t> </a:t>
            </a:r>
          </a:p>
          <a:p>
            <a:pPr lvl="1" algn="just" eaLnBrk="1" hangingPunct="1">
              <a:lnSpc>
                <a:spcPct val="115000"/>
              </a:lnSpc>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anose="02010609030101010101" pitchFamily="49" charset="-122"/>
              </a:rPr>
              <a:t>子程序调用和返回指令</a:t>
            </a:r>
          </a:p>
          <a:p>
            <a:pPr lvl="2" algn="just" eaLnBrk="1" hangingPunct="1">
              <a:lnSpc>
                <a:spcPct val="115000"/>
              </a:lnSpc>
              <a:buFontTx/>
              <a:buNone/>
            </a:pPr>
            <a:r>
              <a:rPr lang="zh-CN" altLang="en-US" sz="2000" u="none"/>
              <a:t> </a:t>
            </a:r>
            <a:r>
              <a:rPr lang="en-US" altLang="zh-CN" sz="2000" u="none">
                <a:solidFill>
                  <a:schemeClr val="hlink"/>
                </a:solidFill>
              </a:rPr>
              <a:t>CALL</a:t>
            </a:r>
            <a:r>
              <a:rPr lang="zh-CN" altLang="en-US" sz="2000" u="none">
                <a:solidFill>
                  <a:schemeClr val="hlink"/>
                </a:solidFill>
              </a:rPr>
              <a:t>、</a:t>
            </a:r>
            <a:r>
              <a:rPr lang="en-US" altLang="zh-CN" sz="2000" u="none">
                <a:solidFill>
                  <a:schemeClr val="hlink"/>
                </a:solidFill>
              </a:rPr>
              <a:t>RET</a:t>
            </a:r>
          </a:p>
          <a:p>
            <a:pPr lvl="1" algn="just" eaLnBrk="1" hangingPunct="1">
              <a:lnSpc>
                <a:spcPct val="115000"/>
              </a:lnSpc>
              <a:buClrTx/>
              <a:buFontTx/>
              <a:buNone/>
            </a:pPr>
            <a:r>
              <a:rPr lang="en-US" altLang="zh-CN" sz="1800" u="none">
                <a:sym typeface="Symbol" panose="05050102010706020507" pitchFamily="18" charset="2"/>
              </a:rPr>
              <a:t>   </a:t>
            </a:r>
            <a:r>
              <a:rPr lang="en-US" altLang="zh-CN" sz="2400" u="none">
                <a:sym typeface="Symbol" panose="05050102010706020507" pitchFamily="18" charset="2"/>
              </a:rPr>
              <a:t>   </a:t>
            </a:r>
            <a:r>
              <a:rPr lang="zh-CN" altLang="en-US" sz="2400" u="none">
                <a:ea typeface="楷体_GB2312" panose="02010609030101010101" pitchFamily="49" charset="-122"/>
              </a:rPr>
              <a:t>中断与中断返回指令</a:t>
            </a:r>
          </a:p>
          <a:p>
            <a:pPr lvl="2" algn="just" eaLnBrk="1" hangingPunct="1">
              <a:lnSpc>
                <a:spcPct val="115000"/>
              </a:lnSpc>
              <a:buFontTx/>
              <a:buNone/>
            </a:pPr>
            <a:r>
              <a:rPr lang="zh-CN" altLang="en-US" sz="2000" u="none"/>
              <a:t> </a:t>
            </a:r>
            <a:r>
              <a:rPr lang="en-US" altLang="zh-CN" sz="2000" u="none">
                <a:solidFill>
                  <a:schemeClr val="tx2"/>
                </a:solidFill>
              </a:rPr>
              <a:t>INT</a:t>
            </a:r>
            <a:r>
              <a:rPr lang="zh-CN" altLang="en-US" sz="2000" u="none">
                <a:solidFill>
                  <a:schemeClr val="tx2"/>
                </a:solidFill>
              </a:rPr>
              <a:t>、</a:t>
            </a:r>
            <a:r>
              <a:rPr lang="en-US" altLang="zh-CN" sz="2000" u="none">
                <a:solidFill>
                  <a:schemeClr val="tx2"/>
                </a:solidFill>
              </a:rPr>
              <a:t>INTO</a:t>
            </a:r>
            <a:r>
              <a:rPr lang="zh-CN" altLang="en-US" sz="2000" u="none">
                <a:solidFill>
                  <a:schemeClr val="tx2"/>
                </a:solidFill>
              </a:rPr>
              <a:t>、</a:t>
            </a:r>
            <a:r>
              <a:rPr lang="en-US" altLang="zh-CN" sz="2000" u="none">
                <a:solidFill>
                  <a:schemeClr val="tx2"/>
                </a:solidFill>
              </a:rPr>
              <a:t>IRET </a:t>
            </a:r>
          </a:p>
        </p:txBody>
      </p:sp>
    </p:spTree>
  </p:cSld>
  <p:clrMapOvr>
    <a:masterClrMapping/>
  </p:clrMapOvr>
  <p:transition>
    <p:rand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1524000" y="838200"/>
            <a:ext cx="6858000" cy="422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
                <a:schemeClr val="tx2"/>
              </a:buClr>
              <a:buSzPct val="90000"/>
              <a:buFont typeface="Symbol" panose="05050102010706020507" pitchFamily="18" charset="2"/>
              <a:buNone/>
            </a:pPr>
            <a:r>
              <a:rPr lang="zh-CN" altLang="en-US" sz="2600" u="none">
                <a:solidFill>
                  <a:schemeClr val="hlink"/>
                </a:solidFill>
              </a:rPr>
              <a:t>处理机控制指令</a:t>
            </a:r>
            <a:r>
              <a:rPr lang="zh-CN" altLang="en-US" sz="2600" u="none"/>
              <a:t>：</a:t>
            </a:r>
          </a:p>
          <a:p>
            <a:pPr eaLnBrk="1" hangingPunct="1">
              <a:spcBef>
                <a:spcPct val="50000"/>
              </a:spcBef>
              <a:buClr>
                <a:schemeClr val="tx2"/>
              </a:buClr>
              <a:buSzPct val="90000"/>
              <a:buFont typeface="Symbol" panose="05050102010706020507" pitchFamily="18" charset="2"/>
              <a:buNone/>
            </a:pPr>
            <a:endParaRPr lang="zh-CN" altLang="en-US" sz="1800" u="none">
              <a:sym typeface="Symbol" panose="05050102010706020507" pitchFamily="18" charset="2"/>
            </a:endParaRPr>
          </a:p>
          <a:p>
            <a:pPr eaLnBrk="1" hangingPunct="1">
              <a:spcBef>
                <a:spcPct val="50000"/>
              </a:spcBef>
              <a:buClr>
                <a:schemeClr val="tx2"/>
              </a:buClr>
              <a:buSzPct val="90000"/>
              <a:buFont typeface="Symbol" panose="05050102010706020507" pitchFamily="18" charset="2"/>
              <a:buNone/>
            </a:pPr>
            <a:r>
              <a:rPr lang="zh-CN" altLang="en-US" sz="1800" u="none">
                <a:sym typeface="Symbol" panose="05050102010706020507" pitchFamily="18" charset="2"/>
              </a:rPr>
              <a:t>      </a:t>
            </a:r>
            <a:r>
              <a:rPr lang="zh-CN" altLang="en-US" sz="2000" u="none">
                <a:sym typeface="Symbol" panose="05050102010706020507" pitchFamily="18" charset="2"/>
              </a:rPr>
              <a:t>   </a:t>
            </a:r>
            <a:r>
              <a:rPr lang="zh-CN" altLang="en-US" sz="2400" u="none">
                <a:ea typeface="楷体_GB2312" panose="02010609030101010101" pitchFamily="49" charset="-122"/>
              </a:rPr>
              <a:t>标志位处理指令</a:t>
            </a:r>
          </a:p>
          <a:p>
            <a:pPr eaLnBrk="1" hangingPunct="1">
              <a:spcBef>
                <a:spcPct val="50000"/>
              </a:spcBef>
              <a:buClr>
                <a:schemeClr val="tx2"/>
              </a:buClr>
              <a:buSzPct val="90000"/>
              <a:buFont typeface="Symbol" panose="05050102010706020507" pitchFamily="18" charset="2"/>
              <a:buNone/>
            </a:pPr>
            <a:r>
              <a:rPr lang="zh-CN" altLang="en-US" sz="2400" u="none">
                <a:ea typeface="楷体_GB2312" panose="02010609030101010101" pitchFamily="49" charset="-122"/>
              </a:rPr>
              <a:t>         </a:t>
            </a:r>
            <a:r>
              <a:rPr lang="en-US" altLang="zh-CN" sz="2000" u="none">
                <a:solidFill>
                  <a:schemeClr val="accent2"/>
                </a:solidFill>
              </a:rPr>
              <a:t>CLC</a:t>
            </a:r>
            <a:r>
              <a:rPr lang="zh-CN" altLang="en-US" sz="2000" u="none">
                <a:solidFill>
                  <a:schemeClr val="accent2"/>
                </a:solidFill>
              </a:rPr>
              <a:t>、 </a:t>
            </a:r>
            <a:r>
              <a:rPr lang="en-US" altLang="zh-CN" sz="2000" u="none">
                <a:solidFill>
                  <a:schemeClr val="accent2"/>
                </a:solidFill>
              </a:rPr>
              <a:t>STC</a:t>
            </a:r>
            <a:r>
              <a:rPr lang="zh-CN" altLang="en-US" sz="2000" u="none">
                <a:solidFill>
                  <a:schemeClr val="accent2"/>
                </a:solidFill>
              </a:rPr>
              <a:t>、 </a:t>
            </a:r>
            <a:r>
              <a:rPr lang="en-US" altLang="zh-CN" sz="2000" u="none">
                <a:solidFill>
                  <a:schemeClr val="accent2"/>
                </a:solidFill>
              </a:rPr>
              <a:t>CMC</a:t>
            </a:r>
            <a:r>
              <a:rPr lang="zh-CN" altLang="en-US" sz="2000" u="none">
                <a:solidFill>
                  <a:schemeClr val="accent2"/>
                </a:solidFill>
              </a:rPr>
              <a:t>、</a:t>
            </a:r>
          </a:p>
          <a:p>
            <a:pPr eaLnBrk="1" hangingPunct="1">
              <a:spcBef>
                <a:spcPct val="50000"/>
              </a:spcBef>
              <a:buClr>
                <a:schemeClr val="tx2"/>
              </a:buClr>
              <a:buSzPct val="90000"/>
              <a:buFont typeface="Symbol" panose="05050102010706020507" pitchFamily="18" charset="2"/>
              <a:buNone/>
            </a:pPr>
            <a:r>
              <a:rPr lang="zh-CN" altLang="en-US" sz="2000" u="none">
                <a:solidFill>
                  <a:schemeClr val="accent2"/>
                </a:solidFill>
              </a:rPr>
              <a:t>          </a:t>
            </a:r>
            <a:r>
              <a:rPr lang="en-US" altLang="zh-CN" sz="2000" u="none">
                <a:solidFill>
                  <a:schemeClr val="accent2"/>
                </a:solidFill>
              </a:rPr>
              <a:t>CLD</a:t>
            </a:r>
            <a:r>
              <a:rPr lang="zh-CN" altLang="en-US" sz="2000" u="none">
                <a:solidFill>
                  <a:schemeClr val="accent2"/>
                </a:solidFill>
              </a:rPr>
              <a:t>、</a:t>
            </a:r>
            <a:r>
              <a:rPr lang="en-US" altLang="zh-CN" sz="2000" u="none">
                <a:solidFill>
                  <a:schemeClr val="accent2"/>
                </a:solidFill>
              </a:rPr>
              <a:t>STD</a:t>
            </a:r>
            <a:r>
              <a:rPr lang="zh-CN" altLang="en-US" sz="2000" u="none">
                <a:solidFill>
                  <a:schemeClr val="accent2"/>
                </a:solidFill>
              </a:rPr>
              <a:t>、</a:t>
            </a:r>
          </a:p>
          <a:p>
            <a:pPr eaLnBrk="1" hangingPunct="1">
              <a:spcBef>
                <a:spcPct val="50000"/>
              </a:spcBef>
              <a:buClr>
                <a:schemeClr val="tx2"/>
              </a:buClr>
              <a:buSzPct val="90000"/>
              <a:buFont typeface="Symbol" panose="05050102010706020507" pitchFamily="18" charset="2"/>
              <a:buNone/>
            </a:pPr>
            <a:r>
              <a:rPr lang="zh-CN" altLang="en-US" sz="2000" u="none">
                <a:solidFill>
                  <a:schemeClr val="accent2"/>
                </a:solidFill>
              </a:rPr>
              <a:t>          </a:t>
            </a:r>
            <a:r>
              <a:rPr lang="en-US" altLang="zh-CN" sz="2000" u="none">
                <a:solidFill>
                  <a:schemeClr val="accent2"/>
                </a:solidFill>
              </a:rPr>
              <a:t>CLI</a:t>
            </a:r>
            <a:r>
              <a:rPr lang="zh-CN" altLang="en-US" sz="2000" u="none">
                <a:solidFill>
                  <a:schemeClr val="accent2"/>
                </a:solidFill>
              </a:rPr>
              <a:t>、</a:t>
            </a:r>
            <a:r>
              <a:rPr lang="en-US" altLang="zh-CN" sz="2000" u="none">
                <a:solidFill>
                  <a:schemeClr val="accent2"/>
                </a:solidFill>
              </a:rPr>
              <a:t>STI</a:t>
            </a:r>
            <a:r>
              <a:rPr lang="en-US" altLang="zh-CN" sz="2000" u="none">
                <a:solidFill>
                  <a:schemeClr val="accent2"/>
                </a:solidFill>
                <a:ea typeface="楷体_GB2312" panose="02010609030101010101" pitchFamily="49" charset="-122"/>
              </a:rPr>
              <a:t> </a:t>
            </a:r>
            <a:r>
              <a:rPr lang="en-US" altLang="zh-CN" sz="2000" u="none">
                <a:solidFill>
                  <a:schemeClr val="accent2"/>
                </a:solidFill>
              </a:rPr>
              <a:t> </a:t>
            </a:r>
          </a:p>
          <a:p>
            <a:pPr eaLnBrk="1" hangingPunct="1">
              <a:lnSpc>
                <a:spcPct val="130000"/>
              </a:lnSpc>
              <a:spcBef>
                <a:spcPct val="50000"/>
              </a:spcBef>
              <a:buClrTx/>
              <a:buFontTx/>
              <a:buNone/>
            </a:pPr>
            <a:r>
              <a:rPr lang="en-US" altLang="zh-CN" sz="1800" u="none">
                <a:sym typeface="Symbol" panose="05050102010706020507" pitchFamily="18" charset="2"/>
              </a:rPr>
              <a:t>      </a:t>
            </a:r>
            <a:r>
              <a:rPr lang="en-US" altLang="zh-CN" sz="2000" u="none">
                <a:sym typeface="Symbol" panose="05050102010706020507" pitchFamily="18" charset="2"/>
              </a:rPr>
              <a:t>   </a:t>
            </a:r>
            <a:r>
              <a:rPr lang="zh-CN" altLang="en-US" sz="2400" u="none">
                <a:ea typeface="楷体_GB2312" panose="02010609030101010101" pitchFamily="49" charset="-122"/>
              </a:rPr>
              <a:t>处理机控制指令</a:t>
            </a:r>
          </a:p>
          <a:p>
            <a:pPr eaLnBrk="1" hangingPunct="1">
              <a:lnSpc>
                <a:spcPct val="130000"/>
              </a:lnSpc>
              <a:spcBef>
                <a:spcPct val="50000"/>
              </a:spcBef>
              <a:buClrTx/>
              <a:buFontTx/>
              <a:buNone/>
            </a:pPr>
            <a:r>
              <a:rPr lang="zh-CN" altLang="en-US" sz="2400" u="none">
                <a:ea typeface="楷体_GB2312" panose="02010609030101010101" pitchFamily="49" charset="-122"/>
              </a:rPr>
              <a:t>         </a:t>
            </a:r>
            <a:r>
              <a:rPr lang="en-US" altLang="zh-CN" sz="2000" u="none"/>
              <a:t>NOP</a:t>
            </a:r>
            <a:r>
              <a:rPr lang="zh-CN" altLang="en-US" sz="2000" u="none"/>
              <a:t>、</a:t>
            </a:r>
            <a:r>
              <a:rPr lang="en-US" altLang="zh-CN" sz="2000" u="none"/>
              <a:t>HLT</a:t>
            </a:r>
            <a:r>
              <a:rPr lang="zh-CN" altLang="en-US" sz="2000" u="none"/>
              <a:t>、</a:t>
            </a:r>
            <a:r>
              <a:rPr lang="en-US" altLang="zh-CN" sz="2000" u="none"/>
              <a:t>WAIT</a:t>
            </a:r>
            <a:r>
              <a:rPr lang="zh-CN" altLang="en-US" sz="2000" u="none"/>
              <a:t>、</a:t>
            </a:r>
            <a:r>
              <a:rPr lang="en-US" altLang="zh-CN" sz="2000" u="none"/>
              <a:t>ESC</a:t>
            </a:r>
            <a:r>
              <a:rPr lang="zh-CN" altLang="en-US" sz="2000" u="none"/>
              <a:t>、</a:t>
            </a:r>
            <a:r>
              <a:rPr lang="en-US" altLang="zh-CN" sz="2000" u="none"/>
              <a:t>LOCK</a:t>
            </a:r>
            <a:r>
              <a:rPr lang="en-US" altLang="zh-CN" sz="2000" u="none">
                <a:ea typeface="楷体_GB2312" panose="02010609030101010101" pitchFamily="49" charset="-122"/>
              </a:rPr>
              <a:t> </a:t>
            </a:r>
          </a:p>
        </p:txBody>
      </p:sp>
    </p:spTree>
  </p:cSld>
  <p:clrMapOvr>
    <a:masterClrMapping/>
  </p:clrMapOvr>
  <p:transition>
    <p:random/>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defRPr/>
            </a:pPr>
            <a:r>
              <a:rPr lang="zh-CN" altLang="en-US"/>
              <a:t>下列指令哪些是错误的</a:t>
            </a:r>
            <a:r>
              <a:rPr lang="en-US" altLang="zh-CN"/>
              <a:t>?</a:t>
            </a:r>
          </a:p>
        </p:txBody>
      </p:sp>
      <p:sp>
        <p:nvSpPr>
          <p:cNvPr id="69635" name="Rectangle 3"/>
          <p:cNvSpPr>
            <a:spLocks noGrp="1" noChangeArrowheads="1"/>
          </p:cNvSpPr>
          <p:nvPr>
            <p:ph type="body" idx="1"/>
          </p:nvPr>
        </p:nvSpPr>
        <p:spPr>
          <a:xfrm>
            <a:off x="914400" y="1295400"/>
            <a:ext cx="3586163" cy="4800600"/>
          </a:xfrm>
        </p:spPr>
        <p:txBody>
          <a:bodyPr/>
          <a:lstStyle/>
          <a:p>
            <a:pPr eaLnBrk="1" hangingPunct="1"/>
            <a:r>
              <a:rPr lang="en-US" altLang="zh-CN"/>
              <a:t>mov ax,bx</a:t>
            </a:r>
          </a:p>
          <a:p>
            <a:pPr eaLnBrk="1" hangingPunct="1"/>
            <a:r>
              <a:rPr lang="en-US" altLang="zh-CN"/>
              <a:t>mov ax,bl</a:t>
            </a:r>
          </a:p>
          <a:p>
            <a:pPr eaLnBrk="1" hangingPunct="1"/>
            <a:r>
              <a:rPr lang="en-US" altLang="zh-CN"/>
              <a:t>mov cs,bx</a:t>
            </a:r>
          </a:p>
          <a:p>
            <a:pPr eaLnBrk="1" hangingPunct="1"/>
            <a:r>
              <a:rPr lang="en-US" altLang="zh-CN"/>
              <a:t>mov cs,1000h</a:t>
            </a:r>
          </a:p>
          <a:p>
            <a:pPr eaLnBrk="1" hangingPunct="1"/>
            <a:r>
              <a:rPr lang="en-US" altLang="zh-CN"/>
              <a:t>add bx,es</a:t>
            </a:r>
          </a:p>
          <a:p>
            <a:pPr eaLnBrk="1" hangingPunct="1"/>
            <a:r>
              <a:rPr lang="en-US" altLang="zh-CN"/>
              <a:t>mov [bx],[si]</a:t>
            </a:r>
          </a:p>
          <a:p>
            <a:pPr eaLnBrk="1" hangingPunct="1"/>
            <a:r>
              <a:rPr lang="en-US" altLang="zh-CN"/>
              <a:t>shl dx,cl</a:t>
            </a:r>
          </a:p>
          <a:p>
            <a:pPr eaLnBrk="1" hangingPunct="1"/>
            <a:r>
              <a:rPr lang="en-US" altLang="zh-CN"/>
              <a:t>and ax,[cx]</a:t>
            </a:r>
          </a:p>
          <a:p>
            <a:pPr eaLnBrk="1" hangingPunct="1"/>
            <a:endParaRPr lang="en-US" altLang="zh-CN"/>
          </a:p>
        </p:txBody>
      </p:sp>
      <p:sp>
        <p:nvSpPr>
          <p:cNvPr id="69636" name="Rectangle 6"/>
          <p:cNvSpPr>
            <a:spLocks noChangeArrowheads="1"/>
          </p:cNvSpPr>
          <p:nvPr/>
        </p:nvSpPr>
        <p:spPr bwMode="auto">
          <a:xfrm>
            <a:off x="5003800" y="1412875"/>
            <a:ext cx="3586163" cy="244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u="none"/>
              <a:t>div dx,2</a:t>
            </a:r>
          </a:p>
          <a:p>
            <a:pPr eaLnBrk="1" hangingPunct="1"/>
            <a:r>
              <a:rPr lang="en-US" altLang="zh-CN" u="none"/>
              <a:t>div 2</a:t>
            </a:r>
          </a:p>
          <a:p>
            <a:pPr eaLnBrk="1" hangingPunct="1"/>
            <a:r>
              <a:rPr lang="en-US" altLang="zh-CN" u="none"/>
              <a:t>inc   ax</a:t>
            </a:r>
          </a:p>
          <a:p>
            <a:pPr eaLnBrk="1" hangingPunct="1"/>
            <a:r>
              <a:rPr lang="en-US" altLang="zh-CN" u="none"/>
              <a:t>xchg ax,ds</a:t>
            </a:r>
          </a:p>
          <a:p>
            <a:pPr eaLnBrk="1" hangingPunct="1"/>
            <a:r>
              <a:rPr lang="en-US" altLang="zh-CN" u="none"/>
              <a:t>xchg al,12h</a:t>
            </a:r>
          </a:p>
          <a:p>
            <a:pPr eaLnBrk="1" hangingPunct="1"/>
            <a:r>
              <a:rPr lang="en-US" altLang="zh-CN" u="none"/>
              <a:t>xchg [si],[di]</a:t>
            </a:r>
          </a:p>
          <a:p>
            <a:pPr eaLnBrk="1" hangingPunct="1"/>
            <a:endParaRPr lang="en-US" altLang="zh-CN" u="none"/>
          </a:p>
        </p:txBody>
      </p:sp>
      <p:sp>
        <p:nvSpPr>
          <p:cNvPr id="115719" name="Rectangle 7"/>
          <p:cNvSpPr>
            <a:spLocks noChangeArrowheads="1"/>
          </p:cNvSpPr>
          <p:nvPr/>
        </p:nvSpPr>
        <p:spPr bwMode="auto">
          <a:xfrm>
            <a:off x="5357813" y="5072063"/>
            <a:ext cx="2160587"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u="none">
                <a:solidFill>
                  <a:srgbClr val="FF0000"/>
                </a:solidFill>
              </a:rPr>
              <a:t>mov al,[si]</a:t>
            </a:r>
          </a:p>
          <a:p>
            <a:pPr eaLnBrk="1" hangingPunct="1">
              <a:spcBef>
                <a:spcPct val="0"/>
              </a:spcBef>
              <a:buClrTx/>
              <a:buFontTx/>
              <a:buNone/>
            </a:pPr>
            <a:r>
              <a:rPr lang="en-US" altLang="zh-CN" u="none">
                <a:solidFill>
                  <a:srgbClr val="FF0000"/>
                </a:solidFill>
              </a:rPr>
              <a:t>xchg al,[di]</a:t>
            </a:r>
          </a:p>
          <a:p>
            <a:pPr eaLnBrk="1" hangingPunct="1">
              <a:spcBef>
                <a:spcPct val="0"/>
              </a:spcBef>
              <a:buClrTx/>
              <a:buFontTx/>
              <a:buNone/>
            </a:pPr>
            <a:r>
              <a:rPr lang="en-US" altLang="zh-CN" u="none">
                <a:solidFill>
                  <a:srgbClr val="FF0000"/>
                </a:solidFill>
              </a:rPr>
              <a:t>mov [si],al</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57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9"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93AF007C-191A-4BC4-AE29-BEC6ED323414}" type="slidenum">
              <a:rPr kumimoji="0" lang="en-US" altLang="zh-CN" sz="1400" u="none" smtClean="0">
                <a:solidFill>
                  <a:srgbClr val="000000"/>
                </a:solidFill>
                <a:latin typeface="Arial" panose="020B0604020202020204" pitchFamily="34" charset="0"/>
              </a:rPr>
              <a:t>60</a:t>
            </a:fld>
            <a:endParaRPr kumimoji="0" lang="en-US" altLang="zh-CN" sz="1400" u="none">
              <a:solidFill>
                <a:srgbClr val="000000"/>
              </a:solidFill>
              <a:latin typeface="Arial" panose="020B0604020202020204" pitchFamily="34" charset="0"/>
            </a:endParaRPr>
          </a:p>
        </p:txBody>
      </p:sp>
      <p:sp>
        <p:nvSpPr>
          <p:cNvPr id="70659" name="Rectangle 4"/>
          <p:cNvSpPr>
            <a:spLocks noChangeArrowheads="1"/>
          </p:cNvSpPr>
          <p:nvPr/>
        </p:nvSpPr>
        <p:spPr bwMode="auto">
          <a:xfrm>
            <a:off x="1763713" y="2218373"/>
            <a:ext cx="6264275" cy="230695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b="1" u="none" dirty="0">
                <a:solidFill>
                  <a:srgbClr val="000000"/>
                </a:solidFill>
                <a:latin typeface="宋体" panose="02010600030101010101" pitchFamily="2" charset="-122"/>
              </a:rPr>
              <a:t>阅读如下程序段：</a:t>
            </a:r>
          </a:p>
          <a:p>
            <a:pPr eaLnBrk="1" hangingPunct="1"/>
            <a:r>
              <a:rPr kumimoji="0" lang="en-US" altLang="zh-CN" b="1" u="none" dirty="0">
                <a:solidFill>
                  <a:srgbClr val="000000"/>
                </a:solidFill>
                <a:latin typeface="宋体" panose="02010600030101010101" pitchFamily="2" charset="-122"/>
              </a:rPr>
              <a:t>MOV AX, 7FFFH    </a:t>
            </a:r>
          </a:p>
          <a:p>
            <a:pPr eaLnBrk="1" hangingPunct="1"/>
            <a:r>
              <a:rPr kumimoji="0" lang="en-US" altLang="zh-CN" b="1" u="none" dirty="0">
                <a:solidFill>
                  <a:srgbClr val="000000"/>
                </a:solidFill>
                <a:latin typeface="宋体" panose="02010600030101010101" pitchFamily="2" charset="-122"/>
              </a:rPr>
              <a:t>ADD AX, 01H    </a:t>
            </a:r>
          </a:p>
          <a:p>
            <a:pPr eaLnBrk="1" hangingPunct="1"/>
            <a:r>
              <a:rPr kumimoji="0" lang="en-US" altLang="zh-CN" b="1" u="none" dirty="0">
                <a:solidFill>
                  <a:srgbClr val="000000"/>
                </a:solidFill>
                <a:latin typeface="宋体" panose="02010600030101010101" pitchFamily="2" charset="-122"/>
              </a:rPr>
              <a:t>ADD AX, AX     </a:t>
            </a:r>
          </a:p>
          <a:p>
            <a:pPr eaLnBrk="1" hangingPunct="1"/>
            <a:r>
              <a:rPr kumimoji="0" lang="zh-CN" altLang="en-US" b="1" u="none" dirty="0">
                <a:solidFill>
                  <a:srgbClr val="000000"/>
                </a:solidFill>
                <a:latin typeface="宋体" panose="02010600030101010101" pitchFamily="2" charset="-122"/>
              </a:rPr>
              <a:t>上述三条指令执行完后：</a:t>
            </a:r>
            <a:r>
              <a:rPr kumimoji="0" lang="en-US" altLang="zh-CN" b="1" u="none" dirty="0">
                <a:solidFill>
                  <a:srgbClr val="000000"/>
                </a:solidFill>
                <a:latin typeface="宋体" panose="02010600030101010101" pitchFamily="2" charset="-122"/>
              </a:rPr>
              <a:t>(AX)=________H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CF=________</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OF=________</a:t>
            </a:r>
            <a:r>
              <a:rPr kumimoji="0" lang="zh-CN" altLang="en-US" b="1" u="none" dirty="0">
                <a:solidFill>
                  <a:srgbClr val="000000"/>
                </a:solidFill>
                <a:latin typeface="宋体" panose="02010600030101010101" pitchFamily="2" charset="-122"/>
              </a:rPr>
              <a:t>。 </a:t>
            </a:r>
          </a:p>
        </p:txBody>
      </p:sp>
      <p:sp>
        <p:nvSpPr>
          <p:cNvPr id="742405" name="Text Box 5"/>
          <p:cNvSpPr txBox="1">
            <a:spLocks noChangeArrowheads="1"/>
          </p:cNvSpPr>
          <p:nvPr/>
        </p:nvSpPr>
        <p:spPr bwMode="auto">
          <a:xfrm>
            <a:off x="5939790" y="3644900"/>
            <a:ext cx="1178560"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00</a:t>
            </a:r>
            <a:endParaRPr kumimoji="0" lang="zh-CN" altLang="en-US" b="1" u="none">
              <a:solidFill>
                <a:srgbClr val="FF0000"/>
              </a:solidFill>
              <a:latin typeface="Arial" panose="020B0604020202020204" pitchFamily="34" charset="0"/>
            </a:endParaRPr>
          </a:p>
        </p:txBody>
      </p:sp>
      <p:sp>
        <p:nvSpPr>
          <p:cNvPr id="2" name="Text Box 5"/>
          <p:cNvSpPr txBox="1">
            <a:spLocks noChangeArrowheads="1"/>
          </p:cNvSpPr>
          <p:nvPr/>
        </p:nvSpPr>
        <p:spPr bwMode="auto">
          <a:xfrm>
            <a:off x="2339340" y="4004945"/>
            <a:ext cx="1178560"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endParaRPr kumimoji="0" lang="zh-CN" altLang="en-US" b="1" u="none">
              <a:solidFill>
                <a:srgbClr val="FF0000"/>
              </a:solidFill>
              <a:latin typeface="Arial" panose="020B0604020202020204" pitchFamily="34" charset="0"/>
            </a:endParaRPr>
          </a:p>
        </p:txBody>
      </p:sp>
      <p:sp>
        <p:nvSpPr>
          <p:cNvPr id="3" name="Text Box 5"/>
          <p:cNvSpPr txBox="1">
            <a:spLocks noChangeArrowheads="1"/>
          </p:cNvSpPr>
          <p:nvPr/>
        </p:nvSpPr>
        <p:spPr bwMode="auto">
          <a:xfrm>
            <a:off x="4306570" y="4004945"/>
            <a:ext cx="1178560"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a:t>
            </a:r>
            <a:endParaRPr kumimoji="0" lang="zh-CN" altLang="en-US" b="1" u="none">
              <a:solidFill>
                <a:srgbClr val="FF0000"/>
              </a:solidFill>
              <a:latin typeface="Arial" panose="020B0604020202020204" pitchFamily="34"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2405"/>
                                        </p:tgtEl>
                                        <p:attrNameLst>
                                          <p:attrName>style.visibility</p:attrName>
                                        </p:attrNameLst>
                                      </p:cBhvr>
                                      <p:to>
                                        <p:strVal val="visible"/>
                                      </p:to>
                                    </p:set>
                                    <p:anim calcmode="lin" valueType="num">
                                      <p:cBhvr additive="base">
                                        <p:cTn id="7" dur="500" fill="hold"/>
                                        <p:tgtEl>
                                          <p:spTgt spid="742405"/>
                                        </p:tgtEl>
                                        <p:attrNameLst>
                                          <p:attrName>ppt_x</p:attrName>
                                        </p:attrNameLst>
                                      </p:cBhvr>
                                      <p:tavLst>
                                        <p:tav tm="0">
                                          <p:val>
                                            <p:strVal val="#ppt_x"/>
                                          </p:val>
                                        </p:tav>
                                        <p:tav tm="100000">
                                          <p:val>
                                            <p:strVal val="#ppt_x"/>
                                          </p:val>
                                        </p:tav>
                                      </p:tavLst>
                                    </p:anim>
                                    <p:anim calcmode="lin" valueType="num">
                                      <p:cBhvr additive="base">
                                        <p:cTn id="8" dur="500" fill="hold"/>
                                        <p:tgtEl>
                                          <p:spTgt spid="7424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5" grpId="0" bldLvl="0" animBg="1"/>
      <p:bldP spid="2" grpId="0" bldLvl="0" animBg="1"/>
      <p:bldP spid="3"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93AF007C-191A-4BC4-AE29-BEC6ED323414}" type="slidenum">
              <a:rPr kumimoji="0" lang="en-US" altLang="zh-CN" sz="1400" u="none" smtClean="0">
                <a:solidFill>
                  <a:srgbClr val="000000"/>
                </a:solidFill>
                <a:latin typeface="Arial" panose="020B0604020202020204" pitchFamily="34" charset="0"/>
              </a:rPr>
              <a:t>61</a:t>
            </a:fld>
            <a:endParaRPr kumimoji="0" lang="en-US" altLang="zh-CN" sz="1400" u="none">
              <a:solidFill>
                <a:srgbClr val="000000"/>
              </a:solidFill>
              <a:latin typeface="Arial" panose="020B0604020202020204" pitchFamily="34" charset="0"/>
            </a:endParaRPr>
          </a:p>
        </p:txBody>
      </p:sp>
      <p:sp>
        <p:nvSpPr>
          <p:cNvPr id="70659" name="Rectangle 4"/>
          <p:cNvSpPr>
            <a:spLocks noChangeArrowheads="1"/>
          </p:cNvSpPr>
          <p:nvPr/>
        </p:nvSpPr>
        <p:spPr bwMode="auto">
          <a:xfrm>
            <a:off x="1763713" y="1479550"/>
            <a:ext cx="6264275" cy="378460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eaLnBrk="1" hangingPunct="1"/>
            <a:r>
              <a:rPr kumimoji="0" lang="zh-CN" altLang="en-US" b="1" u="none" dirty="0">
                <a:solidFill>
                  <a:srgbClr val="000000"/>
                </a:solidFill>
                <a:latin typeface="宋体" panose="02010600030101010101" pitchFamily="2" charset="-122"/>
              </a:rPr>
              <a:t>阅读如下数据段定义和代码段指令：</a:t>
            </a:r>
          </a:p>
          <a:p>
            <a:pPr eaLnBrk="1" hangingPunct="1"/>
            <a:r>
              <a:rPr kumimoji="0" lang="en-US" altLang="zh-CN" b="1" u="none" dirty="0">
                <a:solidFill>
                  <a:srgbClr val="000000"/>
                </a:solidFill>
                <a:latin typeface="宋体" panose="02010600030101010101" pitchFamily="2" charset="-122"/>
              </a:rPr>
              <a:t>;</a:t>
            </a:r>
            <a:r>
              <a:rPr kumimoji="0" lang="zh-CN" altLang="en-US" b="1" u="none" dirty="0">
                <a:solidFill>
                  <a:srgbClr val="000000"/>
                </a:solidFill>
                <a:latin typeface="宋体" panose="02010600030101010101" pitchFamily="2" charset="-122"/>
              </a:rPr>
              <a:t>数据段</a:t>
            </a:r>
          </a:p>
          <a:p>
            <a:pPr eaLnBrk="1" hangingPunct="1"/>
            <a:r>
              <a:rPr kumimoji="0" lang="en-US" altLang="zh-CN" b="1" u="none" dirty="0">
                <a:solidFill>
                  <a:srgbClr val="000000"/>
                </a:solidFill>
                <a:latin typeface="宋体" panose="02010600030101010101" pitchFamily="2" charset="-122"/>
              </a:rPr>
              <a:t>ARY DB 40H, 30H, 20H, 10H</a:t>
            </a:r>
          </a:p>
          <a:p>
            <a:pPr eaLnBrk="1" hangingPunct="1"/>
            <a:r>
              <a:rPr kumimoji="0" lang="en-US" altLang="zh-CN" b="1" u="none" dirty="0">
                <a:solidFill>
                  <a:srgbClr val="000000"/>
                </a:solidFill>
                <a:latin typeface="宋体" panose="02010600030101010101" pitchFamily="2" charset="-122"/>
              </a:rPr>
              <a:t>WRD DW 5678H</a:t>
            </a:r>
          </a:p>
          <a:p>
            <a:pPr eaLnBrk="1" hangingPunct="1"/>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代码段，假设</a:t>
            </a:r>
            <a:r>
              <a:rPr kumimoji="0" lang="en-US" altLang="zh-CN" b="1" u="none" dirty="0">
                <a:solidFill>
                  <a:srgbClr val="000000"/>
                </a:solidFill>
                <a:latin typeface="宋体" panose="02010600030101010101" pitchFamily="2" charset="-122"/>
              </a:rPr>
              <a:t> DS </a:t>
            </a:r>
            <a:r>
              <a:rPr kumimoji="0" lang="zh-CN" altLang="en-US" b="1" u="none" dirty="0">
                <a:solidFill>
                  <a:srgbClr val="000000"/>
                </a:solidFill>
                <a:latin typeface="宋体" panose="02010600030101010101" pitchFamily="2" charset="-122"/>
              </a:rPr>
              <a:t>已正确指向</a:t>
            </a:r>
            <a:r>
              <a:rPr kumimoji="0" lang="en-US" altLang="zh-CN" b="1" u="none" dirty="0">
                <a:solidFill>
                  <a:srgbClr val="000000"/>
                </a:solidFill>
                <a:latin typeface="宋体" panose="02010600030101010101" pitchFamily="2" charset="-122"/>
              </a:rPr>
              <a:t> DATA </a:t>
            </a:r>
            <a:r>
              <a:rPr kumimoji="0" lang="zh-CN" altLang="en-US" b="1" u="none" dirty="0">
                <a:solidFill>
                  <a:srgbClr val="000000"/>
                </a:solidFill>
                <a:latin typeface="宋体" panose="02010600030101010101" pitchFamily="2" charset="-122"/>
              </a:rPr>
              <a:t>段</a:t>
            </a:r>
          </a:p>
          <a:p>
            <a:pPr eaLnBrk="1" hangingPunct="1"/>
            <a:r>
              <a:rPr kumimoji="0" lang="en-US" altLang="zh-CN" b="1" u="none" dirty="0">
                <a:solidFill>
                  <a:srgbClr val="000000"/>
                </a:solidFill>
                <a:latin typeface="宋体" panose="02010600030101010101" pitchFamily="2" charset="-122"/>
              </a:rPr>
              <a:t>MOV AL, ARY+2</a:t>
            </a:r>
          </a:p>
          <a:p>
            <a:pPr eaLnBrk="1" hangingPunct="1"/>
            <a:r>
              <a:rPr kumimoji="0" lang="en-US" altLang="zh-CN" b="1" u="none" dirty="0">
                <a:solidFill>
                  <a:srgbClr val="000000"/>
                </a:solidFill>
                <a:latin typeface="宋体" panose="02010600030101010101" pitchFamily="2" charset="-122"/>
              </a:rPr>
              <a:t>MOV BX, WORD PTR ARY+1</a:t>
            </a:r>
          </a:p>
          <a:p>
            <a:pPr eaLnBrk="1" hangingPunct="1"/>
            <a:r>
              <a:rPr kumimoji="0" lang="en-US" altLang="zh-CN" b="1" u="none" dirty="0">
                <a:solidFill>
                  <a:srgbClr val="000000"/>
                </a:solidFill>
                <a:latin typeface="宋体" panose="02010600030101010101" pitchFamily="2" charset="-122"/>
              </a:rPr>
              <a:t>MOV CH, BYTE PTR WRD</a:t>
            </a:r>
          </a:p>
          <a:p>
            <a:pPr eaLnBrk="1" hangingPunct="1"/>
            <a:r>
              <a:rPr kumimoji="0" lang="zh-CN" altLang="en-US" b="1" u="none" dirty="0">
                <a:solidFill>
                  <a:srgbClr val="000000"/>
                </a:solidFill>
                <a:latin typeface="宋体" panose="02010600030101010101" pitchFamily="2" charset="-122"/>
              </a:rPr>
              <a:t>上述指令执行完毕后，</a:t>
            </a:r>
            <a:r>
              <a:rPr kumimoji="0" lang="en-US" altLang="zh-CN" b="1" u="none" dirty="0">
                <a:solidFill>
                  <a:srgbClr val="000000"/>
                </a:solidFill>
                <a:latin typeface="宋体" panose="02010600030101010101" pitchFamily="2" charset="-122"/>
              </a:rPr>
              <a:t>(AL)=________H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(BX)=________H</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(CL)=________H</a:t>
            </a:r>
            <a:r>
              <a:rPr kumimoji="0" lang="zh-CN" altLang="en-US" b="1" u="none" dirty="0">
                <a:solidFill>
                  <a:srgbClr val="000000"/>
                </a:solidFill>
                <a:latin typeface="宋体" panose="02010600030101010101" pitchFamily="2" charset="-122"/>
              </a:rPr>
              <a:t>。</a:t>
            </a:r>
          </a:p>
        </p:txBody>
      </p:sp>
      <p:sp>
        <p:nvSpPr>
          <p:cNvPr id="742405" name="Text Box 5"/>
          <p:cNvSpPr txBox="1">
            <a:spLocks noChangeArrowheads="1"/>
          </p:cNvSpPr>
          <p:nvPr/>
        </p:nvSpPr>
        <p:spPr bwMode="auto">
          <a:xfrm>
            <a:off x="5147945" y="4364673"/>
            <a:ext cx="223202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20</a:t>
            </a:r>
            <a:endParaRPr kumimoji="0" lang="zh-CN" altLang="en-US" b="1" u="none">
              <a:solidFill>
                <a:srgbClr val="FF0000"/>
              </a:solidFill>
              <a:latin typeface="Arial" panose="020B0604020202020204" pitchFamily="34" charset="0"/>
            </a:endParaRPr>
          </a:p>
        </p:txBody>
      </p:sp>
      <p:sp>
        <p:nvSpPr>
          <p:cNvPr id="2" name="Text Box 5"/>
          <p:cNvSpPr txBox="1">
            <a:spLocks noChangeArrowheads="1"/>
          </p:cNvSpPr>
          <p:nvPr/>
        </p:nvSpPr>
        <p:spPr bwMode="auto">
          <a:xfrm>
            <a:off x="2051685" y="4724718"/>
            <a:ext cx="223202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2030</a:t>
            </a:r>
            <a:endParaRPr kumimoji="0" lang="zh-CN" altLang="en-US" b="1" u="none">
              <a:solidFill>
                <a:srgbClr val="FF0000"/>
              </a:solidFill>
              <a:latin typeface="Arial" panose="020B0604020202020204" pitchFamily="34" charset="0"/>
            </a:endParaRPr>
          </a:p>
        </p:txBody>
      </p:sp>
      <p:sp>
        <p:nvSpPr>
          <p:cNvPr id="3" name="Text Box 5"/>
          <p:cNvSpPr txBox="1">
            <a:spLocks noChangeArrowheads="1"/>
          </p:cNvSpPr>
          <p:nvPr/>
        </p:nvSpPr>
        <p:spPr bwMode="auto">
          <a:xfrm>
            <a:off x="4572000" y="4724718"/>
            <a:ext cx="223202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78</a:t>
            </a:r>
            <a:endParaRPr kumimoji="0" lang="zh-CN" altLang="en-US" b="1" u="none">
              <a:solidFill>
                <a:srgbClr val="FF0000"/>
              </a:solidFill>
              <a:latin typeface="Arial" panose="020B0604020202020204" pitchFamily="34" charset="0"/>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2405"/>
                                        </p:tgtEl>
                                        <p:attrNameLst>
                                          <p:attrName>style.visibility</p:attrName>
                                        </p:attrNameLst>
                                      </p:cBhvr>
                                      <p:to>
                                        <p:strVal val="visible"/>
                                      </p:to>
                                    </p:set>
                                    <p:anim calcmode="lin" valueType="num">
                                      <p:cBhvr additive="base">
                                        <p:cTn id="7" dur="500" fill="hold"/>
                                        <p:tgtEl>
                                          <p:spTgt spid="742405"/>
                                        </p:tgtEl>
                                        <p:attrNameLst>
                                          <p:attrName>ppt_x</p:attrName>
                                        </p:attrNameLst>
                                      </p:cBhvr>
                                      <p:tavLst>
                                        <p:tav tm="0">
                                          <p:val>
                                            <p:strVal val="#ppt_x"/>
                                          </p:val>
                                        </p:tav>
                                        <p:tav tm="100000">
                                          <p:val>
                                            <p:strVal val="#ppt_x"/>
                                          </p:val>
                                        </p:tav>
                                      </p:tavLst>
                                    </p:anim>
                                    <p:anim calcmode="lin" valueType="num">
                                      <p:cBhvr additive="base">
                                        <p:cTn id="8" dur="500" fill="hold"/>
                                        <p:tgtEl>
                                          <p:spTgt spid="7424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2405" grpId="0" bldLvl="0" animBg="1"/>
      <p:bldP spid="2" grpId="0" bldLvl="0" animBg="1"/>
      <p:bldP spid="3"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6"/>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E0768632-20C9-4781-A332-E7E53FA01642}" type="slidenum">
              <a:rPr kumimoji="0" lang="en-US" altLang="zh-CN" sz="1400" u="none" smtClean="0">
                <a:solidFill>
                  <a:srgbClr val="000000"/>
                </a:solidFill>
                <a:latin typeface="Arial" panose="020B0604020202020204" pitchFamily="34" charset="0"/>
              </a:rPr>
              <a:t>62</a:t>
            </a:fld>
            <a:endParaRPr kumimoji="0" lang="en-US" altLang="zh-CN" sz="1400" u="none">
              <a:solidFill>
                <a:srgbClr val="000000"/>
              </a:solidFill>
              <a:latin typeface="Arial" panose="020B0604020202020204" pitchFamily="34" charset="0"/>
            </a:endParaRPr>
          </a:p>
        </p:txBody>
      </p:sp>
      <p:sp>
        <p:nvSpPr>
          <p:cNvPr id="71683" name="Rectangle 4"/>
          <p:cNvSpPr>
            <a:spLocks noChangeArrowheads="1"/>
          </p:cNvSpPr>
          <p:nvPr/>
        </p:nvSpPr>
        <p:spPr bwMode="auto">
          <a:xfrm>
            <a:off x="899160" y="835978"/>
            <a:ext cx="7239000" cy="48926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l" eaLnBrk="1" hangingPunct="1"/>
            <a:r>
              <a:rPr kumimoji="0" lang="zh-CN" altLang="en-US" b="1" u="none" dirty="0">
                <a:solidFill>
                  <a:srgbClr val="000000"/>
                </a:solidFill>
                <a:latin typeface="宋体" panose="02010600030101010101" pitchFamily="2" charset="-122"/>
              </a:rPr>
              <a:t>阅读如下程序段</a:t>
            </a:r>
          </a:p>
          <a:p>
            <a:pPr indent="457200" algn="l" eaLnBrk="1" hangingPunct="1"/>
            <a:r>
              <a:rPr kumimoji="0" lang="en-US" altLang="zh-CN" b="1" u="none" dirty="0">
                <a:solidFill>
                  <a:srgbClr val="000000"/>
                </a:solidFill>
                <a:latin typeface="宋体" panose="02010600030101010101" pitchFamily="2" charset="-122"/>
              </a:rPr>
              <a:t>MOV AX, C500H    </a:t>
            </a:r>
          </a:p>
          <a:p>
            <a:pPr indent="457200" algn="l" eaLnBrk="1" hangingPunct="1"/>
            <a:r>
              <a:rPr kumimoji="0" lang="en-US" altLang="zh-CN" b="1" u="none" dirty="0">
                <a:solidFill>
                  <a:srgbClr val="000000"/>
                </a:solidFill>
                <a:latin typeface="宋体" panose="02010600030101010101" pitchFamily="2" charset="-122"/>
              </a:rPr>
              <a:t>MOV BL, 0        </a:t>
            </a:r>
          </a:p>
          <a:p>
            <a:pPr indent="457200" algn="l" eaLnBrk="1" hangingPunct="1"/>
            <a:r>
              <a:rPr kumimoji="0" lang="en-US" altLang="zh-CN" b="1" u="none" dirty="0">
                <a:solidFill>
                  <a:srgbClr val="000000"/>
                </a:solidFill>
                <a:latin typeface="宋体" panose="02010600030101010101" pitchFamily="2" charset="-122"/>
              </a:rPr>
              <a:t>MOV CX, 16       </a:t>
            </a:r>
          </a:p>
          <a:p>
            <a:pPr algn="l" eaLnBrk="1" hangingPunct="1"/>
            <a:r>
              <a:rPr kumimoji="0" lang="en-US" altLang="zh-CN" b="1" u="none" dirty="0">
                <a:solidFill>
                  <a:srgbClr val="000000"/>
                </a:solidFill>
                <a:latin typeface="宋体" panose="02010600030101010101" pitchFamily="2" charset="-122"/>
              </a:rPr>
              <a:t>AGAIN:</a:t>
            </a:r>
          </a:p>
          <a:p>
            <a:pPr indent="457200" algn="l" eaLnBrk="1" hangingPunct="1"/>
            <a:r>
              <a:rPr kumimoji="0" lang="en-US" altLang="zh-CN" b="1" u="none" dirty="0">
                <a:solidFill>
                  <a:srgbClr val="000000"/>
                </a:solidFill>
                <a:latin typeface="宋体" panose="02010600030101010101" pitchFamily="2" charset="-122"/>
              </a:rPr>
              <a:t>SHL AX, 1</a:t>
            </a:r>
          </a:p>
          <a:p>
            <a:pPr indent="457200" algn="l" eaLnBrk="1" hangingPunct="1"/>
            <a:r>
              <a:rPr kumimoji="0" lang="en-US" altLang="zh-CN" b="1" u="none" dirty="0">
                <a:solidFill>
                  <a:srgbClr val="000000"/>
                </a:solidFill>
                <a:latin typeface="宋体" panose="02010600030101010101" pitchFamily="2" charset="-122"/>
              </a:rPr>
              <a:t>JC SKIP         </a:t>
            </a:r>
            <a:endParaRPr kumimoji="0" lang="zh-CN" altLang="en-US" b="1" u="none" dirty="0">
              <a:solidFill>
                <a:srgbClr val="000000"/>
              </a:solidFill>
              <a:latin typeface="宋体" panose="02010600030101010101" pitchFamily="2" charset="-122"/>
            </a:endParaRPr>
          </a:p>
          <a:p>
            <a:pPr algn="l" eaLnBrk="1" hangingPunct="1"/>
            <a:r>
              <a:rPr kumimoji="0" lang="en-US" altLang="zh-CN" b="1" u="none" dirty="0">
                <a:solidFill>
                  <a:srgbClr val="000000"/>
                </a:solidFill>
                <a:latin typeface="宋体" panose="02010600030101010101" pitchFamily="2" charset="-122"/>
              </a:rPr>
              <a:t>INC BL           </a:t>
            </a:r>
          </a:p>
          <a:p>
            <a:pPr indent="457200" algn="l" eaLnBrk="1" hangingPunct="1"/>
            <a:r>
              <a:rPr kumimoji="0" lang="en-US" altLang="zh-CN" b="1" u="none" dirty="0">
                <a:solidFill>
                  <a:srgbClr val="000000"/>
                </a:solidFill>
                <a:latin typeface="宋体" panose="02010600030101010101" pitchFamily="2" charset="-122"/>
              </a:rPr>
              <a:t>SKIP:</a:t>
            </a:r>
          </a:p>
          <a:p>
            <a:pPr algn="l" eaLnBrk="1" hangingPunct="1"/>
            <a:r>
              <a:rPr kumimoji="0" lang="en-US" altLang="zh-CN" b="1" u="none" dirty="0">
                <a:solidFill>
                  <a:srgbClr val="000000"/>
                </a:solidFill>
                <a:latin typeface="宋体" panose="02010600030101010101" pitchFamily="2" charset="-122"/>
              </a:rPr>
              <a:t>LOOP AGAIN</a:t>
            </a:r>
          </a:p>
          <a:p>
            <a:pPr algn="l" eaLnBrk="1" hangingPunct="1"/>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r>
              <a:rPr kumimoji="0" lang="zh-CN" altLang="en-US" b="1" u="none" dirty="0">
                <a:solidFill>
                  <a:srgbClr val="000000"/>
                </a:solidFill>
                <a:latin typeface="宋体" panose="02010600030101010101" pitchFamily="2" charset="-122"/>
              </a:rPr>
              <a:t>）上述指令执行完毕后，</a:t>
            </a:r>
            <a:r>
              <a:rPr kumimoji="0" lang="en-US" altLang="zh-CN" b="1" u="none" dirty="0">
                <a:solidFill>
                  <a:srgbClr val="000000"/>
                </a:solidFill>
                <a:latin typeface="宋体" panose="02010600030101010101" pitchFamily="2" charset="-122"/>
              </a:rPr>
              <a:t>(BL)=________H</a:t>
            </a:r>
            <a:r>
              <a:rPr kumimoji="0" lang="zh-CN" altLang="en-US" b="1" u="none" dirty="0">
                <a:solidFill>
                  <a:srgbClr val="000000"/>
                </a:solidFill>
                <a:latin typeface="宋体" panose="02010600030101010101" pitchFamily="2" charset="-122"/>
              </a:rPr>
              <a:t>；</a:t>
            </a:r>
          </a:p>
          <a:p>
            <a:pPr algn="l" eaLnBrk="1" hangingPunct="1"/>
            <a:endParaRPr kumimoji="0" lang="en-US" altLang="zh-CN" b="1" u="none" dirty="0">
              <a:solidFill>
                <a:srgbClr val="000000"/>
              </a:solidFill>
              <a:latin typeface="宋体" panose="02010600030101010101" pitchFamily="2" charset="-122"/>
            </a:endParaRPr>
          </a:p>
          <a:p>
            <a:pPr algn="l" eaLnBrk="1" hangingPunct="1"/>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r>
              <a:rPr kumimoji="0" lang="zh-CN" altLang="en-US" b="1" u="none" dirty="0">
                <a:solidFill>
                  <a:srgbClr val="000000"/>
                </a:solidFill>
                <a:latin typeface="宋体" panose="02010600030101010101" pitchFamily="2" charset="-122"/>
              </a:rPr>
              <a:t>）该程序段的功能是</a:t>
            </a:r>
            <a:r>
              <a:rPr kumimoji="0" lang="en-US" altLang="zh-CN" b="1" u="none" dirty="0">
                <a:solidFill>
                  <a:srgbClr val="000000"/>
                </a:solidFill>
                <a:latin typeface="宋体" panose="02010600030101010101" pitchFamily="2" charset="-122"/>
              </a:rPr>
              <a:t>_________________________</a:t>
            </a:r>
          </a:p>
        </p:txBody>
      </p:sp>
      <p:sp>
        <p:nvSpPr>
          <p:cNvPr id="743429" name="Text Box 5"/>
          <p:cNvSpPr txBox="1">
            <a:spLocks noChangeArrowheads="1"/>
          </p:cNvSpPr>
          <p:nvPr/>
        </p:nvSpPr>
        <p:spPr bwMode="auto">
          <a:xfrm>
            <a:off x="5075238" y="4509135"/>
            <a:ext cx="223202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12</a:t>
            </a:r>
            <a:endParaRPr kumimoji="0" lang="zh-CN" altLang="en-US" b="1" u="none">
              <a:solidFill>
                <a:srgbClr val="FF0000"/>
              </a:solidFill>
              <a:latin typeface="Arial" panose="020B0604020202020204" pitchFamily="34" charset="0"/>
            </a:endParaRPr>
          </a:p>
        </p:txBody>
      </p:sp>
      <p:sp>
        <p:nvSpPr>
          <p:cNvPr id="743430" name="Text Box 6"/>
          <p:cNvSpPr txBox="1">
            <a:spLocks noChangeArrowheads="1"/>
          </p:cNvSpPr>
          <p:nvPr/>
        </p:nvSpPr>
        <p:spPr bwMode="auto">
          <a:xfrm>
            <a:off x="4211955" y="5156835"/>
            <a:ext cx="422846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zh-CN" altLang="en-US" b="1" u="none">
                <a:solidFill>
                  <a:srgbClr val="FF0000"/>
                </a:solidFill>
                <a:latin typeface="Arial" panose="020B0604020202020204" pitchFamily="34" charset="0"/>
              </a:rPr>
              <a:t>统计</a:t>
            </a:r>
            <a:r>
              <a:rPr kumimoji="0" lang="en-US" altLang="zh-CN" b="1" u="none">
                <a:solidFill>
                  <a:srgbClr val="FF0000"/>
                </a:solidFill>
                <a:latin typeface="Arial" panose="020B0604020202020204" pitchFamily="34" charset="0"/>
              </a:rPr>
              <a:t>AX</a:t>
            </a:r>
            <a:r>
              <a:rPr kumimoji="0" lang="zh-CN" altLang="en-US" b="1" u="none">
                <a:solidFill>
                  <a:srgbClr val="FF0000"/>
                </a:solidFill>
                <a:latin typeface="Arial" panose="020B0604020202020204" pitchFamily="34" charset="0"/>
              </a:rPr>
              <a:t>中二进制位为</a:t>
            </a:r>
            <a:r>
              <a:rPr kumimoji="0" lang="en-US" altLang="zh-CN" b="1" u="none">
                <a:solidFill>
                  <a:srgbClr val="FF0000"/>
                </a:solidFill>
                <a:latin typeface="Arial" panose="020B0604020202020204" pitchFamily="34" charset="0"/>
              </a:rPr>
              <a:t>0</a:t>
            </a:r>
            <a:r>
              <a:rPr kumimoji="0" lang="zh-CN" altLang="en-US" b="1" u="none">
                <a:solidFill>
                  <a:srgbClr val="FF0000"/>
                </a:solidFill>
                <a:latin typeface="Arial" panose="020B0604020202020204" pitchFamily="34" charset="0"/>
              </a:rPr>
              <a:t>的个数</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3429"/>
                                        </p:tgtEl>
                                        <p:attrNameLst>
                                          <p:attrName>style.visibility</p:attrName>
                                        </p:attrNameLst>
                                      </p:cBhvr>
                                      <p:to>
                                        <p:strVal val="visible"/>
                                      </p:to>
                                    </p:set>
                                    <p:anim calcmode="lin" valueType="num">
                                      <p:cBhvr additive="base">
                                        <p:cTn id="7" dur="500" fill="hold"/>
                                        <p:tgtEl>
                                          <p:spTgt spid="743429"/>
                                        </p:tgtEl>
                                        <p:attrNameLst>
                                          <p:attrName>ppt_x</p:attrName>
                                        </p:attrNameLst>
                                      </p:cBhvr>
                                      <p:tavLst>
                                        <p:tav tm="0">
                                          <p:val>
                                            <p:strVal val="#ppt_x"/>
                                          </p:val>
                                        </p:tav>
                                        <p:tav tm="100000">
                                          <p:val>
                                            <p:strVal val="#ppt_x"/>
                                          </p:val>
                                        </p:tav>
                                      </p:tavLst>
                                    </p:anim>
                                    <p:anim calcmode="lin" valueType="num">
                                      <p:cBhvr additive="base">
                                        <p:cTn id="8" dur="500" fill="hold"/>
                                        <p:tgtEl>
                                          <p:spTgt spid="74342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3430"/>
                                        </p:tgtEl>
                                        <p:attrNameLst>
                                          <p:attrName>style.visibility</p:attrName>
                                        </p:attrNameLst>
                                      </p:cBhvr>
                                      <p:to>
                                        <p:strVal val="visible"/>
                                      </p:to>
                                    </p:set>
                                    <p:anim calcmode="lin" valueType="num">
                                      <p:cBhvr additive="base">
                                        <p:cTn id="13" dur="500" fill="hold"/>
                                        <p:tgtEl>
                                          <p:spTgt spid="743430"/>
                                        </p:tgtEl>
                                        <p:attrNameLst>
                                          <p:attrName>ppt_x</p:attrName>
                                        </p:attrNameLst>
                                      </p:cBhvr>
                                      <p:tavLst>
                                        <p:tav tm="0">
                                          <p:val>
                                            <p:strVal val="#ppt_x"/>
                                          </p:val>
                                        </p:tav>
                                        <p:tav tm="100000">
                                          <p:val>
                                            <p:strVal val="#ppt_x"/>
                                          </p:val>
                                        </p:tav>
                                      </p:tavLst>
                                    </p:anim>
                                    <p:anim calcmode="lin" valueType="num">
                                      <p:cBhvr additive="base">
                                        <p:cTn id="14" dur="500" fill="hold"/>
                                        <p:tgtEl>
                                          <p:spTgt spid="7434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29" grpId="0" bldLvl="0" animBg="1"/>
      <p:bldP spid="743430"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6"/>
          <p:cNvSpPr>
            <a:spLocks noGrp="1"/>
          </p:cNvSpPr>
          <p:nvPr>
            <p:ph type="sldNum" sz="quarter" idx="12"/>
          </p:nvPr>
        </p:nvSpPr>
        <p:spPr>
          <a:noFill/>
        </p:spPr>
        <p:txBody>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fld id="{F8A8ECE4-063F-4723-A25C-E3F93CBBC5D0}" type="slidenum">
              <a:rPr kumimoji="0" lang="en-US" altLang="zh-CN" sz="1400" u="none" smtClean="0">
                <a:solidFill>
                  <a:srgbClr val="000000"/>
                </a:solidFill>
                <a:latin typeface="Arial" panose="020B0604020202020204" pitchFamily="34" charset="0"/>
              </a:rPr>
              <a:t>63</a:t>
            </a:fld>
            <a:endParaRPr kumimoji="0" lang="en-US" altLang="zh-CN" sz="1400" u="none">
              <a:solidFill>
                <a:srgbClr val="000000"/>
              </a:solidFill>
              <a:latin typeface="Arial" panose="020B0604020202020204" pitchFamily="34" charset="0"/>
            </a:endParaRPr>
          </a:p>
        </p:txBody>
      </p:sp>
      <p:sp>
        <p:nvSpPr>
          <p:cNvPr id="72707" name="Rectangle 2"/>
          <p:cNvSpPr>
            <a:spLocks noChangeArrowheads="1"/>
          </p:cNvSpPr>
          <p:nvPr/>
        </p:nvSpPr>
        <p:spPr bwMode="auto">
          <a:xfrm>
            <a:off x="322898" y="1269048"/>
            <a:ext cx="7687310" cy="3415030"/>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l" eaLnBrk="1" hangingPunct="1"/>
            <a:r>
              <a:rPr kumimoji="0" lang="zh-CN" altLang="en-US" b="1" u="none" dirty="0">
                <a:solidFill>
                  <a:srgbClr val="000000"/>
                </a:solidFill>
                <a:latin typeface="宋体" panose="02010600030101010101" pitchFamily="2" charset="-122"/>
              </a:rPr>
              <a:t>设（</a:t>
            </a:r>
            <a:r>
              <a:rPr kumimoji="0" lang="en-US" altLang="zh-CN" b="1" u="none" dirty="0">
                <a:solidFill>
                  <a:srgbClr val="000000"/>
                </a:solidFill>
                <a:latin typeface="宋体" panose="02010600030101010101" pitchFamily="2" charset="-122"/>
              </a:rPr>
              <a:t>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 X(X</a:t>
            </a:r>
            <a:r>
              <a:rPr kumimoji="0" lang="zh-CN" altLang="en-US" b="1" u="none" dirty="0">
                <a:solidFill>
                  <a:srgbClr val="000000"/>
                </a:solidFill>
                <a:latin typeface="宋体" panose="02010600030101010101" pitchFamily="2" charset="-122"/>
              </a:rPr>
              <a:t>为无符号数，假设为</a:t>
            </a:r>
            <a:r>
              <a:rPr kumimoji="0" lang="en-US" altLang="zh-CN" b="1" u="none" dirty="0">
                <a:solidFill>
                  <a:srgbClr val="000000"/>
                </a:solidFill>
                <a:latin typeface="宋体" panose="02010600030101010101" pitchFamily="2" charset="-122"/>
              </a:rPr>
              <a:t>4)</a:t>
            </a:r>
            <a:r>
              <a:rPr kumimoji="0" lang="zh-CN" altLang="en-US" b="1" u="none" dirty="0">
                <a:solidFill>
                  <a:srgbClr val="000000"/>
                </a:solidFill>
                <a:latin typeface="宋体" panose="02010600030101010101" pitchFamily="2" charset="-122"/>
              </a:rPr>
              <a:t>，有如下程序段：</a:t>
            </a:r>
          </a:p>
          <a:p>
            <a:pPr algn="l" eaLnBrk="1" hangingPunct="1"/>
            <a:r>
              <a:rPr kumimoji="0" lang="en-US" altLang="zh-CN" b="1" u="none" dirty="0">
                <a:solidFill>
                  <a:srgbClr val="000000"/>
                </a:solidFill>
                <a:latin typeface="宋体" panose="02010600030101010101" pitchFamily="2" charset="-122"/>
              </a:rPr>
              <a:t>    SHL  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  </a:t>
            </a:r>
          </a:p>
          <a:p>
            <a:pPr algn="l" eaLnBrk="1" hangingPunct="1"/>
            <a:r>
              <a:rPr kumimoji="0" lang="en-US" altLang="zh-CN" b="1" u="none" dirty="0">
                <a:solidFill>
                  <a:srgbClr val="000000"/>
                </a:solidFill>
                <a:latin typeface="宋体" panose="02010600030101010101" pitchFamily="2" charset="-122"/>
              </a:rPr>
              <a:t>    MOV  BX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AX</a:t>
            </a:r>
          </a:p>
          <a:p>
            <a:pPr algn="l" eaLnBrk="1" hangingPunct="1"/>
            <a:r>
              <a:rPr kumimoji="0" lang="en-US" altLang="zh-CN" b="1" u="none" dirty="0">
                <a:solidFill>
                  <a:srgbClr val="000000"/>
                </a:solidFill>
                <a:latin typeface="宋体" panose="02010600030101010101" pitchFamily="2" charset="-122"/>
              </a:rPr>
              <a:t>    SHL  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p>
          <a:p>
            <a:pPr algn="l" eaLnBrk="1" hangingPunct="1"/>
            <a:r>
              <a:rPr kumimoji="0" lang="en-US" altLang="zh-CN" b="1" u="none" dirty="0">
                <a:solidFill>
                  <a:srgbClr val="000000"/>
                </a:solidFill>
                <a:latin typeface="宋体" panose="02010600030101010101" pitchFamily="2" charset="-122"/>
              </a:rPr>
              <a:t>    ADD  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BX</a:t>
            </a:r>
          </a:p>
          <a:p>
            <a:pPr algn="l" eaLnBrk="1" hangingPunct="1"/>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1</a:t>
            </a:r>
            <a:r>
              <a:rPr kumimoji="0" lang="zh-CN" altLang="en-US" b="1" u="none" dirty="0">
                <a:solidFill>
                  <a:srgbClr val="000000"/>
                </a:solidFill>
                <a:latin typeface="宋体" panose="02010600030101010101" pitchFamily="2" charset="-122"/>
              </a:rPr>
              <a:t>）该程序段的功能是</a:t>
            </a:r>
            <a:r>
              <a:rPr kumimoji="0" lang="en-US" altLang="zh-CN" b="1" u="none" dirty="0">
                <a:solidFill>
                  <a:srgbClr val="000000"/>
                </a:solidFill>
                <a:latin typeface="宋体" panose="02010600030101010101" pitchFamily="2" charset="-122"/>
              </a:rPr>
              <a:t>_______________</a:t>
            </a:r>
          </a:p>
          <a:p>
            <a:pPr algn="l" eaLnBrk="1" hangingPunct="1"/>
            <a:r>
              <a:rPr kumimoji="0" lang="en-US" altLang="zh-CN" b="1" u="none" dirty="0">
                <a:solidFill>
                  <a:srgbClr val="000000"/>
                </a:solidFill>
                <a:latin typeface="宋体" panose="02010600030101010101" pitchFamily="2" charset="-122"/>
              </a:rPr>
              <a:t> </a:t>
            </a:r>
          </a:p>
          <a:p>
            <a:pPr algn="l" eaLnBrk="1" hangingPunct="1"/>
            <a:r>
              <a:rPr kumimoji="0" lang="en-US" altLang="zh-CN" b="1" u="none" dirty="0">
                <a:solidFill>
                  <a:srgbClr val="000000"/>
                </a:solidFill>
                <a:latin typeface="宋体" panose="02010600030101010101" pitchFamily="2" charset="-122"/>
              </a:rPr>
              <a:t> </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2</a:t>
            </a:r>
            <a:r>
              <a:rPr kumimoji="0" lang="zh-CN" altLang="en-US" b="1" u="none" dirty="0">
                <a:solidFill>
                  <a:srgbClr val="000000"/>
                </a:solidFill>
                <a:latin typeface="宋体" panose="02010600030101010101" pitchFamily="2" charset="-122"/>
              </a:rPr>
              <a:t>）上述程序段运行后，（</a:t>
            </a:r>
            <a:r>
              <a:rPr kumimoji="0" lang="en-US" altLang="zh-CN" b="1" u="none" dirty="0">
                <a:solidFill>
                  <a:srgbClr val="000000"/>
                </a:solidFill>
                <a:latin typeface="宋体" panose="02010600030101010101" pitchFamily="2" charset="-122"/>
              </a:rPr>
              <a:t>AX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=___________H</a:t>
            </a:r>
            <a:r>
              <a:rPr kumimoji="0" lang="zh-CN" altLang="en-US" b="1" u="none" dirty="0">
                <a:solidFill>
                  <a:srgbClr val="000000"/>
                </a:solidFill>
                <a:latin typeface="宋体" panose="02010600030101010101" pitchFamily="2" charset="-122"/>
              </a:rPr>
              <a:t>，</a:t>
            </a:r>
          </a:p>
          <a:p>
            <a:pPr algn="l" eaLnBrk="1" hangingPunct="1"/>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BX</a:t>
            </a:r>
            <a:r>
              <a:rPr kumimoji="0" lang="zh-CN" altLang="en-US" b="1" u="none" dirty="0">
                <a:solidFill>
                  <a:srgbClr val="000000"/>
                </a:solidFill>
                <a:latin typeface="宋体" panose="02010600030101010101" pitchFamily="2" charset="-122"/>
              </a:rPr>
              <a:t>）</a:t>
            </a:r>
            <a:r>
              <a:rPr kumimoji="0" lang="en-US" altLang="zh-CN" b="1" u="none" dirty="0">
                <a:solidFill>
                  <a:srgbClr val="000000"/>
                </a:solidFill>
                <a:latin typeface="宋体" panose="02010600030101010101" pitchFamily="2" charset="-122"/>
              </a:rPr>
              <a:t>= _____________H</a:t>
            </a:r>
            <a:r>
              <a:rPr kumimoji="0" lang="zh-CN" altLang="en-US" b="1" u="none" dirty="0">
                <a:solidFill>
                  <a:srgbClr val="000000"/>
                </a:solidFill>
                <a:latin typeface="宋体" panose="02010600030101010101" pitchFamily="2" charset="-122"/>
              </a:rPr>
              <a:t>。</a:t>
            </a:r>
          </a:p>
        </p:txBody>
      </p:sp>
      <p:sp>
        <p:nvSpPr>
          <p:cNvPr id="744451" name="Text Box 3"/>
          <p:cNvSpPr txBox="1">
            <a:spLocks noChangeArrowheads="1"/>
          </p:cNvSpPr>
          <p:nvPr/>
        </p:nvSpPr>
        <p:spPr bwMode="auto">
          <a:xfrm>
            <a:off x="3851910" y="2469515"/>
            <a:ext cx="3515995" cy="101409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zh-CN" altLang="en-US" b="1" u="none">
                <a:solidFill>
                  <a:srgbClr val="FF0000"/>
                </a:solidFill>
                <a:latin typeface="Arial" panose="020B0604020202020204" pitchFamily="34" charset="0"/>
              </a:rPr>
              <a:t>实现无符号数</a:t>
            </a:r>
            <a:r>
              <a:rPr kumimoji="0" lang="en-US" altLang="zh-CN" b="1" u="none">
                <a:solidFill>
                  <a:srgbClr val="FF0000"/>
                </a:solidFill>
                <a:latin typeface="Arial" panose="020B0604020202020204" pitchFamily="34" charset="0"/>
              </a:rPr>
              <a:t>X</a:t>
            </a:r>
            <a:r>
              <a:rPr kumimoji="0" lang="zh-CN" altLang="en-US" b="1" u="none">
                <a:solidFill>
                  <a:srgbClr val="FF0000"/>
                </a:solidFill>
                <a:latin typeface="Arial" panose="020B0604020202020204" pitchFamily="34" charset="0"/>
              </a:rPr>
              <a:t>乘</a:t>
            </a:r>
            <a:r>
              <a:rPr kumimoji="0" lang="en-US" altLang="zh-CN" b="1" u="none">
                <a:solidFill>
                  <a:srgbClr val="FF0000"/>
                </a:solidFill>
                <a:latin typeface="Arial" panose="020B0604020202020204" pitchFamily="34" charset="0"/>
              </a:rPr>
              <a:t>6,</a:t>
            </a:r>
          </a:p>
          <a:p>
            <a:pPr algn="ctr" eaLnBrk="1" hangingPunct="1">
              <a:spcBef>
                <a:spcPct val="50000"/>
              </a:spcBef>
            </a:pPr>
            <a:r>
              <a:rPr kumimoji="0" lang="zh-CN" altLang="en-US" b="1" u="none">
                <a:solidFill>
                  <a:srgbClr val="FF0000"/>
                </a:solidFill>
                <a:latin typeface="Arial" panose="020B0604020202020204" pitchFamily="34" charset="0"/>
              </a:rPr>
              <a:t>结果存放在</a:t>
            </a:r>
            <a:r>
              <a:rPr kumimoji="0" lang="en-US" altLang="zh-CN" b="1" u="none">
                <a:solidFill>
                  <a:srgbClr val="FF0000"/>
                </a:solidFill>
                <a:latin typeface="Arial" panose="020B0604020202020204" pitchFamily="34" charset="0"/>
              </a:rPr>
              <a:t>AX</a:t>
            </a:r>
            <a:r>
              <a:rPr kumimoji="0" lang="zh-CN" altLang="en-US" b="1" u="none">
                <a:solidFill>
                  <a:srgbClr val="FF0000"/>
                </a:solidFill>
                <a:latin typeface="Arial" panose="020B0604020202020204" pitchFamily="34" charset="0"/>
              </a:rPr>
              <a:t>寄存器中</a:t>
            </a:r>
          </a:p>
        </p:txBody>
      </p:sp>
      <p:sp>
        <p:nvSpPr>
          <p:cNvPr id="744453" name="Text Box 5"/>
          <p:cNvSpPr txBox="1">
            <a:spLocks noChangeArrowheads="1"/>
          </p:cNvSpPr>
          <p:nvPr/>
        </p:nvSpPr>
        <p:spPr bwMode="auto">
          <a:xfrm>
            <a:off x="4859655" y="3789045"/>
            <a:ext cx="223202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18H</a:t>
            </a:r>
          </a:p>
        </p:txBody>
      </p:sp>
      <p:sp>
        <p:nvSpPr>
          <p:cNvPr id="744458" name="Text Box 10"/>
          <p:cNvSpPr txBox="1">
            <a:spLocks noChangeArrowheads="1"/>
          </p:cNvSpPr>
          <p:nvPr/>
        </p:nvSpPr>
        <p:spPr bwMode="auto">
          <a:xfrm>
            <a:off x="1547178" y="4148773"/>
            <a:ext cx="2232025" cy="460375"/>
          </a:xfrm>
          <a:prstGeom prst="rect">
            <a:avLst/>
          </a:prstGeom>
          <a:noFill/>
          <a:ln>
            <a:noFill/>
          </a:ln>
          <a:effectLst/>
          <a:extLst>
            <a:ext uri="{909E8E84-426E-40DD-AFC4-6F175D3DCCD1}">
              <a14:hiddenFill xmlns:a14="http://schemas.microsoft.com/office/drawing/2010/main">
                <a:gradFill rotWithShape="0">
                  <a:gsLst>
                    <a:gs pos="0">
                      <a:srgbClr val="47182F"/>
                    </a:gs>
                    <a:gs pos="100000">
                      <a:srgbClr val="993366"/>
                    </a:gs>
                  </a:gsLst>
                  <a:lin ang="5400000" scaled="1"/>
                </a:gradFill>
              </a14:hiddenFill>
            </a:ext>
            <a:ext uri="{91240B29-F687-4F45-9708-019B960494DF}">
              <a14:hiddenLine xmlns:a14="http://schemas.microsoft.com/office/drawing/2010/main" w="9525">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u="sng">
                <a:solidFill>
                  <a:schemeClr val="tx1"/>
                </a:solidFill>
                <a:latin typeface="Times New Roman" panose="02020603050405020304" pitchFamily="18" charset="0"/>
                <a:ea typeface="宋体" panose="02010600030101010101" pitchFamily="2" charset="-122"/>
              </a:defRPr>
            </a:lvl1pPr>
            <a:lvl2pPr marL="742950" indent="-285750">
              <a:defRPr kumimoji="1" sz="2400" u="sng">
                <a:solidFill>
                  <a:schemeClr val="tx1"/>
                </a:solidFill>
                <a:latin typeface="Times New Roman" panose="02020603050405020304" pitchFamily="18" charset="0"/>
                <a:ea typeface="宋体" panose="02010600030101010101" pitchFamily="2" charset="-122"/>
              </a:defRPr>
            </a:lvl2pPr>
            <a:lvl3pPr marL="1143000" indent="-228600">
              <a:defRPr kumimoji="1" sz="2400" u="sng">
                <a:solidFill>
                  <a:schemeClr val="tx1"/>
                </a:solidFill>
                <a:latin typeface="Times New Roman" panose="02020603050405020304" pitchFamily="18" charset="0"/>
                <a:ea typeface="宋体" panose="02010600030101010101" pitchFamily="2" charset="-122"/>
              </a:defRPr>
            </a:lvl3pPr>
            <a:lvl4pPr marL="1600200" indent="-228600">
              <a:defRPr kumimoji="1" sz="2400" u="sng">
                <a:solidFill>
                  <a:schemeClr val="tx1"/>
                </a:solidFill>
                <a:latin typeface="Times New Roman" panose="02020603050405020304" pitchFamily="18" charset="0"/>
                <a:ea typeface="宋体" panose="02010600030101010101" pitchFamily="2" charset="-122"/>
              </a:defRPr>
            </a:lvl4pPr>
            <a:lvl5pPr marL="2057400" indent="-228600">
              <a:defRPr kumimoji="1" sz="2400" u="sng">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u="sng">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0" lang="en-US" altLang="zh-CN" b="1" u="none">
                <a:solidFill>
                  <a:srgbClr val="FF0000"/>
                </a:solidFill>
                <a:latin typeface="Arial" panose="020B0604020202020204" pitchFamily="34" charset="0"/>
              </a:rPr>
              <a:t>08</a:t>
            </a: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4451"/>
                                        </p:tgtEl>
                                        <p:attrNameLst>
                                          <p:attrName>style.visibility</p:attrName>
                                        </p:attrNameLst>
                                      </p:cBhvr>
                                      <p:to>
                                        <p:strVal val="visible"/>
                                      </p:to>
                                    </p:set>
                                    <p:anim calcmode="lin" valueType="num">
                                      <p:cBhvr additive="base">
                                        <p:cTn id="7" dur="500" fill="hold"/>
                                        <p:tgtEl>
                                          <p:spTgt spid="744451"/>
                                        </p:tgtEl>
                                        <p:attrNameLst>
                                          <p:attrName>ppt_x</p:attrName>
                                        </p:attrNameLst>
                                      </p:cBhvr>
                                      <p:tavLst>
                                        <p:tav tm="0">
                                          <p:val>
                                            <p:strVal val="#ppt_x"/>
                                          </p:val>
                                        </p:tav>
                                        <p:tav tm="100000">
                                          <p:val>
                                            <p:strVal val="#ppt_x"/>
                                          </p:val>
                                        </p:tav>
                                      </p:tavLst>
                                    </p:anim>
                                    <p:anim calcmode="lin" valueType="num">
                                      <p:cBhvr additive="base">
                                        <p:cTn id="8" dur="500" fill="hold"/>
                                        <p:tgtEl>
                                          <p:spTgt spid="74445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4453"/>
                                        </p:tgtEl>
                                        <p:attrNameLst>
                                          <p:attrName>style.visibility</p:attrName>
                                        </p:attrNameLst>
                                      </p:cBhvr>
                                      <p:to>
                                        <p:strVal val="visible"/>
                                      </p:to>
                                    </p:set>
                                    <p:anim calcmode="lin" valueType="num">
                                      <p:cBhvr additive="base">
                                        <p:cTn id="13" dur="500" fill="hold"/>
                                        <p:tgtEl>
                                          <p:spTgt spid="744453"/>
                                        </p:tgtEl>
                                        <p:attrNameLst>
                                          <p:attrName>ppt_x</p:attrName>
                                        </p:attrNameLst>
                                      </p:cBhvr>
                                      <p:tavLst>
                                        <p:tav tm="0">
                                          <p:val>
                                            <p:strVal val="#ppt_x"/>
                                          </p:val>
                                        </p:tav>
                                        <p:tav tm="100000">
                                          <p:val>
                                            <p:strVal val="#ppt_x"/>
                                          </p:val>
                                        </p:tav>
                                      </p:tavLst>
                                    </p:anim>
                                    <p:anim calcmode="lin" valueType="num">
                                      <p:cBhvr additive="base">
                                        <p:cTn id="14" dur="500" fill="hold"/>
                                        <p:tgtEl>
                                          <p:spTgt spid="74445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44458"/>
                                        </p:tgtEl>
                                        <p:attrNameLst>
                                          <p:attrName>style.visibility</p:attrName>
                                        </p:attrNameLst>
                                      </p:cBhvr>
                                      <p:to>
                                        <p:strVal val="visible"/>
                                      </p:to>
                                    </p:set>
                                    <p:anim calcmode="lin" valueType="num">
                                      <p:cBhvr additive="base">
                                        <p:cTn id="19" dur="500" fill="hold"/>
                                        <p:tgtEl>
                                          <p:spTgt spid="744458"/>
                                        </p:tgtEl>
                                        <p:attrNameLst>
                                          <p:attrName>ppt_x</p:attrName>
                                        </p:attrNameLst>
                                      </p:cBhvr>
                                      <p:tavLst>
                                        <p:tav tm="0">
                                          <p:val>
                                            <p:strVal val="#ppt_x"/>
                                          </p:val>
                                        </p:tav>
                                        <p:tav tm="100000">
                                          <p:val>
                                            <p:strVal val="#ppt_x"/>
                                          </p:val>
                                        </p:tav>
                                      </p:tavLst>
                                    </p:anim>
                                    <p:anim calcmode="lin" valueType="num">
                                      <p:cBhvr additive="base">
                                        <p:cTn id="20" dur="500" fill="hold"/>
                                        <p:tgtEl>
                                          <p:spTgt spid="7444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4451" grpId="0" bldLvl="0" animBg="1"/>
      <p:bldP spid="744453" grpId="0" bldLvl="0" animBg="1"/>
      <p:bldP spid="744458"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ChangeArrowheads="1"/>
          </p:cNvSpPr>
          <p:nvPr>
            <p:ph type="title" idx="4294967295"/>
          </p:nvPr>
        </p:nvSpPr>
        <p:spPr>
          <a:xfrm>
            <a:off x="1187450" y="2667000"/>
            <a:ext cx="7253288" cy="762000"/>
          </a:xfrm>
        </p:spPr>
        <p:txBody>
          <a:bodyPr/>
          <a:lstStyle/>
          <a:p>
            <a:pPr eaLnBrk="1" hangingPunct="1">
              <a:defRPr/>
            </a:pPr>
            <a:r>
              <a:rPr lang="en-US" altLang="zh-CN" dirty="0"/>
              <a:t>8086</a:t>
            </a:r>
            <a:r>
              <a:rPr lang="zh-CN" altLang="zh-CN" dirty="0"/>
              <a:t>汇编语言程序设计的基本方法</a:t>
            </a:r>
            <a:endParaRPr lang="zh-CN" altLang="en-US" sz="3600" dirty="0">
              <a:solidFill>
                <a:srgbClr val="FF0000"/>
              </a:solidFill>
              <a:latin typeface="宋体" panose="02010600030101010101" pitchFamily="2" charset="-122"/>
            </a:endParaRPr>
          </a:p>
        </p:txBody>
      </p:sp>
    </p:spTree>
  </p:cSld>
  <p:clrMapOvr>
    <a:masterClrMapping/>
  </p:clrMapOvr>
  <p:transition>
    <p:random/>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2133600" y="914400"/>
            <a:ext cx="5029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zh-CN" altLang="en-US" u="none"/>
              <a:t>编制汇编语言程序的步骤：</a:t>
            </a:r>
            <a:endParaRPr lang="zh-CN" altLang="en-US" b="0" u="none"/>
          </a:p>
        </p:txBody>
      </p:sp>
      <p:sp>
        <p:nvSpPr>
          <p:cNvPr id="88067" name="Text Box 3"/>
          <p:cNvSpPr txBox="1">
            <a:spLocks noChangeArrowheads="1"/>
          </p:cNvSpPr>
          <p:nvPr/>
        </p:nvSpPr>
        <p:spPr bwMode="auto">
          <a:xfrm>
            <a:off x="2286000" y="2057400"/>
            <a:ext cx="472440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800" u="none">
                <a:ea typeface="楷体_GB2312" panose="02010609030101010101" pitchFamily="49" charset="-122"/>
              </a:rPr>
              <a:t>(1)  </a:t>
            </a:r>
            <a:r>
              <a:rPr lang="zh-CN" altLang="en-US" sz="2800" u="none">
                <a:ea typeface="楷体_GB2312" panose="02010609030101010101" pitchFamily="49" charset="-122"/>
              </a:rPr>
              <a:t>分析题意，确定算法</a:t>
            </a:r>
          </a:p>
          <a:p>
            <a:pPr eaLnBrk="1" hangingPunct="1">
              <a:spcBef>
                <a:spcPct val="50000"/>
              </a:spcBef>
              <a:buClrTx/>
              <a:buFontTx/>
              <a:buNone/>
            </a:pPr>
            <a:r>
              <a:rPr lang="en-US" altLang="zh-CN" sz="2800" u="none">
                <a:ea typeface="楷体_GB2312" panose="02010609030101010101" pitchFamily="49" charset="-122"/>
              </a:rPr>
              <a:t>(2)  </a:t>
            </a:r>
            <a:r>
              <a:rPr lang="zh-CN" altLang="en-US" sz="2800" u="none">
                <a:ea typeface="楷体_GB2312" panose="02010609030101010101" pitchFamily="49" charset="-122"/>
              </a:rPr>
              <a:t>根据算法画出程序框图</a:t>
            </a:r>
          </a:p>
          <a:p>
            <a:pPr eaLnBrk="1" hangingPunct="1">
              <a:spcBef>
                <a:spcPct val="50000"/>
              </a:spcBef>
              <a:buClrTx/>
              <a:buFontTx/>
              <a:buNone/>
            </a:pPr>
            <a:r>
              <a:rPr lang="en-US" altLang="zh-CN" sz="2800" u="none">
                <a:ea typeface="楷体_GB2312" panose="02010609030101010101" pitchFamily="49" charset="-122"/>
              </a:rPr>
              <a:t>(3)  </a:t>
            </a:r>
            <a:r>
              <a:rPr lang="zh-CN" altLang="en-US" sz="2800" u="none">
                <a:ea typeface="楷体_GB2312" panose="02010609030101010101" pitchFamily="49" charset="-122"/>
              </a:rPr>
              <a:t>根据框图编写程序</a:t>
            </a:r>
          </a:p>
          <a:p>
            <a:pPr eaLnBrk="1" hangingPunct="1">
              <a:spcBef>
                <a:spcPct val="50000"/>
              </a:spcBef>
              <a:buClrTx/>
              <a:buFontTx/>
              <a:buNone/>
            </a:pPr>
            <a:r>
              <a:rPr lang="en-US" altLang="zh-CN" sz="2800" u="none">
                <a:ea typeface="楷体_GB2312" panose="02010609030101010101" pitchFamily="49" charset="-122"/>
              </a:rPr>
              <a:t>(4)  </a:t>
            </a:r>
            <a:r>
              <a:rPr lang="zh-CN" altLang="en-US" sz="2800" u="none">
                <a:ea typeface="楷体_GB2312" panose="02010609030101010101" pitchFamily="49" charset="-122"/>
              </a:rPr>
              <a:t>上机调试程序</a:t>
            </a:r>
            <a:endParaRPr lang="zh-CN" altLang="en-US" sz="2800" u="none"/>
          </a:p>
        </p:txBody>
      </p:sp>
    </p:spTree>
  </p:cSld>
  <p:clrMapOvr>
    <a:masterClrMapping/>
  </p:clrMapOvr>
  <p:transition>
    <p:random/>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2133600" y="3581400"/>
            <a:ext cx="464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400" u="none">
                <a:solidFill>
                  <a:schemeClr val="hlink"/>
                </a:solidFill>
                <a:latin typeface="楷体_GB2312" panose="02010609030101010101" pitchFamily="49" charset="-122"/>
                <a:ea typeface="楷体_GB2312" panose="02010609030101010101" pitchFamily="49" charset="-122"/>
              </a:rPr>
              <a:t>分支结构</a:t>
            </a:r>
            <a:r>
              <a:rPr lang="zh-CN" altLang="en-US" sz="2400" u="none">
                <a:latin typeface="楷体_GB2312" panose="02010609030101010101" pitchFamily="49" charset="-122"/>
                <a:ea typeface="楷体_GB2312" panose="02010609030101010101" pitchFamily="49" charset="-122"/>
              </a:rPr>
              <a:t>          子程序结构</a:t>
            </a:r>
            <a:endParaRPr lang="zh-CN" altLang="en-US" sz="2400" b="0" u="none">
              <a:latin typeface="楷体_GB2312" panose="02010609030101010101" pitchFamily="49" charset="-122"/>
              <a:ea typeface="楷体_GB2312" panose="02010609030101010101" pitchFamily="49" charset="-122"/>
            </a:endParaRPr>
          </a:p>
        </p:txBody>
      </p:sp>
      <p:grpSp>
        <p:nvGrpSpPr>
          <p:cNvPr id="89091" name="Group 3"/>
          <p:cNvGrpSpPr/>
          <p:nvPr/>
        </p:nvGrpSpPr>
        <p:grpSpPr bwMode="auto">
          <a:xfrm>
            <a:off x="3733800" y="1295400"/>
            <a:ext cx="0" cy="1828800"/>
            <a:chOff x="2016" y="816"/>
            <a:chExt cx="0" cy="1152"/>
          </a:xfrm>
        </p:grpSpPr>
        <p:sp>
          <p:nvSpPr>
            <p:cNvPr id="89119" name="Line 4"/>
            <p:cNvSpPr>
              <a:spLocks noChangeShapeType="1"/>
            </p:cNvSpPr>
            <p:nvPr/>
          </p:nvSpPr>
          <p:spPr bwMode="auto">
            <a:xfrm>
              <a:off x="2016" y="816"/>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20" name="Line 5"/>
            <p:cNvSpPr>
              <a:spLocks noChangeShapeType="1"/>
            </p:cNvSpPr>
            <p:nvPr/>
          </p:nvSpPr>
          <p:spPr bwMode="auto">
            <a:xfrm>
              <a:off x="2016" y="1200"/>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21" name="Line 6"/>
            <p:cNvSpPr>
              <a:spLocks noChangeShapeType="1"/>
            </p:cNvSpPr>
            <p:nvPr/>
          </p:nvSpPr>
          <p:spPr bwMode="auto">
            <a:xfrm>
              <a:off x="2016" y="1584"/>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89092" name="Rectangle 7"/>
          <p:cNvSpPr>
            <a:spLocks noChangeArrowheads="1"/>
          </p:cNvSpPr>
          <p:nvPr/>
        </p:nvSpPr>
        <p:spPr bwMode="auto">
          <a:xfrm>
            <a:off x="1752600" y="457200"/>
            <a:ext cx="198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u="none"/>
              <a:t>程序结构：</a:t>
            </a:r>
            <a:r>
              <a:rPr lang="zh-CN" altLang="en-US" sz="2400" u="none"/>
              <a:t>           </a:t>
            </a:r>
          </a:p>
        </p:txBody>
      </p:sp>
      <p:grpSp>
        <p:nvGrpSpPr>
          <p:cNvPr id="89093" name="Group 8"/>
          <p:cNvGrpSpPr/>
          <p:nvPr/>
        </p:nvGrpSpPr>
        <p:grpSpPr bwMode="auto">
          <a:xfrm>
            <a:off x="6477000" y="838200"/>
            <a:ext cx="838200" cy="2362200"/>
            <a:chOff x="3696" y="624"/>
            <a:chExt cx="528" cy="1488"/>
          </a:xfrm>
        </p:grpSpPr>
        <p:sp>
          <p:nvSpPr>
            <p:cNvPr id="89110" name="Line 9"/>
            <p:cNvSpPr>
              <a:spLocks noChangeShapeType="1"/>
            </p:cNvSpPr>
            <p:nvPr/>
          </p:nvSpPr>
          <p:spPr bwMode="auto">
            <a:xfrm>
              <a:off x="4224" y="624"/>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1" name="Line 10"/>
            <p:cNvSpPr>
              <a:spLocks noChangeShapeType="1"/>
            </p:cNvSpPr>
            <p:nvPr/>
          </p:nvSpPr>
          <p:spPr bwMode="auto">
            <a:xfrm>
              <a:off x="4224" y="1008"/>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2" name="Line 11"/>
            <p:cNvSpPr>
              <a:spLocks noChangeShapeType="1"/>
            </p:cNvSpPr>
            <p:nvPr/>
          </p:nvSpPr>
          <p:spPr bwMode="auto">
            <a:xfrm>
              <a:off x="4224" y="1392"/>
              <a:ext cx="0" cy="72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3" name="Line 12"/>
            <p:cNvSpPr>
              <a:spLocks noChangeShapeType="1"/>
            </p:cNvSpPr>
            <p:nvPr/>
          </p:nvSpPr>
          <p:spPr bwMode="auto">
            <a:xfrm>
              <a:off x="3936" y="1584"/>
              <a:ext cx="28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4" name="Line 13"/>
            <p:cNvSpPr>
              <a:spLocks noChangeShapeType="1"/>
            </p:cNvSpPr>
            <p:nvPr/>
          </p:nvSpPr>
          <p:spPr bwMode="auto">
            <a:xfrm flipV="1">
              <a:off x="3936" y="1152"/>
              <a:ext cx="0" cy="432"/>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5" name="Line 14"/>
            <p:cNvSpPr>
              <a:spLocks noChangeShapeType="1"/>
            </p:cNvSpPr>
            <p:nvPr/>
          </p:nvSpPr>
          <p:spPr bwMode="auto">
            <a:xfrm>
              <a:off x="3936" y="1152"/>
              <a:ext cx="28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6" name="Line 15"/>
            <p:cNvSpPr>
              <a:spLocks noChangeShapeType="1"/>
            </p:cNvSpPr>
            <p:nvPr/>
          </p:nvSpPr>
          <p:spPr bwMode="auto">
            <a:xfrm flipH="1">
              <a:off x="3696" y="1824"/>
              <a:ext cx="528"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7" name="Line 16"/>
            <p:cNvSpPr>
              <a:spLocks noChangeShapeType="1"/>
            </p:cNvSpPr>
            <p:nvPr/>
          </p:nvSpPr>
          <p:spPr bwMode="auto">
            <a:xfrm flipV="1">
              <a:off x="3696" y="768"/>
              <a:ext cx="0" cy="105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18" name="Line 17"/>
            <p:cNvSpPr>
              <a:spLocks noChangeShapeType="1"/>
            </p:cNvSpPr>
            <p:nvPr/>
          </p:nvSpPr>
          <p:spPr bwMode="auto">
            <a:xfrm>
              <a:off x="3696" y="768"/>
              <a:ext cx="52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89094" name="Rectangle 18"/>
          <p:cNvSpPr>
            <a:spLocks noChangeArrowheads="1"/>
          </p:cNvSpPr>
          <p:nvPr/>
        </p:nvSpPr>
        <p:spPr bwMode="auto">
          <a:xfrm>
            <a:off x="2057400" y="5999163"/>
            <a:ext cx="449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ea typeface="楷体_GB2312" panose="02010609030101010101" pitchFamily="49" charset="-122"/>
              </a:rPr>
              <a:t>复合结构：多种程序结构的组合</a:t>
            </a:r>
          </a:p>
        </p:txBody>
      </p:sp>
      <p:grpSp>
        <p:nvGrpSpPr>
          <p:cNvPr id="89095" name="Group 19"/>
          <p:cNvGrpSpPr/>
          <p:nvPr/>
        </p:nvGrpSpPr>
        <p:grpSpPr bwMode="auto">
          <a:xfrm>
            <a:off x="1981200" y="4114800"/>
            <a:ext cx="2590800" cy="1143000"/>
            <a:chOff x="1584" y="2832"/>
            <a:chExt cx="1632" cy="720"/>
          </a:xfrm>
        </p:grpSpPr>
        <p:sp>
          <p:nvSpPr>
            <p:cNvPr id="89103" name="Line 20"/>
            <p:cNvSpPr>
              <a:spLocks noChangeShapeType="1"/>
            </p:cNvSpPr>
            <p:nvPr/>
          </p:nvSpPr>
          <p:spPr bwMode="auto">
            <a:xfrm>
              <a:off x="1584" y="3216"/>
              <a:ext cx="163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4" name="Line 21"/>
            <p:cNvSpPr>
              <a:spLocks noChangeShapeType="1"/>
            </p:cNvSpPr>
            <p:nvPr/>
          </p:nvSpPr>
          <p:spPr bwMode="auto">
            <a:xfrm>
              <a:off x="1584"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5" name="Line 22"/>
            <p:cNvSpPr>
              <a:spLocks noChangeShapeType="1"/>
            </p:cNvSpPr>
            <p:nvPr/>
          </p:nvSpPr>
          <p:spPr bwMode="auto">
            <a:xfrm>
              <a:off x="1968"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6" name="Line 23"/>
            <p:cNvSpPr>
              <a:spLocks noChangeShapeType="1"/>
            </p:cNvSpPr>
            <p:nvPr/>
          </p:nvSpPr>
          <p:spPr bwMode="auto">
            <a:xfrm>
              <a:off x="3216"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7" name="Line 24"/>
            <p:cNvSpPr>
              <a:spLocks noChangeShapeType="1"/>
            </p:cNvSpPr>
            <p:nvPr/>
          </p:nvSpPr>
          <p:spPr bwMode="auto">
            <a:xfrm>
              <a:off x="2880" y="3216"/>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8" name="Line 25"/>
            <p:cNvSpPr>
              <a:spLocks noChangeShapeType="1"/>
            </p:cNvSpPr>
            <p:nvPr/>
          </p:nvSpPr>
          <p:spPr bwMode="auto">
            <a:xfrm>
              <a:off x="2448" y="2832"/>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89109" name="Text Box 26"/>
            <p:cNvSpPr txBox="1">
              <a:spLocks noChangeArrowheads="1"/>
            </p:cNvSpPr>
            <p:nvPr/>
          </p:nvSpPr>
          <p:spPr bwMode="auto">
            <a:xfrm>
              <a:off x="2304" y="326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400" b="0" u="none"/>
                <a:t>…</a:t>
              </a:r>
            </a:p>
          </p:txBody>
        </p:sp>
      </p:grpSp>
      <p:grpSp>
        <p:nvGrpSpPr>
          <p:cNvPr id="89096" name="Group 27"/>
          <p:cNvGrpSpPr/>
          <p:nvPr/>
        </p:nvGrpSpPr>
        <p:grpSpPr bwMode="auto">
          <a:xfrm>
            <a:off x="6858000" y="3733800"/>
            <a:ext cx="762000" cy="2133600"/>
            <a:chOff x="4080" y="768"/>
            <a:chExt cx="480" cy="1344"/>
          </a:xfrm>
        </p:grpSpPr>
        <p:sp>
          <p:nvSpPr>
            <p:cNvPr id="89098" name="Line 28"/>
            <p:cNvSpPr>
              <a:spLocks noChangeShapeType="1"/>
            </p:cNvSpPr>
            <p:nvPr/>
          </p:nvSpPr>
          <p:spPr bwMode="auto">
            <a:xfrm>
              <a:off x="4080" y="768"/>
              <a:ext cx="0" cy="62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099" name="Line 29"/>
            <p:cNvSpPr>
              <a:spLocks noChangeShapeType="1"/>
            </p:cNvSpPr>
            <p:nvPr/>
          </p:nvSpPr>
          <p:spPr bwMode="auto">
            <a:xfrm>
              <a:off x="4080" y="1488"/>
              <a:ext cx="0" cy="62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0" name="Line 30"/>
            <p:cNvSpPr>
              <a:spLocks noChangeShapeType="1"/>
            </p:cNvSpPr>
            <p:nvPr/>
          </p:nvSpPr>
          <p:spPr bwMode="auto">
            <a:xfrm flipV="1">
              <a:off x="4128" y="1056"/>
              <a:ext cx="432"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1" name="Line 31"/>
            <p:cNvSpPr>
              <a:spLocks noChangeShapeType="1"/>
            </p:cNvSpPr>
            <p:nvPr/>
          </p:nvSpPr>
          <p:spPr bwMode="auto">
            <a:xfrm>
              <a:off x="4560" y="1152"/>
              <a:ext cx="0" cy="624"/>
            </a:xfrm>
            <a:prstGeom prst="line">
              <a:avLst/>
            </a:prstGeom>
            <a:noFill/>
            <a:ln w="12700" cap="sq">
              <a:solidFill>
                <a:schemeClr val="hlink"/>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89102" name="Line 32"/>
            <p:cNvSpPr>
              <a:spLocks noChangeShapeType="1"/>
            </p:cNvSpPr>
            <p:nvPr/>
          </p:nvSpPr>
          <p:spPr bwMode="auto">
            <a:xfrm flipH="1" flipV="1">
              <a:off x="4128" y="1440"/>
              <a:ext cx="432"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sp>
        <p:nvSpPr>
          <p:cNvPr id="89097" name="Rectangle 33"/>
          <p:cNvSpPr>
            <a:spLocks noChangeArrowheads="1"/>
          </p:cNvSpPr>
          <p:nvPr/>
        </p:nvSpPr>
        <p:spPr bwMode="auto">
          <a:xfrm>
            <a:off x="1828800" y="1122363"/>
            <a:ext cx="451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u="none">
                <a:latin typeface="楷体_GB2312" panose="02010609030101010101" pitchFamily="49" charset="-122"/>
                <a:ea typeface="楷体_GB2312" panose="02010609030101010101" pitchFamily="49" charset="-122"/>
              </a:rPr>
              <a:t>  </a:t>
            </a:r>
            <a:r>
              <a:rPr lang="zh-CN" altLang="en-US" sz="2400" u="none">
                <a:latin typeface="楷体_GB2312" panose="02010609030101010101" pitchFamily="49" charset="-122"/>
                <a:ea typeface="楷体_GB2312" panose="02010609030101010101" pitchFamily="49" charset="-122"/>
              </a:rPr>
              <a:t>顺序结构          </a:t>
            </a:r>
            <a:r>
              <a:rPr lang="zh-CN" altLang="en-US" sz="2400" u="none">
                <a:solidFill>
                  <a:schemeClr val="hlink"/>
                </a:solidFill>
                <a:latin typeface="楷体_GB2312" panose="02010609030101010101" pitchFamily="49" charset="-122"/>
                <a:ea typeface="楷体_GB2312" panose="02010609030101010101" pitchFamily="49" charset="-122"/>
              </a:rPr>
              <a:t>循环结构</a:t>
            </a:r>
          </a:p>
        </p:txBody>
      </p:sp>
    </p:spTree>
  </p:cSld>
  <p:clrMapOvr>
    <a:masterClrMapping/>
  </p:clrMapOvr>
  <p:transition>
    <p:rand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ChangeArrowheads="1"/>
          </p:cNvSpPr>
          <p:nvPr/>
        </p:nvSpPr>
        <p:spPr bwMode="auto">
          <a:xfrm>
            <a:off x="1676400" y="685800"/>
            <a:ext cx="40481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a:t>
            </a:r>
            <a:r>
              <a:rPr lang="zh-CN" altLang="en-US" sz="3600" u="none">
                <a:solidFill>
                  <a:schemeClr val="tx2"/>
                </a:solidFill>
                <a:latin typeface="Arial" panose="020B0604020202020204" pitchFamily="34" charset="0"/>
              </a:rPr>
              <a:t>分支程序设计</a:t>
            </a:r>
          </a:p>
        </p:txBody>
      </p:sp>
      <p:grpSp>
        <p:nvGrpSpPr>
          <p:cNvPr id="90115" name="Group 3"/>
          <p:cNvGrpSpPr/>
          <p:nvPr/>
        </p:nvGrpSpPr>
        <p:grpSpPr bwMode="auto">
          <a:xfrm>
            <a:off x="1828800" y="1600200"/>
            <a:ext cx="6472238" cy="2378075"/>
            <a:chOff x="1152" y="816"/>
            <a:chExt cx="4077" cy="1498"/>
          </a:xfrm>
        </p:grpSpPr>
        <p:grpSp>
          <p:nvGrpSpPr>
            <p:cNvPr id="90118" name="Group 4"/>
            <p:cNvGrpSpPr/>
            <p:nvPr/>
          </p:nvGrpSpPr>
          <p:grpSpPr bwMode="auto">
            <a:xfrm>
              <a:off x="1152" y="1296"/>
              <a:ext cx="2112" cy="1018"/>
              <a:chOff x="960" y="864"/>
              <a:chExt cx="2112" cy="1018"/>
            </a:xfrm>
          </p:grpSpPr>
          <p:sp>
            <p:nvSpPr>
              <p:cNvPr id="90133" name="Line 5"/>
              <p:cNvSpPr>
                <a:spLocks noChangeShapeType="1"/>
              </p:cNvSpPr>
              <p:nvPr/>
            </p:nvSpPr>
            <p:spPr bwMode="auto">
              <a:xfrm>
                <a:off x="1296" y="1248"/>
                <a:ext cx="13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34" name="Line 6"/>
              <p:cNvSpPr>
                <a:spLocks noChangeShapeType="1"/>
              </p:cNvSpPr>
              <p:nvPr/>
            </p:nvSpPr>
            <p:spPr bwMode="auto">
              <a:xfrm>
                <a:off x="1296" y="1248"/>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35" name="Line 7"/>
              <p:cNvSpPr>
                <a:spLocks noChangeShapeType="1"/>
              </p:cNvSpPr>
              <p:nvPr/>
            </p:nvSpPr>
            <p:spPr bwMode="auto">
              <a:xfrm>
                <a:off x="1968" y="864"/>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36" name="Line 8"/>
              <p:cNvSpPr>
                <a:spLocks noChangeShapeType="1"/>
              </p:cNvSpPr>
              <p:nvPr/>
            </p:nvSpPr>
            <p:spPr bwMode="auto">
              <a:xfrm>
                <a:off x="1728" y="1248"/>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37" name="Line 9"/>
              <p:cNvSpPr>
                <a:spLocks noChangeShapeType="1"/>
              </p:cNvSpPr>
              <p:nvPr/>
            </p:nvSpPr>
            <p:spPr bwMode="auto">
              <a:xfrm>
                <a:off x="2640" y="1248"/>
                <a:ext cx="0" cy="336"/>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38" name="Text Box 10"/>
              <p:cNvSpPr txBox="1">
                <a:spLocks noChangeArrowheads="1"/>
              </p:cNvSpPr>
              <p:nvPr/>
            </p:nvSpPr>
            <p:spPr bwMode="auto">
              <a:xfrm>
                <a:off x="2064" y="1344"/>
                <a:ext cx="4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a:t>
                </a:r>
              </a:p>
            </p:txBody>
          </p:sp>
          <p:sp>
            <p:nvSpPr>
              <p:cNvPr id="90139" name="Text Box 11"/>
              <p:cNvSpPr txBox="1">
                <a:spLocks noChangeArrowheads="1"/>
              </p:cNvSpPr>
              <p:nvPr/>
            </p:nvSpPr>
            <p:spPr bwMode="auto">
              <a:xfrm>
                <a:off x="960" y="1632"/>
                <a:ext cx="21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b="0" u="none"/>
                  <a:t> case 1  case 2            case n</a:t>
                </a:r>
              </a:p>
            </p:txBody>
          </p:sp>
        </p:grpSp>
        <p:grpSp>
          <p:nvGrpSpPr>
            <p:cNvPr id="90119" name="Group 12"/>
            <p:cNvGrpSpPr/>
            <p:nvPr/>
          </p:nvGrpSpPr>
          <p:grpSpPr bwMode="auto">
            <a:xfrm>
              <a:off x="3360" y="1056"/>
              <a:ext cx="768" cy="250"/>
              <a:chOff x="3216" y="2592"/>
              <a:chExt cx="768" cy="250"/>
            </a:xfrm>
          </p:grpSpPr>
          <p:sp>
            <p:nvSpPr>
              <p:cNvPr id="90131" name="AutoShape 13"/>
              <p:cNvSpPr>
                <a:spLocks noChangeArrowheads="1"/>
              </p:cNvSpPr>
              <p:nvPr/>
            </p:nvSpPr>
            <p:spPr bwMode="auto">
              <a:xfrm>
                <a:off x="3216" y="2592"/>
                <a:ext cx="768" cy="24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0132" name="Text Box 14"/>
              <p:cNvSpPr txBox="1">
                <a:spLocks noChangeArrowheads="1"/>
              </p:cNvSpPr>
              <p:nvPr/>
            </p:nvSpPr>
            <p:spPr bwMode="auto">
              <a:xfrm>
                <a:off x="3504" y="259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a:t>
                </a:r>
              </a:p>
            </p:txBody>
          </p:sp>
        </p:grpSp>
        <p:grpSp>
          <p:nvGrpSpPr>
            <p:cNvPr id="90120" name="Group 15"/>
            <p:cNvGrpSpPr/>
            <p:nvPr/>
          </p:nvGrpSpPr>
          <p:grpSpPr bwMode="auto">
            <a:xfrm>
              <a:off x="3360" y="1536"/>
              <a:ext cx="768" cy="250"/>
              <a:chOff x="3216" y="2592"/>
              <a:chExt cx="768" cy="250"/>
            </a:xfrm>
          </p:grpSpPr>
          <p:sp>
            <p:nvSpPr>
              <p:cNvPr id="90129" name="AutoShape 16"/>
              <p:cNvSpPr>
                <a:spLocks noChangeArrowheads="1"/>
              </p:cNvSpPr>
              <p:nvPr/>
            </p:nvSpPr>
            <p:spPr bwMode="auto">
              <a:xfrm>
                <a:off x="3216" y="2592"/>
                <a:ext cx="768" cy="24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0130" name="Text Box 17"/>
              <p:cNvSpPr txBox="1">
                <a:spLocks noChangeArrowheads="1"/>
              </p:cNvSpPr>
              <p:nvPr/>
            </p:nvSpPr>
            <p:spPr bwMode="auto">
              <a:xfrm>
                <a:off x="3504" y="2592"/>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a:t>
                </a:r>
              </a:p>
            </p:txBody>
          </p:sp>
        </p:grpSp>
        <p:sp>
          <p:nvSpPr>
            <p:cNvPr id="90121" name="Line 18"/>
            <p:cNvSpPr>
              <a:spLocks noChangeShapeType="1"/>
            </p:cNvSpPr>
            <p:nvPr/>
          </p:nvSpPr>
          <p:spPr bwMode="auto">
            <a:xfrm>
              <a:off x="3744" y="1296"/>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0122" name="Line 19"/>
            <p:cNvSpPr>
              <a:spLocks noChangeShapeType="1"/>
            </p:cNvSpPr>
            <p:nvPr/>
          </p:nvSpPr>
          <p:spPr bwMode="auto">
            <a:xfrm>
              <a:off x="3744" y="1776"/>
              <a:ext cx="0" cy="28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3" name="Line 20"/>
            <p:cNvSpPr>
              <a:spLocks noChangeShapeType="1"/>
            </p:cNvSpPr>
            <p:nvPr/>
          </p:nvSpPr>
          <p:spPr bwMode="auto">
            <a:xfrm>
              <a:off x="4133" y="1660"/>
              <a:ext cx="192"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4" name="Line 21"/>
            <p:cNvSpPr>
              <a:spLocks noChangeShapeType="1"/>
            </p:cNvSpPr>
            <p:nvPr/>
          </p:nvSpPr>
          <p:spPr bwMode="auto">
            <a:xfrm>
              <a:off x="4320" y="1669"/>
              <a:ext cx="0" cy="38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5" name="Line 22"/>
            <p:cNvSpPr>
              <a:spLocks noChangeShapeType="1"/>
            </p:cNvSpPr>
            <p:nvPr/>
          </p:nvSpPr>
          <p:spPr bwMode="auto">
            <a:xfrm>
              <a:off x="4944" y="1184"/>
              <a:ext cx="0" cy="864"/>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6" name="Rectangle 23"/>
            <p:cNvSpPr>
              <a:spLocks noChangeArrowheads="1"/>
            </p:cNvSpPr>
            <p:nvPr/>
          </p:nvSpPr>
          <p:spPr bwMode="auto">
            <a:xfrm>
              <a:off x="3408" y="2064"/>
              <a:ext cx="182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000" b="0" u="none"/>
                <a:t> case 1      case 2      case n</a:t>
              </a:r>
            </a:p>
          </p:txBody>
        </p:sp>
        <p:sp>
          <p:nvSpPr>
            <p:cNvPr id="90127" name="Line 24"/>
            <p:cNvSpPr>
              <a:spLocks noChangeShapeType="1"/>
            </p:cNvSpPr>
            <p:nvPr/>
          </p:nvSpPr>
          <p:spPr bwMode="auto">
            <a:xfrm>
              <a:off x="4128" y="1184"/>
              <a:ext cx="81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0128" name="Line 25"/>
            <p:cNvSpPr>
              <a:spLocks noChangeShapeType="1"/>
            </p:cNvSpPr>
            <p:nvPr/>
          </p:nvSpPr>
          <p:spPr bwMode="auto">
            <a:xfrm>
              <a:off x="3744" y="816"/>
              <a:ext cx="0" cy="24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grpSp>
      <p:sp>
        <p:nvSpPr>
          <p:cNvPr id="90116" name="Rectangle 26"/>
          <p:cNvSpPr>
            <a:spLocks noChangeArrowheads="1"/>
          </p:cNvSpPr>
          <p:nvPr/>
        </p:nvSpPr>
        <p:spPr bwMode="auto">
          <a:xfrm>
            <a:off x="2362200" y="4191000"/>
            <a:ext cx="5638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200" u="none">
                <a:ea typeface="楷体_GB2312" panose="02010609030101010101" pitchFamily="49" charset="-122"/>
              </a:rPr>
              <a:t>   </a:t>
            </a:r>
            <a:r>
              <a:rPr lang="en-US" altLang="zh-CN" sz="2200" u="none">
                <a:solidFill>
                  <a:schemeClr val="hlink"/>
                </a:solidFill>
                <a:ea typeface="楷体_GB2312" panose="02010609030101010101" pitchFamily="49" charset="-122"/>
              </a:rPr>
              <a:t>CASE</a:t>
            </a:r>
            <a:r>
              <a:rPr lang="en-US" altLang="zh-CN" sz="2200" u="none">
                <a:ea typeface="楷体_GB2312" panose="02010609030101010101" pitchFamily="49" charset="-122"/>
              </a:rPr>
              <a:t> </a:t>
            </a:r>
            <a:r>
              <a:rPr lang="zh-CN" altLang="zh-CN" sz="2200" u="none">
                <a:ea typeface="楷体_GB2312" panose="02010609030101010101" pitchFamily="49" charset="-122"/>
              </a:rPr>
              <a:t>结构            </a:t>
            </a:r>
            <a:r>
              <a:rPr lang="zh-CN" altLang="en-US" sz="2200" u="none">
                <a:ea typeface="楷体_GB2312" panose="02010609030101010101" pitchFamily="49" charset="-122"/>
              </a:rPr>
              <a:t>      </a:t>
            </a:r>
            <a:r>
              <a:rPr lang="en-US" altLang="zh-CN" sz="2200" u="none">
                <a:solidFill>
                  <a:schemeClr val="hlink"/>
                </a:solidFill>
                <a:ea typeface="楷体_GB2312" panose="02010609030101010101" pitchFamily="49" charset="-122"/>
              </a:rPr>
              <a:t>IF-THEN-ELSE</a:t>
            </a:r>
            <a:r>
              <a:rPr lang="en-US" altLang="zh-CN" sz="2200" u="none">
                <a:ea typeface="楷体_GB2312" panose="02010609030101010101" pitchFamily="49" charset="-122"/>
              </a:rPr>
              <a:t> </a:t>
            </a:r>
            <a:r>
              <a:rPr lang="zh-CN" altLang="zh-CN" sz="2200" u="none">
                <a:ea typeface="楷体_GB2312" panose="02010609030101010101" pitchFamily="49" charset="-122"/>
              </a:rPr>
              <a:t>结构</a:t>
            </a:r>
            <a:endParaRPr lang="zh-CN" altLang="en-US" sz="2200" u="none">
              <a:ea typeface="楷体_GB2312" panose="02010609030101010101" pitchFamily="49" charset="-122"/>
            </a:endParaRPr>
          </a:p>
        </p:txBody>
      </p:sp>
      <p:sp>
        <p:nvSpPr>
          <p:cNvPr id="90117" name="Rectangle 27"/>
          <p:cNvSpPr>
            <a:spLocks noChangeArrowheads="1"/>
          </p:cNvSpPr>
          <p:nvPr/>
        </p:nvSpPr>
        <p:spPr bwMode="auto">
          <a:xfrm>
            <a:off x="2209800" y="4953000"/>
            <a:ext cx="53340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000" u="none"/>
              <a:t>(1)   </a:t>
            </a:r>
            <a:r>
              <a:rPr lang="zh-CN" altLang="en-US" sz="2000" u="none"/>
              <a:t>逻辑尺控制</a:t>
            </a:r>
          </a:p>
          <a:p>
            <a:pPr>
              <a:spcBef>
                <a:spcPct val="50000"/>
              </a:spcBef>
              <a:buClrTx/>
              <a:buFontTx/>
              <a:buNone/>
            </a:pPr>
            <a:r>
              <a:rPr lang="en-US" altLang="zh-CN" sz="2000" u="none"/>
              <a:t>(2)   </a:t>
            </a:r>
            <a:r>
              <a:rPr lang="zh-CN" altLang="en-US" sz="2000" u="none"/>
              <a:t>条件控制</a:t>
            </a:r>
          </a:p>
          <a:p>
            <a:pPr>
              <a:spcBef>
                <a:spcPct val="50000"/>
              </a:spcBef>
              <a:buClrTx/>
              <a:buFontTx/>
              <a:buNone/>
            </a:pPr>
            <a:r>
              <a:rPr lang="en-US" altLang="zh-CN" sz="2000" u="none"/>
              <a:t>(3)   </a:t>
            </a:r>
            <a:r>
              <a:rPr lang="zh-CN" altLang="en-US" sz="2000" u="none"/>
              <a:t>地址跳跃表</a:t>
            </a:r>
            <a:r>
              <a:rPr lang="zh-CN" altLang="en-US" sz="2000" u="none">
                <a:ea typeface="楷体_GB2312" panose="02010609030101010101" pitchFamily="49" charset="-122"/>
              </a:rPr>
              <a:t>（值与地址有对应关系的表）</a:t>
            </a:r>
          </a:p>
        </p:txBody>
      </p:sp>
    </p:spTree>
  </p:cSld>
  <p:clrMapOvr>
    <a:masterClrMapping/>
  </p:clrMapOvr>
  <p:transition>
    <p:rand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ChangeArrowheads="1"/>
          </p:cNvSpPr>
          <p:nvPr/>
        </p:nvSpPr>
        <p:spPr bwMode="auto">
          <a:xfrm>
            <a:off x="1676400" y="609600"/>
            <a:ext cx="3605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2.  </a:t>
            </a:r>
            <a:r>
              <a:rPr lang="zh-CN" altLang="en-US" sz="3600" u="none">
                <a:solidFill>
                  <a:schemeClr val="tx2"/>
                </a:solidFill>
                <a:latin typeface="Arial" panose="020B0604020202020204" pitchFamily="34" charset="0"/>
              </a:rPr>
              <a:t>循环程序设计</a:t>
            </a:r>
          </a:p>
        </p:txBody>
      </p:sp>
      <p:sp>
        <p:nvSpPr>
          <p:cNvPr id="91139" name="Rectangle 3"/>
          <p:cNvSpPr>
            <a:spLocks noChangeArrowheads="1"/>
          </p:cNvSpPr>
          <p:nvPr/>
        </p:nvSpPr>
        <p:spPr bwMode="auto">
          <a:xfrm>
            <a:off x="2438400" y="5791200"/>
            <a:ext cx="56388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200" u="none">
                <a:ea typeface="楷体_GB2312" panose="02010609030101010101" pitchFamily="49" charset="-122"/>
              </a:rPr>
              <a:t>DO-WHILE </a:t>
            </a:r>
            <a:r>
              <a:rPr lang="zh-CN" altLang="zh-CN" sz="2200" u="none">
                <a:ea typeface="楷体_GB2312" panose="02010609030101010101" pitchFamily="49" charset="-122"/>
              </a:rPr>
              <a:t>结构            </a:t>
            </a:r>
            <a:r>
              <a:rPr lang="zh-CN" altLang="en-US" sz="2200" u="none">
                <a:ea typeface="楷体_GB2312" panose="02010609030101010101" pitchFamily="49" charset="-122"/>
              </a:rPr>
              <a:t>      </a:t>
            </a:r>
            <a:r>
              <a:rPr lang="en-US" altLang="zh-CN" sz="2200" u="none">
                <a:ea typeface="楷体_GB2312" panose="02010609030101010101" pitchFamily="49" charset="-122"/>
              </a:rPr>
              <a:t>DO-UNTIL </a:t>
            </a:r>
            <a:r>
              <a:rPr lang="zh-CN" altLang="zh-CN" sz="2200" u="none">
                <a:ea typeface="楷体_GB2312" panose="02010609030101010101" pitchFamily="49" charset="-122"/>
              </a:rPr>
              <a:t>结构</a:t>
            </a:r>
            <a:endParaRPr lang="zh-CN" altLang="en-US" sz="2200" u="none">
              <a:ea typeface="楷体_GB2312" panose="02010609030101010101" pitchFamily="49" charset="-122"/>
            </a:endParaRPr>
          </a:p>
        </p:txBody>
      </p:sp>
      <p:grpSp>
        <p:nvGrpSpPr>
          <p:cNvPr id="91140" name="Group 4"/>
          <p:cNvGrpSpPr/>
          <p:nvPr/>
        </p:nvGrpSpPr>
        <p:grpSpPr bwMode="auto">
          <a:xfrm>
            <a:off x="2286000" y="1828800"/>
            <a:ext cx="5715000" cy="3614738"/>
            <a:chOff x="1488" y="1056"/>
            <a:chExt cx="3600" cy="2277"/>
          </a:xfrm>
        </p:grpSpPr>
        <p:grpSp>
          <p:nvGrpSpPr>
            <p:cNvPr id="91141" name="Group 5"/>
            <p:cNvGrpSpPr/>
            <p:nvPr/>
          </p:nvGrpSpPr>
          <p:grpSpPr bwMode="auto">
            <a:xfrm>
              <a:off x="3552" y="1104"/>
              <a:ext cx="1536" cy="2229"/>
              <a:chOff x="1392" y="1104"/>
              <a:chExt cx="1536" cy="2229"/>
            </a:xfrm>
          </p:grpSpPr>
          <p:grpSp>
            <p:nvGrpSpPr>
              <p:cNvPr id="91162" name="Group 6"/>
              <p:cNvGrpSpPr/>
              <p:nvPr/>
            </p:nvGrpSpPr>
            <p:grpSpPr bwMode="auto">
              <a:xfrm>
                <a:off x="1625" y="2515"/>
                <a:ext cx="1303" cy="455"/>
                <a:chOff x="2112" y="3024"/>
                <a:chExt cx="1344" cy="480"/>
              </a:xfrm>
            </p:grpSpPr>
            <p:sp>
              <p:nvSpPr>
                <p:cNvPr id="91178" name="AutoShape 7"/>
                <p:cNvSpPr>
                  <a:spLocks noChangeArrowheads="1"/>
                </p:cNvSpPr>
                <p:nvPr/>
              </p:nvSpPr>
              <p:spPr bwMode="auto">
                <a:xfrm>
                  <a:off x="2112" y="3024"/>
                  <a:ext cx="1344" cy="48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79" name="Rectangle 8"/>
                <p:cNvSpPr>
                  <a:spLocks noChangeArrowheads="1"/>
                </p:cNvSpPr>
                <p:nvPr/>
              </p:nvSpPr>
              <p:spPr bwMode="auto">
                <a:xfrm>
                  <a:off x="2353" y="3120"/>
                  <a:ext cx="9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chemeClr val="hlink"/>
                      </a:solidFill>
                      <a:ea typeface="楷体_GB2312" panose="02010609030101010101" pitchFamily="49" charset="-122"/>
                    </a:rPr>
                    <a:t>控制条件</a:t>
                  </a:r>
                </a:p>
              </p:txBody>
            </p:sp>
          </p:grpSp>
          <p:sp>
            <p:nvSpPr>
              <p:cNvPr id="91163" name="Line 9"/>
              <p:cNvSpPr>
                <a:spLocks noChangeShapeType="1"/>
              </p:cNvSpPr>
              <p:nvPr/>
            </p:nvSpPr>
            <p:spPr bwMode="auto">
              <a:xfrm>
                <a:off x="2276" y="1104"/>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4" name="Line 10"/>
              <p:cNvSpPr>
                <a:spLocks noChangeShapeType="1"/>
              </p:cNvSpPr>
              <p:nvPr/>
            </p:nvSpPr>
            <p:spPr bwMode="auto">
              <a:xfrm>
                <a:off x="2276" y="1605"/>
                <a:ext cx="0" cy="409"/>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65" name="Line 11"/>
              <p:cNvSpPr>
                <a:spLocks noChangeShapeType="1"/>
              </p:cNvSpPr>
              <p:nvPr/>
            </p:nvSpPr>
            <p:spPr bwMode="auto">
              <a:xfrm>
                <a:off x="2276" y="2287"/>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6" name="Line 12"/>
              <p:cNvSpPr>
                <a:spLocks noChangeShapeType="1"/>
              </p:cNvSpPr>
              <p:nvPr/>
            </p:nvSpPr>
            <p:spPr bwMode="auto">
              <a:xfrm>
                <a:off x="2276" y="2970"/>
                <a:ext cx="0" cy="363"/>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7" name="Line 13"/>
              <p:cNvSpPr>
                <a:spLocks noChangeShapeType="1"/>
              </p:cNvSpPr>
              <p:nvPr/>
            </p:nvSpPr>
            <p:spPr bwMode="auto">
              <a:xfrm flipH="1">
                <a:off x="1392" y="2743"/>
                <a:ext cx="23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68" name="Line 14"/>
              <p:cNvSpPr>
                <a:spLocks noChangeShapeType="1"/>
              </p:cNvSpPr>
              <p:nvPr/>
            </p:nvSpPr>
            <p:spPr bwMode="auto">
              <a:xfrm>
                <a:off x="1392" y="1787"/>
                <a:ext cx="0" cy="956"/>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69" name="Line 15"/>
              <p:cNvSpPr>
                <a:spLocks noChangeShapeType="1"/>
              </p:cNvSpPr>
              <p:nvPr/>
            </p:nvSpPr>
            <p:spPr bwMode="auto">
              <a:xfrm>
                <a:off x="1392" y="1787"/>
                <a:ext cx="884"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nvGrpSpPr>
              <p:cNvPr id="91170" name="Group 16"/>
              <p:cNvGrpSpPr/>
              <p:nvPr/>
            </p:nvGrpSpPr>
            <p:grpSpPr bwMode="auto">
              <a:xfrm>
                <a:off x="1857" y="1332"/>
                <a:ext cx="838" cy="288"/>
                <a:chOff x="3696" y="3504"/>
                <a:chExt cx="864" cy="304"/>
              </a:xfrm>
            </p:grpSpPr>
            <p:sp>
              <p:nvSpPr>
                <p:cNvPr id="91176" name="Rectangle 17"/>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77" name="Rectangle 18"/>
                <p:cNvSpPr>
                  <a:spLocks noChangeArrowheads="1"/>
                </p:cNvSpPr>
                <p:nvPr/>
              </p:nvSpPr>
              <p:spPr bwMode="auto">
                <a:xfrm>
                  <a:off x="3791" y="3504"/>
                  <a:ext cx="7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ea typeface="楷体_GB2312" panose="02010609030101010101" pitchFamily="49" charset="-122"/>
                    </a:rPr>
                    <a:t>初始化</a:t>
                  </a:r>
                </a:p>
              </p:txBody>
            </p:sp>
          </p:grpSp>
          <p:grpSp>
            <p:nvGrpSpPr>
              <p:cNvPr id="91171" name="Group 19"/>
              <p:cNvGrpSpPr/>
              <p:nvPr/>
            </p:nvGrpSpPr>
            <p:grpSpPr bwMode="auto">
              <a:xfrm>
                <a:off x="1857" y="2014"/>
                <a:ext cx="838" cy="288"/>
                <a:chOff x="3696" y="3504"/>
                <a:chExt cx="864" cy="303"/>
              </a:xfrm>
            </p:grpSpPr>
            <p:sp>
              <p:nvSpPr>
                <p:cNvPr id="91174" name="Rectangle 20"/>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75" name="Rectangle 21"/>
                <p:cNvSpPr>
                  <a:spLocks noChangeArrowheads="1"/>
                </p:cNvSpPr>
                <p:nvPr/>
              </p:nvSpPr>
              <p:spPr bwMode="auto">
                <a:xfrm>
                  <a:off x="3791" y="3504"/>
                  <a:ext cx="71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rgbClr val="009900"/>
                      </a:solidFill>
                      <a:ea typeface="楷体_GB2312" panose="02010609030101010101" pitchFamily="49" charset="-122"/>
                    </a:rPr>
                    <a:t>循环体</a:t>
                  </a:r>
                </a:p>
              </p:txBody>
            </p:sp>
          </p:grpSp>
          <p:sp>
            <p:nvSpPr>
              <p:cNvPr id="91172" name="Text Box 22"/>
              <p:cNvSpPr txBox="1">
                <a:spLocks noChangeArrowheads="1"/>
              </p:cNvSpPr>
              <p:nvPr/>
            </p:nvSpPr>
            <p:spPr bwMode="auto">
              <a:xfrm>
                <a:off x="2064" y="2991"/>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Y</a:t>
                </a:r>
              </a:p>
            </p:txBody>
          </p:sp>
          <p:sp>
            <p:nvSpPr>
              <p:cNvPr id="91173" name="Text Box 23"/>
              <p:cNvSpPr txBox="1">
                <a:spLocks noChangeArrowheads="1"/>
              </p:cNvSpPr>
              <p:nvPr/>
            </p:nvSpPr>
            <p:spPr bwMode="auto">
              <a:xfrm>
                <a:off x="1392" y="2511"/>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N</a:t>
                </a:r>
              </a:p>
            </p:txBody>
          </p:sp>
        </p:grpSp>
        <p:grpSp>
          <p:nvGrpSpPr>
            <p:cNvPr id="91142" name="Group 24"/>
            <p:cNvGrpSpPr/>
            <p:nvPr/>
          </p:nvGrpSpPr>
          <p:grpSpPr bwMode="auto">
            <a:xfrm>
              <a:off x="1632" y="1968"/>
              <a:ext cx="1303" cy="455"/>
              <a:chOff x="2112" y="3024"/>
              <a:chExt cx="1344" cy="480"/>
            </a:xfrm>
          </p:grpSpPr>
          <p:sp>
            <p:nvSpPr>
              <p:cNvPr id="91160" name="AutoShape 25"/>
              <p:cNvSpPr>
                <a:spLocks noChangeArrowheads="1"/>
              </p:cNvSpPr>
              <p:nvPr/>
            </p:nvSpPr>
            <p:spPr bwMode="auto">
              <a:xfrm>
                <a:off x="2112" y="3024"/>
                <a:ext cx="1344" cy="480"/>
              </a:xfrm>
              <a:prstGeom prst="diamond">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61" name="Rectangle 26"/>
              <p:cNvSpPr>
                <a:spLocks noChangeArrowheads="1"/>
              </p:cNvSpPr>
              <p:nvPr/>
            </p:nvSpPr>
            <p:spPr bwMode="auto">
              <a:xfrm>
                <a:off x="2353" y="3120"/>
                <a:ext cx="9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chemeClr val="hlink"/>
                    </a:solidFill>
                    <a:ea typeface="楷体_GB2312" panose="02010609030101010101" pitchFamily="49" charset="-122"/>
                  </a:rPr>
                  <a:t>控制条件</a:t>
                </a:r>
              </a:p>
            </p:txBody>
          </p:sp>
        </p:grpSp>
        <p:sp>
          <p:nvSpPr>
            <p:cNvPr id="91143" name="Line 27"/>
            <p:cNvSpPr>
              <a:spLocks noChangeShapeType="1"/>
            </p:cNvSpPr>
            <p:nvPr/>
          </p:nvSpPr>
          <p:spPr bwMode="auto">
            <a:xfrm>
              <a:off x="2276" y="1056"/>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44" name="Line 28"/>
            <p:cNvSpPr>
              <a:spLocks noChangeShapeType="1"/>
            </p:cNvSpPr>
            <p:nvPr/>
          </p:nvSpPr>
          <p:spPr bwMode="auto">
            <a:xfrm>
              <a:off x="2276" y="1557"/>
              <a:ext cx="0" cy="409"/>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45" name="Line 29"/>
            <p:cNvSpPr>
              <a:spLocks noChangeShapeType="1"/>
            </p:cNvSpPr>
            <p:nvPr/>
          </p:nvSpPr>
          <p:spPr bwMode="auto">
            <a:xfrm>
              <a:off x="2282" y="2431"/>
              <a:ext cx="0" cy="22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46" name="Line 30"/>
            <p:cNvSpPr>
              <a:spLocks noChangeShapeType="1"/>
            </p:cNvSpPr>
            <p:nvPr/>
          </p:nvSpPr>
          <p:spPr bwMode="auto">
            <a:xfrm>
              <a:off x="1488" y="1747"/>
              <a:ext cx="0" cy="1477"/>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grpSp>
          <p:nvGrpSpPr>
            <p:cNvPr id="91147" name="Group 31"/>
            <p:cNvGrpSpPr/>
            <p:nvPr/>
          </p:nvGrpSpPr>
          <p:grpSpPr bwMode="auto">
            <a:xfrm>
              <a:off x="1857" y="1284"/>
              <a:ext cx="838" cy="288"/>
              <a:chOff x="3696" y="3504"/>
              <a:chExt cx="864" cy="304"/>
            </a:xfrm>
          </p:grpSpPr>
          <p:sp>
            <p:nvSpPr>
              <p:cNvPr id="91158" name="Rectangle 32"/>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59" name="Rectangle 33"/>
              <p:cNvSpPr>
                <a:spLocks noChangeArrowheads="1"/>
              </p:cNvSpPr>
              <p:nvPr/>
            </p:nvSpPr>
            <p:spPr bwMode="auto">
              <a:xfrm>
                <a:off x="3791" y="3504"/>
                <a:ext cx="716"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ea typeface="楷体_GB2312" panose="02010609030101010101" pitchFamily="49" charset="-122"/>
                  </a:rPr>
                  <a:t>初始化</a:t>
                </a:r>
              </a:p>
            </p:txBody>
          </p:sp>
        </p:grpSp>
        <p:grpSp>
          <p:nvGrpSpPr>
            <p:cNvPr id="91148" name="Group 34"/>
            <p:cNvGrpSpPr/>
            <p:nvPr/>
          </p:nvGrpSpPr>
          <p:grpSpPr bwMode="auto">
            <a:xfrm>
              <a:off x="1872" y="2658"/>
              <a:ext cx="838" cy="288"/>
              <a:chOff x="3696" y="3504"/>
              <a:chExt cx="864" cy="303"/>
            </a:xfrm>
          </p:grpSpPr>
          <p:sp>
            <p:nvSpPr>
              <p:cNvPr id="91156" name="Rectangle 35"/>
              <p:cNvSpPr>
                <a:spLocks noChangeArrowheads="1"/>
              </p:cNvSpPr>
              <p:nvPr/>
            </p:nvSpPr>
            <p:spPr bwMode="auto">
              <a:xfrm>
                <a:off x="3696" y="3504"/>
                <a:ext cx="864" cy="288"/>
              </a:xfrm>
              <a:prstGeom prst="rect">
                <a:avLst/>
              </a:prstGeom>
              <a:noFill/>
              <a:ln w="12700" cap="sq">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1157" name="Rectangle 36"/>
              <p:cNvSpPr>
                <a:spLocks noChangeArrowheads="1"/>
              </p:cNvSpPr>
              <p:nvPr/>
            </p:nvSpPr>
            <p:spPr bwMode="auto">
              <a:xfrm>
                <a:off x="3791" y="3504"/>
                <a:ext cx="716"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zh-CN" altLang="en-US" sz="2400" u="none">
                    <a:solidFill>
                      <a:srgbClr val="009900"/>
                    </a:solidFill>
                    <a:ea typeface="楷体_GB2312" panose="02010609030101010101" pitchFamily="49" charset="-122"/>
                  </a:rPr>
                  <a:t>循环体</a:t>
                </a:r>
              </a:p>
            </p:txBody>
          </p:sp>
        </p:grpSp>
        <p:sp>
          <p:nvSpPr>
            <p:cNvPr id="91149" name="Text Box 37"/>
            <p:cNvSpPr txBox="1">
              <a:spLocks noChangeArrowheads="1"/>
            </p:cNvSpPr>
            <p:nvPr/>
          </p:nvSpPr>
          <p:spPr bwMode="auto">
            <a:xfrm>
              <a:off x="2064" y="2400"/>
              <a:ext cx="33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Y</a:t>
              </a:r>
            </a:p>
          </p:txBody>
        </p:sp>
        <p:sp>
          <p:nvSpPr>
            <p:cNvPr id="91150" name="Text Box 38"/>
            <p:cNvSpPr txBox="1">
              <a:spLocks noChangeArrowheads="1"/>
            </p:cNvSpPr>
            <p:nvPr/>
          </p:nvSpPr>
          <p:spPr bwMode="auto">
            <a:xfrm>
              <a:off x="2928" y="1968"/>
              <a:ext cx="24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ClrTx/>
                <a:buFontTx/>
                <a:buNone/>
              </a:pPr>
              <a:r>
                <a:rPr lang="en-US" altLang="zh-CN" sz="2000" u="none"/>
                <a:t>N</a:t>
              </a:r>
            </a:p>
          </p:txBody>
        </p:sp>
        <p:sp>
          <p:nvSpPr>
            <p:cNvPr id="91151" name="Line 39"/>
            <p:cNvSpPr>
              <a:spLocks noChangeShapeType="1"/>
            </p:cNvSpPr>
            <p:nvPr/>
          </p:nvSpPr>
          <p:spPr bwMode="auto">
            <a:xfrm>
              <a:off x="2270" y="2939"/>
              <a:ext cx="0" cy="28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52" name="Line 40"/>
            <p:cNvSpPr>
              <a:spLocks noChangeShapeType="1"/>
            </p:cNvSpPr>
            <p:nvPr/>
          </p:nvSpPr>
          <p:spPr bwMode="auto">
            <a:xfrm flipH="1" flipV="1">
              <a:off x="1488" y="3216"/>
              <a:ext cx="778" cy="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spAutoFit/>
            </a:bodyPr>
            <a:lstStyle/>
            <a:p>
              <a:endParaRPr lang="zh-CN" altLang="en-US"/>
            </a:p>
          </p:txBody>
        </p:sp>
        <p:sp>
          <p:nvSpPr>
            <p:cNvPr id="91153" name="Line 41"/>
            <p:cNvSpPr>
              <a:spLocks noChangeShapeType="1"/>
            </p:cNvSpPr>
            <p:nvPr/>
          </p:nvSpPr>
          <p:spPr bwMode="auto">
            <a:xfrm>
              <a:off x="2939" y="2193"/>
              <a:ext cx="144"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54" name="Line 42"/>
            <p:cNvSpPr>
              <a:spLocks noChangeShapeType="1"/>
            </p:cNvSpPr>
            <p:nvPr/>
          </p:nvSpPr>
          <p:spPr bwMode="auto">
            <a:xfrm>
              <a:off x="3072" y="2195"/>
              <a:ext cx="0" cy="1008"/>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1155" name="Line 43"/>
            <p:cNvSpPr>
              <a:spLocks noChangeShapeType="1"/>
            </p:cNvSpPr>
            <p:nvPr/>
          </p:nvSpPr>
          <p:spPr bwMode="auto">
            <a:xfrm>
              <a:off x="1488" y="1736"/>
              <a:ext cx="768" cy="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grpSp>
    </p:spTree>
  </p:cSld>
  <p:clrMapOvr>
    <a:masterClrMapping/>
  </p:clrMapOvr>
  <p:transition>
    <p:rand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p:cNvSpPr txBox="1">
            <a:spLocks noChangeArrowheads="1"/>
          </p:cNvSpPr>
          <p:nvPr/>
        </p:nvSpPr>
        <p:spPr bwMode="auto">
          <a:xfrm>
            <a:off x="2286000" y="990600"/>
            <a:ext cx="4953000" cy="336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spcBef>
                <a:spcPct val="0"/>
              </a:spcBef>
              <a:buClrTx/>
              <a:buFontTx/>
              <a:buNone/>
            </a:pPr>
            <a:r>
              <a:rPr lang="zh-CN" altLang="en-US" sz="2600" u="none">
                <a:ea typeface="楷体_GB2312" panose="02010609030101010101" pitchFamily="49" charset="-122"/>
              </a:rPr>
              <a:t>初始化</a:t>
            </a:r>
            <a:r>
              <a:rPr lang="zh-CN" altLang="en-US" sz="2000" b="0" u="none"/>
              <a:t>：</a:t>
            </a:r>
            <a:r>
              <a:rPr lang="zh-CN" altLang="en-US" sz="2200" u="none"/>
              <a:t>设置循环的初始状态</a:t>
            </a:r>
          </a:p>
          <a:p>
            <a:pPr eaLnBrk="1" hangingPunct="1">
              <a:lnSpc>
                <a:spcPct val="190000"/>
              </a:lnSpc>
              <a:spcBef>
                <a:spcPct val="0"/>
              </a:spcBef>
              <a:buClrTx/>
              <a:buFontTx/>
              <a:buNone/>
            </a:pPr>
            <a:r>
              <a:rPr lang="zh-CN" altLang="en-US" sz="2600" u="none">
                <a:solidFill>
                  <a:srgbClr val="009900"/>
                </a:solidFill>
                <a:ea typeface="楷体_GB2312" panose="02010609030101010101" pitchFamily="49" charset="-122"/>
              </a:rPr>
              <a:t>循环体</a:t>
            </a:r>
            <a:r>
              <a:rPr lang="zh-CN" altLang="en-US" sz="2000" b="0" u="none"/>
              <a:t>：</a:t>
            </a:r>
            <a:r>
              <a:rPr lang="zh-CN" altLang="en-US" sz="2200" u="none"/>
              <a:t>循环的工作部分及修改部分</a:t>
            </a:r>
          </a:p>
          <a:p>
            <a:pPr eaLnBrk="1" hangingPunct="1">
              <a:lnSpc>
                <a:spcPct val="190000"/>
              </a:lnSpc>
              <a:spcBef>
                <a:spcPct val="0"/>
              </a:spcBef>
              <a:buClrTx/>
              <a:buFontTx/>
              <a:buNone/>
            </a:pPr>
            <a:r>
              <a:rPr lang="zh-CN" altLang="en-US" sz="2600" u="none">
                <a:solidFill>
                  <a:schemeClr val="hlink"/>
                </a:solidFill>
                <a:ea typeface="楷体_GB2312" panose="02010609030101010101" pitchFamily="49" charset="-122"/>
              </a:rPr>
              <a:t>控制条件</a:t>
            </a:r>
            <a:r>
              <a:rPr lang="zh-CN" altLang="en-US" sz="2000" b="0" u="none"/>
              <a:t>：</a:t>
            </a:r>
            <a:r>
              <a:rPr lang="zh-CN" altLang="en-US" sz="2200" u="none"/>
              <a:t>计数控制</a:t>
            </a:r>
          </a:p>
          <a:p>
            <a:pPr eaLnBrk="1" hangingPunct="1">
              <a:spcBef>
                <a:spcPct val="50000"/>
              </a:spcBef>
              <a:buClrTx/>
              <a:buFontTx/>
              <a:buNone/>
            </a:pPr>
            <a:r>
              <a:rPr lang="zh-CN" altLang="en-US" sz="2200" u="none"/>
              <a:t>                       特征值控制</a:t>
            </a:r>
          </a:p>
          <a:p>
            <a:pPr eaLnBrk="1" hangingPunct="1">
              <a:spcBef>
                <a:spcPct val="50000"/>
              </a:spcBef>
              <a:buClrTx/>
              <a:buFontTx/>
              <a:buNone/>
            </a:pPr>
            <a:r>
              <a:rPr lang="zh-CN" altLang="en-US" sz="2200" u="none"/>
              <a:t>                       地址边界控制</a:t>
            </a:r>
          </a:p>
        </p:txBody>
      </p:sp>
    </p:spTree>
  </p:cSld>
  <p:clrMapOvr>
    <a:masterClrMapping/>
  </p:clrMapOvr>
  <p:transition>
    <p:rand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1981200" y="685800"/>
            <a:ext cx="5715000"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220000"/>
              </a:lnSpc>
              <a:spcBef>
                <a:spcPct val="0"/>
              </a:spcBef>
              <a:buClrTx/>
              <a:buFontTx/>
              <a:buNone/>
            </a:pPr>
            <a:r>
              <a:rPr lang="zh-CN" altLang="en-US" sz="2400" u="none">
                <a:solidFill>
                  <a:schemeClr val="hlink"/>
                </a:solidFill>
                <a:ea typeface="楷体_GB2312" panose="02010609030101010101" pitchFamily="49" charset="-122"/>
              </a:rPr>
              <a:t>例子：</a:t>
            </a:r>
          </a:p>
          <a:p>
            <a:pPr>
              <a:lnSpc>
                <a:spcPct val="220000"/>
              </a:lnSpc>
              <a:spcBef>
                <a:spcPct val="0"/>
              </a:spcBef>
              <a:buClrTx/>
              <a:buFontTx/>
              <a:buChar char="•"/>
            </a:pPr>
            <a:r>
              <a:rPr lang="zh-CN" altLang="en-US" sz="2000" u="none"/>
              <a:t>    将二进制数以十六进制的形式显示在屏幕上</a:t>
            </a:r>
          </a:p>
          <a:p>
            <a:pPr>
              <a:lnSpc>
                <a:spcPct val="180000"/>
              </a:lnSpc>
              <a:spcBef>
                <a:spcPct val="0"/>
              </a:spcBef>
              <a:buClrTx/>
              <a:buFontTx/>
              <a:buChar char="•"/>
            </a:pPr>
            <a:r>
              <a:rPr lang="zh-CN" altLang="en-US" sz="2000" u="none"/>
              <a:t>    统计 </a:t>
            </a:r>
            <a:r>
              <a:rPr lang="en-US" altLang="zh-CN" sz="2000" u="none"/>
              <a:t>1 </a:t>
            </a:r>
            <a:r>
              <a:rPr lang="zh-CN" altLang="en-US" sz="2000" u="none"/>
              <a:t>的个数</a:t>
            </a:r>
            <a:r>
              <a:rPr lang="en-US" altLang="zh-CN" sz="2000" u="none"/>
              <a:t>,</a:t>
            </a:r>
            <a:r>
              <a:rPr lang="zh-CN" altLang="en-US" sz="2000" u="none"/>
              <a:t>求数组元素之和</a:t>
            </a:r>
          </a:p>
          <a:p>
            <a:pPr>
              <a:lnSpc>
                <a:spcPct val="180000"/>
              </a:lnSpc>
              <a:spcBef>
                <a:spcPct val="0"/>
              </a:spcBef>
              <a:buClrTx/>
              <a:buFontTx/>
              <a:buChar char="•"/>
            </a:pPr>
            <a:r>
              <a:rPr lang="zh-CN" altLang="en-US" sz="2000" u="none"/>
              <a:t>    在数组中插入一元素</a:t>
            </a:r>
            <a:r>
              <a:rPr lang="en-US" altLang="zh-CN" sz="2000" u="none"/>
              <a:t>,</a:t>
            </a:r>
            <a:r>
              <a:rPr lang="zh-CN" altLang="en-US" sz="2000" u="none"/>
              <a:t>查找第一个是</a:t>
            </a:r>
            <a:r>
              <a:rPr lang="en-US" altLang="zh-CN" sz="2000" u="none"/>
              <a:t>0</a:t>
            </a:r>
            <a:r>
              <a:rPr lang="zh-CN" altLang="en-US" sz="2000" u="none"/>
              <a:t>的数据</a:t>
            </a:r>
          </a:p>
          <a:p>
            <a:pPr>
              <a:lnSpc>
                <a:spcPct val="180000"/>
              </a:lnSpc>
              <a:spcBef>
                <a:spcPct val="0"/>
              </a:spcBef>
              <a:buClrTx/>
              <a:buFontTx/>
              <a:buChar char="•"/>
            </a:pPr>
            <a:r>
              <a:rPr lang="zh-CN" altLang="en-US" sz="2000" u="none"/>
              <a:t>    数组运算（静态地预置逻辑尺）</a:t>
            </a:r>
          </a:p>
          <a:p>
            <a:pPr>
              <a:lnSpc>
                <a:spcPct val="180000"/>
              </a:lnSpc>
              <a:spcBef>
                <a:spcPct val="0"/>
              </a:spcBef>
              <a:buClrTx/>
              <a:buFontTx/>
              <a:buChar char="•"/>
            </a:pPr>
            <a:r>
              <a:rPr lang="zh-CN" altLang="en-US" sz="2000" u="none"/>
              <a:t>    从键盘输入字符串（动态地修改标志位）</a:t>
            </a:r>
          </a:p>
          <a:p>
            <a:pPr>
              <a:lnSpc>
                <a:spcPct val="180000"/>
              </a:lnSpc>
              <a:spcBef>
                <a:spcPct val="0"/>
              </a:spcBef>
              <a:buClrTx/>
              <a:buFontTx/>
              <a:buChar char="•"/>
            </a:pPr>
            <a:r>
              <a:rPr lang="zh-CN" altLang="en-US" sz="2000" u="none"/>
              <a:t>    起泡排序（多重循环）</a:t>
            </a:r>
          </a:p>
        </p:txBody>
      </p:sp>
      <p:sp>
        <p:nvSpPr>
          <p:cNvPr id="93187" name="Text Box 3"/>
          <p:cNvSpPr txBox="1">
            <a:spLocks noChangeArrowheads="1"/>
          </p:cNvSpPr>
          <p:nvPr/>
        </p:nvSpPr>
        <p:spPr bwMode="auto">
          <a:xfrm>
            <a:off x="830263" y="5538788"/>
            <a:ext cx="66024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FontTx/>
              <a:buNone/>
            </a:pPr>
            <a:r>
              <a:rPr lang="zh-CN" altLang="en-US" sz="2800">
                <a:solidFill>
                  <a:srgbClr val="FF0000"/>
                </a:solidFill>
              </a:rPr>
              <a:t>注意</a:t>
            </a:r>
            <a:r>
              <a:rPr lang="en-US" altLang="zh-CN" sz="2800">
                <a:solidFill>
                  <a:srgbClr val="FF0000"/>
                </a:solidFill>
              </a:rPr>
              <a:t>:LOOP,LOOPNZ,LOOP</a:t>
            </a:r>
            <a:r>
              <a:rPr lang="zh-CN" altLang="en-US" sz="2800">
                <a:solidFill>
                  <a:srgbClr val="FF0000"/>
                </a:solidFill>
              </a:rPr>
              <a:t>指令的含义</a:t>
            </a:r>
            <a:r>
              <a:rPr lang="en-US" altLang="zh-CN" sz="2800">
                <a:solidFill>
                  <a:srgbClr val="FF0000"/>
                </a:solidFill>
              </a:rPr>
              <a:t>!</a:t>
            </a:r>
          </a:p>
        </p:txBody>
      </p:sp>
    </p:spTree>
  </p:cSld>
  <p:clrMapOvr>
    <a:masterClrMapping/>
  </p:clrMapOvr>
  <p:transition>
    <p:rand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ChangeArrowheads="1"/>
          </p:cNvSpPr>
          <p:nvPr/>
        </p:nvSpPr>
        <p:spPr bwMode="auto">
          <a:xfrm>
            <a:off x="1476375" y="1341438"/>
            <a:ext cx="6445250"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3048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2400" b="0" u="none">
                <a:latin typeface="Lucida Console" panose="020B0609040504020204" pitchFamily="49" charset="0"/>
              </a:rPr>
              <a:t>ADRR      DB   0AH,02H,03H,33H,FFH</a:t>
            </a:r>
          </a:p>
          <a:p>
            <a:pPr eaLnBrk="1" hangingPunct="1">
              <a:spcBef>
                <a:spcPct val="0"/>
              </a:spcBef>
              <a:buClrTx/>
              <a:buFontTx/>
              <a:buNone/>
            </a:pPr>
            <a:r>
              <a:rPr lang="en-US" altLang="zh-CN" sz="2400" b="0" u="none">
                <a:solidFill>
                  <a:schemeClr val="hlink"/>
                </a:solidFill>
                <a:latin typeface="Lucida Console" panose="020B0609040504020204" pitchFamily="49" charset="0"/>
              </a:rPr>
              <a:t>COUNT</a:t>
            </a:r>
            <a:r>
              <a:rPr lang="en-US" altLang="zh-CN" sz="2400" b="0" u="none">
                <a:latin typeface="Lucida Console" panose="020B0609040504020204" pitchFamily="49" charset="0"/>
              </a:rPr>
              <a:t>     EQU  $-ADRR</a:t>
            </a:r>
          </a:p>
          <a:p>
            <a:pPr eaLnBrk="1" hangingPunct="1">
              <a:spcBef>
                <a:spcPct val="0"/>
              </a:spcBef>
              <a:buClrTx/>
              <a:buFontTx/>
              <a:buNone/>
            </a:pPr>
            <a:r>
              <a:rPr lang="en-US" altLang="zh-CN" sz="2400" b="0" u="none">
                <a:latin typeface="Lucida Console" panose="020B0609040504020204" pitchFamily="49" charset="0"/>
              </a:rPr>
              <a:t>RESULT     DW  </a:t>
            </a:r>
            <a:r>
              <a:rPr lang="zh-CN" altLang="en-US" sz="2400" b="0" u="none">
                <a:latin typeface="Lucida Console" panose="020B0609040504020204" pitchFamily="49" charset="0"/>
              </a:rPr>
              <a:t>？</a:t>
            </a:r>
          </a:p>
          <a:p>
            <a:pPr eaLnBrk="1" hangingPunct="1">
              <a:spcBef>
                <a:spcPct val="0"/>
              </a:spcBef>
              <a:buClrTx/>
              <a:buFontTx/>
              <a:buNone/>
            </a:pPr>
            <a:r>
              <a:rPr lang="zh-CN" altLang="en-US" sz="2400" b="0" u="none">
                <a:latin typeface="Lucida Console" panose="020B0609040504020204" pitchFamily="49" charset="0"/>
              </a:rPr>
              <a:t>          </a:t>
            </a:r>
            <a:r>
              <a:rPr lang="en-US" altLang="zh-CN" sz="2400" b="0" u="none">
                <a:latin typeface="Lucida Console" panose="020B0609040504020204" pitchFamily="49" charset="0"/>
              </a:rPr>
              <a:t>… </a:t>
            </a:r>
          </a:p>
          <a:p>
            <a:pPr eaLnBrk="1" hangingPunct="1">
              <a:spcBef>
                <a:spcPct val="0"/>
              </a:spcBef>
              <a:buClrTx/>
              <a:buFontTx/>
              <a:buNone/>
            </a:pPr>
            <a:r>
              <a:rPr lang="en-US" altLang="zh-CN" sz="2400" b="0" u="none">
                <a:latin typeface="Lucida Console" panose="020B0609040504020204" pitchFamily="49" charset="0"/>
              </a:rPr>
              <a:t>       MOV CX</a:t>
            </a:r>
            <a:r>
              <a:rPr lang="zh-CN" altLang="en-US" sz="2400" b="0" u="none">
                <a:latin typeface="Lucida Console" panose="020B0609040504020204" pitchFamily="49" charset="0"/>
              </a:rPr>
              <a:t>，</a:t>
            </a:r>
            <a:r>
              <a:rPr lang="en-US" altLang="zh-CN" sz="2400" b="0" u="none">
                <a:solidFill>
                  <a:schemeClr val="hlink"/>
                </a:solidFill>
                <a:latin typeface="Lucida Console" panose="020B0609040504020204" pitchFamily="49" charset="0"/>
              </a:rPr>
              <a:t>COUNT</a:t>
            </a:r>
          </a:p>
          <a:p>
            <a:pPr eaLnBrk="1" hangingPunct="1">
              <a:spcBef>
                <a:spcPct val="0"/>
              </a:spcBef>
              <a:buClrTx/>
              <a:buFontTx/>
              <a:buNone/>
            </a:pPr>
            <a:r>
              <a:rPr lang="en-US" altLang="zh-CN" sz="2400" b="0" u="none">
                <a:latin typeface="Lucida Console" panose="020B0609040504020204" pitchFamily="49" charset="0"/>
              </a:rPr>
              <a:t>       MOV BX</a:t>
            </a:r>
            <a:r>
              <a:rPr lang="zh-CN" altLang="en-US" sz="2400" b="0" u="none">
                <a:latin typeface="Lucida Console" panose="020B0609040504020204" pitchFamily="49" charset="0"/>
              </a:rPr>
              <a:t>，</a:t>
            </a:r>
            <a:r>
              <a:rPr lang="en-US" altLang="zh-CN" sz="2400" b="0" u="none">
                <a:latin typeface="Lucida Console" panose="020B0609040504020204" pitchFamily="49" charset="0"/>
              </a:rPr>
              <a:t>-1</a:t>
            </a:r>
          </a:p>
          <a:p>
            <a:pPr eaLnBrk="1" hangingPunct="1">
              <a:spcBef>
                <a:spcPct val="0"/>
              </a:spcBef>
              <a:buClrTx/>
              <a:buFontTx/>
              <a:buNone/>
            </a:pPr>
            <a:r>
              <a:rPr lang="en-US" altLang="zh-CN" sz="2400" b="0" u="none">
                <a:latin typeface="Lucida Console" panose="020B0609040504020204" pitchFamily="49" charset="0"/>
              </a:rPr>
              <a:t>NEXT</a:t>
            </a:r>
            <a:r>
              <a:rPr lang="zh-CN" altLang="en-US" sz="2400" b="0" u="none">
                <a:latin typeface="Lucida Console" panose="020B0609040504020204" pitchFamily="49" charset="0"/>
              </a:rPr>
              <a:t>： </a:t>
            </a:r>
            <a:r>
              <a:rPr lang="en-US" altLang="zh-CN" sz="2400" b="0" u="none">
                <a:latin typeface="Lucida Console" panose="020B0609040504020204" pitchFamily="49" charset="0"/>
              </a:rPr>
              <a:t>INC  BX</a:t>
            </a:r>
          </a:p>
          <a:p>
            <a:pPr eaLnBrk="1" hangingPunct="1">
              <a:spcBef>
                <a:spcPct val="0"/>
              </a:spcBef>
              <a:buClrTx/>
              <a:buFontTx/>
              <a:buNone/>
            </a:pPr>
            <a:r>
              <a:rPr lang="en-US" altLang="zh-CN" sz="2400" b="0" u="none">
                <a:latin typeface="Lucida Console" panose="020B0609040504020204" pitchFamily="49" charset="0"/>
              </a:rPr>
              <a:t>       CMP ADRR[</a:t>
            </a:r>
            <a:r>
              <a:rPr lang="en-US" altLang="zh-CN" sz="2400" b="0" u="none">
                <a:solidFill>
                  <a:schemeClr val="hlink"/>
                </a:solidFill>
                <a:latin typeface="Lucida Console" panose="020B0609040504020204" pitchFamily="49" charset="0"/>
              </a:rPr>
              <a:t>BX</a:t>
            </a:r>
            <a:r>
              <a:rPr lang="en-US" altLang="zh-CN" sz="2400" b="0" u="none">
                <a:latin typeface="Lucida Console" panose="020B0609040504020204" pitchFamily="49" charset="0"/>
              </a:rPr>
              <a:t>]</a:t>
            </a:r>
            <a:r>
              <a:rPr lang="zh-CN" altLang="en-US" sz="2400" b="0" u="none">
                <a:latin typeface="Lucida Console" panose="020B0609040504020204" pitchFamily="49" charset="0"/>
              </a:rPr>
              <a:t>，</a:t>
            </a:r>
            <a:r>
              <a:rPr lang="en-US" altLang="zh-CN" sz="2400" b="0" u="none">
                <a:latin typeface="Lucida Console" panose="020B0609040504020204" pitchFamily="49" charset="0"/>
              </a:rPr>
              <a:t>0AH</a:t>
            </a:r>
          </a:p>
          <a:p>
            <a:pPr eaLnBrk="1" hangingPunct="1">
              <a:spcBef>
                <a:spcPct val="0"/>
              </a:spcBef>
              <a:buClrTx/>
              <a:buFontTx/>
              <a:buNone/>
            </a:pPr>
            <a:r>
              <a:rPr lang="en-US" altLang="zh-CN" sz="2400" b="0" u="none">
                <a:latin typeface="Lucida Console" panose="020B0609040504020204" pitchFamily="49" charset="0"/>
              </a:rPr>
              <a:t>       LOOPNZ   NEXT </a:t>
            </a:r>
          </a:p>
          <a:p>
            <a:pPr eaLnBrk="1" hangingPunct="1">
              <a:spcBef>
                <a:spcPct val="0"/>
              </a:spcBef>
              <a:buClrTx/>
              <a:buFontTx/>
              <a:buNone/>
            </a:pPr>
            <a:r>
              <a:rPr lang="en-US" altLang="zh-CN" sz="2400" b="0" u="none">
                <a:latin typeface="Lucida Console" panose="020B0609040504020204" pitchFamily="49" charset="0"/>
              </a:rPr>
              <a:t>       JZ DONE </a:t>
            </a:r>
          </a:p>
          <a:p>
            <a:pPr eaLnBrk="1" hangingPunct="1">
              <a:spcBef>
                <a:spcPct val="0"/>
              </a:spcBef>
              <a:buClrTx/>
              <a:buFontTx/>
              <a:buNone/>
            </a:pPr>
            <a:r>
              <a:rPr lang="en-US" altLang="zh-CN" sz="2400" b="0" u="none">
                <a:latin typeface="Lucida Console" panose="020B0609040504020204" pitchFamily="49" charset="0"/>
              </a:rPr>
              <a:t>       MOV BX</a:t>
            </a:r>
            <a:r>
              <a:rPr lang="zh-CN" altLang="en-US" sz="2400" b="0" u="none">
                <a:latin typeface="Lucida Console" panose="020B0609040504020204" pitchFamily="49" charset="0"/>
              </a:rPr>
              <a:t>，</a:t>
            </a:r>
            <a:r>
              <a:rPr lang="en-US" altLang="zh-CN" sz="2400" b="0" u="none">
                <a:latin typeface="Lucida Console" panose="020B0609040504020204" pitchFamily="49" charset="0"/>
              </a:rPr>
              <a:t>OFFH</a:t>
            </a:r>
          </a:p>
          <a:p>
            <a:pPr eaLnBrk="1" hangingPunct="1">
              <a:spcBef>
                <a:spcPct val="0"/>
              </a:spcBef>
              <a:buClrTx/>
              <a:buFontTx/>
              <a:buNone/>
            </a:pPr>
            <a:r>
              <a:rPr lang="en-US" altLang="zh-CN" sz="2400" b="0" u="none">
                <a:latin typeface="Lucida Console" panose="020B0609040504020204" pitchFamily="49" charset="0"/>
              </a:rPr>
              <a:t>DONE</a:t>
            </a:r>
            <a:r>
              <a:rPr lang="zh-CN" altLang="en-US" sz="2400" b="0" u="none">
                <a:latin typeface="Lucida Console" panose="020B0609040504020204" pitchFamily="49" charset="0"/>
              </a:rPr>
              <a:t>：  </a:t>
            </a:r>
            <a:r>
              <a:rPr lang="en-US" altLang="zh-CN" sz="2400" b="0" u="none">
                <a:latin typeface="Lucida Console" panose="020B0609040504020204" pitchFamily="49" charset="0"/>
              </a:rPr>
              <a:t>MOV RESULT</a:t>
            </a:r>
            <a:r>
              <a:rPr lang="zh-CN" altLang="en-US" sz="2400" b="0" u="none">
                <a:latin typeface="Lucida Console" panose="020B0609040504020204" pitchFamily="49" charset="0"/>
              </a:rPr>
              <a:t>，</a:t>
            </a:r>
            <a:r>
              <a:rPr lang="en-US" altLang="zh-CN" sz="2400" b="0" u="none">
                <a:latin typeface="Lucida Console" panose="020B0609040504020204" pitchFamily="49" charset="0"/>
              </a:rPr>
              <a:t>BX</a:t>
            </a:r>
          </a:p>
        </p:txBody>
      </p:sp>
      <p:sp>
        <p:nvSpPr>
          <p:cNvPr id="94211" name="Text Box 5"/>
          <p:cNvSpPr txBox="1">
            <a:spLocks noChangeArrowheads="1"/>
          </p:cNvSpPr>
          <p:nvPr/>
        </p:nvSpPr>
        <p:spPr bwMode="auto">
          <a:xfrm>
            <a:off x="1527175" y="547688"/>
            <a:ext cx="592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zh-CN" sz="2400" b="0"/>
          </a:p>
        </p:txBody>
      </p:sp>
      <p:sp>
        <p:nvSpPr>
          <p:cNvPr id="119815" name="Rectangle 7"/>
          <p:cNvSpPr>
            <a:spLocks noGrp="1" noChangeArrowheads="1"/>
          </p:cNvSpPr>
          <p:nvPr>
            <p:ph type="title"/>
          </p:nvPr>
        </p:nvSpPr>
        <p:spPr/>
        <p:txBody>
          <a:bodyPr/>
          <a:lstStyle/>
          <a:p>
            <a:pPr algn="l" eaLnBrk="1" hangingPunct="1">
              <a:defRPr/>
            </a:pPr>
            <a:r>
              <a:rPr lang="zh-CN" altLang="en-US"/>
              <a:t>举例</a:t>
            </a:r>
          </a:p>
        </p:txBody>
      </p:sp>
    </p:spTree>
  </p:cSld>
  <p:clrMapOvr>
    <a:masterClrMapping/>
  </p:clrMapOvr>
  <p:transition>
    <p:rand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362200" y="685800"/>
            <a:ext cx="5410200" cy="838200"/>
          </a:xfrm>
        </p:spPr>
        <p:txBody>
          <a:bodyPr/>
          <a:lstStyle/>
          <a:p>
            <a:pPr eaLnBrk="1" hangingPunct="1">
              <a:defRPr/>
            </a:pPr>
            <a:r>
              <a:rPr lang="en-US" altLang="zh-CN" sz="3600" b="0" dirty="0">
                <a:solidFill>
                  <a:srgbClr val="FF0000"/>
                </a:solidFill>
                <a:latin typeface="黑体" panose="02010609060101010101" pitchFamily="2" charset="-122"/>
                <a:ea typeface="黑体" panose="02010609060101010101" pitchFamily="2" charset="-122"/>
              </a:rPr>
              <a:t>3.</a:t>
            </a:r>
            <a:r>
              <a:rPr lang="zh-CN" altLang="en-US" sz="3600" b="0" dirty="0">
                <a:solidFill>
                  <a:srgbClr val="FF0000"/>
                </a:solidFill>
                <a:latin typeface="黑体" panose="02010609060101010101" pitchFamily="2" charset="-122"/>
                <a:ea typeface="黑体" panose="02010609060101010101" pitchFamily="2" charset="-122"/>
              </a:rPr>
              <a:t>子程序结构</a:t>
            </a:r>
            <a:endParaRPr lang="zh-CN" altLang="en-US" sz="3600" dirty="0">
              <a:solidFill>
                <a:srgbClr val="FF0000"/>
              </a:solidFill>
            </a:endParaRPr>
          </a:p>
        </p:txBody>
      </p:sp>
      <p:sp>
        <p:nvSpPr>
          <p:cNvPr id="95235" name="Rectangle 3"/>
          <p:cNvSpPr>
            <a:spLocks noChangeArrowheads="1"/>
          </p:cNvSpPr>
          <p:nvPr/>
        </p:nvSpPr>
        <p:spPr bwMode="auto">
          <a:xfrm>
            <a:off x="2667000" y="2133600"/>
            <a:ext cx="4800600" cy="375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buClr>
                <a:schemeClr val="tx2"/>
              </a:buClr>
              <a:buSzPct val="90000"/>
              <a:buFont typeface="Symbol" panose="05050102010706020507" pitchFamily="18" charset="2"/>
              <a:buNone/>
            </a:pPr>
            <a:r>
              <a:rPr lang="en-US" altLang="zh-CN" u="none">
                <a:latin typeface="Arial" panose="020B0604020202020204" pitchFamily="34" charset="0"/>
                <a:sym typeface="Symbol" panose="05050102010706020507" pitchFamily="18" charset="2"/>
              </a:rPr>
              <a:t>   </a:t>
            </a:r>
            <a:r>
              <a:rPr lang="zh-CN" altLang="en-US" u="none">
                <a:latin typeface="Arial" panose="020B0604020202020204" pitchFamily="34" charset="0"/>
              </a:rPr>
              <a:t>过程定义伪操作</a:t>
            </a: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a:t>
            </a:r>
            <a:r>
              <a:rPr lang="zh-CN" altLang="en-US" u="none">
                <a:latin typeface="Arial" panose="020B0604020202020204" pitchFamily="34" charset="0"/>
              </a:rPr>
              <a:t>子程序的调用与返回</a:t>
            </a: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保存与恢复寄存器</a:t>
            </a:r>
            <a:endParaRPr lang="zh-CN" altLang="en-US" u="none">
              <a:latin typeface="Arial" panose="020B0604020202020204" pitchFamily="34" charset="0"/>
            </a:endParaRP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子程序的参数传送</a:t>
            </a:r>
            <a:endParaRPr lang="zh-CN" altLang="en-US" u="none">
              <a:latin typeface="Arial" panose="020B0604020202020204" pitchFamily="34" charset="0"/>
            </a:endParaRPr>
          </a:p>
          <a:p>
            <a:pPr eaLnBrk="1" hangingPunct="1">
              <a:lnSpc>
                <a:spcPct val="150000"/>
              </a:lnSpc>
              <a:spcBef>
                <a:spcPct val="0"/>
              </a:spcBef>
              <a:buClr>
                <a:schemeClr val="tx2"/>
              </a:buClr>
              <a:buSzPct val="90000"/>
              <a:buFont typeface="Symbol" panose="05050102010706020507" pitchFamily="18" charset="2"/>
              <a:buNone/>
            </a:pPr>
            <a:r>
              <a:rPr lang="zh-CN" altLang="en-US" u="none">
                <a:latin typeface="Arial" panose="020B0604020202020204" pitchFamily="34" charset="0"/>
                <a:sym typeface="Symbol" panose="05050102010706020507" pitchFamily="18" charset="2"/>
              </a:rPr>
              <a:t>   </a:t>
            </a:r>
            <a:r>
              <a:rPr lang="zh-CN" altLang="en-US" u="none">
                <a:latin typeface="Arial" panose="020B0604020202020204" pitchFamily="34" charset="0"/>
              </a:rPr>
              <a:t>子程序的嵌套与递归</a:t>
            </a:r>
          </a:p>
        </p:txBody>
      </p:sp>
    </p:spTree>
  </p:cSld>
  <p:clrMapOvr>
    <a:masterClrMapping/>
  </p:clrMapOvr>
  <p:transition>
    <p:rand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ChangeArrowheads="1"/>
          </p:cNvSpPr>
          <p:nvPr/>
        </p:nvSpPr>
        <p:spPr bwMode="auto">
          <a:xfrm>
            <a:off x="1600200" y="685800"/>
            <a:ext cx="46275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a:t>
            </a:r>
            <a:r>
              <a:rPr lang="zh-CN" altLang="en-US" sz="3600" u="none">
                <a:solidFill>
                  <a:schemeClr val="tx2"/>
                </a:solidFill>
                <a:latin typeface="Arial" panose="020B0604020202020204" pitchFamily="34" charset="0"/>
              </a:rPr>
              <a:t>过程定义伪操作</a:t>
            </a:r>
          </a:p>
        </p:txBody>
      </p:sp>
      <p:grpSp>
        <p:nvGrpSpPr>
          <p:cNvPr id="96259" name="Group 3"/>
          <p:cNvGrpSpPr/>
          <p:nvPr/>
        </p:nvGrpSpPr>
        <p:grpSpPr bwMode="auto">
          <a:xfrm>
            <a:off x="1371600" y="1828800"/>
            <a:ext cx="7467600" cy="4238625"/>
            <a:chOff x="864" y="1152"/>
            <a:chExt cx="4704" cy="2670"/>
          </a:xfrm>
        </p:grpSpPr>
        <p:sp>
          <p:nvSpPr>
            <p:cNvPr id="96260" name="Text Box 4"/>
            <p:cNvSpPr txBox="1">
              <a:spLocks noChangeArrowheads="1"/>
            </p:cNvSpPr>
            <p:nvPr/>
          </p:nvSpPr>
          <p:spPr bwMode="auto">
            <a:xfrm>
              <a:off x="864" y="1152"/>
              <a:ext cx="4704" cy="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en-US" altLang="zh-CN" sz="2400" u="none">
                  <a:latin typeface="Lucida Sans Unicode" panose="020B0602030504020204" pitchFamily="34" charset="0"/>
                </a:rPr>
                <a:t>        </a:t>
              </a:r>
              <a:r>
                <a:rPr lang="zh-CN" altLang="en-US" sz="2400" u="none">
                  <a:latin typeface="Lucida Sans Unicode" panose="020B0602030504020204" pitchFamily="34" charset="0"/>
                </a:rPr>
                <a:t>过程名   </a:t>
              </a:r>
              <a:r>
                <a:rPr lang="en-US" altLang="zh-CN" sz="2400" u="none">
                  <a:latin typeface="Lucida Sans Unicode" panose="020B0602030504020204" pitchFamily="34" charset="0"/>
                </a:rPr>
                <a:t>PROC    </a:t>
              </a:r>
              <a:r>
                <a:rPr lang="en-US" altLang="zh-CN" sz="2400" u="none">
                  <a:solidFill>
                    <a:schemeClr val="hlink"/>
                  </a:solidFill>
                  <a:latin typeface="Lucida Sans Unicode" panose="020B0602030504020204" pitchFamily="34" charset="0"/>
                </a:rPr>
                <a:t>NEAR</a:t>
              </a:r>
              <a:r>
                <a:rPr lang="en-US" altLang="zh-CN" sz="2400" u="none">
                  <a:solidFill>
                    <a:srgbClr val="FF3300"/>
                  </a:solidFill>
                  <a:latin typeface="Lucida Sans Unicode" panose="020B0602030504020204" pitchFamily="34" charset="0"/>
                </a:rPr>
                <a:t> </a:t>
              </a:r>
              <a:r>
                <a:rPr lang="en-US" altLang="zh-CN" sz="2400" u="none">
                  <a:latin typeface="Lucida Sans Unicode" panose="020B0602030504020204" pitchFamily="34" charset="0"/>
                </a:rPr>
                <a:t>( </a:t>
              </a:r>
              <a:r>
                <a:rPr lang="en-US" altLang="zh-CN" sz="2400" u="none">
                  <a:solidFill>
                    <a:srgbClr val="009900"/>
                  </a:solidFill>
                  <a:latin typeface="Lucida Sans Unicode" panose="020B0602030504020204" pitchFamily="34" charset="0"/>
                </a:rPr>
                <a:t>FAR</a:t>
              </a:r>
              <a:r>
                <a:rPr lang="en-US" altLang="zh-CN" sz="2400" u="none">
                  <a:solidFill>
                    <a:schemeClr val="accent2"/>
                  </a:solidFill>
                  <a:latin typeface="Lucida Sans Unicode" panose="020B0602030504020204" pitchFamily="34" charset="0"/>
                </a:rPr>
                <a:t> </a:t>
              </a:r>
              <a:r>
                <a:rPr lang="en-US" altLang="zh-CN" sz="2400" u="none">
                  <a:latin typeface="Lucida Sans Unicode" panose="020B0602030504020204" pitchFamily="34" charset="0"/>
                </a:rPr>
                <a:t>)</a:t>
              </a:r>
            </a:p>
            <a:p>
              <a:pPr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endParaRPr lang="en-US" altLang="zh-CN" sz="2400" u="none">
                <a:latin typeface="Lucida Sans Unicode" panose="020B0602030504020204" pitchFamily="34" charset="0"/>
              </a:endParaRPr>
            </a:p>
            <a:p>
              <a:pPr algn="just">
                <a:lnSpc>
                  <a:spcPct val="145000"/>
                </a:lnSpc>
                <a:spcBef>
                  <a:spcPct val="0"/>
                </a:spcBef>
                <a:buClrTx/>
                <a:buFontTx/>
                <a:buNone/>
              </a:pPr>
              <a:r>
                <a:rPr lang="en-US" altLang="zh-CN" sz="2400" u="none">
                  <a:latin typeface="Lucida Sans Unicode" panose="020B0602030504020204" pitchFamily="34" charset="0"/>
                </a:rPr>
                <a:t>        </a:t>
              </a:r>
              <a:r>
                <a:rPr lang="zh-CN" altLang="en-US" sz="2400" u="none">
                  <a:latin typeface="Lucida Sans Unicode" panose="020B0602030504020204" pitchFamily="34" charset="0"/>
                </a:rPr>
                <a:t>过程名   </a:t>
              </a:r>
              <a:r>
                <a:rPr lang="en-US" altLang="zh-CN" sz="2400" u="none">
                  <a:latin typeface="Lucida Sans Unicode" panose="020B0602030504020204" pitchFamily="34" charset="0"/>
                </a:rPr>
                <a:t>ENDP</a:t>
              </a:r>
            </a:p>
            <a:p>
              <a:pPr lvl="1" algn="just">
                <a:lnSpc>
                  <a:spcPct val="145000"/>
                </a:lnSpc>
                <a:spcBef>
                  <a:spcPct val="0"/>
                </a:spcBef>
                <a:buClrTx/>
                <a:buFontTx/>
                <a:buNone/>
              </a:pPr>
              <a:endParaRPr lang="en-US" altLang="zh-CN" sz="2400" u="none">
                <a:latin typeface="Lucida Sans Unicode" panose="020B0602030504020204" pitchFamily="34" charset="0"/>
              </a:endParaRPr>
            </a:p>
            <a:p>
              <a:pPr algn="just">
                <a:lnSpc>
                  <a:spcPct val="145000"/>
                </a:lnSpc>
                <a:spcBef>
                  <a:spcPct val="0"/>
                </a:spcBef>
                <a:buClrTx/>
                <a:buFontTx/>
                <a:buNone/>
              </a:pPr>
              <a:r>
                <a:rPr lang="zh-CN" altLang="en-US" sz="2400" u="none">
                  <a:latin typeface="Lucida Sans Unicode" panose="020B0602030504020204" pitchFamily="34" charset="0"/>
                </a:rPr>
                <a:t>（</a:t>
              </a:r>
              <a:r>
                <a:rPr lang="en-US" altLang="zh-CN" sz="2400" u="none">
                  <a:latin typeface="Lucida Sans Unicode" panose="020B0602030504020204" pitchFamily="34" charset="0"/>
                </a:rPr>
                <a:t>1</a:t>
              </a:r>
              <a:r>
                <a:rPr lang="zh-CN" altLang="en-US" sz="2400" u="none">
                  <a:latin typeface="Lucida Sans Unicode" panose="020B0602030504020204" pitchFamily="34" charset="0"/>
                </a:rPr>
                <a:t>）</a:t>
              </a:r>
              <a:r>
                <a:rPr lang="en-US" altLang="zh-CN" sz="2400" u="none">
                  <a:solidFill>
                    <a:schemeClr val="hlink"/>
                  </a:solidFill>
                  <a:latin typeface="Lucida Sans Unicode" panose="020B0602030504020204" pitchFamily="34" charset="0"/>
                </a:rPr>
                <a:t>NEAR</a:t>
              </a:r>
              <a:r>
                <a:rPr lang="zh-CN" altLang="en-US" sz="2400" u="none">
                  <a:latin typeface="楷体_GB2312" panose="02010609030101010101" pitchFamily="49" charset="-122"/>
                  <a:ea typeface="楷体_GB2312" panose="02010609030101010101" pitchFamily="49" charset="-122"/>
                </a:rPr>
                <a:t>属性：调用程序和子程序在同一代码段中</a:t>
              </a:r>
            </a:p>
            <a:p>
              <a:pPr lvl="1" algn="just">
                <a:spcBef>
                  <a:spcPct val="0"/>
                </a:spcBef>
                <a:buClrTx/>
                <a:buFontTx/>
                <a:buNone/>
              </a:pPr>
              <a:r>
                <a:rPr lang="zh-CN" altLang="en-US" sz="2400" u="none">
                  <a:latin typeface="楷体_GB2312" panose="02010609030101010101" pitchFamily="49" charset="-122"/>
                  <a:ea typeface="楷体_GB2312" panose="02010609030101010101" pitchFamily="49" charset="-122"/>
                </a:rPr>
                <a:t>             （段内调用）</a:t>
              </a:r>
            </a:p>
            <a:p>
              <a:pPr lvl="1" algn="just">
                <a:spcBef>
                  <a:spcPct val="0"/>
                </a:spcBef>
                <a:buClrTx/>
                <a:buFontTx/>
                <a:buNone/>
              </a:pPr>
              <a:endParaRPr lang="zh-CN" altLang="en-US" sz="2400" b="0" u="none">
                <a:latin typeface="楷体_GB2312" panose="02010609030101010101" pitchFamily="49" charset="-122"/>
                <a:ea typeface="楷体_GB2312" panose="02010609030101010101" pitchFamily="49" charset="-122"/>
              </a:endParaRPr>
            </a:p>
            <a:p>
              <a:pPr algn="just">
                <a:spcBef>
                  <a:spcPct val="0"/>
                </a:spcBef>
                <a:buClrTx/>
                <a:buFontTx/>
                <a:buNone/>
              </a:pPr>
              <a:r>
                <a:rPr lang="zh-CN" altLang="en-US" sz="2400" u="none">
                  <a:latin typeface="Lucida Sans Unicode" panose="020B0602030504020204" pitchFamily="34" charset="0"/>
                </a:rPr>
                <a:t>（</a:t>
              </a:r>
              <a:r>
                <a:rPr lang="en-US" altLang="zh-CN" sz="2400" u="none">
                  <a:latin typeface="Lucida Sans Unicode" panose="020B0602030504020204" pitchFamily="34" charset="0"/>
                </a:rPr>
                <a:t>2</a:t>
              </a:r>
              <a:r>
                <a:rPr lang="zh-CN" altLang="en-US" sz="2400" u="none">
                  <a:latin typeface="Lucida Sans Unicode" panose="020B0602030504020204" pitchFamily="34" charset="0"/>
                </a:rPr>
                <a:t>）</a:t>
              </a:r>
              <a:r>
                <a:rPr lang="en-US" altLang="zh-CN" sz="2400" u="none">
                  <a:solidFill>
                    <a:srgbClr val="009900"/>
                  </a:solidFill>
                  <a:latin typeface="Lucida Sans Unicode" panose="020B0602030504020204" pitchFamily="34" charset="0"/>
                </a:rPr>
                <a:t>FAR</a:t>
              </a:r>
              <a:r>
                <a:rPr lang="zh-CN" altLang="en-US" sz="2400" u="none">
                  <a:latin typeface="楷体_GB2312" panose="02010609030101010101" pitchFamily="49" charset="-122"/>
                  <a:ea typeface="楷体_GB2312" panose="02010609030101010101" pitchFamily="49" charset="-122"/>
                </a:rPr>
                <a:t>属性：调用程序和子程序不在同一代码段中</a:t>
              </a:r>
            </a:p>
            <a:p>
              <a:pPr lvl="1" algn="just">
                <a:spcBef>
                  <a:spcPct val="0"/>
                </a:spcBef>
                <a:buClrTx/>
                <a:buFontTx/>
                <a:buNone/>
              </a:pPr>
              <a:r>
                <a:rPr lang="zh-CN" altLang="en-US" sz="2400" u="none">
                  <a:latin typeface="楷体_GB2312" panose="02010609030101010101" pitchFamily="49" charset="-122"/>
                  <a:ea typeface="楷体_GB2312" panose="02010609030101010101" pitchFamily="49" charset="-122"/>
                </a:rPr>
                <a:t>            （段间调用）</a:t>
              </a:r>
              <a:endParaRPr lang="zh-CN" altLang="en-US" sz="2400" u="none"/>
            </a:p>
          </p:txBody>
        </p:sp>
        <p:sp>
          <p:nvSpPr>
            <p:cNvPr id="96261" name="Text Box 5"/>
            <p:cNvSpPr txBox="1">
              <a:spLocks noChangeArrowheads="1"/>
            </p:cNvSpPr>
            <p:nvPr/>
          </p:nvSpPr>
          <p:spPr bwMode="auto">
            <a:xfrm>
              <a:off x="2160" y="1440"/>
              <a:ext cx="336"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50000"/>
                </a:lnSpc>
                <a:spcBef>
                  <a:spcPct val="0"/>
                </a:spcBef>
                <a:buClrTx/>
                <a:buFontTx/>
                <a:buNone/>
              </a:pPr>
              <a:r>
                <a:rPr lang="en-US" altLang="zh-CN" sz="2400" u="none"/>
                <a:t>.</a:t>
              </a:r>
            </a:p>
            <a:p>
              <a:pPr eaLnBrk="1" hangingPunct="1">
                <a:lnSpc>
                  <a:spcPct val="50000"/>
                </a:lnSpc>
                <a:spcBef>
                  <a:spcPct val="0"/>
                </a:spcBef>
                <a:buClrTx/>
                <a:buFontTx/>
                <a:buNone/>
              </a:pPr>
              <a:r>
                <a:rPr lang="en-US" altLang="zh-CN" sz="2400" u="none"/>
                <a:t>.</a:t>
              </a:r>
            </a:p>
            <a:p>
              <a:pPr eaLnBrk="1" hangingPunct="1">
                <a:lnSpc>
                  <a:spcPct val="50000"/>
                </a:lnSpc>
                <a:spcBef>
                  <a:spcPct val="0"/>
                </a:spcBef>
                <a:buClrTx/>
                <a:buFontTx/>
                <a:buNone/>
              </a:pPr>
              <a:r>
                <a:rPr lang="en-US" altLang="zh-CN" sz="2400" u="none"/>
                <a:t>.</a:t>
              </a:r>
            </a:p>
          </p:txBody>
        </p:sp>
      </p:grpSp>
    </p:spTree>
  </p:cSld>
  <p:clrMapOvr>
    <a:masterClrMapping/>
  </p:clrMapOvr>
  <p:transition>
    <p:rand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1981200" y="762000"/>
            <a:ext cx="27432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en-US" altLang="zh-CN" sz="2400" i="1" u="none">
                <a:latin typeface="Lucida Sans Unicode" panose="020B0602030504020204" pitchFamily="34" charset="0"/>
              </a:rPr>
              <a:t>code</a:t>
            </a:r>
            <a:r>
              <a:rPr lang="en-US" altLang="zh-CN" sz="2400" u="none">
                <a:latin typeface="Lucida Sans Unicode" panose="020B0602030504020204" pitchFamily="34" charset="0"/>
              </a:rPr>
              <a:t>  segment</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main  proc  </a:t>
            </a:r>
            <a:r>
              <a:rPr lang="en-US" altLang="zh-CN" sz="2400" u="none">
                <a:solidFill>
                  <a:schemeClr val="hlink"/>
                </a:solidFill>
                <a:latin typeface="Lucida Sans Unicode" panose="020B0602030504020204" pitchFamily="34" charset="0"/>
              </a:rPr>
              <a:t>far</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          call </a:t>
            </a:r>
            <a:r>
              <a:rPr lang="en-US" altLang="zh-CN" sz="2400" u="none">
                <a:solidFill>
                  <a:srgbClr val="009900"/>
                </a:solidFill>
                <a:latin typeface="Lucida Sans Unicode" panose="020B0602030504020204" pitchFamily="34" charset="0"/>
              </a:rPr>
              <a:t>subr1</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          ret</a:t>
            </a:r>
          </a:p>
          <a:p>
            <a:pPr algn="just">
              <a:spcBef>
                <a:spcPct val="0"/>
              </a:spcBef>
              <a:buClrTx/>
              <a:buFontTx/>
              <a:buNone/>
            </a:pPr>
            <a:r>
              <a:rPr lang="en-US" altLang="zh-CN" sz="2400" u="none">
                <a:latin typeface="Lucida Sans Unicode" panose="020B0602030504020204" pitchFamily="34" charset="0"/>
              </a:rPr>
              <a:t>main  endp</a:t>
            </a:r>
          </a:p>
          <a:p>
            <a:pPr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r>
              <a:rPr lang="en-US" altLang="zh-CN" sz="2400" u="none">
                <a:solidFill>
                  <a:srgbClr val="009900"/>
                </a:solidFill>
                <a:latin typeface="Lucida Sans Unicode" panose="020B0602030504020204" pitchFamily="34" charset="0"/>
              </a:rPr>
              <a:t>subr1</a:t>
            </a:r>
            <a:r>
              <a:rPr lang="en-US" altLang="zh-CN" sz="2400" u="none">
                <a:latin typeface="Lucida Sans Unicode" panose="020B0602030504020204" pitchFamily="34" charset="0"/>
              </a:rPr>
              <a:t>  proc </a:t>
            </a:r>
            <a:r>
              <a:rPr lang="en-US" altLang="zh-CN" sz="2400" u="none">
                <a:solidFill>
                  <a:schemeClr val="hlink"/>
                </a:solidFill>
                <a:latin typeface="Lucida Sans Unicode" panose="020B0602030504020204" pitchFamily="34" charset="0"/>
              </a:rPr>
              <a:t>near</a:t>
            </a:r>
          </a:p>
          <a:p>
            <a:pPr algn="just">
              <a:spcBef>
                <a:spcPct val="0"/>
              </a:spcBef>
              <a:buClrTx/>
              <a:buFontTx/>
              <a:buNone/>
            </a:pPr>
            <a:r>
              <a:rPr lang="en-US" altLang="zh-CN" sz="2400" u="none">
                <a:latin typeface="Lucida Sans Unicode" panose="020B0602030504020204" pitchFamily="34" charset="0"/>
              </a:rPr>
              <a:t>           ......</a:t>
            </a:r>
          </a:p>
          <a:p>
            <a:pPr algn="just">
              <a:spcBef>
                <a:spcPct val="0"/>
              </a:spcBef>
              <a:buClrTx/>
              <a:buFontTx/>
              <a:buNone/>
            </a:pPr>
            <a:r>
              <a:rPr lang="en-US" altLang="zh-CN" sz="2400" u="none">
                <a:latin typeface="Lucida Sans Unicode" panose="020B0602030504020204" pitchFamily="34" charset="0"/>
              </a:rPr>
              <a:t>           ret</a:t>
            </a:r>
          </a:p>
          <a:p>
            <a:pPr algn="just">
              <a:spcBef>
                <a:spcPct val="0"/>
              </a:spcBef>
              <a:buClrTx/>
              <a:buFontTx/>
              <a:buNone/>
            </a:pPr>
            <a:r>
              <a:rPr lang="en-US" altLang="zh-CN" sz="2400" u="none">
                <a:solidFill>
                  <a:srgbClr val="009900"/>
                </a:solidFill>
                <a:latin typeface="Lucida Sans Unicode" panose="020B0602030504020204" pitchFamily="34" charset="0"/>
              </a:rPr>
              <a:t>subr1</a:t>
            </a:r>
            <a:r>
              <a:rPr lang="en-US" altLang="zh-CN" sz="2400" u="none">
                <a:latin typeface="Lucida Sans Unicode" panose="020B0602030504020204" pitchFamily="34" charset="0"/>
              </a:rPr>
              <a:t>  endp</a:t>
            </a:r>
          </a:p>
          <a:p>
            <a:pPr algn="just">
              <a:spcBef>
                <a:spcPct val="0"/>
              </a:spcBef>
              <a:buClrTx/>
              <a:buFontTx/>
              <a:buNone/>
            </a:pPr>
            <a:endParaRPr lang="en-US" altLang="zh-CN" sz="2400" u="none">
              <a:latin typeface="Lucida Sans Unicode" panose="020B0602030504020204" pitchFamily="34" charset="0"/>
            </a:endParaRPr>
          </a:p>
          <a:p>
            <a:pPr algn="just">
              <a:spcBef>
                <a:spcPct val="0"/>
              </a:spcBef>
              <a:buClrTx/>
              <a:buFontTx/>
              <a:buNone/>
            </a:pPr>
            <a:r>
              <a:rPr lang="en-US" altLang="zh-CN" sz="2400" i="1" u="none">
                <a:latin typeface="Lucida Sans Unicode" panose="020B0602030504020204" pitchFamily="34" charset="0"/>
              </a:rPr>
              <a:t>code</a:t>
            </a:r>
            <a:r>
              <a:rPr lang="en-US" altLang="zh-CN" sz="2400" u="none">
                <a:latin typeface="Lucida Sans Unicode" panose="020B0602030504020204" pitchFamily="34" charset="0"/>
              </a:rPr>
              <a:t>  ends</a:t>
            </a:r>
            <a:endParaRPr lang="en-US" altLang="zh-CN" sz="2400" i="1" u="none">
              <a:ea typeface="楷体_GB2312" panose="02010609030101010101" pitchFamily="49" charset="-122"/>
            </a:endParaRPr>
          </a:p>
        </p:txBody>
      </p:sp>
      <p:sp>
        <p:nvSpPr>
          <p:cNvPr id="97283" name="Text Box 3"/>
          <p:cNvSpPr txBox="1">
            <a:spLocks noChangeArrowheads="1"/>
          </p:cNvSpPr>
          <p:nvPr/>
        </p:nvSpPr>
        <p:spPr bwMode="auto">
          <a:xfrm>
            <a:off x="4114800" y="762000"/>
            <a:ext cx="441960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2400" u="none">
                <a:solidFill>
                  <a:srgbClr val="0000FF"/>
                </a:solidFill>
                <a:latin typeface="Lucida Sans Unicode" panose="020B0602030504020204" pitchFamily="34" charset="0"/>
              </a:rPr>
              <a:t>               </a:t>
            </a:r>
            <a:r>
              <a:rPr lang="en-US" altLang="zh-CN" sz="2400" i="1" u="none">
                <a:solidFill>
                  <a:schemeClr val="hlink"/>
                </a:solidFill>
                <a:latin typeface="Lucida Sans Unicode" panose="020B0602030504020204" pitchFamily="34" charset="0"/>
              </a:rPr>
              <a:t>segx </a:t>
            </a:r>
            <a:r>
              <a:rPr lang="en-US" altLang="zh-CN" sz="2400" u="none">
                <a:latin typeface="Lucida Sans Unicode" panose="020B0602030504020204" pitchFamily="34" charset="0"/>
              </a:rPr>
              <a:t>  segment</a:t>
            </a:r>
          </a:p>
          <a:p>
            <a:pPr lvl="2" algn="just">
              <a:spcBef>
                <a:spcPct val="0"/>
              </a:spcBef>
              <a:buFontTx/>
              <a:buNone/>
            </a:pPr>
            <a:r>
              <a:rPr lang="en-US" altLang="zh-CN" u="none">
                <a:latin typeface="Lucida Sans Unicode" panose="020B0602030504020204" pitchFamily="34" charset="0"/>
              </a:rPr>
              <a:t>      </a:t>
            </a:r>
            <a:r>
              <a:rPr lang="en-US" altLang="zh-CN" u="none">
                <a:solidFill>
                  <a:srgbClr val="009900"/>
                </a:solidFill>
                <a:latin typeface="Lucida Sans Unicode" panose="020B0602030504020204" pitchFamily="34" charset="0"/>
              </a:rPr>
              <a:t>subt</a:t>
            </a:r>
            <a:r>
              <a:rPr lang="en-US" altLang="zh-CN" u="none">
                <a:latin typeface="Lucida Sans Unicode" panose="020B0602030504020204" pitchFamily="34" charset="0"/>
              </a:rPr>
              <a:t>   proc  </a:t>
            </a:r>
            <a:r>
              <a:rPr lang="en-US" altLang="zh-CN" u="none">
                <a:solidFill>
                  <a:srgbClr val="FF0000"/>
                </a:solidFill>
                <a:latin typeface="Lucida Sans Unicode" panose="020B0602030504020204" pitchFamily="34" charset="0"/>
              </a:rPr>
              <a:t>far</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ret</a:t>
            </a:r>
          </a:p>
          <a:p>
            <a:pPr lvl="2" algn="just">
              <a:spcBef>
                <a:spcPct val="0"/>
              </a:spcBef>
              <a:buFontTx/>
              <a:buNone/>
            </a:pPr>
            <a:r>
              <a:rPr lang="en-US" altLang="zh-CN" u="none">
                <a:solidFill>
                  <a:srgbClr val="009900"/>
                </a:solidFill>
                <a:latin typeface="Lucida Sans Unicode" panose="020B0602030504020204" pitchFamily="34" charset="0"/>
              </a:rPr>
              <a:t>      subt</a:t>
            </a:r>
            <a:r>
              <a:rPr lang="en-US" altLang="zh-CN" u="none">
                <a:latin typeface="Lucida Sans Unicode" panose="020B0602030504020204" pitchFamily="34" charset="0"/>
              </a:rPr>
              <a:t>   endp</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call  </a:t>
            </a:r>
            <a:r>
              <a:rPr lang="en-US" altLang="zh-CN" u="none">
                <a:solidFill>
                  <a:srgbClr val="009900"/>
                </a:solidFill>
                <a:latin typeface="Lucida Sans Unicode" panose="020B0602030504020204" pitchFamily="34" charset="0"/>
              </a:rPr>
              <a:t>subt</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a:t>
            </a:r>
            <a:r>
              <a:rPr lang="en-US" altLang="zh-CN" i="1" u="none">
                <a:solidFill>
                  <a:schemeClr val="hlink"/>
                </a:solidFill>
                <a:latin typeface="Lucida Sans Unicode" panose="020B0602030504020204" pitchFamily="34" charset="0"/>
              </a:rPr>
              <a:t>segx</a:t>
            </a:r>
            <a:r>
              <a:rPr lang="en-US" altLang="zh-CN" u="none">
                <a:solidFill>
                  <a:schemeClr val="hlink"/>
                </a:solidFill>
                <a:latin typeface="Lucida Sans Unicode" panose="020B0602030504020204" pitchFamily="34" charset="0"/>
              </a:rPr>
              <a:t> </a:t>
            </a:r>
            <a:r>
              <a:rPr lang="en-US" altLang="zh-CN" u="none">
                <a:latin typeface="Lucida Sans Unicode" panose="020B0602030504020204" pitchFamily="34" charset="0"/>
              </a:rPr>
              <a:t>  ends</a:t>
            </a:r>
          </a:p>
          <a:p>
            <a:pPr lvl="2" algn="just">
              <a:spcBef>
                <a:spcPct val="0"/>
              </a:spcBef>
              <a:buFontTx/>
              <a:buNone/>
            </a:pPr>
            <a:endParaRPr lang="en-US" altLang="zh-CN" u="none">
              <a:latin typeface="Lucida Sans Unicode" panose="020B0602030504020204" pitchFamily="34" charset="0"/>
            </a:endParaRPr>
          </a:p>
          <a:p>
            <a:pPr lvl="2" algn="just">
              <a:spcBef>
                <a:spcPct val="0"/>
              </a:spcBef>
              <a:buFontTx/>
              <a:buNone/>
            </a:pPr>
            <a:r>
              <a:rPr lang="en-US" altLang="zh-CN" u="none">
                <a:solidFill>
                  <a:srgbClr val="009900"/>
                </a:solidFill>
                <a:latin typeface="Lucida Sans Unicode" panose="020B0602030504020204" pitchFamily="34" charset="0"/>
              </a:rPr>
              <a:t>      </a:t>
            </a:r>
            <a:r>
              <a:rPr lang="en-US" altLang="zh-CN" i="1" u="none">
                <a:solidFill>
                  <a:srgbClr val="009900"/>
                </a:solidFill>
                <a:latin typeface="Lucida Sans Unicode" panose="020B0602030504020204" pitchFamily="34" charset="0"/>
              </a:rPr>
              <a:t>segy</a:t>
            </a:r>
            <a:r>
              <a:rPr lang="en-US" altLang="zh-CN" u="none">
                <a:solidFill>
                  <a:srgbClr val="009900"/>
                </a:solidFill>
                <a:latin typeface="Lucida Sans Unicode" panose="020B0602030504020204" pitchFamily="34" charset="0"/>
              </a:rPr>
              <a:t> </a:t>
            </a:r>
            <a:r>
              <a:rPr lang="en-US" altLang="zh-CN" u="none">
                <a:latin typeface="Lucida Sans Unicode" panose="020B0602030504020204" pitchFamily="34" charset="0"/>
              </a:rPr>
              <a:t>  segment</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latin typeface="Lucida Sans Unicode" panose="020B0602030504020204" pitchFamily="34" charset="0"/>
              </a:rPr>
              <a:t>                call  </a:t>
            </a:r>
            <a:r>
              <a:rPr lang="en-US" altLang="zh-CN" u="none">
                <a:solidFill>
                  <a:srgbClr val="009900"/>
                </a:solidFill>
                <a:latin typeface="Lucida Sans Unicode" panose="020B0602030504020204" pitchFamily="34" charset="0"/>
              </a:rPr>
              <a:t>subt</a:t>
            </a:r>
          </a:p>
          <a:p>
            <a:pPr lvl="2" algn="just">
              <a:spcBef>
                <a:spcPct val="0"/>
              </a:spcBef>
              <a:buFontTx/>
              <a:buNone/>
            </a:pPr>
            <a:r>
              <a:rPr lang="en-US" altLang="zh-CN" u="none">
                <a:latin typeface="Lucida Sans Unicode" panose="020B0602030504020204" pitchFamily="34" charset="0"/>
              </a:rPr>
              <a:t>                ......</a:t>
            </a:r>
          </a:p>
          <a:p>
            <a:pPr lvl="2" algn="just">
              <a:spcBef>
                <a:spcPct val="0"/>
              </a:spcBef>
              <a:buFontTx/>
              <a:buNone/>
            </a:pPr>
            <a:r>
              <a:rPr lang="en-US" altLang="zh-CN" u="none">
                <a:solidFill>
                  <a:srgbClr val="009900"/>
                </a:solidFill>
                <a:latin typeface="Lucida Sans Unicode" panose="020B0602030504020204" pitchFamily="34" charset="0"/>
              </a:rPr>
              <a:t>      </a:t>
            </a:r>
            <a:r>
              <a:rPr lang="en-US" altLang="zh-CN" i="1" u="none">
                <a:solidFill>
                  <a:srgbClr val="009900"/>
                </a:solidFill>
                <a:latin typeface="Lucida Sans Unicode" panose="020B0602030504020204" pitchFamily="34" charset="0"/>
              </a:rPr>
              <a:t>segy</a:t>
            </a:r>
            <a:r>
              <a:rPr lang="en-US" altLang="zh-CN" u="none">
                <a:latin typeface="Lucida Sans Unicode" panose="020B0602030504020204" pitchFamily="34" charset="0"/>
              </a:rPr>
              <a:t>   ends</a:t>
            </a:r>
          </a:p>
        </p:txBody>
      </p:sp>
      <p:sp>
        <p:nvSpPr>
          <p:cNvPr id="97284" name="Rectangle 4"/>
          <p:cNvSpPr>
            <a:spLocks noChangeArrowheads="1"/>
          </p:cNvSpPr>
          <p:nvPr/>
        </p:nvSpPr>
        <p:spPr bwMode="auto">
          <a:xfrm>
            <a:off x="1905000" y="685800"/>
            <a:ext cx="2819400" cy="56388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97285" name="Rectangle 5"/>
          <p:cNvSpPr>
            <a:spLocks noChangeArrowheads="1"/>
          </p:cNvSpPr>
          <p:nvPr/>
        </p:nvSpPr>
        <p:spPr bwMode="auto">
          <a:xfrm>
            <a:off x="5410200" y="685800"/>
            <a:ext cx="2819400" cy="56388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Tree>
  </p:cSld>
  <p:clrMapOvr>
    <a:masterClrMapping/>
  </p:clrMapOvr>
  <p:transition>
    <p:rand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p:cNvSpPr txBox="1">
            <a:spLocks noChangeArrowheads="1"/>
          </p:cNvSpPr>
          <p:nvPr/>
        </p:nvSpPr>
        <p:spPr bwMode="auto">
          <a:xfrm>
            <a:off x="1981200" y="1295400"/>
            <a:ext cx="6400800"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800" u="none"/>
              <a:t>子程序调用</a:t>
            </a:r>
            <a:r>
              <a:rPr lang="zh-CN" altLang="en-US" sz="2400" u="none"/>
              <a:t>：隐含使用堆栈保存返回地址</a:t>
            </a:r>
          </a:p>
          <a:p>
            <a:pPr>
              <a:spcBef>
                <a:spcPct val="0"/>
              </a:spcBef>
              <a:buClrTx/>
              <a:buFontTx/>
              <a:buNone/>
            </a:pPr>
            <a:r>
              <a:rPr lang="zh-CN" altLang="en-US" sz="2400" i="1" u="none">
                <a:latin typeface="Lucida Sans Unicode" panose="020B0602030504020204" pitchFamily="34" charset="0"/>
              </a:rPr>
              <a:t>  </a:t>
            </a:r>
          </a:p>
          <a:p>
            <a:pPr>
              <a:spcBef>
                <a:spcPct val="0"/>
              </a:spcBef>
              <a:buClrTx/>
              <a:buFontTx/>
              <a:buNone/>
            </a:pPr>
            <a:r>
              <a:rPr lang="zh-CN" altLang="en-US" sz="2400" i="1" u="none">
                <a:latin typeface="Lucida Sans Unicode" panose="020B0602030504020204" pitchFamily="34" charset="0"/>
              </a:rPr>
              <a:t>  </a:t>
            </a:r>
            <a:r>
              <a:rPr lang="en-US" altLang="zh-CN" sz="2400" i="1" u="none">
                <a:latin typeface="Lucida Sans Unicode" panose="020B0602030504020204" pitchFamily="34" charset="0"/>
              </a:rPr>
              <a:t>call  </a:t>
            </a:r>
            <a:r>
              <a:rPr lang="en-US" altLang="zh-CN" sz="2400" i="1" u="none">
                <a:solidFill>
                  <a:schemeClr val="hlink"/>
                </a:solidFill>
                <a:latin typeface="Lucida Sans Unicode" panose="020B0602030504020204" pitchFamily="34" charset="0"/>
              </a:rPr>
              <a:t>near</a:t>
            </a:r>
            <a:r>
              <a:rPr lang="en-US" altLang="zh-CN" sz="2400" i="1" u="none">
                <a:latin typeface="Lucida Sans Unicode" panose="020B0602030504020204" pitchFamily="34" charset="0"/>
              </a:rPr>
              <a:t>  ptr  subp</a:t>
            </a:r>
            <a:r>
              <a:rPr lang="en-US" altLang="zh-CN" sz="2400" u="none">
                <a:latin typeface="Lucida Sans Unicode" panose="020B0602030504020204" pitchFamily="34" charset="0"/>
              </a:rPr>
              <a:t>        </a:t>
            </a:r>
          </a:p>
          <a:p>
            <a:pPr lvl="1">
              <a:spcBef>
                <a:spcPct val="0"/>
              </a:spcBef>
              <a:buClrTx/>
              <a:buFontTx/>
              <a:buNone/>
            </a:pPr>
            <a:r>
              <a:rPr lang="en-US" altLang="zh-CN" sz="2200" u="none"/>
              <a:t>(1)  </a:t>
            </a:r>
            <a:r>
              <a:rPr lang="zh-CN" altLang="en-US" sz="2200" u="none"/>
              <a:t>保存返回地址</a:t>
            </a:r>
          </a:p>
          <a:p>
            <a:pPr lvl="1">
              <a:spcBef>
                <a:spcPct val="0"/>
              </a:spcBef>
              <a:buClrTx/>
              <a:buFontTx/>
              <a:buNone/>
            </a:pPr>
            <a:r>
              <a:rPr lang="en-US" altLang="zh-CN" sz="2200" u="none"/>
              <a:t>(2)  </a:t>
            </a:r>
            <a:r>
              <a:rPr lang="zh-CN" altLang="en-US" sz="2200" u="none"/>
              <a:t>转子程序</a:t>
            </a:r>
          </a:p>
          <a:p>
            <a:pPr lvl="1">
              <a:spcBef>
                <a:spcPct val="0"/>
              </a:spcBef>
              <a:buClrTx/>
              <a:buFontTx/>
              <a:buNone/>
            </a:pPr>
            <a:r>
              <a:rPr lang="zh-CN" altLang="en-US" sz="2400" u="none">
                <a:latin typeface="Lucida Sans Unicode" panose="020B0602030504020204" pitchFamily="34" charset="0"/>
              </a:rPr>
              <a:t>     </a:t>
            </a:r>
            <a:r>
              <a:rPr lang="en-US" altLang="zh-CN" sz="1800" u="none"/>
              <a:t>( IP )  ←  </a:t>
            </a:r>
            <a:r>
              <a:rPr lang="en-US" altLang="zh-CN" sz="1800" i="1" u="none">
                <a:latin typeface="Lucida Console" panose="020B0609040504020204" pitchFamily="49" charset="0"/>
              </a:rPr>
              <a:t>subp</a:t>
            </a:r>
            <a:r>
              <a:rPr lang="en-US" altLang="zh-CN" sz="1800" u="none">
                <a:latin typeface="Lucida Sans Unicode" panose="020B0602030504020204" pitchFamily="34" charset="0"/>
              </a:rPr>
              <a:t> </a:t>
            </a:r>
            <a:r>
              <a:rPr lang="zh-CN" altLang="en-US" sz="1800" u="none">
                <a:latin typeface="宋体" panose="02010600030101010101" pitchFamily="2" charset="-122"/>
              </a:rPr>
              <a:t>的偏移地址</a:t>
            </a:r>
          </a:p>
          <a:p>
            <a:pPr>
              <a:spcBef>
                <a:spcPct val="0"/>
              </a:spcBef>
              <a:buClrTx/>
              <a:buFontTx/>
              <a:buNone/>
            </a:pPr>
            <a:r>
              <a:rPr lang="zh-CN" altLang="en-US" sz="2400" i="1" u="none">
                <a:latin typeface="Lucida Sans Unicode" panose="020B0602030504020204" pitchFamily="34" charset="0"/>
              </a:rPr>
              <a:t>  </a:t>
            </a:r>
          </a:p>
          <a:p>
            <a:pPr>
              <a:spcBef>
                <a:spcPct val="0"/>
              </a:spcBef>
              <a:buClrTx/>
              <a:buFontTx/>
              <a:buNone/>
            </a:pPr>
            <a:r>
              <a:rPr lang="zh-CN" altLang="en-US" sz="2400" i="1" u="none">
                <a:latin typeface="Lucida Sans Unicode" panose="020B0602030504020204" pitchFamily="34" charset="0"/>
              </a:rPr>
              <a:t>  </a:t>
            </a:r>
            <a:r>
              <a:rPr lang="en-US" altLang="zh-CN" sz="2400" i="1" u="none">
                <a:latin typeface="Lucida Sans Unicode" panose="020B0602030504020204" pitchFamily="34" charset="0"/>
              </a:rPr>
              <a:t>call  </a:t>
            </a:r>
            <a:r>
              <a:rPr lang="en-US" altLang="zh-CN" sz="2400" i="1" u="none">
                <a:solidFill>
                  <a:schemeClr val="hlink"/>
                </a:solidFill>
                <a:latin typeface="Lucida Sans Unicode" panose="020B0602030504020204" pitchFamily="34" charset="0"/>
              </a:rPr>
              <a:t>far</a:t>
            </a:r>
            <a:r>
              <a:rPr lang="en-US" altLang="zh-CN" sz="2400" i="1" u="none">
                <a:latin typeface="Lucida Sans Unicode" panose="020B0602030504020204" pitchFamily="34" charset="0"/>
              </a:rPr>
              <a:t>  ptr  subp</a:t>
            </a:r>
            <a:r>
              <a:rPr lang="en-US" altLang="zh-CN" sz="2400" u="none">
                <a:latin typeface="Lucida Sans Unicode" panose="020B0602030504020204" pitchFamily="34" charset="0"/>
              </a:rPr>
              <a:t> </a:t>
            </a:r>
          </a:p>
          <a:p>
            <a:pPr lvl="1">
              <a:spcBef>
                <a:spcPct val="0"/>
              </a:spcBef>
              <a:buClrTx/>
              <a:buFontTx/>
              <a:buNone/>
            </a:pPr>
            <a:r>
              <a:rPr lang="en-US" altLang="zh-CN" sz="2200" u="none"/>
              <a:t>(1)  </a:t>
            </a:r>
            <a:r>
              <a:rPr lang="zh-CN" altLang="en-US" sz="2200" u="none"/>
              <a:t>保存返回地址</a:t>
            </a:r>
          </a:p>
          <a:p>
            <a:pPr lvl="1">
              <a:spcBef>
                <a:spcPct val="0"/>
              </a:spcBef>
              <a:buClrTx/>
              <a:buFontTx/>
              <a:buNone/>
            </a:pPr>
            <a:r>
              <a:rPr lang="en-US" altLang="zh-CN" sz="2200" u="none"/>
              <a:t>(2)  </a:t>
            </a:r>
            <a:r>
              <a:rPr lang="zh-CN" altLang="en-US" sz="2200" u="none"/>
              <a:t>转子程序</a:t>
            </a:r>
          </a:p>
          <a:p>
            <a:pPr lvl="1" algn="just">
              <a:spcBef>
                <a:spcPct val="0"/>
              </a:spcBef>
              <a:buClrTx/>
              <a:buFontTx/>
              <a:buNone/>
            </a:pPr>
            <a:r>
              <a:rPr lang="zh-CN" altLang="en-US" sz="2400" u="none">
                <a:latin typeface="宋体" panose="02010600030101010101" pitchFamily="2" charset="-122"/>
              </a:rPr>
              <a:t>   </a:t>
            </a:r>
            <a:r>
              <a:rPr lang="en-US" altLang="zh-CN" sz="1800" u="none"/>
              <a:t>( CS )  ←  </a:t>
            </a:r>
            <a:r>
              <a:rPr lang="en-US" altLang="zh-CN" sz="1800" i="1" u="none">
                <a:latin typeface="Lucida Console" panose="020B0609040504020204" pitchFamily="49" charset="0"/>
              </a:rPr>
              <a:t>subp</a:t>
            </a:r>
            <a:r>
              <a:rPr lang="en-US" altLang="zh-CN" sz="1800" u="none"/>
              <a:t> </a:t>
            </a:r>
            <a:r>
              <a:rPr lang="zh-CN" altLang="en-US" sz="1800" u="none"/>
              <a:t>的段地址</a:t>
            </a:r>
          </a:p>
          <a:p>
            <a:pPr lvl="1" algn="just">
              <a:spcBef>
                <a:spcPct val="0"/>
              </a:spcBef>
              <a:buClrTx/>
              <a:buFontTx/>
              <a:buNone/>
            </a:pPr>
            <a:r>
              <a:rPr lang="zh-CN" altLang="en-US" sz="1800" u="none"/>
              <a:t>         </a:t>
            </a:r>
            <a:r>
              <a:rPr lang="en-US" altLang="zh-CN" sz="1800" u="none"/>
              <a:t>( IP )  ←  </a:t>
            </a:r>
            <a:r>
              <a:rPr lang="en-US" altLang="zh-CN" sz="1800" i="1" u="none">
                <a:latin typeface="Lucida Console" panose="020B0609040504020204" pitchFamily="49" charset="0"/>
              </a:rPr>
              <a:t>subp</a:t>
            </a:r>
            <a:r>
              <a:rPr lang="en-US" altLang="zh-CN" sz="1800" u="none"/>
              <a:t> </a:t>
            </a:r>
            <a:r>
              <a:rPr lang="zh-CN" altLang="en-US" sz="1800" u="none"/>
              <a:t>的偏移地址</a:t>
            </a:r>
            <a:endParaRPr lang="zh-CN" altLang="en-US" sz="1800" i="1" u="none">
              <a:ea typeface="楷体_GB2312" panose="02010609030101010101" pitchFamily="49" charset="-122"/>
            </a:endParaRPr>
          </a:p>
        </p:txBody>
      </p:sp>
      <p:sp>
        <p:nvSpPr>
          <p:cNvPr id="98307" name="Text Box 3"/>
          <p:cNvSpPr txBox="1">
            <a:spLocks noChangeArrowheads="1"/>
          </p:cNvSpPr>
          <p:nvPr/>
        </p:nvSpPr>
        <p:spPr bwMode="auto">
          <a:xfrm>
            <a:off x="1371600" y="457200"/>
            <a:ext cx="502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3600" u="none">
                <a:solidFill>
                  <a:schemeClr val="tx2"/>
                </a:solidFill>
                <a:latin typeface="Arial" panose="020B0604020202020204" pitchFamily="34" charset="0"/>
              </a:rPr>
              <a:t>2.  </a:t>
            </a:r>
            <a:r>
              <a:rPr lang="zh-CN" altLang="en-US" sz="3600" u="none">
                <a:solidFill>
                  <a:schemeClr val="tx2"/>
                </a:solidFill>
              </a:rPr>
              <a:t>子程序的调用与返回</a:t>
            </a:r>
          </a:p>
        </p:txBody>
      </p:sp>
      <p:grpSp>
        <p:nvGrpSpPr>
          <p:cNvPr id="98308" name="Group 4"/>
          <p:cNvGrpSpPr/>
          <p:nvPr/>
        </p:nvGrpSpPr>
        <p:grpSpPr bwMode="auto">
          <a:xfrm>
            <a:off x="6096000" y="2057400"/>
            <a:ext cx="1828800" cy="1381125"/>
            <a:chOff x="3696" y="1632"/>
            <a:chExt cx="1152" cy="870"/>
          </a:xfrm>
        </p:grpSpPr>
        <p:sp>
          <p:nvSpPr>
            <p:cNvPr id="98319" name="Line 5"/>
            <p:cNvSpPr>
              <a:spLocks noChangeShapeType="1"/>
            </p:cNvSpPr>
            <p:nvPr/>
          </p:nvSpPr>
          <p:spPr bwMode="auto">
            <a:xfrm>
              <a:off x="4272" y="1632"/>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0" name="Line 6"/>
            <p:cNvSpPr>
              <a:spLocks noChangeShapeType="1"/>
            </p:cNvSpPr>
            <p:nvPr/>
          </p:nvSpPr>
          <p:spPr bwMode="auto">
            <a:xfrm>
              <a:off x="4848" y="1632"/>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1" name="Line 7"/>
            <p:cNvSpPr>
              <a:spLocks noChangeShapeType="1"/>
            </p:cNvSpPr>
            <p:nvPr/>
          </p:nvSpPr>
          <p:spPr bwMode="auto">
            <a:xfrm>
              <a:off x="4272" y="249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2" name="Line 8"/>
            <p:cNvSpPr>
              <a:spLocks noChangeShapeType="1"/>
            </p:cNvSpPr>
            <p:nvPr/>
          </p:nvSpPr>
          <p:spPr bwMode="auto">
            <a:xfrm>
              <a:off x="4272" y="225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3" name="Line 9"/>
            <p:cNvSpPr>
              <a:spLocks noChangeShapeType="1"/>
            </p:cNvSpPr>
            <p:nvPr/>
          </p:nvSpPr>
          <p:spPr bwMode="auto">
            <a:xfrm>
              <a:off x="4272" y="201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4" name="Line 10"/>
            <p:cNvSpPr>
              <a:spLocks noChangeShapeType="1"/>
            </p:cNvSpPr>
            <p:nvPr/>
          </p:nvSpPr>
          <p:spPr bwMode="auto">
            <a:xfrm>
              <a:off x="4272" y="1776"/>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25" name="Rectangle 11"/>
            <p:cNvSpPr>
              <a:spLocks noChangeArrowheads="1"/>
            </p:cNvSpPr>
            <p:nvPr/>
          </p:nvSpPr>
          <p:spPr bwMode="auto">
            <a:xfrm>
              <a:off x="3696" y="2271"/>
              <a:ext cx="10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SP ) </a:t>
              </a:r>
              <a:r>
                <a:rPr lang="en-US" altLang="zh-CN" sz="1800" u="none">
                  <a:latin typeface="宋体" panose="02010600030101010101" pitchFamily="2" charset="-122"/>
                </a:rPr>
                <a:t>→  </a:t>
              </a:r>
              <a:r>
                <a:rPr lang="en-US" altLang="zh-CN" sz="1800" u="none"/>
                <a:t>( IP )</a:t>
              </a:r>
            </a:p>
          </p:txBody>
        </p:sp>
        <p:sp>
          <p:nvSpPr>
            <p:cNvPr id="98326" name="Rectangle 12"/>
            <p:cNvSpPr>
              <a:spLocks noChangeArrowheads="1"/>
            </p:cNvSpPr>
            <p:nvPr/>
          </p:nvSpPr>
          <p:spPr bwMode="auto">
            <a:xfrm>
              <a:off x="4368" y="2245"/>
              <a:ext cx="1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zh-CN" sz="2000" u="none"/>
            </a:p>
          </p:txBody>
        </p:sp>
      </p:grpSp>
      <p:grpSp>
        <p:nvGrpSpPr>
          <p:cNvPr id="98309" name="Group 13"/>
          <p:cNvGrpSpPr/>
          <p:nvPr/>
        </p:nvGrpSpPr>
        <p:grpSpPr bwMode="auto">
          <a:xfrm>
            <a:off x="6172200" y="4191000"/>
            <a:ext cx="1828800" cy="1371600"/>
            <a:chOff x="3888" y="2880"/>
            <a:chExt cx="1152" cy="864"/>
          </a:xfrm>
        </p:grpSpPr>
        <p:sp>
          <p:nvSpPr>
            <p:cNvPr id="98311" name="Line 14"/>
            <p:cNvSpPr>
              <a:spLocks noChangeShapeType="1"/>
            </p:cNvSpPr>
            <p:nvPr/>
          </p:nvSpPr>
          <p:spPr bwMode="auto">
            <a:xfrm>
              <a:off x="4464" y="2880"/>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2" name="Line 15"/>
            <p:cNvSpPr>
              <a:spLocks noChangeShapeType="1"/>
            </p:cNvSpPr>
            <p:nvPr/>
          </p:nvSpPr>
          <p:spPr bwMode="auto">
            <a:xfrm>
              <a:off x="5040" y="2880"/>
              <a:ext cx="0" cy="86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3" name="Line 16"/>
            <p:cNvSpPr>
              <a:spLocks noChangeShapeType="1"/>
            </p:cNvSpPr>
            <p:nvPr/>
          </p:nvSpPr>
          <p:spPr bwMode="auto">
            <a:xfrm>
              <a:off x="4464" y="374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4" name="Line 17"/>
            <p:cNvSpPr>
              <a:spLocks noChangeShapeType="1"/>
            </p:cNvSpPr>
            <p:nvPr/>
          </p:nvSpPr>
          <p:spPr bwMode="auto">
            <a:xfrm>
              <a:off x="4464" y="350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5" name="Line 18"/>
            <p:cNvSpPr>
              <a:spLocks noChangeShapeType="1"/>
            </p:cNvSpPr>
            <p:nvPr/>
          </p:nvSpPr>
          <p:spPr bwMode="auto">
            <a:xfrm>
              <a:off x="4464" y="326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6" name="Line 19"/>
            <p:cNvSpPr>
              <a:spLocks noChangeShapeType="1"/>
            </p:cNvSpPr>
            <p:nvPr/>
          </p:nvSpPr>
          <p:spPr bwMode="auto">
            <a:xfrm>
              <a:off x="4464" y="3024"/>
              <a:ext cx="576"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98317" name="Rectangle 20"/>
            <p:cNvSpPr>
              <a:spLocks noChangeArrowheads="1"/>
            </p:cNvSpPr>
            <p:nvPr/>
          </p:nvSpPr>
          <p:spPr bwMode="auto">
            <a:xfrm>
              <a:off x="4560" y="3504"/>
              <a:ext cx="4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CS )</a:t>
              </a:r>
            </a:p>
          </p:txBody>
        </p:sp>
        <p:sp>
          <p:nvSpPr>
            <p:cNvPr id="98318" name="Rectangle 21"/>
            <p:cNvSpPr>
              <a:spLocks noChangeArrowheads="1"/>
            </p:cNvSpPr>
            <p:nvPr/>
          </p:nvSpPr>
          <p:spPr bwMode="auto">
            <a:xfrm>
              <a:off x="3888" y="3264"/>
              <a:ext cx="10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1800" u="none"/>
                <a:t>( SP ) </a:t>
              </a:r>
              <a:r>
                <a:rPr lang="en-US" altLang="zh-CN" sz="1800" u="none">
                  <a:latin typeface="宋体" panose="02010600030101010101" pitchFamily="2" charset="-122"/>
                </a:rPr>
                <a:t>→  </a:t>
              </a:r>
              <a:r>
                <a:rPr lang="en-US" altLang="zh-CN" sz="1800" u="none"/>
                <a:t>( IP )</a:t>
              </a:r>
            </a:p>
          </p:txBody>
        </p:sp>
      </p:grpSp>
      <p:sp>
        <p:nvSpPr>
          <p:cNvPr id="98310" name="Rectangle 22"/>
          <p:cNvSpPr>
            <a:spLocks noChangeArrowheads="1"/>
          </p:cNvSpPr>
          <p:nvPr/>
        </p:nvSpPr>
        <p:spPr bwMode="auto">
          <a:xfrm>
            <a:off x="1905000" y="6019800"/>
            <a:ext cx="4572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zh-CN" altLang="en-US" sz="2800" u="none"/>
              <a:t>子程序返回</a:t>
            </a:r>
            <a:r>
              <a:rPr lang="zh-CN" altLang="en-US" sz="2400" u="none"/>
              <a:t>：</a:t>
            </a:r>
            <a:r>
              <a:rPr lang="en-US" altLang="zh-CN" sz="2400" i="1" u="none">
                <a:latin typeface="Lucida Sans Unicode" panose="020B0602030504020204" pitchFamily="34" charset="0"/>
              </a:rPr>
              <a:t>ret</a:t>
            </a:r>
          </a:p>
        </p:txBody>
      </p:sp>
    </p:spTree>
  </p:cSld>
  <p:clrMapOvr>
    <a:masterClrMapping/>
  </p:clrMapOvr>
  <p:transition>
    <p:rand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p:cNvSpPr txBox="1">
            <a:spLocks noChangeArrowheads="1"/>
          </p:cNvSpPr>
          <p:nvPr/>
        </p:nvSpPr>
        <p:spPr bwMode="auto">
          <a:xfrm>
            <a:off x="1752600" y="533400"/>
            <a:ext cx="50292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en-US" altLang="zh-CN" sz="3600" u="none">
                <a:solidFill>
                  <a:schemeClr val="tx2"/>
                </a:solidFill>
                <a:latin typeface="Arial" panose="020B0604020202020204" pitchFamily="34" charset="0"/>
              </a:rPr>
              <a:t>3.  </a:t>
            </a:r>
            <a:r>
              <a:rPr lang="zh-CN" altLang="en-US" sz="3600" u="none">
                <a:solidFill>
                  <a:schemeClr val="tx2"/>
                </a:solidFill>
              </a:rPr>
              <a:t>保存与恢复寄存器</a:t>
            </a:r>
          </a:p>
        </p:txBody>
      </p:sp>
      <p:sp>
        <p:nvSpPr>
          <p:cNvPr id="99331" name="Rectangle 3"/>
          <p:cNvSpPr>
            <a:spLocks noChangeArrowheads="1"/>
          </p:cNvSpPr>
          <p:nvPr/>
        </p:nvSpPr>
        <p:spPr bwMode="auto">
          <a:xfrm>
            <a:off x="3276600" y="1371600"/>
            <a:ext cx="3276600" cy="5021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nSpc>
                <a:spcPct val="90000"/>
              </a:lnSpc>
              <a:spcBef>
                <a:spcPct val="0"/>
              </a:spcBef>
              <a:buClrTx/>
              <a:buFontTx/>
              <a:buNone/>
            </a:pPr>
            <a:r>
              <a:rPr lang="en-US" altLang="zh-CN" sz="2400" i="1" u="none">
                <a:solidFill>
                  <a:schemeClr val="hlink"/>
                </a:solidFill>
                <a:latin typeface="Lucida Sans Unicode" panose="020B0602030504020204" pitchFamily="34" charset="0"/>
              </a:rPr>
              <a:t>subt</a:t>
            </a:r>
            <a:r>
              <a:rPr lang="en-US" altLang="zh-CN" sz="2400" u="none">
                <a:latin typeface="Lucida Sans Unicode" panose="020B0602030504020204" pitchFamily="34" charset="0"/>
              </a:rPr>
              <a:t>    proc     far</a:t>
            </a:r>
          </a:p>
          <a:p>
            <a:pPr>
              <a:lnSpc>
                <a:spcPct val="90000"/>
              </a:lnSpc>
              <a:spcBef>
                <a:spcPct val="0"/>
              </a:spcBef>
              <a:buClrTx/>
              <a:buFontTx/>
              <a:buNone/>
            </a:pPr>
            <a:r>
              <a:rPr lang="en-US" altLang="zh-CN" sz="2400" u="none">
                <a:latin typeface="Lucida Sans Unicode" panose="020B0602030504020204" pitchFamily="34" charset="0"/>
              </a:rPr>
              <a:t>           </a:t>
            </a:r>
          </a:p>
          <a:p>
            <a:pPr>
              <a:lnSpc>
                <a:spcPct val="90000"/>
              </a:lnSpc>
              <a:spcBef>
                <a:spcPct val="0"/>
              </a:spcBef>
              <a:buClrTx/>
              <a:buFontTx/>
              <a:buNone/>
            </a:pPr>
            <a:r>
              <a:rPr lang="en-US" altLang="zh-CN" sz="2400" u="none">
                <a:latin typeface="Lucida Sans Unicode" panose="020B0602030504020204" pitchFamily="34" charset="0"/>
              </a:rPr>
              <a:t>           push    ax</a:t>
            </a:r>
          </a:p>
          <a:p>
            <a:pPr>
              <a:lnSpc>
                <a:spcPct val="90000"/>
              </a:lnSpc>
              <a:spcBef>
                <a:spcPct val="0"/>
              </a:spcBef>
              <a:buClrTx/>
              <a:buFontTx/>
              <a:buNone/>
            </a:pPr>
            <a:r>
              <a:rPr lang="en-US" altLang="zh-CN" sz="2400" u="none">
                <a:latin typeface="Lucida Sans Unicode" panose="020B0602030504020204" pitchFamily="34" charset="0"/>
              </a:rPr>
              <a:t>           push    bx</a:t>
            </a:r>
          </a:p>
          <a:p>
            <a:pPr>
              <a:lnSpc>
                <a:spcPct val="90000"/>
              </a:lnSpc>
              <a:spcBef>
                <a:spcPct val="0"/>
              </a:spcBef>
              <a:buClrTx/>
              <a:buFontTx/>
              <a:buNone/>
            </a:pPr>
            <a:r>
              <a:rPr lang="en-US" altLang="zh-CN" sz="2400" u="none">
                <a:latin typeface="Lucida Sans Unicode" panose="020B0602030504020204" pitchFamily="34" charset="0"/>
              </a:rPr>
              <a:t>           push    cx</a:t>
            </a:r>
          </a:p>
          <a:p>
            <a:pPr>
              <a:lnSpc>
                <a:spcPct val="90000"/>
              </a:lnSpc>
              <a:spcBef>
                <a:spcPct val="0"/>
              </a:spcBef>
              <a:buClrTx/>
              <a:buFontTx/>
              <a:buNone/>
            </a:pPr>
            <a:r>
              <a:rPr lang="en-US" altLang="zh-CN" sz="2400" u="none">
                <a:latin typeface="Lucida Sans Unicode" panose="020B0602030504020204" pitchFamily="34" charset="0"/>
              </a:rPr>
              <a:t>           push    dx</a:t>
            </a:r>
          </a:p>
          <a:p>
            <a:pPr>
              <a:lnSpc>
                <a:spcPct val="90000"/>
              </a:lnSpc>
              <a:spcBef>
                <a:spcPct val="0"/>
              </a:spcBef>
              <a:buClrTx/>
              <a:buFontTx/>
              <a:buNone/>
            </a:pPr>
            <a:r>
              <a:rPr lang="en-US" altLang="zh-CN" sz="2400" u="none">
                <a:latin typeface="Lucida Sans Unicode" panose="020B0602030504020204" pitchFamily="34" charset="0"/>
              </a:rPr>
              <a:t>           ......</a:t>
            </a:r>
          </a:p>
          <a:p>
            <a:pPr>
              <a:lnSpc>
                <a:spcPct val="90000"/>
              </a:lnSpc>
              <a:spcBef>
                <a:spcPct val="0"/>
              </a:spcBef>
              <a:buClrTx/>
              <a:buFontTx/>
              <a:buNone/>
            </a:pPr>
            <a:r>
              <a:rPr lang="en-US" altLang="zh-CN" sz="2400" u="none">
                <a:latin typeface="Lucida Sans Unicode" panose="020B0602030504020204" pitchFamily="34" charset="0"/>
              </a:rPr>
              <a:t>           pop     dx</a:t>
            </a:r>
          </a:p>
          <a:p>
            <a:pPr>
              <a:lnSpc>
                <a:spcPct val="90000"/>
              </a:lnSpc>
              <a:spcBef>
                <a:spcPct val="0"/>
              </a:spcBef>
              <a:buClrTx/>
              <a:buFontTx/>
              <a:buNone/>
            </a:pPr>
            <a:r>
              <a:rPr lang="en-US" altLang="zh-CN" sz="2400" u="none">
                <a:latin typeface="Lucida Sans Unicode" panose="020B0602030504020204" pitchFamily="34" charset="0"/>
              </a:rPr>
              <a:t>           pop     cx</a:t>
            </a:r>
          </a:p>
          <a:p>
            <a:pPr>
              <a:lnSpc>
                <a:spcPct val="90000"/>
              </a:lnSpc>
              <a:spcBef>
                <a:spcPct val="0"/>
              </a:spcBef>
              <a:buClrTx/>
              <a:buFontTx/>
              <a:buNone/>
            </a:pPr>
            <a:r>
              <a:rPr lang="en-US" altLang="zh-CN" sz="2400" u="none">
                <a:latin typeface="Lucida Sans Unicode" panose="020B0602030504020204" pitchFamily="34" charset="0"/>
              </a:rPr>
              <a:t>           pop     bx</a:t>
            </a:r>
          </a:p>
          <a:p>
            <a:pPr>
              <a:lnSpc>
                <a:spcPct val="90000"/>
              </a:lnSpc>
              <a:spcBef>
                <a:spcPct val="0"/>
              </a:spcBef>
              <a:buClrTx/>
              <a:buFontTx/>
              <a:buNone/>
            </a:pPr>
            <a:r>
              <a:rPr lang="en-US" altLang="zh-CN" sz="2400" u="none">
                <a:latin typeface="Lucida Sans Unicode" panose="020B0602030504020204" pitchFamily="34" charset="0"/>
              </a:rPr>
              <a:t>           pop     ax</a:t>
            </a:r>
          </a:p>
          <a:p>
            <a:pPr>
              <a:lnSpc>
                <a:spcPct val="90000"/>
              </a:lnSpc>
              <a:spcBef>
                <a:spcPct val="0"/>
              </a:spcBef>
              <a:buClrTx/>
              <a:buFontTx/>
              <a:buNone/>
            </a:pPr>
            <a:endParaRPr lang="en-US" altLang="zh-CN" sz="2400" u="none">
              <a:latin typeface="Lucida Sans Unicode" panose="020B0602030504020204" pitchFamily="34" charset="0"/>
            </a:endParaRPr>
          </a:p>
          <a:p>
            <a:pPr>
              <a:lnSpc>
                <a:spcPct val="90000"/>
              </a:lnSpc>
              <a:spcBef>
                <a:spcPct val="0"/>
              </a:spcBef>
              <a:buClrTx/>
              <a:buFontTx/>
              <a:buNone/>
            </a:pPr>
            <a:r>
              <a:rPr lang="en-US" altLang="zh-CN" sz="2400" u="none">
                <a:latin typeface="Lucida Sans Unicode" panose="020B0602030504020204" pitchFamily="34" charset="0"/>
              </a:rPr>
              <a:t>           ret</a:t>
            </a:r>
          </a:p>
          <a:p>
            <a:pPr>
              <a:lnSpc>
                <a:spcPct val="90000"/>
              </a:lnSpc>
              <a:spcBef>
                <a:spcPct val="0"/>
              </a:spcBef>
              <a:buClrTx/>
              <a:buFontTx/>
              <a:buNone/>
            </a:pPr>
            <a:endParaRPr lang="en-US" altLang="zh-CN" sz="2400" u="none">
              <a:latin typeface="Lucida Sans Unicode" panose="020B0602030504020204" pitchFamily="34" charset="0"/>
            </a:endParaRPr>
          </a:p>
          <a:p>
            <a:pPr>
              <a:lnSpc>
                <a:spcPct val="90000"/>
              </a:lnSpc>
              <a:spcBef>
                <a:spcPct val="0"/>
              </a:spcBef>
              <a:buClrTx/>
              <a:buFontTx/>
              <a:buNone/>
            </a:pPr>
            <a:r>
              <a:rPr lang="en-US" altLang="zh-CN" sz="2400" i="1" u="none">
                <a:solidFill>
                  <a:schemeClr val="hlink"/>
                </a:solidFill>
                <a:latin typeface="Lucida Sans Unicode" panose="020B0602030504020204" pitchFamily="34" charset="0"/>
              </a:rPr>
              <a:t>subt</a:t>
            </a:r>
            <a:r>
              <a:rPr lang="en-US" altLang="zh-CN" sz="2400" u="none">
                <a:latin typeface="Lucida Sans Unicode" panose="020B0602030504020204" pitchFamily="34" charset="0"/>
              </a:rPr>
              <a:t>    endp</a:t>
            </a:r>
          </a:p>
        </p:txBody>
      </p:sp>
    </p:spTree>
  </p:cSld>
  <p:clrMapOvr>
    <a:masterClrMapping/>
  </p:clrMapOvr>
  <p:transition>
    <p:random/>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2"/>
          <p:cNvSpPr txBox="1">
            <a:spLocks noChangeArrowheads="1"/>
          </p:cNvSpPr>
          <p:nvPr/>
        </p:nvSpPr>
        <p:spPr bwMode="auto">
          <a:xfrm>
            <a:off x="762000" y="533400"/>
            <a:ext cx="769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endParaRPr lang="zh-CN" altLang="zh-CN" sz="2400" i="1" u="none">
              <a:ea typeface="楷体_GB2312" panose="02010609030101010101" pitchFamily="49" charset="-122"/>
            </a:endParaRPr>
          </a:p>
        </p:txBody>
      </p:sp>
      <p:sp>
        <p:nvSpPr>
          <p:cNvPr id="100355" name="Text Box 3"/>
          <p:cNvSpPr txBox="1">
            <a:spLocks noChangeArrowheads="1"/>
          </p:cNvSpPr>
          <p:nvPr/>
        </p:nvSpPr>
        <p:spPr bwMode="auto">
          <a:xfrm>
            <a:off x="2362200" y="2057400"/>
            <a:ext cx="4876800" cy="2748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80000"/>
              </a:lnSpc>
              <a:spcBef>
                <a:spcPct val="0"/>
              </a:spcBef>
              <a:buClrTx/>
              <a:buFontTx/>
              <a:buNone/>
            </a:pPr>
            <a:r>
              <a:rPr lang="en-US" altLang="zh-CN" sz="2400" u="none"/>
              <a:t>(1)   </a:t>
            </a:r>
            <a:r>
              <a:rPr lang="zh-CN" altLang="en-US" sz="2400" u="none"/>
              <a:t>通过寄存器传送参数</a:t>
            </a:r>
          </a:p>
          <a:p>
            <a:pPr algn="just">
              <a:lnSpc>
                <a:spcPct val="180000"/>
              </a:lnSpc>
              <a:spcBef>
                <a:spcPct val="0"/>
              </a:spcBef>
              <a:buClrTx/>
              <a:buFontTx/>
              <a:buNone/>
            </a:pPr>
            <a:r>
              <a:rPr lang="en-US" altLang="zh-CN" sz="2400" u="none"/>
              <a:t>(2)   </a:t>
            </a:r>
            <a:r>
              <a:rPr lang="zh-CN" altLang="en-US" sz="2400" u="none"/>
              <a:t>通过存储器传送参数</a:t>
            </a:r>
            <a:endParaRPr lang="zh-CN" altLang="en-US" sz="2400" b="0" u="none"/>
          </a:p>
          <a:p>
            <a:pPr algn="just">
              <a:lnSpc>
                <a:spcPct val="180000"/>
              </a:lnSpc>
              <a:spcBef>
                <a:spcPct val="0"/>
              </a:spcBef>
              <a:buClrTx/>
              <a:buFontTx/>
              <a:buNone/>
            </a:pPr>
            <a:r>
              <a:rPr lang="en-US" altLang="zh-CN" sz="2400" u="none"/>
              <a:t>(3)   </a:t>
            </a:r>
            <a:r>
              <a:rPr lang="zh-CN" altLang="en-US" sz="2400" u="none"/>
              <a:t>通过变量传送参数地址</a:t>
            </a:r>
          </a:p>
          <a:p>
            <a:pPr>
              <a:lnSpc>
                <a:spcPct val="180000"/>
              </a:lnSpc>
              <a:spcBef>
                <a:spcPct val="0"/>
              </a:spcBef>
              <a:buClrTx/>
              <a:buFontTx/>
              <a:buNone/>
            </a:pPr>
            <a:r>
              <a:rPr lang="en-US" altLang="zh-CN" sz="2400" u="none"/>
              <a:t>(4)   </a:t>
            </a:r>
            <a:r>
              <a:rPr lang="zh-CN" altLang="en-US" sz="2400" u="none"/>
              <a:t>通过堆栈传送参数或参数地址</a:t>
            </a:r>
          </a:p>
        </p:txBody>
      </p:sp>
      <p:sp>
        <p:nvSpPr>
          <p:cNvPr id="100356" name="Rectangle 4"/>
          <p:cNvSpPr>
            <a:spLocks noChangeArrowheads="1"/>
          </p:cNvSpPr>
          <p:nvPr/>
        </p:nvSpPr>
        <p:spPr bwMode="auto">
          <a:xfrm>
            <a:off x="1752600" y="685800"/>
            <a:ext cx="4979988"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4.  </a:t>
            </a:r>
            <a:r>
              <a:rPr lang="zh-CN" altLang="en-US" sz="3600" u="none">
                <a:solidFill>
                  <a:schemeClr val="tx2"/>
                </a:solidFill>
              </a:rPr>
              <a:t>子程序的参数传送</a:t>
            </a:r>
          </a:p>
        </p:txBody>
      </p:sp>
    </p:spTree>
  </p:cSld>
  <p:clrMapOvr>
    <a:masterClrMapping/>
  </p:clrMapOvr>
  <p:transition>
    <p:rand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874" name="标题 335873"/>
          <p:cNvSpPr>
            <a:spLocks noGrp="1"/>
          </p:cNvSpPr>
          <p:nvPr>
            <p:ph type="title"/>
          </p:nvPr>
        </p:nvSpPr>
        <p:spPr>
          <a:xfrm>
            <a:off x="1979613" y="76200"/>
            <a:ext cx="6516687" cy="688975"/>
          </a:xfrm>
        </p:spPr>
        <p:txBody>
          <a:bodyPr anchor="ctr" anchorCtr="0"/>
          <a:lstStyle/>
          <a:p>
            <a:r>
              <a:rPr lang="zh-CN" altLang="en-US" sz="2800" dirty="0"/>
              <a:t>例题</a:t>
            </a:r>
            <a:r>
              <a:rPr lang="en-US" altLang="zh-CN" sz="2800" dirty="0"/>
              <a:t>4.18</a:t>
            </a:r>
            <a:r>
              <a:rPr lang="zh-CN" altLang="en-US" sz="2800" dirty="0"/>
              <a:t>：从键盘输入有符号十进制数</a:t>
            </a:r>
          </a:p>
        </p:txBody>
      </p:sp>
      <p:sp>
        <p:nvSpPr>
          <p:cNvPr id="335875" name="文本占位符 335874"/>
          <p:cNvSpPr>
            <a:spLocks noGrp="1"/>
          </p:cNvSpPr>
          <p:nvPr>
            <p:ph type="body" idx="1"/>
          </p:nvPr>
        </p:nvSpPr>
        <p:spPr>
          <a:xfrm>
            <a:off x="990600" y="1676400"/>
            <a:ext cx="7315200" cy="3886200"/>
          </a:xfrm>
        </p:spPr>
        <p:txBody>
          <a:bodyPr/>
          <a:lstStyle/>
          <a:p>
            <a:r>
              <a:rPr lang="zh-CN" altLang="en-US" sz="3200" dirty="0"/>
              <a:t>子程序从键盘输入一个有符号十进制数；子程序还包含将</a:t>
            </a:r>
            <a:r>
              <a:rPr lang="en-US" altLang="zh-CN" sz="3200"/>
              <a:t>ASCII</a:t>
            </a:r>
            <a:r>
              <a:rPr lang="zh-CN" altLang="en-US" sz="3200" dirty="0"/>
              <a:t>码转换为二进制数的过程</a:t>
            </a:r>
          </a:p>
          <a:p>
            <a:pPr>
              <a:spcBef>
                <a:spcPct val="50000"/>
              </a:spcBef>
            </a:pPr>
            <a:r>
              <a:rPr lang="zh-CN" altLang="en-US" sz="3200" dirty="0"/>
              <a:t>输入时，负数用“－”引导，正数直接输入或用“＋”引导</a:t>
            </a:r>
          </a:p>
          <a:p>
            <a:r>
              <a:rPr lang="zh-CN" altLang="en-US" sz="3200" dirty="0"/>
              <a:t>子程序用</a:t>
            </a:r>
            <a:r>
              <a:rPr lang="zh-CN" altLang="en-US" sz="3200" dirty="0">
                <a:solidFill>
                  <a:schemeClr val="tx2"/>
                </a:solidFill>
              </a:rPr>
              <a:t>寄存器传递出口参数</a:t>
            </a:r>
            <a:r>
              <a:rPr lang="zh-CN" altLang="en-US" sz="3200" dirty="0"/>
              <a:t>，主程序调用该子程序输入</a:t>
            </a:r>
            <a:r>
              <a:rPr lang="en-US" altLang="zh-CN" sz="3200"/>
              <a:t>10</a:t>
            </a:r>
            <a:r>
              <a:rPr lang="zh-CN" altLang="en-US" sz="3200" dirty="0"/>
              <a:t>个数据</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标题 338945"/>
          <p:cNvSpPr>
            <a:spLocks noGrp="1"/>
          </p:cNvSpPr>
          <p:nvPr>
            <p:ph type="title"/>
          </p:nvPr>
        </p:nvSpPr>
        <p:spPr>
          <a:xfrm>
            <a:off x="914400" y="45085"/>
            <a:ext cx="7772400" cy="762000"/>
          </a:xfrm>
        </p:spPr>
        <p:txBody>
          <a:bodyPr anchor="ctr" anchorCtr="0"/>
          <a:lstStyle/>
          <a:p>
            <a:r>
              <a:rPr lang="en-US" altLang="zh-CN"/>
              <a:t>ASCII</a:t>
            </a:r>
            <a:r>
              <a:rPr lang="zh-CN" altLang="en-US" dirty="0"/>
              <a:t>码转换为二进制数</a:t>
            </a:r>
          </a:p>
        </p:txBody>
      </p:sp>
      <p:sp>
        <p:nvSpPr>
          <p:cNvPr id="338947" name="文本占位符 338946"/>
          <p:cNvSpPr>
            <a:spLocks noGrp="1"/>
          </p:cNvSpPr>
          <p:nvPr>
            <p:ph type="body" idx="1"/>
          </p:nvPr>
        </p:nvSpPr>
        <p:spPr>
          <a:xfrm>
            <a:off x="457200" y="1219200"/>
            <a:ext cx="8458200" cy="4953000"/>
          </a:xfrm>
        </p:spPr>
        <p:txBody>
          <a:bodyPr/>
          <a:lstStyle/>
          <a:p>
            <a:pPr marL="484505" indent="-484505">
              <a:lnSpc>
                <a:spcPct val="90000"/>
              </a:lnSpc>
              <a:buNone/>
            </a:pPr>
            <a:r>
              <a:rPr lang="en-US" altLang="zh-CN" sz="2800"/>
              <a:t>① </a:t>
            </a:r>
            <a:r>
              <a:rPr lang="zh-CN" altLang="en-US" sz="2800" dirty="0"/>
              <a:t>首先判断输入为正或负数，并用一个寄存器记录</a:t>
            </a:r>
          </a:p>
          <a:p>
            <a:pPr marL="484505" indent="-484505">
              <a:lnSpc>
                <a:spcPct val="90000"/>
              </a:lnSpc>
              <a:buNone/>
            </a:pPr>
            <a:r>
              <a:rPr lang="en-US" altLang="zh-CN" sz="2800"/>
              <a:t>② </a:t>
            </a:r>
            <a:r>
              <a:rPr lang="zh-CN" altLang="en-US" sz="2800" dirty="0"/>
              <a:t>接着输入</a:t>
            </a:r>
            <a:r>
              <a:rPr lang="en-US" altLang="zh-CN" sz="2800"/>
              <a:t>0</a:t>
            </a:r>
            <a:r>
              <a:rPr lang="zh-CN" altLang="en-US" sz="2800" dirty="0"/>
              <a:t>～</a:t>
            </a:r>
            <a:r>
              <a:rPr lang="en-US" altLang="zh-CN" sz="2800"/>
              <a:t>9</a:t>
            </a:r>
            <a:r>
              <a:rPr lang="zh-CN" altLang="en-US" sz="2800" dirty="0"/>
              <a:t>数字（</a:t>
            </a:r>
            <a:r>
              <a:rPr lang="en-US" altLang="zh-CN" sz="2800"/>
              <a:t>ASCII</a:t>
            </a:r>
            <a:r>
              <a:rPr lang="zh-CN" altLang="en-US" sz="2800" dirty="0"/>
              <a:t>码），并减</a:t>
            </a:r>
            <a:r>
              <a:rPr lang="en-US" altLang="zh-CN" sz="2800"/>
              <a:t>30H</a:t>
            </a:r>
            <a:r>
              <a:rPr lang="zh-CN" altLang="en-US" sz="2800" dirty="0"/>
              <a:t>转换为二进制数</a:t>
            </a:r>
          </a:p>
          <a:p>
            <a:pPr marL="484505" indent="-484505">
              <a:lnSpc>
                <a:spcPct val="90000"/>
              </a:lnSpc>
              <a:buNone/>
            </a:pPr>
            <a:r>
              <a:rPr lang="en-US" altLang="zh-CN" sz="2800"/>
              <a:t>③ </a:t>
            </a:r>
            <a:r>
              <a:rPr lang="zh-CN" altLang="en-US" sz="2800" dirty="0"/>
              <a:t>然后将前面输入的数值乘</a:t>
            </a:r>
            <a:r>
              <a:rPr lang="en-US" altLang="zh-CN" sz="2800"/>
              <a:t>10</a:t>
            </a:r>
            <a:r>
              <a:rPr lang="zh-CN" altLang="en-US" sz="2800" dirty="0"/>
              <a:t>，并与刚输入的数字相加得到新的数值</a:t>
            </a:r>
          </a:p>
          <a:p>
            <a:pPr marL="484505" indent="-484505">
              <a:lnSpc>
                <a:spcPct val="90000"/>
              </a:lnSpc>
              <a:buNone/>
            </a:pPr>
            <a:r>
              <a:rPr lang="en-US" altLang="zh-CN" sz="2800"/>
              <a:t>④ </a:t>
            </a:r>
            <a:r>
              <a:rPr lang="zh-CN" altLang="en-US" sz="2800" dirty="0"/>
              <a:t>重复</a:t>
            </a:r>
            <a:r>
              <a:rPr lang="en-US" altLang="zh-CN" sz="2800"/>
              <a:t>②</a:t>
            </a:r>
            <a:r>
              <a:rPr lang="zh-CN" altLang="en-US" sz="2800" dirty="0"/>
              <a:t>、</a:t>
            </a:r>
            <a:r>
              <a:rPr lang="en-US" altLang="zh-CN" sz="2800"/>
              <a:t>③</a:t>
            </a:r>
            <a:r>
              <a:rPr lang="zh-CN" altLang="en-US" sz="2800" dirty="0"/>
              <a:t>步，直到输入一个非数字字符结束</a:t>
            </a:r>
          </a:p>
          <a:p>
            <a:pPr marL="484505" indent="-484505">
              <a:lnSpc>
                <a:spcPct val="90000"/>
              </a:lnSpc>
              <a:buNone/>
            </a:pPr>
            <a:r>
              <a:rPr lang="en-US" altLang="zh-CN" sz="2800"/>
              <a:t>⑤ </a:t>
            </a:r>
            <a:r>
              <a:rPr lang="zh-CN" altLang="en-US" sz="2800" dirty="0"/>
              <a:t>负数进行求补，转换成补码；否则直接保存数值</a:t>
            </a:r>
          </a:p>
          <a:p>
            <a:pPr marL="484505" indent="-484505">
              <a:lnSpc>
                <a:spcPct val="90000"/>
              </a:lnSpc>
              <a:spcBef>
                <a:spcPct val="100000"/>
              </a:spcBef>
            </a:pPr>
            <a:r>
              <a:rPr lang="zh-CN" altLang="en-US" sz="2800" dirty="0"/>
              <a:t>本例采用</a:t>
            </a:r>
            <a:r>
              <a:rPr lang="en-US" altLang="zh-CN" sz="2800"/>
              <a:t>16</a:t>
            </a:r>
            <a:r>
              <a:rPr lang="zh-CN" altLang="en-US" sz="2800" dirty="0"/>
              <a:t>位寄存器表达数据，所以只能输入＋</a:t>
            </a:r>
            <a:r>
              <a:rPr lang="en-US" altLang="zh-CN" sz="2800"/>
              <a:t>327677</a:t>
            </a:r>
            <a:r>
              <a:rPr lang="zh-CN" altLang="en-US" sz="2800" dirty="0"/>
              <a:t>～－</a:t>
            </a:r>
            <a:r>
              <a:rPr lang="en-US" altLang="zh-CN" sz="2800"/>
              <a:t>32768</a:t>
            </a:r>
            <a:r>
              <a:rPr lang="zh-CN" altLang="en-US" sz="2800" dirty="0"/>
              <a:t>间的数值</a:t>
            </a:r>
          </a:p>
          <a:p>
            <a:pPr marL="484505" indent="-484505">
              <a:lnSpc>
                <a:spcPct val="90000"/>
              </a:lnSpc>
            </a:pPr>
            <a:r>
              <a:rPr lang="zh-CN" altLang="en-US" sz="2800" dirty="0"/>
              <a:t>但该算法适合更大范围的数据</a:t>
            </a:r>
          </a:p>
        </p:txBody>
      </p:sp>
      <p:pic>
        <p:nvPicPr>
          <p:cNvPr id="338954" name="图片 338953" descr="14_6">
            <a:hlinkClick r:id="" action="ppaction://noaction"/>
          </p:cNvPr>
          <p:cNvPicPr>
            <a:picLocks noChangeAspect="1"/>
          </p:cNvPicPr>
          <p:nvPr/>
        </p:nvPicPr>
        <p:blipFill>
          <a:blip r:embed="rId2"/>
          <a:stretch>
            <a:fillRect/>
          </a:stretch>
        </p:blipFill>
        <p:spPr>
          <a:xfrm>
            <a:off x="8629650" y="6316663"/>
            <a:ext cx="514350" cy="533400"/>
          </a:xfrm>
          <a:prstGeom prst="rect">
            <a:avLst/>
          </a:prstGeom>
          <a:noFill/>
          <a:ln w="9525">
            <a:noFill/>
          </a:ln>
        </p:spPr>
      </p:pic>
      <p:pic>
        <p:nvPicPr>
          <p:cNvPr id="338955" name="图片 338954" descr="91"/>
          <p:cNvPicPr>
            <a:picLocks noChangeAspect="1"/>
          </p:cNvPicPr>
          <p:nvPr/>
        </p:nvPicPr>
        <p:blipFill>
          <a:blip r:embed="rId3"/>
          <a:stretch>
            <a:fillRect/>
          </a:stretch>
        </p:blipFill>
        <p:spPr>
          <a:xfrm>
            <a:off x="609600" y="4495800"/>
            <a:ext cx="8077200" cy="80963"/>
          </a:xfrm>
          <a:prstGeom prst="rect">
            <a:avLst/>
          </a:prstGeom>
          <a:noFill/>
          <a:ln w="9525">
            <a:noFill/>
          </a:ln>
        </p:spPr>
      </p:pic>
      <p:grpSp>
        <p:nvGrpSpPr>
          <p:cNvPr id="338956" name="组合 338955"/>
          <p:cNvGrpSpPr/>
          <p:nvPr/>
        </p:nvGrpSpPr>
        <p:grpSpPr>
          <a:xfrm>
            <a:off x="4763" y="44450"/>
            <a:ext cx="6629400" cy="1295400"/>
            <a:chOff x="-6" y="20"/>
            <a:chExt cx="4176" cy="816"/>
          </a:xfrm>
        </p:grpSpPr>
        <p:sp>
          <p:nvSpPr>
            <p:cNvPr id="338957" name="矩形 338956"/>
            <p:cNvSpPr/>
            <p:nvPr/>
          </p:nvSpPr>
          <p:spPr>
            <a:xfrm>
              <a:off x="-6" y="428"/>
              <a:ext cx="4176" cy="52"/>
            </a:xfrm>
            <a:prstGeom prst="rect">
              <a:avLst/>
            </a:prstGeom>
            <a:noFill/>
            <a:ln w="19050" cap="flat" cmpd="sng">
              <a:solidFill>
                <a:schemeClr val="hlink"/>
              </a:solidFill>
              <a:prstDash val="solid"/>
              <a:miter/>
              <a:headEnd type="none" w="med" len="med"/>
              <a:tailEnd type="none" w="med" len="med"/>
            </a:ln>
          </p:spPr>
          <p:txBody>
            <a:bodyPr wrap="none" anchor="ctr" anchorCtr="0"/>
            <a:lstStyle/>
            <a:p>
              <a:pPr algn="ctr"/>
              <a:endParaRPr dirty="0">
                <a:latin typeface="Arial" panose="020B0604020202020204" pitchFamily="34" charset="0"/>
              </a:endParaRPr>
            </a:p>
          </p:txBody>
        </p:sp>
        <p:sp>
          <p:nvSpPr>
            <p:cNvPr id="338958" name="矩形 338957"/>
            <p:cNvSpPr/>
            <p:nvPr/>
          </p:nvSpPr>
          <p:spPr>
            <a:xfrm>
              <a:off x="784" y="260"/>
              <a:ext cx="240" cy="240"/>
            </a:xfrm>
            <a:prstGeom prst="rect">
              <a:avLst/>
            </a:prstGeom>
            <a:solidFill>
              <a:srgbClr val="3333CC">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8959" name="矩形 338958"/>
            <p:cNvSpPr/>
            <p:nvPr/>
          </p:nvSpPr>
          <p:spPr>
            <a:xfrm>
              <a:off x="16" y="596"/>
              <a:ext cx="240" cy="240"/>
            </a:xfrm>
            <a:prstGeom prst="rect">
              <a:avLst/>
            </a:prstGeom>
            <a:solidFill>
              <a:srgbClr val="3333CC">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8960" name="矩形 338959"/>
            <p:cNvSpPr/>
            <p:nvPr/>
          </p:nvSpPr>
          <p:spPr>
            <a:xfrm>
              <a:off x="256" y="356"/>
              <a:ext cx="240" cy="240"/>
            </a:xfrm>
            <a:prstGeom prst="rect">
              <a:avLst/>
            </a:prstGeom>
            <a:solidFill>
              <a:srgbClr val="009900">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8961" name="矩形 338960"/>
            <p:cNvSpPr/>
            <p:nvPr/>
          </p:nvSpPr>
          <p:spPr>
            <a:xfrm>
              <a:off x="1024" y="20"/>
              <a:ext cx="240" cy="240"/>
            </a:xfrm>
            <a:prstGeom prst="rect">
              <a:avLst/>
            </a:prstGeom>
            <a:solidFill>
              <a:srgbClr val="CC0000">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8962" name="文本框 338961"/>
            <p:cNvSpPr txBox="1"/>
            <p:nvPr/>
          </p:nvSpPr>
          <p:spPr>
            <a:xfrm>
              <a:off x="99" y="42"/>
              <a:ext cx="641" cy="25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2700000" scaled="1"/>
              <a:tileRect/>
            </a:gradFill>
            <a:ln w="9525">
              <a:noFill/>
            </a:ln>
            <a:effectLst>
              <a:outerShdw dist="35921" dir="2699999" algn="ctr" rotWithShape="0">
                <a:schemeClr val="folHlink"/>
              </a:outerShdw>
            </a:effectLst>
          </p:spPr>
          <p:txBody>
            <a:bodyPr>
              <a:spAutoFit/>
            </a:bodyPr>
            <a:lstStyle/>
            <a:p>
              <a:pPr algn="ctr"/>
              <a:r>
                <a:rPr lang="zh-CN" altLang="en-US" sz="2000" dirty="0">
                  <a:solidFill>
                    <a:schemeClr val="accent2"/>
                  </a:solidFill>
                  <a:latin typeface="华文新魏" panose="02010800040101010101" pitchFamily="2" charset="-122"/>
                  <a:ea typeface="华文新魏" panose="02010800040101010101" pitchFamily="2" charset="-122"/>
                </a:rPr>
                <a:t>第 </a:t>
              </a:r>
              <a:r>
                <a:rPr lang="en-US" altLang="zh-CN" sz="2000" dirty="0">
                  <a:solidFill>
                    <a:schemeClr val="accent2"/>
                  </a:solidFill>
                  <a:latin typeface="华文新魏" panose="02010800040101010101" pitchFamily="2" charset="-122"/>
                  <a:ea typeface="华文新魏" panose="02010800040101010101" pitchFamily="2" charset="-122"/>
                </a:rPr>
                <a:t>4</a:t>
              </a:r>
              <a:r>
                <a:rPr lang="en-US" altLang="zh-CN" sz="2000">
                  <a:solidFill>
                    <a:schemeClr val="accent2"/>
                  </a:solidFill>
                  <a:latin typeface="华文新魏" panose="02010800040101010101" pitchFamily="2" charset="-122"/>
                  <a:ea typeface="华文新魏" panose="02010800040101010101" pitchFamily="2" charset="-122"/>
                </a:rPr>
                <a:t> </a:t>
              </a:r>
              <a:r>
                <a:rPr lang="zh-CN" altLang="en-US" sz="2000" dirty="0">
                  <a:solidFill>
                    <a:schemeClr val="accent2"/>
                  </a:solidFill>
                  <a:latin typeface="华文新魏" panose="02010800040101010101" pitchFamily="2" charset="-122"/>
                  <a:ea typeface="华文新魏" panose="02010800040101010101" pitchFamily="2" charset="-122"/>
                </a:rPr>
                <a:t>章</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animEffect transition="in" filter="blinds(horizontal)">
                                      <p:cBhvr>
                                        <p:cTn id="7" dur="500"/>
                                        <p:tgtEl>
                                          <p:spTgt spid="3389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8947">
                                            <p:txEl>
                                              <p:pRg st="1" end="1"/>
                                            </p:txEl>
                                          </p:spTgt>
                                        </p:tgtEl>
                                        <p:attrNameLst>
                                          <p:attrName>style.visibility</p:attrName>
                                        </p:attrNameLst>
                                      </p:cBhvr>
                                      <p:to>
                                        <p:strVal val="visible"/>
                                      </p:to>
                                    </p:set>
                                    <p:animEffect transition="in" filter="blinds(horizontal)">
                                      <p:cBhvr>
                                        <p:cTn id="12" dur="500"/>
                                        <p:tgtEl>
                                          <p:spTgt spid="3389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8947">
                                            <p:txEl>
                                              <p:pRg st="2" end="2"/>
                                            </p:txEl>
                                          </p:spTgt>
                                        </p:tgtEl>
                                        <p:attrNameLst>
                                          <p:attrName>style.visibility</p:attrName>
                                        </p:attrNameLst>
                                      </p:cBhvr>
                                      <p:to>
                                        <p:strVal val="visible"/>
                                      </p:to>
                                    </p:set>
                                    <p:animEffect transition="in" filter="blinds(horizontal)">
                                      <p:cBhvr>
                                        <p:cTn id="17" dur="500"/>
                                        <p:tgtEl>
                                          <p:spTgt spid="3389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8947">
                                            <p:txEl>
                                              <p:pRg st="3" end="3"/>
                                            </p:txEl>
                                          </p:spTgt>
                                        </p:tgtEl>
                                        <p:attrNameLst>
                                          <p:attrName>style.visibility</p:attrName>
                                        </p:attrNameLst>
                                      </p:cBhvr>
                                      <p:to>
                                        <p:strVal val="visible"/>
                                      </p:to>
                                    </p:set>
                                    <p:animEffect transition="in" filter="blinds(horizontal)">
                                      <p:cBhvr>
                                        <p:cTn id="22" dur="500"/>
                                        <p:tgtEl>
                                          <p:spTgt spid="3389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38947">
                                            <p:txEl>
                                              <p:pRg st="4" end="4"/>
                                            </p:txEl>
                                          </p:spTgt>
                                        </p:tgtEl>
                                        <p:attrNameLst>
                                          <p:attrName>style.visibility</p:attrName>
                                        </p:attrNameLst>
                                      </p:cBhvr>
                                      <p:to>
                                        <p:strVal val="visible"/>
                                      </p:to>
                                    </p:set>
                                    <p:animEffect transition="in" filter="blinds(horizontal)">
                                      <p:cBhvr>
                                        <p:cTn id="27" dur="500"/>
                                        <p:tgtEl>
                                          <p:spTgt spid="3389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8947">
                                            <p:txEl>
                                              <p:pRg st="5" end="5"/>
                                            </p:txEl>
                                          </p:spTgt>
                                        </p:tgtEl>
                                        <p:attrNameLst>
                                          <p:attrName>style.visibility</p:attrName>
                                        </p:attrNameLst>
                                      </p:cBhvr>
                                      <p:to>
                                        <p:strVal val="visible"/>
                                      </p:to>
                                    </p:set>
                                    <p:animEffect transition="in" filter="blinds(horizontal)">
                                      <p:cBhvr>
                                        <p:cTn id="32" dur="500"/>
                                        <p:tgtEl>
                                          <p:spTgt spid="338947">
                                            <p:txEl>
                                              <p:pRg st="5" end="5"/>
                                            </p:txEl>
                                          </p:spTgt>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338947">
                                            <p:txEl>
                                              <p:pRg st="6" end="6"/>
                                            </p:txEl>
                                          </p:spTgt>
                                        </p:tgtEl>
                                        <p:attrNameLst>
                                          <p:attrName>style.visibility</p:attrName>
                                        </p:attrNameLst>
                                      </p:cBhvr>
                                      <p:to>
                                        <p:strVal val="visible"/>
                                      </p:to>
                                    </p:set>
                                    <p:animEffect transition="in" filter="blinds(horizontal)">
                                      <p:cBhvr>
                                        <p:cTn id="36" dur="500"/>
                                        <p:tgtEl>
                                          <p:spTgt spid="3389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文本占位符 342017"/>
          <p:cNvSpPr>
            <a:spLocks noGrp="1"/>
          </p:cNvSpPr>
          <p:nvPr>
            <p:ph type="body" idx="1"/>
          </p:nvPr>
        </p:nvSpPr>
        <p:spPr>
          <a:xfrm>
            <a:off x="533400" y="304800"/>
            <a:ext cx="8153400" cy="6172200"/>
          </a:xfrm>
        </p:spPr>
        <p:txBody>
          <a:bodyPr/>
          <a:lstStyle/>
          <a:p>
            <a:pPr marL="0" indent="0" defTabSz="914400">
              <a:spcBef>
                <a:spcPct val="10000"/>
              </a:spcBef>
              <a:buNone/>
              <a:tabLst>
                <a:tab pos="1520825" algn="l"/>
                <a:tab pos="3810000" algn="l"/>
              </a:tabLst>
            </a:pPr>
            <a:r>
              <a:rPr lang="en-US" altLang="zh-CN" sz="2800" dirty="0">
                <a:solidFill>
                  <a:schemeClr val="accent2"/>
                </a:solidFill>
                <a:latin typeface="宋体" panose="02010600030101010101" pitchFamily="2" charset="-122"/>
              </a:rPr>
              <a:t>	;</a:t>
            </a:r>
            <a:r>
              <a:rPr lang="zh-CN" altLang="en-US" sz="2800" dirty="0">
                <a:solidFill>
                  <a:schemeClr val="accent2"/>
                </a:solidFill>
                <a:latin typeface="宋体" panose="02010600030101010101" pitchFamily="2" charset="-122"/>
              </a:rPr>
              <a:t>数据段</a:t>
            </a:r>
          </a:p>
          <a:p>
            <a:pPr marL="0" indent="0" defTabSz="914400">
              <a:spcBef>
                <a:spcPct val="10000"/>
              </a:spcBef>
              <a:buNone/>
              <a:tabLst>
                <a:tab pos="1520825" algn="l"/>
                <a:tab pos="3810000" algn="l"/>
              </a:tabLst>
            </a:pPr>
            <a:r>
              <a:rPr lang="en-US" altLang="zh-CN" sz="2800" dirty="0">
                <a:solidFill>
                  <a:schemeClr val="accent2"/>
                </a:solidFill>
                <a:latin typeface="宋体" panose="02010600030101010101" pitchFamily="2" charset="-122"/>
              </a:rPr>
              <a:t>count</a:t>
            </a:r>
            <a:r>
              <a:rPr lang="en-US" altLang="zh-CN" sz="2800">
                <a:solidFill>
                  <a:schemeClr val="accent2"/>
                </a:solidFill>
                <a:latin typeface="宋体" panose="02010600030101010101" pitchFamily="2" charset="-122"/>
              </a:rPr>
              <a:t>	= 10</a:t>
            </a: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array	</a:t>
            </a:r>
            <a:r>
              <a:rPr lang="en-US" altLang="zh-CN" sz="2800" dirty="0" err="1">
                <a:solidFill>
                  <a:schemeClr val="accent2"/>
                </a:solidFill>
                <a:latin typeface="宋体" panose="02010600030101010101" pitchFamily="2" charset="-122"/>
              </a:rPr>
              <a:t>dw</a:t>
            </a:r>
            <a:r>
              <a:rPr lang="en-US" altLang="zh-CN" sz="2800">
                <a:solidFill>
                  <a:schemeClr val="accent2"/>
                </a:solidFill>
                <a:latin typeface="宋体" panose="02010600030101010101" pitchFamily="2" charset="-122"/>
              </a:rPr>
              <a:t> count dup(0)	</a:t>
            </a:r>
            <a:r>
              <a:rPr lang="en-US" altLang="zh-CN" sz="2800">
                <a:latin typeface="宋体" panose="02010600030101010101" pitchFamily="2" charset="-122"/>
              </a:rPr>
              <a:t>;</a:t>
            </a:r>
            <a:r>
              <a:rPr lang="zh-CN" altLang="en-US" sz="2800" dirty="0">
                <a:latin typeface="宋体" panose="02010600030101010101" pitchFamily="2" charset="-122"/>
              </a:rPr>
              <a:t>预留数据存储空间</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a:solidFill>
                  <a:schemeClr val="accent2"/>
                </a:solidFill>
                <a:latin typeface="宋体" panose="02010600030101010101" pitchFamily="2" charset="-122"/>
              </a:rPr>
              <a:t>;</a:t>
            </a:r>
            <a:r>
              <a:rPr lang="zh-CN" altLang="en-US" sz="2800" dirty="0">
                <a:solidFill>
                  <a:schemeClr val="accent2"/>
                </a:solidFill>
                <a:latin typeface="宋体" panose="02010600030101010101" pitchFamily="2" charset="-122"/>
              </a:rPr>
              <a:t>代码段：主程序</a:t>
            </a:r>
          </a:p>
          <a:p>
            <a:pPr marL="0" indent="0" defTabSz="914400">
              <a:spcBef>
                <a:spcPct val="10000"/>
              </a:spcBef>
              <a:buNone/>
              <a:tabLst>
                <a:tab pos="1520825" algn="l"/>
                <a:tab pos="3810000" algn="l"/>
              </a:tabLst>
            </a:pPr>
            <a:r>
              <a:rPr lang="zh-CN" altLang="en-US" sz="2800">
                <a:solidFill>
                  <a:schemeClr val="accent2"/>
                </a:solidFill>
                <a:latin typeface="宋体" panose="02010600030101010101" pitchFamily="2" charset="-122"/>
              </a:rPr>
              <a:t>	</a:t>
            </a:r>
            <a:r>
              <a:rPr lang="en-US" altLang="zh-CN" sz="2800" dirty="0">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cx,count</a:t>
            </a:r>
            <a:endParaRPr lang="en-US" altLang="zh-CN"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bx,offset</a:t>
            </a:r>
            <a:r>
              <a:rPr lang="en-US" altLang="zh-CN" sz="2800">
                <a:solidFill>
                  <a:schemeClr val="accent2"/>
                </a:solidFill>
                <a:latin typeface="宋体" panose="02010600030101010101" pitchFamily="2" charset="-122"/>
              </a:rPr>
              <a:t> array</a:t>
            </a: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again:	</a:t>
            </a:r>
            <a:r>
              <a:rPr lang="en-US" altLang="zh-CN" sz="2800">
                <a:solidFill>
                  <a:schemeClr val="tx2"/>
                </a:solidFill>
                <a:latin typeface="宋体" panose="02010600030101010101" pitchFamily="2" charset="-122"/>
              </a:rPr>
              <a:t>call read</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调用子程序输入一个数据</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bx],</a:t>
            </a:r>
            <a:r>
              <a:rPr lang="en-US" altLang="zh-CN" sz="2800" dirty="0" err="1">
                <a:solidFill>
                  <a:schemeClr val="tx2"/>
                </a:solidFill>
                <a:latin typeface="宋体" panose="02010600030101010101" pitchFamily="2" charset="-122"/>
              </a:rPr>
              <a:t>ax</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将出口参数存放缓冲区</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inc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	inc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	call </a:t>
            </a:r>
            <a:r>
              <a:rPr lang="en-US" altLang="zh-CN" sz="2800" dirty="0" err="1">
                <a:solidFill>
                  <a:schemeClr val="accent2"/>
                </a:solidFill>
                <a:latin typeface="宋体" panose="02010600030101010101" pitchFamily="2" charset="-122"/>
              </a:rPr>
              <a:t>dpcrlf</a:t>
            </a:r>
            <a:endParaRPr lang="en-US" altLang="zh-CN"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调用子程序，光标回车换行以便输入下一个数据</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loop </a:t>
            </a:r>
            <a:r>
              <a:rPr lang="en-US" altLang="zh-CN" sz="2800" dirty="0">
                <a:solidFill>
                  <a:schemeClr val="accent2"/>
                </a:solidFill>
                <a:latin typeface="宋体" panose="02010600030101010101" pitchFamily="2" charset="-122"/>
              </a:rPr>
              <a:t>again</a:t>
            </a:r>
            <a:endParaRPr lang="en-US" altLang="zh-CN" sz="2800">
              <a:solidFill>
                <a:schemeClr val="accent2"/>
              </a:solidFill>
              <a:latin typeface="宋体" panose="02010600030101010101" pitchFamily="2" charset="-122"/>
            </a:endParaRPr>
          </a:p>
        </p:txBody>
      </p:sp>
      <p:grpSp>
        <p:nvGrpSpPr>
          <p:cNvPr id="342019" name="组合 342018"/>
          <p:cNvGrpSpPr/>
          <p:nvPr/>
        </p:nvGrpSpPr>
        <p:grpSpPr>
          <a:xfrm>
            <a:off x="177800" y="230188"/>
            <a:ext cx="203200" cy="6503987"/>
            <a:chOff x="112" y="145"/>
            <a:chExt cx="128" cy="4097"/>
          </a:xfrm>
        </p:grpSpPr>
        <p:sp>
          <p:nvSpPr>
            <p:cNvPr id="342020" name="矩形 342019"/>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2021" name="矩形 342020"/>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2022" name="组合 342021"/>
          <p:cNvGrpSpPr/>
          <p:nvPr/>
        </p:nvGrpSpPr>
        <p:grpSpPr>
          <a:xfrm>
            <a:off x="8793163" y="220663"/>
            <a:ext cx="198437" cy="6408737"/>
            <a:chOff x="5539" y="139"/>
            <a:chExt cx="125" cy="4037"/>
          </a:xfrm>
        </p:grpSpPr>
        <p:sp>
          <p:nvSpPr>
            <p:cNvPr id="342023" name="矩形 342022"/>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2024" name="矩形 342023"/>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2025" name="组合 342024"/>
          <p:cNvGrpSpPr/>
          <p:nvPr/>
        </p:nvGrpSpPr>
        <p:grpSpPr>
          <a:xfrm>
            <a:off x="412750" y="6477000"/>
            <a:ext cx="8686800" cy="228600"/>
            <a:chOff x="260" y="4080"/>
            <a:chExt cx="5472" cy="144"/>
          </a:xfrm>
        </p:grpSpPr>
        <p:sp>
          <p:nvSpPr>
            <p:cNvPr id="342026" name="矩形 342025"/>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2027" name="矩形 342026"/>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2028" name="组合 342027"/>
          <p:cNvGrpSpPr/>
          <p:nvPr/>
        </p:nvGrpSpPr>
        <p:grpSpPr>
          <a:xfrm>
            <a:off x="76200" y="176213"/>
            <a:ext cx="8745538" cy="161925"/>
            <a:chOff x="48" y="111"/>
            <a:chExt cx="5509" cy="102"/>
          </a:xfrm>
        </p:grpSpPr>
        <p:sp>
          <p:nvSpPr>
            <p:cNvPr id="342029" name="矩形 342028"/>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2030" name="矩形 342029"/>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2031" name="标题 342030"/>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4.18</a:t>
            </a:r>
            <a:r>
              <a:rPr lang="zh-CN" altLang="en-US" sz="2400" dirty="0">
                <a:latin typeface="黑体" panose="02010609060101010101" pitchFamily="2" charset="-122"/>
              </a:rPr>
              <a:t>－</a:t>
            </a:r>
            <a:r>
              <a:rPr lang="en-US" altLang="zh-CN" sz="2400">
                <a:latin typeface="黑体" panose="02010609060101010101" pitchFamily="2" charset="-122"/>
              </a:rPr>
              <a:t>1/5</a:t>
            </a:r>
          </a:p>
        </p:txBody>
      </p:sp>
      <p:pic>
        <p:nvPicPr>
          <p:cNvPr id="342032" name="图片 342031"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spTree>
  </p:cSld>
  <p:clrMapOvr>
    <a:masterClrMapping/>
  </p:clrMapOvr>
  <p:transition>
    <p:random/>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2" name="文本占位符 343041"/>
          <p:cNvSpPr>
            <a:spLocks noGrp="1"/>
          </p:cNvSpPr>
          <p:nvPr>
            <p:ph type="body" idx="1"/>
          </p:nvPr>
        </p:nvSpPr>
        <p:spPr>
          <a:xfrm>
            <a:off x="533400" y="838200"/>
            <a:ext cx="8153400" cy="5638800"/>
          </a:xfrm>
        </p:spPr>
        <p:txBody>
          <a:bodyPr/>
          <a:lstStyle/>
          <a:p>
            <a:pPr marL="0" indent="0" defTabSz="914400">
              <a:lnSpc>
                <a:spcPct val="9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输入有符号</a:t>
            </a:r>
            <a:r>
              <a:rPr lang="en-US" altLang="zh-CN" sz="2800">
                <a:latin typeface="宋体" panose="02010600030101010101" pitchFamily="2" charset="-122"/>
              </a:rPr>
              <a:t>10</a:t>
            </a:r>
            <a:r>
              <a:rPr lang="zh-CN" altLang="en-US" sz="2800" dirty="0">
                <a:latin typeface="宋体" panose="02010600030101010101" pitchFamily="2" charset="-122"/>
              </a:rPr>
              <a:t>进制数的通用子程序</a:t>
            </a:r>
          </a:p>
          <a:p>
            <a:pPr marL="0" indent="0" defTabSz="914400">
              <a:lnSpc>
                <a:spcPct val="9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出口参数：</a:t>
            </a:r>
            <a:r>
              <a:rPr lang="en-US" altLang="zh-CN" sz="2800">
                <a:solidFill>
                  <a:schemeClr val="tx2"/>
                </a:solidFill>
                <a:latin typeface="宋体" panose="02010600030101010101" pitchFamily="2" charset="-122"/>
              </a:rPr>
              <a:t>AX</a:t>
            </a:r>
            <a:r>
              <a:rPr lang="zh-CN" altLang="en-US" sz="2800" dirty="0">
                <a:solidFill>
                  <a:schemeClr val="tx2"/>
                </a:solidFill>
                <a:latin typeface="宋体" panose="02010600030101010101" pitchFamily="2" charset="-122"/>
              </a:rPr>
              <a:t>＝补码表示的二进制数值</a:t>
            </a:r>
          </a:p>
          <a:p>
            <a:pPr marL="0" indent="0" defTabSz="914400">
              <a:lnSpc>
                <a:spcPct val="9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说明：负数用“－”引导，正数用“＋”引导或直接输入；数据范围是＋</a:t>
            </a:r>
            <a:r>
              <a:rPr lang="en-US" altLang="zh-CN" sz="2800">
                <a:latin typeface="宋体" panose="02010600030101010101" pitchFamily="2" charset="-122"/>
              </a:rPr>
              <a:t>32767</a:t>
            </a:r>
            <a:r>
              <a:rPr lang="zh-CN" altLang="en-US" sz="2800" dirty="0">
                <a:latin typeface="宋体" panose="02010600030101010101" pitchFamily="2" charset="-122"/>
              </a:rPr>
              <a:t>～－</a:t>
            </a:r>
            <a:r>
              <a:rPr lang="en-US" altLang="zh-CN" sz="2800">
                <a:latin typeface="宋体" panose="02010600030101010101" pitchFamily="2" charset="-122"/>
              </a:rPr>
              <a:t>32768</a:t>
            </a:r>
          </a:p>
          <a:p>
            <a:pPr marL="0" indent="0" defTabSz="914400">
              <a:lnSpc>
                <a:spcPct val="70000"/>
              </a:lnSpc>
              <a:buNone/>
              <a:tabLst>
                <a:tab pos="1520825" algn="l"/>
                <a:tab pos="3810000" algn="l"/>
              </a:tabLst>
            </a:pPr>
            <a:r>
              <a:rPr lang="en-US" altLang="zh-CN" sz="2800">
                <a:solidFill>
                  <a:schemeClr val="accent2"/>
                </a:solidFill>
                <a:latin typeface="宋体" panose="02010600030101010101" pitchFamily="2" charset="-122"/>
              </a:rPr>
              <a:t>read	proc</a:t>
            </a:r>
          </a:p>
          <a:p>
            <a:pPr marL="0" indent="0" defTabSz="914400">
              <a:lnSpc>
                <a:spcPct val="70000"/>
              </a:lnSpc>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lnSpc>
                <a:spcPct val="70000"/>
              </a:lnSpc>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cx</a:t>
            </a:r>
            <a:endParaRPr lang="en-US" altLang="zh-CN" sz="2800">
              <a:solidFill>
                <a:schemeClr val="accent2"/>
              </a:solidFill>
              <a:latin typeface="宋体" panose="02010600030101010101" pitchFamily="2" charset="-122"/>
            </a:endParaRPr>
          </a:p>
          <a:p>
            <a:pPr marL="0" indent="0" defTabSz="914400">
              <a:lnSpc>
                <a:spcPct val="70000"/>
              </a:lnSpc>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dx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xor</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bx,bx</a:t>
            </a:r>
            <a:r>
              <a:rPr lang="en-US" altLang="zh-CN" sz="2800">
                <a:latin typeface="宋体" panose="02010600030101010101" pitchFamily="2" charset="-122"/>
              </a:rPr>
              <a:t>	;BX</a:t>
            </a:r>
            <a:r>
              <a:rPr lang="zh-CN" altLang="en-US" sz="2800" dirty="0">
                <a:latin typeface="宋体" panose="02010600030101010101" pitchFamily="2" charset="-122"/>
              </a:rPr>
              <a:t>保存结果</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xor</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cx,cx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;CX</a:t>
            </a:r>
            <a:r>
              <a:rPr lang="zh-CN" altLang="en-US" sz="2800" dirty="0">
                <a:latin typeface="宋体" panose="02010600030101010101" pitchFamily="2" charset="-122"/>
              </a:rPr>
              <a:t>为正负标志，</a:t>
            </a:r>
            <a:r>
              <a:rPr lang="en-US" altLang="zh-CN" sz="2800">
                <a:latin typeface="宋体" panose="02010600030101010101" pitchFamily="2" charset="-122"/>
              </a:rPr>
              <a:t>0</a:t>
            </a:r>
            <a:r>
              <a:rPr lang="zh-CN" altLang="en-US" sz="2800" dirty="0">
                <a:latin typeface="宋体" panose="02010600030101010101" pitchFamily="2" charset="-122"/>
              </a:rPr>
              <a:t>为正，－</a:t>
            </a:r>
            <a:r>
              <a:rPr lang="en-US" altLang="zh-CN" sz="2800">
                <a:latin typeface="宋体" panose="02010600030101010101" pitchFamily="2" charset="-122"/>
              </a:rPr>
              <a:t>1</a:t>
            </a:r>
            <a:r>
              <a:rPr lang="zh-CN" altLang="en-US" sz="2800" dirty="0">
                <a:latin typeface="宋体" panose="02010600030101010101" pitchFamily="2" charset="-122"/>
              </a:rPr>
              <a:t>为负</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ah,1</a:t>
            </a:r>
            <a:r>
              <a:rPr lang="en-US" altLang="zh-CN" sz="2800">
                <a:latin typeface="宋体" panose="02010600030101010101" pitchFamily="2" charset="-122"/>
              </a:rPr>
              <a:t>	;</a:t>
            </a:r>
            <a:r>
              <a:rPr lang="zh-CN" altLang="en-US" sz="2800" dirty="0">
                <a:latin typeface="宋体" panose="02010600030101010101" pitchFamily="2" charset="-122"/>
              </a:rPr>
              <a:t>输入一个字符</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int</a:t>
            </a:r>
            <a:r>
              <a:rPr lang="en-US" altLang="zh-CN" sz="2800">
                <a:solidFill>
                  <a:schemeClr val="accent2"/>
                </a:solidFill>
                <a:latin typeface="宋体" panose="02010600030101010101" pitchFamily="2" charset="-122"/>
              </a:rPr>
              <a:t> 21h</a:t>
            </a:r>
          </a:p>
        </p:txBody>
      </p:sp>
      <p:grpSp>
        <p:nvGrpSpPr>
          <p:cNvPr id="343043" name="组合 343042"/>
          <p:cNvGrpSpPr/>
          <p:nvPr/>
        </p:nvGrpSpPr>
        <p:grpSpPr>
          <a:xfrm>
            <a:off x="177800" y="230188"/>
            <a:ext cx="203200" cy="6503987"/>
            <a:chOff x="112" y="145"/>
            <a:chExt cx="128" cy="4097"/>
          </a:xfrm>
        </p:grpSpPr>
        <p:sp>
          <p:nvSpPr>
            <p:cNvPr id="343044" name="矩形 343043"/>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3045" name="矩形 343044"/>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3046" name="组合 343045"/>
          <p:cNvGrpSpPr/>
          <p:nvPr/>
        </p:nvGrpSpPr>
        <p:grpSpPr>
          <a:xfrm>
            <a:off x="8793163" y="220663"/>
            <a:ext cx="198437" cy="6408737"/>
            <a:chOff x="5539" y="139"/>
            <a:chExt cx="125" cy="4037"/>
          </a:xfrm>
        </p:grpSpPr>
        <p:sp>
          <p:nvSpPr>
            <p:cNvPr id="343047" name="矩形 343046"/>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3048" name="矩形 343047"/>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3049" name="组合 343048"/>
          <p:cNvGrpSpPr/>
          <p:nvPr/>
        </p:nvGrpSpPr>
        <p:grpSpPr>
          <a:xfrm>
            <a:off x="412750" y="6477000"/>
            <a:ext cx="8686800" cy="228600"/>
            <a:chOff x="260" y="4080"/>
            <a:chExt cx="5472" cy="144"/>
          </a:xfrm>
        </p:grpSpPr>
        <p:sp>
          <p:nvSpPr>
            <p:cNvPr id="343050" name="矩形 343049"/>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3051" name="矩形 343050"/>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3052" name="组合 343051"/>
          <p:cNvGrpSpPr/>
          <p:nvPr/>
        </p:nvGrpSpPr>
        <p:grpSpPr>
          <a:xfrm>
            <a:off x="76200" y="176213"/>
            <a:ext cx="8745538" cy="161925"/>
            <a:chOff x="48" y="111"/>
            <a:chExt cx="5509" cy="102"/>
          </a:xfrm>
        </p:grpSpPr>
        <p:sp>
          <p:nvSpPr>
            <p:cNvPr id="343053" name="矩形 343052"/>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3054" name="矩形 343053"/>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3055" name="标题 343054"/>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4.18</a:t>
            </a:r>
            <a:r>
              <a:rPr lang="zh-CN" altLang="en-US" sz="2400" dirty="0">
                <a:latin typeface="黑体" panose="02010609060101010101" pitchFamily="2" charset="-122"/>
              </a:rPr>
              <a:t>－</a:t>
            </a:r>
            <a:r>
              <a:rPr lang="en-US" altLang="zh-CN" sz="2400">
                <a:latin typeface="黑体" panose="02010609060101010101" pitchFamily="2" charset="-122"/>
              </a:rPr>
              <a:t>2/5</a:t>
            </a:r>
          </a:p>
        </p:txBody>
      </p:sp>
      <p:pic>
        <p:nvPicPr>
          <p:cNvPr id="343056" name="图片 343055"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43057" name="图片 343056"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文本占位符 344065"/>
          <p:cNvSpPr>
            <a:spLocks noGrp="1"/>
          </p:cNvSpPr>
          <p:nvPr>
            <p:ph type="body" idx="1"/>
          </p:nvPr>
        </p:nvSpPr>
        <p:spPr>
          <a:xfrm>
            <a:off x="533400" y="914400"/>
            <a:ext cx="8153400" cy="5562600"/>
          </a:xfrm>
        </p:spPr>
        <p:txBody>
          <a:bodyPr/>
          <a:lstStyle/>
          <a:p>
            <a:pPr marL="0" indent="0" defTabSz="914400">
              <a:lnSpc>
                <a:spcPct val="110000"/>
              </a:lnSpc>
              <a:buNone/>
              <a:tabLst>
                <a:tab pos="1520825" algn="l"/>
                <a:tab pos="3810000" algn="l"/>
              </a:tabLst>
            </a:pPr>
            <a:r>
              <a:rPr lang="en-US" altLang="zh-CN"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al,'+'	</a:t>
            </a:r>
            <a:r>
              <a:rPr lang="en-US" altLang="zh-CN" sz="2800">
                <a:latin typeface="宋体" panose="02010600030101010101" pitchFamily="2" charset="-122"/>
              </a:rPr>
              <a:t>;</a:t>
            </a:r>
            <a:r>
              <a:rPr lang="zh-CN" altLang="en-US" sz="2800" dirty="0">
                <a:latin typeface="宋体" panose="02010600030101010101" pitchFamily="2" charset="-122"/>
              </a:rPr>
              <a:t>是“＋”，继续输入字符</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jz</a:t>
            </a:r>
            <a:r>
              <a:rPr lang="en-US" altLang="zh-CN" sz="2800">
                <a:solidFill>
                  <a:schemeClr val="accent2"/>
                </a:solidFill>
                <a:latin typeface="宋体" panose="02010600030101010101" pitchFamily="2" charset="-122"/>
              </a:rPr>
              <a:t> read1</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al,'-'	</a:t>
            </a:r>
            <a:r>
              <a:rPr lang="en-US" altLang="zh-CN" sz="2800">
                <a:latin typeface="宋体" panose="02010600030101010101" pitchFamily="2" charset="-122"/>
              </a:rPr>
              <a:t>;</a:t>
            </a:r>
            <a:r>
              <a:rPr lang="zh-CN" altLang="en-US" sz="2800" dirty="0">
                <a:latin typeface="宋体" panose="02010600030101010101" pitchFamily="2" charset="-122"/>
              </a:rPr>
              <a:t>是“－”，设置－</a:t>
            </a:r>
            <a:r>
              <a:rPr lang="en-US" altLang="zh-CN" sz="2800">
                <a:latin typeface="宋体" panose="02010600030101010101" pitchFamily="2" charset="-122"/>
              </a:rPr>
              <a:t>1</a:t>
            </a:r>
            <a:r>
              <a:rPr lang="zh-CN" altLang="en-US" sz="2800" dirty="0">
                <a:latin typeface="宋体" panose="02010600030101010101" pitchFamily="2" charset="-122"/>
              </a:rPr>
              <a:t>标志</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jnz</a:t>
            </a:r>
            <a:r>
              <a:rPr lang="en-US" altLang="zh-CN" sz="2800">
                <a:solidFill>
                  <a:schemeClr val="accent2"/>
                </a:solidFill>
                <a:latin typeface="宋体" panose="02010600030101010101" pitchFamily="2" charset="-122"/>
              </a:rPr>
              <a:t> </a:t>
            </a:r>
            <a:r>
              <a:rPr lang="en-US" altLang="zh-CN" sz="2800">
                <a:solidFill>
                  <a:schemeClr val="tx2"/>
                </a:solidFill>
                <a:latin typeface="宋体" panose="02010600030101010101" pitchFamily="2" charset="-122"/>
              </a:rPr>
              <a:t>read2</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非“＋”和“－”，转</a:t>
            </a:r>
            <a:r>
              <a:rPr lang="en-US" altLang="zh-CN" sz="2800">
                <a:latin typeface="宋体" panose="02010600030101010101" pitchFamily="2" charset="-122"/>
              </a:rPr>
              <a:t>read2</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tx2"/>
                </a:solidFill>
                <a:latin typeface="宋体" panose="02010600030101010101" pitchFamily="2" charset="-122"/>
              </a:rPr>
              <a:t>mov</a:t>
            </a:r>
            <a:r>
              <a:rPr lang="en-US" altLang="zh-CN" sz="2800">
                <a:solidFill>
                  <a:schemeClr val="tx2"/>
                </a:solidFill>
                <a:latin typeface="宋体" panose="02010600030101010101" pitchFamily="2" charset="-122"/>
              </a:rPr>
              <a:t> cx,-1</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read1: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ah,1	</a:t>
            </a:r>
            <a:r>
              <a:rPr lang="en-US" altLang="zh-CN" sz="2800">
                <a:latin typeface="宋体" panose="02010600030101010101" pitchFamily="2" charset="-122"/>
              </a:rPr>
              <a:t>;</a:t>
            </a:r>
            <a:r>
              <a:rPr lang="zh-CN" altLang="en-US" sz="2800" dirty="0">
                <a:latin typeface="宋体" panose="02010600030101010101" pitchFamily="2" charset="-122"/>
              </a:rPr>
              <a:t>继续输入字符</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int</a:t>
            </a:r>
            <a:r>
              <a:rPr lang="en-US" altLang="zh-CN" sz="2800">
                <a:solidFill>
                  <a:schemeClr val="accent2"/>
                </a:solidFill>
                <a:latin typeface="宋体" panose="02010600030101010101" pitchFamily="2" charset="-122"/>
              </a:rPr>
              <a:t> 21h</a:t>
            </a:r>
          </a:p>
          <a:p>
            <a:pPr marL="0" indent="0" defTabSz="914400">
              <a:lnSpc>
                <a:spcPct val="80000"/>
              </a:lnSpc>
              <a:buNone/>
              <a:tabLst>
                <a:tab pos="1520825" algn="l"/>
                <a:tab pos="3810000" algn="l"/>
              </a:tabLst>
            </a:pPr>
            <a:r>
              <a:rPr lang="en-US" altLang="zh-CN" sz="2800">
                <a:solidFill>
                  <a:schemeClr val="tx2"/>
                </a:solidFill>
                <a:latin typeface="宋体" panose="02010600030101010101" pitchFamily="2" charset="-122"/>
              </a:rPr>
              <a:t>read2:</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al,</a:t>
            </a:r>
            <a:r>
              <a:rPr lang="en-US" altLang="zh-CN" sz="2800">
                <a:solidFill>
                  <a:schemeClr val="accent2"/>
                </a:solidFill>
                <a:latin typeface="宋体" panose="02010600030101010101" pitchFamily="2" charset="-122"/>
                <a:sym typeface="+mn-ea"/>
              </a:rPr>
              <a:t>'</a:t>
            </a:r>
            <a:r>
              <a:rPr lang="en-US" altLang="zh-CN" sz="2800">
                <a:solidFill>
                  <a:schemeClr val="accent2"/>
                </a:solidFill>
                <a:latin typeface="宋体" panose="02010600030101010101" pitchFamily="2" charset="-122"/>
              </a:rPr>
              <a:t>0</a:t>
            </a:r>
            <a:r>
              <a:rPr lang="en-US" altLang="zh-CN" sz="2800">
                <a:solidFill>
                  <a:schemeClr val="accent2"/>
                </a:solidFill>
                <a:latin typeface="宋体" panose="02010600030101010101" pitchFamily="2" charset="-122"/>
                <a:sym typeface="+mn-ea"/>
              </a:rPr>
              <a:t>'</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不是</a:t>
            </a:r>
            <a:r>
              <a:rPr lang="en-US" altLang="zh-CN" sz="2800">
                <a:latin typeface="宋体" panose="02010600030101010101" pitchFamily="2" charset="-122"/>
              </a:rPr>
              <a:t>0</a:t>
            </a:r>
            <a:r>
              <a:rPr lang="zh-CN" altLang="en-US" sz="2800" dirty="0">
                <a:latin typeface="宋体" panose="02010600030101010101" pitchFamily="2" charset="-122"/>
              </a:rPr>
              <a:t>～</a:t>
            </a:r>
            <a:r>
              <a:rPr lang="en-US" altLang="zh-CN" sz="2800">
                <a:latin typeface="宋体" panose="02010600030101010101" pitchFamily="2" charset="-122"/>
              </a:rPr>
              <a:t>9</a:t>
            </a:r>
            <a:r>
              <a:rPr lang="zh-CN" altLang="en-US" sz="2800" dirty="0">
                <a:latin typeface="宋体" panose="02010600030101010101" pitchFamily="2" charset="-122"/>
              </a:rPr>
              <a:t>之间的字符，则输入数据结束</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jb</a:t>
            </a:r>
            <a:r>
              <a:rPr lang="en-US" altLang="zh-CN" sz="2800">
                <a:solidFill>
                  <a:schemeClr val="accent2"/>
                </a:solidFill>
                <a:latin typeface="宋体" panose="02010600030101010101" pitchFamily="2" charset="-122"/>
              </a:rPr>
              <a:t> read3</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al,'9'</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ja</a:t>
            </a:r>
            <a:r>
              <a:rPr lang="en-US" altLang="zh-CN" sz="2800">
                <a:solidFill>
                  <a:schemeClr val="accent2"/>
                </a:solidFill>
                <a:latin typeface="宋体" panose="02010600030101010101" pitchFamily="2" charset="-122"/>
              </a:rPr>
              <a:t> read3</a:t>
            </a:r>
          </a:p>
        </p:txBody>
      </p:sp>
      <p:grpSp>
        <p:nvGrpSpPr>
          <p:cNvPr id="344067" name="组合 344066"/>
          <p:cNvGrpSpPr/>
          <p:nvPr/>
        </p:nvGrpSpPr>
        <p:grpSpPr>
          <a:xfrm>
            <a:off x="177800" y="230188"/>
            <a:ext cx="203200" cy="6503987"/>
            <a:chOff x="112" y="145"/>
            <a:chExt cx="128" cy="4097"/>
          </a:xfrm>
        </p:grpSpPr>
        <p:sp>
          <p:nvSpPr>
            <p:cNvPr id="344068" name="矩形 344067"/>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4069" name="矩形 344068"/>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4070" name="组合 344069"/>
          <p:cNvGrpSpPr/>
          <p:nvPr/>
        </p:nvGrpSpPr>
        <p:grpSpPr>
          <a:xfrm>
            <a:off x="8793163" y="220663"/>
            <a:ext cx="198437" cy="6408737"/>
            <a:chOff x="5539" y="139"/>
            <a:chExt cx="125" cy="4037"/>
          </a:xfrm>
        </p:grpSpPr>
        <p:sp>
          <p:nvSpPr>
            <p:cNvPr id="344071" name="矩形 344070"/>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4072" name="矩形 344071"/>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4073" name="组合 344072"/>
          <p:cNvGrpSpPr/>
          <p:nvPr/>
        </p:nvGrpSpPr>
        <p:grpSpPr>
          <a:xfrm>
            <a:off x="412750" y="6477000"/>
            <a:ext cx="8686800" cy="228600"/>
            <a:chOff x="260" y="4080"/>
            <a:chExt cx="5472" cy="144"/>
          </a:xfrm>
        </p:grpSpPr>
        <p:sp>
          <p:nvSpPr>
            <p:cNvPr id="344074" name="矩形 344073"/>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4075" name="矩形 344074"/>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4076" name="组合 344075"/>
          <p:cNvGrpSpPr/>
          <p:nvPr/>
        </p:nvGrpSpPr>
        <p:grpSpPr>
          <a:xfrm>
            <a:off x="76200" y="176213"/>
            <a:ext cx="8745538" cy="161925"/>
            <a:chOff x="48" y="111"/>
            <a:chExt cx="5509" cy="102"/>
          </a:xfrm>
        </p:grpSpPr>
        <p:sp>
          <p:nvSpPr>
            <p:cNvPr id="344077" name="矩形 344076"/>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4078" name="矩形 344077"/>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4079" name="标题 344078"/>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4.18</a:t>
            </a:r>
            <a:r>
              <a:rPr lang="zh-CN" altLang="en-US" sz="2400" dirty="0">
                <a:latin typeface="黑体" panose="02010609060101010101" pitchFamily="2" charset="-122"/>
              </a:rPr>
              <a:t>－</a:t>
            </a:r>
            <a:r>
              <a:rPr lang="en-US" altLang="zh-CN" sz="2400">
                <a:latin typeface="黑体" panose="02010609060101010101" pitchFamily="2" charset="-122"/>
              </a:rPr>
              <a:t>3/5</a:t>
            </a:r>
          </a:p>
        </p:txBody>
      </p:sp>
      <p:pic>
        <p:nvPicPr>
          <p:cNvPr id="344080" name="图片 344079"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44081" name="图片 344080"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090" name="文本占位符 345089"/>
          <p:cNvSpPr>
            <a:spLocks noGrp="1"/>
          </p:cNvSpPr>
          <p:nvPr>
            <p:ph type="body" idx="1"/>
          </p:nvPr>
        </p:nvSpPr>
        <p:spPr>
          <a:xfrm>
            <a:off x="533400" y="685800"/>
            <a:ext cx="8153400" cy="5791200"/>
          </a:xfrm>
        </p:spPr>
        <p:txBody>
          <a:bodyPr/>
          <a:lstStyle/>
          <a:p>
            <a:pPr marL="0" indent="0" defTabSz="914400">
              <a:lnSpc>
                <a:spcPct val="80000"/>
              </a:lnSpc>
              <a:buNone/>
              <a:tabLst>
                <a:tab pos="1520825" algn="l"/>
                <a:tab pos="3810000" algn="l"/>
              </a:tabLst>
            </a:pPr>
            <a:r>
              <a:rPr lang="en-US" altLang="zh-CN"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sub al,30h</a:t>
            </a:r>
          </a:p>
          <a:p>
            <a:pPr marL="0" indent="0" defTabSz="914400">
              <a:lnSpc>
                <a:spcPct val="8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是</a:t>
            </a:r>
            <a:r>
              <a:rPr lang="en-US" altLang="zh-CN" sz="2800">
                <a:latin typeface="宋体" panose="02010600030101010101" pitchFamily="2" charset="-122"/>
              </a:rPr>
              <a:t>0</a:t>
            </a:r>
            <a:r>
              <a:rPr lang="zh-CN" altLang="en-US" sz="2800" dirty="0">
                <a:latin typeface="宋体" panose="02010600030101010101" pitchFamily="2" charset="-122"/>
              </a:rPr>
              <a:t>～</a:t>
            </a:r>
            <a:r>
              <a:rPr lang="en-US" altLang="zh-CN" sz="2800">
                <a:latin typeface="宋体" panose="02010600030101010101" pitchFamily="2" charset="-122"/>
              </a:rPr>
              <a:t>9</a:t>
            </a:r>
            <a:r>
              <a:rPr lang="zh-CN" altLang="en-US" sz="2800" dirty="0">
                <a:latin typeface="宋体" panose="02010600030101010101" pitchFamily="2" charset="-122"/>
              </a:rPr>
              <a:t>之间的字符，则转换为二进制数</a:t>
            </a:r>
          </a:p>
          <a:p>
            <a:pPr marL="0" indent="0" defTabSz="914400">
              <a:lnSpc>
                <a:spcPct val="8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利用移位指令，实现数值乘</a:t>
            </a:r>
            <a:r>
              <a:rPr lang="en-US" altLang="zh-CN" sz="2800">
                <a:latin typeface="宋体" panose="02010600030101010101" pitchFamily="2" charset="-122"/>
              </a:rPr>
              <a:t>10</a:t>
            </a:r>
            <a:r>
              <a:rPr lang="zh-CN" altLang="en-US" sz="2800" dirty="0">
                <a:latin typeface="宋体" panose="02010600030101010101" pitchFamily="2" charset="-122"/>
              </a:rPr>
              <a:t>：</a:t>
            </a:r>
            <a:r>
              <a:rPr lang="en-US" altLang="zh-CN" sz="2800">
                <a:latin typeface="宋体" panose="02010600030101010101" pitchFamily="2" charset="-122"/>
              </a:rPr>
              <a:t>BX←BX×10</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shl</a:t>
            </a:r>
            <a:r>
              <a:rPr lang="en-US" altLang="zh-CN" sz="2800">
                <a:solidFill>
                  <a:schemeClr val="accent2"/>
                </a:solidFill>
                <a:latin typeface="宋体" panose="02010600030101010101" pitchFamily="2" charset="-122"/>
              </a:rPr>
              <a:t> bx,1</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dx,bx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shl</a:t>
            </a:r>
            <a:r>
              <a:rPr lang="en-US" altLang="zh-CN" sz="2800">
                <a:solidFill>
                  <a:schemeClr val="accent2"/>
                </a:solidFill>
                <a:latin typeface="宋体" panose="02010600030101010101" pitchFamily="2" charset="-122"/>
              </a:rPr>
              <a:t> bx,1</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shl</a:t>
            </a:r>
            <a:r>
              <a:rPr lang="en-US" altLang="zh-CN" sz="2800">
                <a:solidFill>
                  <a:schemeClr val="accent2"/>
                </a:solidFill>
                <a:latin typeface="宋体" panose="02010600030101010101" pitchFamily="2" charset="-122"/>
              </a:rPr>
              <a:t> bx,1</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add </a:t>
            </a:r>
            <a:r>
              <a:rPr lang="en-US" altLang="zh-CN" sz="2800" dirty="0" err="1">
                <a:solidFill>
                  <a:schemeClr val="accent2"/>
                </a:solidFill>
                <a:latin typeface="宋体" panose="02010600030101010101" pitchFamily="2" charset="-122"/>
              </a:rPr>
              <a:t>bx,dx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ah,0</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a:solidFill>
                  <a:schemeClr val="tx2"/>
                </a:solidFill>
                <a:latin typeface="宋体" panose="02010600030101010101" pitchFamily="2" charset="-122"/>
              </a:rPr>
              <a:t>add </a:t>
            </a:r>
            <a:r>
              <a:rPr lang="en-US" altLang="zh-CN" sz="2800" dirty="0" err="1">
                <a:solidFill>
                  <a:schemeClr val="tx2"/>
                </a:solidFill>
                <a:latin typeface="宋体" panose="02010600030101010101" pitchFamily="2" charset="-122"/>
              </a:rPr>
              <a:t>bx,ax</a:t>
            </a:r>
            <a:endParaRPr lang="en-US" altLang="zh-CN" sz="2800">
              <a:solidFill>
                <a:schemeClr val="tx2"/>
              </a:solidFill>
              <a:latin typeface="宋体" panose="02010600030101010101" pitchFamily="2" charset="-122"/>
            </a:endParaRPr>
          </a:p>
          <a:p>
            <a:pPr marL="0" indent="0" defTabSz="914400">
              <a:lnSpc>
                <a:spcPct val="8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已输入数值乘</a:t>
            </a:r>
            <a:r>
              <a:rPr lang="en-US" altLang="zh-CN" sz="2800">
                <a:latin typeface="宋体" panose="02010600030101010101" pitchFamily="2" charset="-122"/>
              </a:rPr>
              <a:t>10</a:t>
            </a:r>
            <a:r>
              <a:rPr lang="zh-CN" altLang="en-US" sz="2800" dirty="0">
                <a:latin typeface="宋体" panose="02010600030101010101" pitchFamily="2" charset="-122"/>
              </a:rPr>
              <a:t>后，与新输入数值相加</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jmp</a:t>
            </a:r>
            <a:r>
              <a:rPr lang="en-US" altLang="zh-CN" sz="2800">
                <a:solidFill>
                  <a:schemeClr val="accent2"/>
                </a:solidFill>
                <a:latin typeface="宋体" panose="02010600030101010101" pitchFamily="2" charset="-122"/>
              </a:rPr>
              <a:t> read1</a:t>
            </a:r>
            <a:r>
              <a:rPr lang="en-US" altLang="zh-CN" sz="2800">
                <a:latin typeface="宋体" panose="02010600030101010101" pitchFamily="2" charset="-122"/>
              </a:rPr>
              <a:t>	;</a:t>
            </a:r>
            <a:r>
              <a:rPr lang="zh-CN" altLang="en-US" sz="2800" dirty="0">
                <a:latin typeface="宋体" panose="02010600030101010101" pitchFamily="2" charset="-122"/>
              </a:rPr>
              <a:t>继续输入字符</a:t>
            </a:r>
          </a:p>
        </p:txBody>
      </p:sp>
      <p:grpSp>
        <p:nvGrpSpPr>
          <p:cNvPr id="345091" name="组合 345090"/>
          <p:cNvGrpSpPr/>
          <p:nvPr/>
        </p:nvGrpSpPr>
        <p:grpSpPr>
          <a:xfrm>
            <a:off x="177800" y="230188"/>
            <a:ext cx="203200" cy="6503987"/>
            <a:chOff x="112" y="145"/>
            <a:chExt cx="128" cy="4097"/>
          </a:xfrm>
        </p:grpSpPr>
        <p:sp>
          <p:nvSpPr>
            <p:cNvPr id="345092" name="矩形 345091"/>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5093" name="矩形 345092"/>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5094" name="组合 345093"/>
          <p:cNvGrpSpPr/>
          <p:nvPr/>
        </p:nvGrpSpPr>
        <p:grpSpPr>
          <a:xfrm>
            <a:off x="8793163" y="220663"/>
            <a:ext cx="198437" cy="6408737"/>
            <a:chOff x="5539" y="139"/>
            <a:chExt cx="125" cy="4037"/>
          </a:xfrm>
        </p:grpSpPr>
        <p:sp>
          <p:nvSpPr>
            <p:cNvPr id="345095" name="矩形 345094"/>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5096" name="矩形 345095"/>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5097" name="组合 345096"/>
          <p:cNvGrpSpPr/>
          <p:nvPr/>
        </p:nvGrpSpPr>
        <p:grpSpPr>
          <a:xfrm>
            <a:off x="412750" y="6477000"/>
            <a:ext cx="8686800" cy="228600"/>
            <a:chOff x="260" y="4080"/>
            <a:chExt cx="5472" cy="144"/>
          </a:xfrm>
        </p:grpSpPr>
        <p:sp>
          <p:nvSpPr>
            <p:cNvPr id="345098" name="矩形 345097"/>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5099" name="矩形 345098"/>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5100" name="组合 345099"/>
          <p:cNvGrpSpPr/>
          <p:nvPr/>
        </p:nvGrpSpPr>
        <p:grpSpPr>
          <a:xfrm>
            <a:off x="76200" y="176213"/>
            <a:ext cx="8745538" cy="161925"/>
            <a:chOff x="48" y="111"/>
            <a:chExt cx="5509" cy="102"/>
          </a:xfrm>
        </p:grpSpPr>
        <p:sp>
          <p:nvSpPr>
            <p:cNvPr id="345101" name="矩形 345100"/>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5102" name="矩形 345101"/>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5103" name="标题 345102"/>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4.18</a:t>
            </a:r>
            <a:r>
              <a:rPr lang="zh-CN" altLang="en-US" sz="2400" dirty="0">
                <a:latin typeface="黑体" panose="02010609060101010101" pitchFamily="2" charset="-122"/>
              </a:rPr>
              <a:t>－</a:t>
            </a:r>
            <a:r>
              <a:rPr lang="en-US" altLang="zh-CN" sz="2400">
                <a:latin typeface="黑体" panose="02010609060101010101" pitchFamily="2" charset="-122"/>
              </a:rPr>
              <a:t>4/5</a:t>
            </a:r>
          </a:p>
        </p:txBody>
      </p:sp>
      <p:pic>
        <p:nvPicPr>
          <p:cNvPr id="345104" name="图片 345103"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45105" name="图片 345104"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6114" name="文本占位符 346113"/>
          <p:cNvSpPr>
            <a:spLocks noGrp="1"/>
          </p:cNvSpPr>
          <p:nvPr>
            <p:ph type="body" idx="1"/>
          </p:nvPr>
        </p:nvSpPr>
        <p:spPr>
          <a:xfrm>
            <a:off x="533400" y="457200"/>
            <a:ext cx="8153400" cy="6019800"/>
          </a:xfrm>
        </p:spPr>
        <p:txBody>
          <a:bodyPr/>
          <a:lstStyle/>
          <a:p>
            <a:pPr marL="0" indent="0" defTabSz="914400">
              <a:lnSpc>
                <a:spcPct val="80000"/>
              </a:lnSpc>
              <a:buNone/>
              <a:tabLst>
                <a:tab pos="1520825" algn="l"/>
                <a:tab pos="3810000" algn="l"/>
              </a:tabLst>
            </a:pPr>
            <a:r>
              <a:rPr lang="en-US" altLang="zh-CN" sz="2400">
                <a:solidFill>
                  <a:schemeClr val="accent2"/>
                </a:solidFill>
                <a:latin typeface="宋体" panose="02010600030101010101" pitchFamily="2" charset="-122"/>
              </a:rPr>
              <a:t>read3: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cx,0</a:t>
            </a:r>
            <a:endParaRPr lang="en-US" altLang="zh-CN" sz="2800">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jz</a:t>
            </a:r>
            <a:r>
              <a:rPr lang="en-US" altLang="zh-CN" sz="2800">
                <a:solidFill>
                  <a:schemeClr val="accent2"/>
                </a:solidFill>
                <a:latin typeface="宋体" panose="02010600030101010101" pitchFamily="2" charset="-122"/>
              </a:rPr>
              <a:t> read4</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tx2"/>
                </a:solidFill>
                <a:latin typeface="宋体" panose="02010600030101010101" pitchFamily="2" charset="-122"/>
              </a:rPr>
              <a:t>neg</a:t>
            </a:r>
            <a:r>
              <a:rPr lang="en-US" altLang="zh-CN" sz="2800">
                <a:solidFill>
                  <a:schemeClr val="tx2"/>
                </a:solidFill>
                <a:latin typeface="宋体" panose="02010600030101010101" pitchFamily="2" charset="-122"/>
              </a:rPr>
              <a:t> </a:t>
            </a:r>
            <a:r>
              <a:rPr lang="en-US" altLang="zh-CN" sz="2800" dirty="0" err="1">
                <a:solidFill>
                  <a:schemeClr val="tx2"/>
                </a:solidFill>
                <a:latin typeface="宋体" panose="02010600030101010101" pitchFamily="2" charset="-122"/>
              </a:rPr>
              <a:t>bx</a:t>
            </a:r>
            <a:r>
              <a:rPr lang="en-US" altLang="zh-CN" sz="2800">
                <a:latin typeface="宋体" panose="02010600030101010101" pitchFamily="2" charset="-122"/>
              </a:rPr>
              <a:t>	;</a:t>
            </a:r>
            <a:r>
              <a:rPr lang="zh-CN" altLang="en-US" sz="2800" dirty="0">
                <a:latin typeface="宋体" panose="02010600030101010101" pitchFamily="2" charset="-122"/>
              </a:rPr>
              <a:t>是负数，进行求补</a:t>
            </a:r>
            <a:endParaRPr lang="zh-CN" altLang="en-US" sz="2800" dirty="0">
              <a:solidFill>
                <a:schemeClr val="bg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read4: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ax,bx</a:t>
            </a:r>
            <a:r>
              <a:rPr lang="en-US" altLang="zh-CN" sz="2800">
                <a:latin typeface="宋体" panose="02010600030101010101" pitchFamily="2" charset="-122"/>
              </a:rPr>
              <a:t>	;</a:t>
            </a:r>
            <a:r>
              <a:rPr lang="zh-CN" altLang="en-US" sz="2800" dirty="0">
                <a:latin typeface="宋体" panose="02010600030101010101" pitchFamily="2" charset="-122"/>
              </a:rPr>
              <a:t>设置出口参数</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pop </a:t>
            </a:r>
            <a:r>
              <a:rPr lang="en-US" altLang="zh-CN" sz="2800" dirty="0" err="1">
                <a:solidFill>
                  <a:schemeClr val="accent2"/>
                </a:solidFill>
                <a:latin typeface="宋体" panose="02010600030101010101" pitchFamily="2" charset="-122"/>
              </a:rPr>
              <a:t>dx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cx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ret</a:t>
            </a:r>
            <a:r>
              <a:rPr lang="en-US" altLang="zh-CN" sz="2800">
                <a:latin typeface="宋体" panose="02010600030101010101" pitchFamily="2" charset="-122"/>
              </a:rPr>
              <a:t>	;</a:t>
            </a:r>
            <a:r>
              <a:rPr lang="zh-CN" altLang="en-US" sz="2800" dirty="0">
                <a:latin typeface="宋体" panose="02010600030101010101" pitchFamily="2" charset="-122"/>
              </a:rPr>
              <a:t>子程序返回</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read	</a:t>
            </a:r>
            <a:r>
              <a:rPr lang="en-US" altLang="zh-CN" sz="2800" dirty="0" err="1">
                <a:solidFill>
                  <a:schemeClr val="accent2"/>
                </a:solidFill>
                <a:latin typeface="宋体" panose="02010600030101010101" pitchFamily="2" charset="-122"/>
              </a:rPr>
              <a:t>endp</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latin typeface="宋体" panose="02010600030101010101" pitchFamily="2" charset="-122"/>
              </a:rPr>
              <a:t>	;</a:t>
            </a:r>
            <a:r>
              <a:rPr lang="zh-CN" altLang="en-US" sz="2800" dirty="0">
                <a:latin typeface="宋体" panose="02010600030101010101" pitchFamily="2" charset="-122"/>
              </a:rPr>
              <a:t>使光标回车换行的子程序</a:t>
            </a:r>
          </a:p>
          <a:p>
            <a:pPr marL="0" indent="0" defTabSz="914400">
              <a:lnSpc>
                <a:spcPct val="80000"/>
              </a:lnSpc>
              <a:buNone/>
              <a:tabLst>
                <a:tab pos="1520825" algn="l"/>
                <a:tab pos="3810000" algn="l"/>
              </a:tabLst>
            </a:pPr>
            <a:r>
              <a:rPr lang="en-US" altLang="zh-CN" sz="2800" dirty="0" err="1">
                <a:solidFill>
                  <a:schemeClr val="accent2"/>
                </a:solidFill>
                <a:latin typeface="宋体" panose="02010600030101010101" pitchFamily="2" charset="-122"/>
              </a:rPr>
              <a:t>dpcrlf</a:t>
            </a:r>
            <a:r>
              <a:rPr lang="en-US" altLang="zh-CN" sz="2800">
                <a:solidFill>
                  <a:schemeClr val="accent2"/>
                </a:solidFill>
                <a:latin typeface="宋体" panose="02010600030101010101" pitchFamily="2" charset="-122"/>
              </a:rPr>
              <a:t>	proc</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	</a:t>
            </a:r>
            <a:r>
              <a:rPr lang="en-US" altLang="zh-CN" sz="2800">
                <a:latin typeface="宋体" panose="02010600030101010101" pitchFamily="2" charset="-122"/>
              </a:rPr>
              <a:t>;</a:t>
            </a:r>
            <a:r>
              <a:rPr lang="zh-CN" altLang="en-US" sz="2800" dirty="0">
                <a:latin typeface="宋体" panose="02010600030101010101" pitchFamily="2" charset="-122"/>
              </a:rPr>
              <a:t>省略</a:t>
            </a:r>
          </a:p>
          <a:p>
            <a:pPr marL="0" indent="0" defTabSz="914400">
              <a:lnSpc>
                <a:spcPct val="80000"/>
              </a:lnSpc>
              <a:buNone/>
              <a:tabLst>
                <a:tab pos="1520825" algn="l"/>
                <a:tab pos="3810000" algn="l"/>
              </a:tabLst>
            </a:pPr>
            <a:r>
              <a:rPr lang="en-US" altLang="zh-CN" sz="2800" dirty="0" err="1">
                <a:solidFill>
                  <a:schemeClr val="accent2"/>
                </a:solidFill>
                <a:latin typeface="宋体" panose="02010600030101010101" pitchFamily="2" charset="-122"/>
              </a:rPr>
              <a:t>dpcrlf</a:t>
            </a:r>
            <a:r>
              <a:rPr lang="en-US" altLang="zh-CN" sz="2800">
                <a:solidFill>
                  <a:schemeClr val="accent2"/>
                </a:solidFill>
                <a:latin typeface="宋体" panose="02010600030101010101" pitchFamily="2" charset="-122"/>
              </a:rPr>
              <a:t>	</a:t>
            </a:r>
            <a:r>
              <a:rPr lang="en-US" altLang="zh-CN" sz="2800" dirty="0">
                <a:solidFill>
                  <a:schemeClr val="accent2"/>
                </a:solidFill>
                <a:latin typeface="宋体" panose="02010600030101010101" pitchFamily="2" charset="-122"/>
              </a:rPr>
              <a:t>endp</a:t>
            </a:r>
            <a:endParaRPr lang="en-US" altLang="zh-CN" sz="2800">
              <a:solidFill>
                <a:schemeClr val="accent2"/>
              </a:solidFill>
              <a:latin typeface="宋体" panose="02010600030101010101" pitchFamily="2" charset="-122"/>
            </a:endParaRPr>
          </a:p>
        </p:txBody>
      </p:sp>
      <p:grpSp>
        <p:nvGrpSpPr>
          <p:cNvPr id="346115" name="组合 346114"/>
          <p:cNvGrpSpPr/>
          <p:nvPr/>
        </p:nvGrpSpPr>
        <p:grpSpPr>
          <a:xfrm>
            <a:off x="177800" y="230188"/>
            <a:ext cx="203200" cy="6503987"/>
            <a:chOff x="112" y="145"/>
            <a:chExt cx="128" cy="4097"/>
          </a:xfrm>
        </p:grpSpPr>
        <p:sp>
          <p:nvSpPr>
            <p:cNvPr id="346116" name="矩形 346115"/>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6117" name="矩形 346116"/>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6118" name="组合 346117"/>
          <p:cNvGrpSpPr/>
          <p:nvPr/>
        </p:nvGrpSpPr>
        <p:grpSpPr>
          <a:xfrm>
            <a:off x="8793163" y="220663"/>
            <a:ext cx="198437" cy="6408737"/>
            <a:chOff x="5539" y="139"/>
            <a:chExt cx="125" cy="4037"/>
          </a:xfrm>
        </p:grpSpPr>
        <p:sp>
          <p:nvSpPr>
            <p:cNvPr id="346119" name="矩形 346118"/>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6120" name="矩形 346119"/>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6121" name="组合 346120"/>
          <p:cNvGrpSpPr/>
          <p:nvPr/>
        </p:nvGrpSpPr>
        <p:grpSpPr>
          <a:xfrm>
            <a:off x="412750" y="6477000"/>
            <a:ext cx="8686800" cy="228600"/>
            <a:chOff x="260" y="4080"/>
            <a:chExt cx="5472" cy="144"/>
          </a:xfrm>
        </p:grpSpPr>
        <p:sp>
          <p:nvSpPr>
            <p:cNvPr id="346122" name="矩形 346121"/>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6123" name="矩形 346122"/>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6124" name="组合 346123"/>
          <p:cNvGrpSpPr/>
          <p:nvPr/>
        </p:nvGrpSpPr>
        <p:grpSpPr>
          <a:xfrm>
            <a:off x="76200" y="176213"/>
            <a:ext cx="8745538" cy="161925"/>
            <a:chOff x="48" y="111"/>
            <a:chExt cx="5509" cy="102"/>
          </a:xfrm>
        </p:grpSpPr>
        <p:sp>
          <p:nvSpPr>
            <p:cNvPr id="346125" name="矩形 346124"/>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6126" name="矩形 346125"/>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6127" name="标题 346126"/>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4.18</a:t>
            </a:r>
            <a:r>
              <a:rPr lang="zh-CN" altLang="en-US" sz="2400" dirty="0">
                <a:latin typeface="黑体" panose="02010609060101010101" pitchFamily="2" charset="-122"/>
              </a:rPr>
              <a:t>－</a:t>
            </a:r>
            <a:r>
              <a:rPr lang="en-US" altLang="zh-CN" sz="2400">
                <a:latin typeface="黑体" panose="02010609060101010101" pitchFamily="2" charset="-122"/>
              </a:rPr>
              <a:t>5/5</a:t>
            </a:r>
          </a:p>
        </p:txBody>
      </p:sp>
      <p:pic>
        <p:nvPicPr>
          <p:cNvPr id="346129" name="图片 346128" descr="6">
            <a:hlinkClick r:id="" action="ppaction://hlinkshowjump?jump=previousslide"/>
          </p:cNvPr>
          <p:cNvPicPr>
            <a:picLocks noChangeAspect="1"/>
          </p:cNvPicPr>
          <p:nvPr/>
        </p:nvPicPr>
        <p:blipFill>
          <a:blip r:embed="rId2"/>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标题 336897"/>
          <p:cNvSpPr>
            <a:spLocks noGrp="1"/>
          </p:cNvSpPr>
          <p:nvPr>
            <p:ph type="title"/>
          </p:nvPr>
        </p:nvSpPr>
        <p:spPr/>
        <p:txBody>
          <a:bodyPr anchor="ctr" anchorCtr="0"/>
          <a:lstStyle/>
          <a:p>
            <a:r>
              <a:rPr lang="zh-CN" altLang="en-US" sz="2800" dirty="0"/>
              <a:t>例题</a:t>
            </a:r>
            <a:r>
              <a:rPr lang="en-US" altLang="zh-CN" sz="2800" dirty="0"/>
              <a:t>4.19</a:t>
            </a:r>
            <a:r>
              <a:rPr lang="zh-CN" altLang="en-US" sz="2800" dirty="0"/>
              <a:t>：显示有符号十进制数</a:t>
            </a:r>
          </a:p>
        </p:txBody>
      </p:sp>
      <p:sp>
        <p:nvSpPr>
          <p:cNvPr id="336899" name="文本占位符 336898"/>
          <p:cNvSpPr>
            <a:spLocks noGrp="1"/>
          </p:cNvSpPr>
          <p:nvPr>
            <p:ph type="body" idx="1"/>
          </p:nvPr>
        </p:nvSpPr>
        <p:spPr>
          <a:xfrm>
            <a:off x="990600" y="1676400"/>
            <a:ext cx="7315200" cy="3886200"/>
          </a:xfrm>
        </p:spPr>
        <p:txBody>
          <a:bodyPr/>
          <a:lstStyle/>
          <a:p>
            <a:r>
              <a:rPr lang="zh-CN" altLang="en-US" sz="3200" dirty="0"/>
              <a:t>子程序在屏幕上显示一个有符号十进制数；子程序还包含将二进制数转换为</a:t>
            </a:r>
            <a:r>
              <a:rPr lang="en-US" altLang="zh-CN" sz="3200"/>
              <a:t>ASCII</a:t>
            </a:r>
            <a:r>
              <a:rPr lang="zh-CN" altLang="en-US" sz="3200" dirty="0"/>
              <a:t>码的过程</a:t>
            </a:r>
          </a:p>
          <a:p>
            <a:pPr>
              <a:spcBef>
                <a:spcPct val="50000"/>
              </a:spcBef>
            </a:pPr>
            <a:r>
              <a:rPr lang="zh-CN" altLang="en-US" sz="3200" dirty="0"/>
              <a:t>显示时，负数用“－”引导，正数直接输出、没有前导字符</a:t>
            </a:r>
          </a:p>
          <a:p>
            <a:r>
              <a:rPr lang="zh-CN" altLang="en-US" sz="3200" dirty="0"/>
              <a:t>子程序</a:t>
            </a:r>
            <a:r>
              <a:rPr lang="zh-CN" altLang="en-US" sz="3200" dirty="0">
                <a:solidFill>
                  <a:schemeClr val="tx2"/>
                </a:solidFill>
              </a:rPr>
              <a:t>的入口参数用共享变量传递</a:t>
            </a:r>
            <a:r>
              <a:rPr lang="zh-CN" altLang="en-US" sz="3200" dirty="0"/>
              <a:t>，主程序调用该子程序显示</a:t>
            </a:r>
            <a:r>
              <a:rPr lang="en-US" altLang="zh-CN" sz="3200"/>
              <a:t>10</a:t>
            </a:r>
            <a:r>
              <a:rPr lang="zh-CN" altLang="en-US" sz="3200" dirty="0"/>
              <a:t>个数据</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0" name="标题 339969"/>
          <p:cNvSpPr>
            <a:spLocks noGrp="1"/>
          </p:cNvSpPr>
          <p:nvPr>
            <p:ph type="title"/>
          </p:nvPr>
        </p:nvSpPr>
        <p:spPr>
          <a:xfrm>
            <a:off x="971550" y="0"/>
            <a:ext cx="7772400" cy="762000"/>
          </a:xfrm>
        </p:spPr>
        <p:txBody>
          <a:bodyPr anchor="ctr" anchorCtr="0"/>
          <a:lstStyle/>
          <a:p>
            <a:r>
              <a:rPr lang="zh-CN" altLang="en-US" dirty="0"/>
              <a:t>二进制数转换为</a:t>
            </a:r>
            <a:r>
              <a:rPr lang="en-US" altLang="zh-CN"/>
              <a:t>ASCII</a:t>
            </a:r>
            <a:r>
              <a:rPr lang="zh-CN" altLang="en-US" dirty="0"/>
              <a:t>码</a:t>
            </a:r>
          </a:p>
        </p:txBody>
      </p:sp>
      <p:sp>
        <p:nvSpPr>
          <p:cNvPr id="339971" name="文本占位符 339970"/>
          <p:cNvSpPr>
            <a:spLocks noGrp="1"/>
          </p:cNvSpPr>
          <p:nvPr>
            <p:ph type="body" idx="1"/>
          </p:nvPr>
        </p:nvSpPr>
        <p:spPr>
          <a:xfrm>
            <a:off x="609600" y="1447800"/>
            <a:ext cx="8001000" cy="4953000"/>
          </a:xfrm>
        </p:spPr>
        <p:txBody>
          <a:bodyPr/>
          <a:lstStyle/>
          <a:p>
            <a:pPr marL="484505" indent="-484505">
              <a:lnSpc>
                <a:spcPct val="90000"/>
              </a:lnSpc>
              <a:buNone/>
            </a:pPr>
            <a:r>
              <a:rPr lang="en-US" altLang="zh-CN" sz="2800"/>
              <a:t>① </a:t>
            </a:r>
            <a:r>
              <a:rPr lang="zh-CN" altLang="en-US" sz="2800" dirty="0"/>
              <a:t>首先判断数据是零、正数或负数，是零显示“</a:t>
            </a:r>
            <a:r>
              <a:rPr lang="en-US" altLang="zh-CN" sz="2800"/>
              <a:t>0”</a:t>
            </a:r>
            <a:r>
              <a:rPr lang="zh-CN" altLang="en-US" sz="2800" dirty="0"/>
              <a:t>退出</a:t>
            </a:r>
          </a:p>
          <a:p>
            <a:pPr marL="484505" indent="-484505">
              <a:lnSpc>
                <a:spcPct val="90000"/>
              </a:lnSpc>
              <a:buNone/>
            </a:pPr>
            <a:r>
              <a:rPr lang="en-US" altLang="zh-CN" sz="2800"/>
              <a:t>② </a:t>
            </a:r>
            <a:r>
              <a:rPr lang="zh-CN" altLang="en-US" sz="2800" dirty="0"/>
              <a:t>是负数，显示“－”，求数据的绝对值；</a:t>
            </a:r>
          </a:p>
          <a:p>
            <a:pPr marL="484505" indent="-484505">
              <a:lnSpc>
                <a:spcPct val="90000"/>
              </a:lnSpc>
              <a:buNone/>
            </a:pPr>
            <a:r>
              <a:rPr lang="en-US" altLang="zh-CN" sz="2800"/>
              <a:t>③ </a:t>
            </a:r>
            <a:r>
              <a:rPr lang="zh-CN" altLang="en-US" sz="2800" dirty="0"/>
              <a:t>接着数据除以</a:t>
            </a:r>
            <a:r>
              <a:rPr lang="en-US" altLang="zh-CN" sz="2800"/>
              <a:t>10</a:t>
            </a:r>
            <a:r>
              <a:rPr lang="zh-CN" altLang="en-US" sz="2800" dirty="0"/>
              <a:t>，余数加</a:t>
            </a:r>
            <a:r>
              <a:rPr lang="en-US" altLang="zh-CN" sz="2800"/>
              <a:t>30H</a:t>
            </a:r>
            <a:r>
              <a:rPr lang="zh-CN" altLang="en-US" sz="2800" dirty="0"/>
              <a:t>转换为</a:t>
            </a:r>
            <a:r>
              <a:rPr lang="en-US" altLang="zh-CN" sz="2800"/>
              <a:t>ASCII</a:t>
            </a:r>
            <a:r>
              <a:rPr lang="zh-CN" altLang="en-US" sz="2800" dirty="0"/>
              <a:t>码压入堆栈</a:t>
            </a:r>
          </a:p>
          <a:p>
            <a:pPr marL="484505" indent="-484505">
              <a:lnSpc>
                <a:spcPct val="90000"/>
              </a:lnSpc>
              <a:buNone/>
            </a:pPr>
            <a:r>
              <a:rPr lang="en-US" altLang="zh-CN" sz="2800"/>
              <a:t>④ </a:t>
            </a:r>
            <a:r>
              <a:rPr lang="zh-CN" altLang="en-US" sz="2800" dirty="0"/>
              <a:t>重复</a:t>
            </a:r>
            <a:r>
              <a:rPr lang="en-US" altLang="zh-CN" sz="2800"/>
              <a:t>③</a:t>
            </a:r>
            <a:r>
              <a:rPr lang="zh-CN" altLang="en-US" sz="2800" dirty="0"/>
              <a:t>步，直到商为</a:t>
            </a:r>
            <a:r>
              <a:rPr lang="en-US" altLang="zh-CN" sz="2800"/>
              <a:t>0</a:t>
            </a:r>
            <a:r>
              <a:rPr lang="zh-CN" altLang="en-US" sz="2800" dirty="0"/>
              <a:t>结束</a:t>
            </a:r>
          </a:p>
          <a:p>
            <a:pPr marL="484505" indent="-484505">
              <a:lnSpc>
                <a:spcPct val="90000"/>
              </a:lnSpc>
              <a:buNone/>
            </a:pPr>
            <a:r>
              <a:rPr lang="en-US" altLang="zh-CN" sz="2800"/>
              <a:t>⑤ </a:t>
            </a:r>
            <a:r>
              <a:rPr lang="zh-CN" altLang="en-US" sz="2800" dirty="0"/>
              <a:t>依次从堆栈弹出各位数字，进行显示</a:t>
            </a:r>
          </a:p>
          <a:p>
            <a:pPr marL="484505" indent="-484505">
              <a:lnSpc>
                <a:spcPct val="90000"/>
              </a:lnSpc>
              <a:spcBef>
                <a:spcPct val="100000"/>
              </a:spcBef>
            </a:pPr>
            <a:r>
              <a:rPr lang="zh-CN" altLang="en-US" sz="2800" dirty="0"/>
              <a:t>本例采用</a:t>
            </a:r>
            <a:r>
              <a:rPr lang="en-US" altLang="zh-CN" sz="2800"/>
              <a:t>16</a:t>
            </a:r>
            <a:r>
              <a:rPr lang="zh-CN" altLang="en-US" sz="2800" dirty="0"/>
              <a:t>位寄存器表达数据，所以只能显示＋</a:t>
            </a:r>
            <a:r>
              <a:rPr lang="en-US" altLang="zh-CN" sz="2800"/>
              <a:t>327677</a:t>
            </a:r>
            <a:r>
              <a:rPr lang="zh-CN" altLang="en-US" sz="2800" dirty="0"/>
              <a:t>～－</a:t>
            </a:r>
            <a:r>
              <a:rPr lang="en-US" altLang="zh-CN" sz="2800"/>
              <a:t>32768</a:t>
            </a:r>
            <a:r>
              <a:rPr lang="zh-CN" altLang="en-US" sz="2800" dirty="0"/>
              <a:t>间的数值</a:t>
            </a:r>
          </a:p>
          <a:p>
            <a:pPr marL="484505" indent="-484505">
              <a:lnSpc>
                <a:spcPct val="90000"/>
              </a:lnSpc>
            </a:pPr>
            <a:r>
              <a:rPr lang="zh-CN" altLang="en-US" sz="2800" dirty="0"/>
              <a:t>但该算法适合更大范围的数据</a:t>
            </a:r>
          </a:p>
        </p:txBody>
      </p:sp>
      <p:pic>
        <p:nvPicPr>
          <p:cNvPr id="339978" name="图片 339977" descr="14_6">
            <a:hlinkClick r:id="" action="ppaction://noaction"/>
          </p:cNvPr>
          <p:cNvPicPr>
            <a:picLocks noChangeAspect="1"/>
          </p:cNvPicPr>
          <p:nvPr/>
        </p:nvPicPr>
        <p:blipFill>
          <a:blip r:embed="rId2"/>
          <a:stretch>
            <a:fillRect/>
          </a:stretch>
        </p:blipFill>
        <p:spPr>
          <a:xfrm>
            <a:off x="8629650" y="6316663"/>
            <a:ext cx="514350" cy="533400"/>
          </a:xfrm>
          <a:prstGeom prst="rect">
            <a:avLst/>
          </a:prstGeom>
          <a:noFill/>
          <a:ln w="9525">
            <a:noFill/>
          </a:ln>
        </p:spPr>
      </p:pic>
      <p:pic>
        <p:nvPicPr>
          <p:cNvPr id="339979" name="图片 339978" descr="91"/>
          <p:cNvPicPr>
            <a:picLocks noChangeAspect="1"/>
          </p:cNvPicPr>
          <p:nvPr/>
        </p:nvPicPr>
        <p:blipFill>
          <a:blip r:embed="rId3"/>
          <a:stretch>
            <a:fillRect/>
          </a:stretch>
        </p:blipFill>
        <p:spPr>
          <a:xfrm>
            <a:off x="609600" y="4719638"/>
            <a:ext cx="8077200" cy="80962"/>
          </a:xfrm>
          <a:prstGeom prst="rect">
            <a:avLst/>
          </a:prstGeom>
          <a:noFill/>
          <a:ln w="9525">
            <a:noFill/>
          </a:ln>
        </p:spPr>
      </p:pic>
      <p:grpSp>
        <p:nvGrpSpPr>
          <p:cNvPr id="339980" name="组合 339979"/>
          <p:cNvGrpSpPr/>
          <p:nvPr/>
        </p:nvGrpSpPr>
        <p:grpSpPr>
          <a:xfrm>
            <a:off x="4763" y="44450"/>
            <a:ext cx="6629400" cy="1295400"/>
            <a:chOff x="-6" y="20"/>
            <a:chExt cx="4176" cy="816"/>
          </a:xfrm>
        </p:grpSpPr>
        <p:sp>
          <p:nvSpPr>
            <p:cNvPr id="339981" name="矩形 339980"/>
            <p:cNvSpPr/>
            <p:nvPr/>
          </p:nvSpPr>
          <p:spPr>
            <a:xfrm>
              <a:off x="-6" y="428"/>
              <a:ext cx="4176" cy="52"/>
            </a:xfrm>
            <a:prstGeom prst="rect">
              <a:avLst/>
            </a:prstGeom>
            <a:noFill/>
            <a:ln w="19050" cap="flat" cmpd="sng">
              <a:solidFill>
                <a:schemeClr val="hlink"/>
              </a:solidFill>
              <a:prstDash val="solid"/>
              <a:miter/>
              <a:headEnd type="none" w="med" len="med"/>
              <a:tailEnd type="none" w="med" len="med"/>
            </a:ln>
          </p:spPr>
          <p:txBody>
            <a:bodyPr wrap="none" anchor="ctr" anchorCtr="0"/>
            <a:lstStyle/>
            <a:p>
              <a:pPr algn="ctr"/>
              <a:endParaRPr dirty="0">
                <a:latin typeface="Arial" panose="020B0604020202020204" pitchFamily="34" charset="0"/>
              </a:endParaRPr>
            </a:p>
          </p:txBody>
        </p:sp>
        <p:sp>
          <p:nvSpPr>
            <p:cNvPr id="339982" name="矩形 339981"/>
            <p:cNvSpPr/>
            <p:nvPr/>
          </p:nvSpPr>
          <p:spPr>
            <a:xfrm>
              <a:off x="784" y="260"/>
              <a:ext cx="240" cy="240"/>
            </a:xfrm>
            <a:prstGeom prst="rect">
              <a:avLst/>
            </a:prstGeom>
            <a:solidFill>
              <a:srgbClr val="3333CC">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9983" name="矩形 339982"/>
            <p:cNvSpPr/>
            <p:nvPr/>
          </p:nvSpPr>
          <p:spPr>
            <a:xfrm>
              <a:off x="16" y="596"/>
              <a:ext cx="240" cy="240"/>
            </a:xfrm>
            <a:prstGeom prst="rect">
              <a:avLst/>
            </a:prstGeom>
            <a:solidFill>
              <a:srgbClr val="3333CC">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9984" name="矩形 339983"/>
            <p:cNvSpPr/>
            <p:nvPr/>
          </p:nvSpPr>
          <p:spPr>
            <a:xfrm>
              <a:off x="256" y="356"/>
              <a:ext cx="240" cy="240"/>
            </a:xfrm>
            <a:prstGeom prst="rect">
              <a:avLst/>
            </a:prstGeom>
            <a:solidFill>
              <a:srgbClr val="009900">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9985" name="矩形 339984"/>
            <p:cNvSpPr/>
            <p:nvPr/>
          </p:nvSpPr>
          <p:spPr>
            <a:xfrm>
              <a:off x="1024" y="20"/>
              <a:ext cx="240" cy="240"/>
            </a:xfrm>
            <a:prstGeom prst="rect">
              <a:avLst/>
            </a:prstGeom>
            <a:solidFill>
              <a:srgbClr val="CC0000">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39986" name="文本框 339985"/>
            <p:cNvSpPr txBox="1"/>
            <p:nvPr/>
          </p:nvSpPr>
          <p:spPr>
            <a:xfrm>
              <a:off x="99" y="42"/>
              <a:ext cx="641" cy="25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2700000" scaled="1"/>
              <a:tileRect/>
            </a:gradFill>
            <a:ln w="9525">
              <a:noFill/>
            </a:ln>
            <a:effectLst>
              <a:outerShdw dist="35921" dir="2699999" algn="ctr" rotWithShape="0">
                <a:schemeClr val="folHlink"/>
              </a:outerShdw>
            </a:effectLst>
          </p:spPr>
          <p:txBody>
            <a:bodyPr>
              <a:spAutoFit/>
            </a:bodyPr>
            <a:lstStyle/>
            <a:p>
              <a:pPr algn="ctr"/>
              <a:r>
                <a:rPr lang="zh-CN" altLang="en-US" sz="2000" dirty="0">
                  <a:solidFill>
                    <a:schemeClr val="accent2"/>
                  </a:solidFill>
                  <a:latin typeface="华文新魏" panose="02010800040101010101" pitchFamily="2" charset="-122"/>
                  <a:ea typeface="华文新魏" panose="02010800040101010101" pitchFamily="2" charset="-122"/>
                </a:rPr>
                <a:t>第 </a:t>
              </a:r>
              <a:r>
                <a:rPr lang="en-US" altLang="zh-CN" sz="2000" dirty="0">
                  <a:solidFill>
                    <a:schemeClr val="accent2"/>
                  </a:solidFill>
                  <a:latin typeface="华文新魏" panose="02010800040101010101" pitchFamily="2" charset="-122"/>
                  <a:ea typeface="华文新魏" panose="02010800040101010101" pitchFamily="2" charset="-122"/>
                </a:rPr>
                <a:t>4</a:t>
              </a:r>
              <a:r>
                <a:rPr lang="en-US" altLang="zh-CN" sz="2000">
                  <a:solidFill>
                    <a:schemeClr val="accent2"/>
                  </a:solidFill>
                  <a:latin typeface="华文新魏" panose="02010800040101010101" pitchFamily="2" charset="-122"/>
                  <a:ea typeface="华文新魏" panose="02010800040101010101" pitchFamily="2" charset="-122"/>
                </a:rPr>
                <a:t> </a:t>
              </a:r>
              <a:r>
                <a:rPr lang="zh-CN" altLang="en-US" sz="2000" dirty="0">
                  <a:solidFill>
                    <a:schemeClr val="accent2"/>
                  </a:solidFill>
                  <a:latin typeface="华文新魏" panose="02010800040101010101" pitchFamily="2" charset="-122"/>
                  <a:ea typeface="华文新魏" panose="02010800040101010101" pitchFamily="2" charset="-122"/>
                </a:rPr>
                <a:t>章</a:t>
              </a:r>
            </a:p>
          </p:txBody>
        </p:sp>
      </p:gr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9971">
                                            <p:txEl>
                                              <p:pRg st="0" end="0"/>
                                            </p:txEl>
                                          </p:spTgt>
                                        </p:tgtEl>
                                        <p:attrNameLst>
                                          <p:attrName>style.visibility</p:attrName>
                                        </p:attrNameLst>
                                      </p:cBhvr>
                                      <p:to>
                                        <p:strVal val="visible"/>
                                      </p:to>
                                    </p:set>
                                    <p:animEffect transition="in" filter="blinds(horizontal)">
                                      <p:cBhvr>
                                        <p:cTn id="7" dur="500"/>
                                        <p:tgtEl>
                                          <p:spTgt spid="339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9971">
                                            <p:txEl>
                                              <p:pRg st="1" end="1"/>
                                            </p:txEl>
                                          </p:spTgt>
                                        </p:tgtEl>
                                        <p:attrNameLst>
                                          <p:attrName>style.visibility</p:attrName>
                                        </p:attrNameLst>
                                      </p:cBhvr>
                                      <p:to>
                                        <p:strVal val="visible"/>
                                      </p:to>
                                    </p:set>
                                    <p:animEffect transition="in" filter="blinds(horizontal)">
                                      <p:cBhvr>
                                        <p:cTn id="12" dur="500"/>
                                        <p:tgtEl>
                                          <p:spTgt spid="339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9971">
                                            <p:txEl>
                                              <p:pRg st="2" end="2"/>
                                            </p:txEl>
                                          </p:spTgt>
                                        </p:tgtEl>
                                        <p:attrNameLst>
                                          <p:attrName>style.visibility</p:attrName>
                                        </p:attrNameLst>
                                      </p:cBhvr>
                                      <p:to>
                                        <p:strVal val="visible"/>
                                      </p:to>
                                    </p:set>
                                    <p:animEffect transition="in" filter="blinds(horizontal)">
                                      <p:cBhvr>
                                        <p:cTn id="17" dur="500"/>
                                        <p:tgtEl>
                                          <p:spTgt spid="339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9971">
                                            <p:txEl>
                                              <p:pRg st="3" end="3"/>
                                            </p:txEl>
                                          </p:spTgt>
                                        </p:tgtEl>
                                        <p:attrNameLst>
                                          <p:attrName>style.visibility</p:attrName>
                                        </p:attrNameLst>
                                      </p:cBhvr>
                                      <p:to>
                                        <p:strVal val="visible"/>
                                      </p:to>
                                    </p:set>
                                    <p:animEffect transition="in" filter="blinds(horizontal)">
                                      <p:cBhvr>
                                        <p:cTn id="22" dur="500"/>
                                        <p:tgtEl>
                                          <p:spTgt spid="339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39971">
                                            <p:txEl>
                                              <p:pRg st="4" end="4"/>
                                            </p:txEl>
                                          </p:spTgt>
                                        </p:tgtEl>
                                        <p:attrNameLst>
                                          <p:attrName>style.visibility</p:attrName>
                                        </p:attrNameLst>
                                      </p:cBhvr>
                                      <p:to>
                                        <p:strVal val="visible"/>
                                      </p:to>
                                    </p:set>
                                    <p:animEffect transition="in" filter="blinds(horizontal)">
                                      <p:cBhvr>
                                        <p:cTn id="27" dur="500"/>
                                        <p:tgtEl>
                                          <p:spTgt spid="339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39971">
                                            <p:txEl>
                                              <p:pRg st="5" end="5"/>
                                            </p:txEl>
                                          </p:spTgt>
                                        </p:tgtEl>
                                        <p:attrNameLst>
                                          <p:attrName>style.visibility</p:attrName>
                                        </p:attrNameLst>
                                      </p:cBhvr>
                                      <p:to>
                                        <p:strVal val="visible"/>
                                      </p:to>
                                    </p:set>
                                    <p:animEffect transition="in" filter="blinds(horizontal)">
                                      <p:cBhvr>
                                        <p:cTn id="32" dur="500"/>
                                        <p:tgtEl>
                                          <p:spTgt spid="339971">
                                            <p:txEl>
                                              <p:pRg st="5" end="5"/>
                                            </p:txEl>
                                          </p:spTgt>
                                        </p:tgtEl>
                                      </p:cBhvr>
                                    </p:animEffect>
                                  </p:childTnLst>
                                </p:cTn>
                              </p:par>
                            </p:childTnLst>
                          </p:cTn>
                        </p:par>
                        <p:par>
                          <p:cTn id="33" fill="hold">
                            <p:stCondLst>
                              <p:cond delay="500"/>
                            </p:stCondLst>
                            <p:childTnLst>
                              <p:par>
                                <p:cTn id="34" presetID="3" presetClass="entr" presetSubtype="10" fill="hold" nodeType="afterEffect">
                                  <p:stCondLst>
                                    <p:cond delay="0"/>
                                  </p:stCondLst>
                                  <p:childTnLst>
                                    <p:set>
                                      <p:cBhvr>
                                        <p:cTn id="35" dur="1" fill="hold">
                                          <p:stCondLst>
                                            <p:cond delay="0"/>
                                          </p:stCondLst>
                                        </p:cTn>
                                        <p:tgtEl>
                                          <p:spTgt spid="339971">
                                            <p:txEl>
                                              <p:pRg st="6" end="6"/>
                                            </p:txEl>
                                          </p:spTgt>
                                        </p:tgtEl>
                                        <p:attrNameLst>
                                          <p:attrName>style.visibility</p:attrName>
                                        </p:attrNameLst>
                                      </p:cBhvr>
                                      <p:to>
                                        <p:strVal val="visible"/>
                                      </p:to>
                                    </p:set>
                                    <p:animEffect transition="in" filter="blinds(horizontal)">
                                      <p:cBhvr>
                                        <p:cTn id="36" dur="500"/>
                                        <p:tgtEl>
                                          <p:spTgt spid="339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62" name="文本占位符 348161"/>
          <p:cNvSpPr>
            <a:spLocks noGrp="1"/>
          </p:cNvSpPr>
          <p:nvPr>
            <p:ph type="body" idx="1"/>
          </p:nvPr>
        </p:nvSpPr>
        <p:spPr>
          <a:xfrm>
            <a:off x="533400" y="304800"/>
            <a:ext cx="8153400" cy="6172200"/>
          </a:xfrm>
        </p:spPr>
        <p:txBody>
          <a:bodyPr/>
          <a:lstStyle/>
          <a:p>
            <a:pPr marL="0" indent="0" defTabSz="914400">
              <a:lnSpc>
                <a:spcPct val="90000"/>
              </a:lnSpc>
              <a:buNone/>
              <a:tabLst>
                <a:tab pos="1520825" algn="l"/>
                <a:tab pos="3810000" algn="l"/>
              </a:tabLst>
            </a:pPr>
            <a:r>
              <a:rPr lang="en-US" altLang="zh-CN" sz="2400" dirty="0">
                <a:solidFill>
                  <a:schemeClr val="accent2"/>
                </a:solidFill>
                <a:latin typeface="宋体" panose="02010600030101010101" pitchFamily="2" charset="-122"/>
              </a:rPr>
              <a:t>	;</a:t>
            </a:r>
            <a:r>
              <a:rPr lang="zh-CN" altLang="en-US" sz="2400" dirty="0">
                <a:solidFill>
                  <a:schemeClr val="accent2"/>
                </a:solidFill>
                <a:latin typeface="宋体" panose="02010600030101010101" pitchFamily="2" charset="-122"/>
              </a:rPr>
              <a:t>数据段</a:t>
            </a: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count	= 10</a:t>
            </a: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array	</a:t>
            </a:r>
            <a:r>
              <a:rPr lang="en-US" altLang="zh-CN" sz="2400" dirty="0" err="1">
                <a:solidFill>
                  <a:schemeClr val="accent2"/>
                </a:solidFill>
                <a:latin typeface="宋体" panose="02010600030101010101" pitchFamily="2" charset="-122"/>
              </a:rPr>
              <a:t>dw</a:t>
            </a:r>
            <a:r>
              <a:rPr lang="en-US" altLang="zh-CN" sz="2400">
                <a:solidFill>
                  <a:schemeClr val="accent2"/>
                </a:solidFill>
                <a:latin typeface="宋体" panose="02010600030101010101" pitchFamily="2" charset="-122"/>
              </a:rPr>
              <a:t> 1234,-1234,0,1,-1,32767</a:t>
            </a: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	</a:t>
            </a:r>
            <a:r>
              <a:rPr lang="en-US" altLang="zh-CN" sz="2400" dirty="0" err="1">
                <a:solidFill>
                  <a:schemeClr val="accent2"/>
                </a:solidFill>
                <a:latin typeface="宋体" panose="02010600030101010101" pitchFamily="2" charset="-122"/>
              </a:rPr>
              <a:t>dw</a:t>
            </a:r>
            <a:r>
              <a:rPr lang="en-US" altLang="zh-CN" sz="2400">
                <a:solidFill>
                  <a:schemeClr val="accent2"/>
                </a:solidFill>
                <a:latin typeface="宋体" panose="02010600030101010101" pitchFamily="2" charset="-122"/>
              </a:rPr>
              <a:t> -32768,5678,-5678,9000</a:t>
            </a:r>
          </a:p>
          <a:p>
            <a:pPr marL="0" indent="0" defTabSz="914400">
              <a:lnSpc>
                <a:spcPct val="90000"/>
              </a:lnSpc>
              <a:buNone/>
              <a:tabLst>
                <a:tab pos="1520825" algn="l"/>
                <a:tab pos="3810000" algn="l"/>
              </a:tabLst>
            </a:pPr>
            <a:r>
              <a:rPr lang="en-US" altLang="zh-CN" sz="2400" dirty="0" err="1">
                <a:solidFill>
                  <a:schemeClr val="tx2"/>
                </a:solidFill>
                <a:latin typeface="宋体" panose="02010600030101010101" pitchFamily="2" charset="-122"/>
              </a:rPr>
              <a:t>wtemp</a:t>
            </a:r>
            <a:r>
              <a:rPr lang="en-US" altLang="zh-CN" sz="2400">
                <a:solidFill>
                  <a:schemeClr val="accent2"/>
                </a:solidFill>
                <a:latin typeface="宋体" panose="02010600030101010101" pitchFamily="2" charset="-122"/>
              </a:rPr>
              <a:t>	</a:t>
            </a:r>
            <a:r>
              <a:rPr lang="en-US" altLang="zh-CN" sz="2400" dirty="0" err="1">
                <a:solidFill>
                  <a:schemeClr val="accent2"/>
                </a:solidFill>
                <a:latin typeface="宋体" panose="02010600030101010101" pitchFamily="2" charset="-122"/>
              </a:rPr>
              <a:t>dw</a:t>
            </a:r>
            <a:r>
              <a:rPr lang="en-US" altLang="zh-CN" sz="2400">
                <a:solidFill>
                  <a:schemeClr val="accent2"/>
                </a:solidFill>
                <a:latin typeface="宋体" panose="02010600030101010101" pitchFamily="2" charset="-122"/>
              </a:rPr>
              <a:t> ?	</a:t>
            </a:r>
            <a:r>
              <a:rPr lang="en-US" altLang="zh-CN" sz="2400">
                <a:latin typeface="宋体" panose="02010600030101010101" pitchFamily="2" charset="-122"/>
              </a:rPr>
              <a:t>;</a:t>
            </a:r>
            <a:r>
              <a:rPr lang="zh-CN" altLang="en-US" sz="2400" dirty="0">
                <a:latin typeface="宋体" panose="02010600030101010101" pitchFamily="2" charset="-122"/>
              </a:rPr>
              <a:t>共享变量</a:t>
            </a:r>
          </a:p>
          <a:p>
            <a:pPr marL="0" indent="0" defTabSz="914400">
              <a:lnSpc>
                <a:spcPct val="90000"/>
              </a:lnSpc>
              <a:buNone/>
              <a:tabLst>
                <a:tab pos="1520825" algn="l"/>
                <a:tab pos="3810000" algn="l"/>
              </a:tabLst>
            </a:pPr>
            <a:r>
              <a:rPr lang="zh-CN" altLang="en-US" sz="2400" dirty="0">
                <a:solidFill>
                  <a:schemeClr val="accent2"/>
                </a:solidFill>
                <a:latin typeface="宋体" panose="02010600030101010101" pitchFamily="2" charset="-122"/>
              </a:rPr>
              <a:t>	</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代码段：主程序</a:t>
            </a:r>
          </a:p>
          <a:p>
            <a:pPr marL="0" indent="0" defTabSz="914400">
              <a:lnSpc>
                <a:spcPct val="90000"/>
              </a:lnSpc>
              <a:buNone/>
              <a:tabLst>
                <a:tab pos="1520825" algn="l"/>
                <a:tab pos="3810000" algn="l"/>
              </a:tabLst>
            </a:pPr>
            <a:r>
              <a:rPr lang="zh-CN" altLang="en-US" sz="2400">
                <a:solidFill>
                  <a:schemeClr val="accent2"/>
                </a:solidFill>
                <a:latin typeface="宋体" panose="02010600030101010101" pitchFamily="2" charset="-122"/>
              </a:rPr>
              <a:t>	</a:t>
            </a:r>
            <a:r>
              <a:rPr lang="en-US" altLang="zh-CN" sz="2400" dirty="0" err="1">
                <a:solidFill>
                  <a:schemeClr val="accent2"/>
                </a:solidFill>
                <a:latin typeface="宋体" panose="02010600030101010101" pitchFamily="2" charset="-122"/>
              </a:rPr>
              <a:t>mov</a:t>
            </a:r>
            <a:r>
              <a:rPr lang="en-US" altLang="zh-CN" sz="2400">
                <a:solidFill>
                  <a:schemeClr val="accent2"/>
                </a:solidFill>
                <a:latin typeface="宋体" panose="02010600030101010101" pitchFamily="2" charset="-122"/>
              </a:rPr>
              <a:t> </a:t>
            </a:r>
            <a:r>
              <a:rPr lang="en-US" altLang="zh-CN" sz="2400" dirty="0" err="1">
                <a:solidFill>
                  <a:schemeClr val="accent2"/>
                </a:solidFill>
                <a:latin typeface="宋体" panose="02010600030101010101" pitchFamily="2" charset="-122"/>
              </a:rPr>
              <a:t>cx,count</a:t>
            </a:r>
            <a:endParaRPr lang="en-US" altLang="zh-CN" sz="2400">
              <a:solidFill>
                <a:schemeClr val="accent2"/>
              </a:solidFill>
              <a:latin typeface="宋体" panose="02010600030101010101" pitchFamily="2" charset="-122"/>
            </a:endParaRP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	</a:t>
            </a:r>
            <a:r>
              <a:rPr lang="en-US" altLang="zh-CN" sz="2400" dirty="0" err="1">
                <a:solidFill>
                  <a:schemeClr val="accent2"/>
                </a:solidFill>
                <a:latin typeface="宋体" panose="02010600030101010101" pitchFamily="2" charset="-122"/>
              </a:rPr>
              <a:t>mov</a:t>
            </a:r>
            <a:r>
              <a:rPr lang="en-US" altLang="zh-CN" sz="2400">
                <a:solidFill>
                  <a:schemeClr val="accent2"/>
                </a:solidFill>
                <a:latin typeface="宋体" panose="02010600030101010101" pitchFamily="2" charset="-122"/>
              </a:rPr>
              <a:t> </a:t>
            </a:r>
            <a:r>
              <a:rPr lang="en-US" altLang="zh-CN" sz="2400" dirty="0" err="1">
                <a:solidFill>
                  <a:schemeClr val="accent2"/>
                </a:solidFill>
                <a:latin typeface="宋体" panose="02010600030101010101" pitchFamily="2" charset="-122"/>
              </a:rPr>
              <a:t>bx,offset</a:t>
            </a:r>
            <a:r>
              <a:rPr lang="en-US" altLang="zh-CN" sz="2400">
                <a:solidFill>
                  <a:schemeClr val="accent2"/>
                </a:solidFill>
                <a:latin typeface="宋体" panose="02010600030101010101" pitchFamily="2" charset="-122"/>
              </a:rPr>
              <a:t> array</a:t>
            </a: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again:	</a:t>
            </a:r>
            <a:r>
              <a:rPr lang="en-US" altLang="zh-CN" sz="2400" dirty="0" err="1">
                <a:solidFill>
                  <a:schemeClr val="tx2"/>
                </a:solidFill>
                <a:latin typeface="宋体" panose="02010600030101010101" pitchFamily="2" charset="-122"/>
              </a:rPr>
              <a:t>mov</a:t>
            </a:r>
            <a:r>
              <a:rPr lang="en-US" altLang="zh-CN" sz="2400">
                <a:solidFill>
                  <a:schemeClr val="tx2"/>
                </a:solidFill>
                <a:latin typeface="宋体" panose="02010600030101010101" pitchFamily="2" charset="-122"/>
              </a:rPr>
              <a:t> </a:t>
            </a:r>
            <a:r>
              <a:rPr lang="en-US" altLang="zh-CN" sz="2400" dirty="0" err="1">
                <a:solidFill>
                  <a:schemeClr val="tx2"/>
                </a:solidFill>
                <a:latin typeface="宋体" panose="02010600030101010101" pitchFamily="2" charset="-122"/>
              </a:rPr>
              <a:t>ax,[bx</a:t>
            </a:r>
            <a:r>
              <a:rPr lang="en-US" altLang="zh-CN" sz="2400">
                <a:solidFill>
                  <a:schemeClr val="tx2"/>
                </a:solidFill>
                <a:latin typeface="宋体" panose="02010600030101010101" pitchFamily="2" charset="-122"/>
              </a:rPr>
              <a:t>]</a:t>
            </a:r>
          </a:p>
          <a:p>
            <a:pPr marL="0" indent="0" defTabSz="914400">
              <a:lnSpc>
                <a:spcPct val="90000"/>
              </a:lnSpc>
              <a:buNone/>
              <a:tabLst>
                <a:tab pos="1520825" algn="l"/>
                <a:tab pos="3810000" algn="l"/>
              </a:tabLst>
            </a:pPr>
            <a:r>
              <a:rPr lang="en-US" altLang="zh-CN" sz="2400">
                <a:solidFill>
                  <a:schemeClr val="tx2"/>
                </a:solidFill>
                <a:latin typeface="宋体" panose="02010600030101010101" pitchFamily="2" charset="-122"/>
              </a:rPr>
              <a:t>	</a:t>
            </a:r>
            <a:r>
              <a:rPr lang="en-US" altLang="zh-CN" sz="2400" dirty="0" err="1">
                <a:solidFill>
                  <a:schemeClr val="tx2"/>
                </a:solidFill>
                <a:latin typeface="宋体" panose="02010600030101010101" pitchFamily="2" charset="-122"/>
              </a:rPr>
              <a:t>mov</a:t>
            </a:r>
            <a:r>
              <a:rPr lang="en-US" altLang="zh-CN" sz="2400">
                <a:solidFill>
                  <a:schemeClr val="tx2"/>
                </a:solidFill>
                <a:latin typeface="宋体" panose="02010600030101010101" pitchFamily="2" charset="-122"/>
              </a:rPr>
              <a:t> </a:t>
            </a:r>
            <a:r>
              <a:rPr lang="en-US" altLang="zh-CN" sz="2400" dirty="0" err="1">
                <a:solidFill>
                  <a:schemeClr val="tx2"/>
                </a:solidFill>
                <a:latin typeface="宋体" panose="02010600030101010101" pitchFamily="2" charset="-122"/>
              </a:rPr>
              <a:t>wtemp,ax</a:t>
            </a:r>
            <a:r>
              <a:rPr lang="en-US" altLang="zh-CN" sz="2400">
                <a:solidFill>
                  <a:schemeClr val="accent2"/>
                </a:solidFill>
                <a:latin typeface="宋体" panose="02010600030101010101" pitchFamily="2" charset="-122"/>
              </a:rPr>
              <a:t>	</a:t>
            </a:r>
            <a:r>
              <a:rPr lang="en-US" altLang="zh-CN" sz="2400">
                <a:latin typeface="宋体" panose="02010600030101010101" pitchFamily="2" charset="-122"/>
              </a:rPr>
              <a:t>;</a:t>
            </a:r>
            <a:r>
              <a:rPr lang="zh-CN" altLang="en-US" sz="2400" dirty="0">
                <a:latin typeface="宋体" panose="02010600030101010101" pitchFamily="2" charset="-122"/>
              </a:rPr>
              <a:t>将入口参数存入共享变量</a:t>
            </a:r>
          </a:p>
          <a:p>
            <a:pPr marL="0" indent="0" defTabSz="914400">
              <a:lnSpc>
                <a:spcPct val="90000"/>
              </a:lnSpc>
              <a:buNone/>
              <a:tabLst>
                <a:tab pos="1520825" algn="l"/>
                <a:tab pos="3810000" algn="l"/>
              </a:tabLst>
            </a:pPr>
            <a:r>
              <a:rPr lang="zh-CN" altLang="en-US" sz="2400" dirty="0">
                <a:solidFill>
                  <a:schemeClr val="accent2"/>
                </a:solidFill>
                <a:latin typeface="宋体" panose="02010600030101010101" pitchFamily="2" charset="-122"/>
              </a:rPr>
              <a:t>	</a:t>
            </a:r>
            <a:r>
              <a:rPr lang="en-US" altLang="zh-CN" sz="2400">
                <a:solidFill>
                  <a:schemeClr val="tx2"/>
                </a:solidFill>
                <a:latin typeface="宋体" panose="02010600030101010101" pitchFamily="2" charset="-122"/>
              </a:rPr>
              <a:t>call write</a:t>
            </a:r>
            <a:r>
              <a:rPr lang="en-US" altLang="zh-CN" sz="2400">
                <a:solidFill>
                  <a:schemeClr val="accent2"/>
                </a:solidFill>
                <a:latin typeface="宋体" panose="02010600030101010101" pitchFamily="2" charset="-122"/>
              </a:rPr>
              <a:t>	</a:t>
            </a:r>
            <a:r>
              <a:rPr lang="en-US" altLang="zh-CN" sz="2400">
                <a:latin typeface="宋体" panose="02010600030101010101" pitchFamily="2" charset="-122"/>
              </a:rPr>
              <a:t>;</a:t>
            </a:r>
            <a:r>
              <a:rPr lang="zh-CN" altLang="en-US" sz="2400" dirty="0">
                <a:latin typeface="宋体" panose="02010600030101010101" pitchFamily="2" charset="-122"/>
              </a:rPr>
              <a:t>调用子程序显示一个数据</a:t>
            </a:r>
          </a:p>
          <a:p>
            <a:pPr marL="0" indent="0" defTabSz="914400">
              <a:lnSpc>
                <a:spcPct val="90000"/>
              </a:lnSpc>
              <a:buNone/>
              <a:tabLst>
                <a:tab pos="1520825" algn="l"/>
                <a:tab pos="3810000" algn="l"/>
              </a:tabLst>
            </a:pPr>
            <a:r>
              <a:rPr lang="zh-CN" altLang="en-US" sz="2400" dirty="0">
                <a:solidFill>
                  <a:schemeClr val="accent2"/>
                </a:solidFill>
                <a:latin typeface="宋体" panose="02010600030101010101" pitchFamily="2" charset="-122"/>
              </a:rPr>
              <a:t>	</a:t>
            </a:r>
            <a:r>
              <a:rPr lang="en-US" altLang="zh-CN" sz="2400">
                <a:solidFill>
                  <a:schemeClr val="accent2"/>
                </a:solidFill>
                <a:latin typeface="宋体" panose="02010600030101010101" pitchFamily="2" charset="-122"/>
              </a:rPr>
              <a:t>inc </a:t>
            </a:r>
            <a:r>
              <a:rPr lang="en-US" altLang="zh-CN" sz="2400" dirty="0" err="1">
                <a:solidFill>
                  <a:schemeClr val="accent2"/>
                </a:solidFill>
                <a:latin typeface="宋体" panose="02010600030101010101" pitchFamily="2" charset="-122"/>
              </a:rPr>
              <a:t>bx</a:t>
            </a:r>
            <a:endParaRPr lang="en-US" altLang="zh-CN" sz="2400">
              <a:solidFill>
                <a:schemeClr val="accent2"/>
              </a:solidFill>
              <a:latin typeface="宋体" panose="02010600030101010101" pitchFamily="2" charset="-122"/>
            </a:endParaRP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	inc </a:t>
            </a:r>
            <a:r>
              <a:rPr lang="en-US" altLang="zh-CN" sz="2400" dirty="0" err="1">
                <a:solidFill>
                  <a:schemeClr val="accent2"/>
                </a:solidFill>
                <a:latin typeface="宋体" panose="02010600030101010101" pitchFamily="2" charset="-122"/>
              </a:rPr>
              <a:t>bx</a:t>
            </a:r>
            <a:endParaRPr lang="en-US" altLang="zh-CN" sz="2400">
              <a:solidFill>
                <a:schemeClr val="accent2"/>
              </a:solidFill>
              <a:latin typeface="宋体" panose="02010600030101010101" pitchFamily="2" charset="-122"/>
            </a:endParaRPr>
          </a:p>
          <a:p>
            <a:pPr marL="0" indent="0" defTabSz="914400">
              <a:lnSpc>
                <a:spcPct val="90000"/>
              </a:lnSpc>
              <a:buNone/>
              <a:tabLst>
                <a:tab pos="1520825" algn="l"/>
                <a:tab pos="3810000" algn="l"/>
              </a:tabLst>
            </a:pPr>
            <a:r>
              <a:rPr lang="en-US" altLang="zh-CN" sz="2400">
                <a:solidFill>
                  <a:schemeClr val="accent2"/>
                </a:solidFill>
                <a:latin typeface="宋体" panose="02010600030101010101" pitchFamily="2" charset="-122"/>
              </a:rPr>
              <a:t>	call </a:t>
            </a:r>
            <a:r>
              <a:rPr lang="en-US" altLang="zh-CN" sz="2400" dirty="0" err="1">
                <a:solidFill>
                  <a:schemeClr val="accent2"/>
                </a:solidFill>
                <a:latin typeface="宋体" panose="02010600030101010101" pitchFamily="2" charset="-122"/>
              </a:rPr>
              <a:t>dpcrlf</a:t>
            </a:r>
            <a:r>
              <a:rPr lang="en-US" altLang="zh-CN" sz="2400">
                <a:solidFill>
                  <a:schemeClr val="accent2"/>
                </a:solidFill>
                <a:latin typeface="宋体" panose="02010600030101010101" pitchFamily="2" charset="-122"/>
              </a:rPr>
              <a:t>	</a:t>
            </a:r>
            <a:r>
              <a:rPr lang="en-US" altLang="zh-CN" sz="2400">
                <a:latin typeface="宋体" panose="02010600030101010101" pitchFamily="2" charset="-122"/>
              </a:rPr>
              <a:t>;</a:t>
            </a:r>
            <a:r>
              <a:rPr lang="zh-CN" altLang="en-US" sz="2400">
                <a:latin typeface="宋体" panose="02010600030101010101" pitchFamily="2" charset="-122"/>
              </a:rPr>
              <a:t>光标换行，以</a:t>
            </a:r>
            <a:r>
              <a:rPr lang="zh-CN" altLang="en-US" sz="2400" dirty="0">
                <a:latin typeface="宋体" panose="02010600030101010101" pitchFamily="2" charset="-122"/>
              </a:rPr>
              <a:t>显示下一个数据</a:t>
            </a:r>
          </a:p>
          <a:p>
            <a:pPr marL="0" indent="0" defTabSz="914400">
              <a:lnSpc>
                <a:spcPct val="90000"/>
              </a:lnSpc>
              <a:buNone/>
              <a:tabLst>
                <a:tab pos="1520825" algn="l"/>
                <a:tab pos="3810000" algn="l"/>
              </a:tabLst>
            </a:pPr>
            <a:r>
              <a:rPr lang="zh-CN" altLang="en-US" sz="2400" dirty="0">
                <a:solidFill>
                  <a:schemeClr val="accent2"/>
                </a:solidFill>
                <a:latin typeface="宋体" panose="02010600030101010101" pitchFamily="2" charset="-122"/>
              </a:rPr>
              <a:t>	</a:t>
            </a:r>
            <a:r>
              <a:rPr lang="en-US" altLang="zh-CN" sz="2400">
                <a:solidFill>
                  <a:schemeClr val="accent2"/>
                </a:solidFill>
                <a:latin typeface="宋体" panose="02010600030101010101" pitchFamily="2" charset="-122"/>
              </a:rPr>
              <a:t>loop again</a:t>
            </a:r>
          </a:p>
        </p:txBody>
      </p:sp>
      <p:grpSp>
        <p:nvGrpSpPr>
          <p:cNvPr id="348163" name="组合 348162"/>
          <p:cNvGrpSpPr/>
          <p:nvPr/>
        </p:nvGrpSpPr>
        <p:grpSpPr>
          <a:xfrm>
            <a:off x="177800" y="230188"/>
            <a:ext cx="203200" cy="6503987"/>
            <a:chOff x="112" y="145"/>
            <a:chExt cx="128" cy="4097"/>
          </a:xfrm>
        </p:grpSpPr>
        <p:sp>
          <p:nvSpPr>
            <p:cNvPr id="348164" name="矩形 348163"/>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8165" name="矩形 348164"/>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8166" name="组合 348165"/>
          <p:cNvGrpSpPr/>
          <p:nvPr/>
        </p:nvGrpSpPr>
        <p:grpSpPr>
          <a:xfrm>
            <a:off x="8793163" y="220663"/>
            <a:ext cx="198437" cy="6408737"/>
            <a:chOff x="5539" y="139"/>
            <a:chExt cx="125" cy="4037"/>
          </a:xfrm>
        </p:grpSpPr>
        <p:sp>
          <p:nvSpPr>
            <p:cNvPr id="348167" name="矩形 348166"/>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8168" name="矩形 348167"/>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8169" name="组合 348168"/>
          <p:cNvGrpSpPr/>
          <p:nvPr/>
        </p:nvGrpSpPr>
        <p:grpSpPr>
          <a:xfrm>
            <a:off x="412750" y="6477000"/>
            <a:ext cx="8686800" cy="228600"/>
            <a:chOff x="260" y="4080"/>
            <a:chExt cx="5472" cy="144"/>
          </a:xfrm>
        </p:grpSpPr>
        <p:sp>
          <p:nvSpPr>
            <p:cNvPr id="348170" name="矩形 348169"/>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8171" name="矩形 348170"/>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8172" name="组合 348171"/>
          <p:cNvGrpSpPr/>
          <p:nvPr/>
        </p:nvGrpSpPr>
        <p:grpSpPr>
          <a:xfrm>
            <a:off x="76200" y="176213"/>
            <a:ext cx="8745538" cy="161925"/>
            <a:chOff x="48" y="111"/>
            <a:chExt cx="5509" cy="102"/>
          </a:xfrm>
        </p:grpSpPr>
        <p:sp>
          <p:nvSpPr>
            <p:cNvPr id="348173" name="矩形 348172"/>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8174" name="矩形 348173"/>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8175" name="标题 348174"/>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4.19</a:t>
            </a:r>
            <a:r>
              <a:rPr lang="zh-CN" altLang="en-US" sz="2400" dirty="0">
                <a:latin typeface="黑体" panose="02010609060101010101" pitchFamily="2" charset="-122"/>
              </a:rPr>
              <a:t>－</a:t>
            </a:r>
            <a:r>
              <a:rPr lang="en-US" altLang="zh-CN" sz="2400">
                <a:latin typeface="黑体" panose="02010609060101010101" pitchFamily="2" charset="-122"/>
              </a:rPr>
              <a:t>1/5</a:t>
            </a:r>
          </a:p>
        </p:txBody>
      </p:sp>
      <p:pic>
        <p:nvPicPr>
          <p:cNvPr id="348176" name="图片 348175"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spTree>
  </p:cSld>
  <p:clrMapOvr>
    <a:masterClrMapping/>
  </p:clrMapOvr>
  <p:transition>
    <p:rand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186" name="文本占位符 349185"/>
          <p:cNvSpPr>
            <a:spLocks noGrp="1"/>
          </p:cNvSpPr>
          <p:nvPr>
            <p:ph type="body" idx="1"/>
          </p:nvPr>
        </p:nvSpPr>
        <p:spPr>
          <a:xfrm>
            <a:off x="533400" y="838200"/>
            <a:ext cx="8153400" cy="5638800"/>
          </a:xfrm>
        </p:spPr>
        <p:txBody>
          <a:bodyPr/>
          <a:lstStyle/>
          <a:p>
            <a:pPr marL="0" indent="0" defTabSz="914400">
              <a:lnSpc>
                <a:spcPct val="9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显示有符号</a:t>
            </a:r>
            <a:r>
              <a:rPr lang="en-US" altLang="zh-CN" sz="2800">
                <a:latin typeface="宋体" panose="02010600030101010101" pitchFamily="2" charset="-122"/>
              </a:rPr>
              <a:t>10</a:t>
            </a:r>
            <a:r>
              <a:rPr lang="zh-CN" altLang="en-US" sz="2800" dirty="0">
                <a:latin typeface="宋体" panose="02010600030101010101" pitchFamily="2" charset="-122"/>
              </a:rPr>
              <a:t>进制数的通用子程序</a:t>
            </a:r>
          </a:p>
          <a:p>
            <a:pPr marL="0" indent="0" defTabSz="914400">
              <a:lnSpc>
                <a:spcPct val="90000"/>
              </a:lnSpc>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入口参数：</a:t>
            </a:r>
            <a:r>
              <a:rPr lang="zh-CN" altLang="en-US" sz="2800" dirty="0">
                <a:solidFill>
                  <a:schemeClr val="tx2"/>
                </a:solidFill>
                <a:latin typeface="宋体" panose="02010600030101010101" pitchFamily="2" charset="-122"/>
              </a:rPr>
              <a:t>共享变量</a:t>
            </a:r>
            <a:r>
              <a:rPr lang="en-US" altLang="zh-CN" sz="2800" dirty="0" err="1">
                <a:solidFill>
                  <a:schemeClr val="tx2"/>
                </a:solidFill>
                <a:latin typeface="宋体" panose="02010600030101010101" pitchFamily="2" charset="-122"/>
              </a:rPr>
              <a:t>wtemp</a:t>
            </a:r>
            <a:endParaRPr lang="en-US" altLang="zh-CN" sz="2800">
              <a:solidFill>
                <a:schemeClr val="tx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write	proc</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push ax</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dx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tx2"/>
                </a:solidFill>
                <a:latin typeface="宋体" panose="02010600030101010101" pitchFamily="2" charset="-122"/>
              </a:rPr>
              <a:t>mov</a:t>
            </a:r>
            <a:r>
              <a:rPr lang="en-US" altLang="zh-CN" sz="2800">
                <a:solidFill>
                  <a:schemeClr val="tx2"/>
                </a:solidFill>
                <a:latin typeface="宋体" panose="02010600030101010101" pitchFamily="2" charset="-122"/>
              </a:rPr>
              <a:t> </a:t>
            </a:r>
            <a:r>
              <a:rPr lang="en-US" altLang="zh-CN" sz="2800" dirty="0" err="1">
                <a:solidFill>
                  <a:schemeClr val="tx2"/>
                </a:solidFill>
                <a:latin typeface="宋体" panose="02010600030101010101" pitchFamily="2" charset="-122"/>
              </a:rPr>
              <a:t>ax,wtemp</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取出显示数据</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test </a:t>
            </a:r>
            <a:r>
              <a:rPr lang="en-US" altLang="zh-CN" sz="2800" dirty="0" err="1">
                <a:solidFill>
                  <a:schemeClr val="accent2"/>
                </a:solidFill>
                <a:latin typeface="宋体" panose="02010600030101010101" pitchFamily="2" charset="-122"/>
              </a:rPr>
              <a:t>ax,ax</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判断零、正数或负数</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jnz</a:t>
            </a:r>
            <a:r>
              <a:rPr lang="en-US" altLang="zh-CN" sz="2800">
                <a:solidFill>
                  <a:schemeClr val="accent2"/>
                </a:solidFill>
                <a:latin typeface="宋体" panose="02010600030101010101" pitchFamily="2" charset="-122"/>
              </a:rPr>
              <a:t> write1</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dl,'0'	</a:t>
            </a:r>
            <a:r>
              <a:rPr lang="en-US" altLang="zh-CN" sz="2800">
                <a:latin typeface="宋体" panose="02010600030101010101" pitchFamily="2" charset="-122"/>
              </a:rPr>
              <a:t>;</a:t>
            </a:r>
            <a:r>
              <a:rPr lang="zh-CN" altLang="en-US" sz="2800" dirty="0">
                <a:latin typeface="宋体" panose="02010600030101010101" pitchFamily="2" charset="-122"/>
              </a:rPr>
              <a:t>是零，显示“</a:t>
            </a:r>
            <a:r>
              <a:rPr lang="en-US" altLang="zh-CN" sz="2800">
                <a:latin typeface="宋体" panose="02010600030101010101" pitchFamily="2" charset="-122"/>
              </a:rPr>
              <a:t>0”</a:t>
            </a:r>
            <a:r>
              <a:rPr lang="zh-CN" altLang="en-US" sz="2800" dirty="0">
                <a:latin typeface="宋体" panose="02010600030101010101" pitchFamily="2" charset="-122"/>
              </a:rPr>
              <a:t>后退出</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ah,2</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int</a:t>
            </a:r>
            <a:r>
              <a:rPr lang="en-US" altLang="zh-CN" sz="2800">
                <a:solidFill>
                  <a:schemeClr val="accent2"/>
                </a:solidFill>
                <a:latin typeface="宋体" panose="02010600030101010101" pitchFamily="2" charset="-122"/>
              </a:rPr>
              <a:t> 21h</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jmp</a:t>
            </a:r>
            <a:r>
              <a:rPr lang="en-US" altLang="zh-CN" sz="2800">
                <a:solidFill>
                  <a:schemeClr val="accent2"/>
                </a:solidFill>
                <a:latin typeface="宋体" panose="02010600030101010101" pitchFamily="2" charset="-122"/>
              </a:rPr>
              <a:t> done</a:t>
            </a:r>
          </a:p>
        </p:txBody>
      </p:sp>
      <p:grpSp>
        <p:nvGrpSpPr>
          <p:cNvPr id="349187" name="组合 349186"/>
          <p:cNvGrpSpPr/>
          <p:nvPr/>
        </p:nvGrpSpPr>
        <p:grpSpPr>
          <a:xfrm>
            <a:off x="177800" y="230188"/>
            <a:ext cx="203200" cy="6503987"/>
            <a:chOff x="112" y="145"/>
            <a:chExt cx="128" cy="4097"/>
          </a:xfrm>
        </p:grpSpPr>
        <p:sp>
          <p:nvSpPr>
            <p:cNvPr id="349188" name="矩形 349187"/>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49189" name="矩形 349188"/>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49190" name="组合 349189"/>
          <p:cNvGrpSpPr/>
          <p:nvPr/>
        </p:nvGrpSpPr>
        <p:grpSpPr>
          <a:xfrm>
            <a:off x="8793163" y="220663"/>
            <a:ext cx="198437" cy="6408737"/>
            <a:chOff x="5539" y="139"/>
            <a:chExt cx="125" cy="4037"/>
          </a:xfrm>
        </p:grpSpPr>
        <p:sp>
          <p:nvSpPr>
            <p:cNvPr id="349191" name="矩形 349190"/>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49192" name="矩形 349191"/>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49193" name="组合 349192"/>
          <p:cNvGrpSpPr/>
          <p:nvPr/>
        </p:nvGrpSpPr>
        <p:grpSpPr>
          <a:xfrm>
            <a:off x="412750" y="6477000"/>
            <a:ext cx="8686800" cy="228600"/>
            <a:chOff x="260" y="4080"/>
            <a:chExt cx="5472" cy="144"/>
          </a:xfrm>
        </p:grpSpPr>
        <p:sp>
          <p:nvSpPr>
            <p:cNvPr id="349194" name="矩形 349193"/>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49195" name="矩形 349194"/>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49196" name="组合 349195"/>
          <p:cNvGrpSpPr/>
          <p:nvPr/>
        </p:nvGrpSpPr>
        <p:grpSpPr>
          <a:xfrm>
            <a:off x="76200" y="176213"/>
            <a:ext cx="8745538" cy="161925"/>
            <a:chOff x="48" y="111"/>
            <a:chExt cx="5509" cy="102"/>
          </a:xfrm>
        </p:grpSpPr>
        <p:sp>
          <p:nvSpPr>
            <p:cNvPr id="349197" name="矩形 349196"/>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49198" name="矩形 349197"/>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49199" name="标题 349198"/>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4.19</a:t>
            </a:r>
            <a:r>
              <a:rPr lang="zh-CN" altLang="en-US" sz="2400" dirty="0">
                <a:latin typeface="黑体" panose="02010609060101010101" pitchFamily="2" charset="-122"/>
              </a:rPr>
              <a:t>－</a:t>
            </a:r>
            <a:r>
              <a:rPr lang="en-US" altLang="zh-CN" sz="2400">
                <a:latin typeface="黑体" panose="02010609060101010101" pitchFamily="2" charset="-122"/>
              </a:rPr>
              <a:t>2/5</a:t>
            </a:r>
          </a:p>
        </p:txBody>
      </p:sp>
      <p:pic>
        <p:nvPicPr>
          <p:cNvPr id="349200" name="图片 349199"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49201" name="图片 349200"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210" name="文本占位符 350209"/>
          <p:cNvSpPr>
            <a:spLocks noGrp="1"/>
          </p:cNvSpPr>
          <p:nvPr>
            <p:ph type="body" idx="1"/>
          </p:nvPr>
        </p:nvSpPr>
        <p:spPr>
          <a:xfrm>
            <a:off x="533400" y="914400"/>
            <a:ext cx="8153400" cy="5562600"/>
          </a:xfrm>
        </p:spPr>
        <p:txBody>
          <a:bodyPr/>
          <a:lstStyle/>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write1:	</a:t>
            </a:r>
            <a:r>
              <a:rPr lang="en-US" altLang="zh-CN" sz="2800" dirty="0" err="1">
                <a:solidFill>
                  <a:schemeClr val="accent2"/>
                </a:solidFill>
                <a:latin typeface="宋体" panose="02010600030101010101" pitchFamily="2" charset="-122"/>
              </a:rPr>
              <a:t>jns</a:t>
            </a:r>
            <a:r>
              <a:rPr lang="en-US" altLang="zh-CN" sz="2800">
                <a:solidFill>
                  <a:schemeClr val="accent2"/>
                </a:solidFill>
                <a:latin typeface="宋体" panose="02010600030101010101" pitchFamily="2" charset="-122"/>
              </a:rPr>
              <a:t> write2	</a:t>
            </a:r>
            <a:r>
              <a:rPr lang="en-US" altLang="zh-CN" sz="2800">
                <a:latin typeface="宋体" panose="02010600030101010101" pitchFamily="2" charset="-122"/>
              </a:rPr>
              <a:t>;</a:t>
            </a:r>
            <a:r>
              <a:rPr lang="zh-CN" altLang="en-US" sz="2800" dirty="0">
                <a:latin typeface="宋体" panose="02010600030101010101" pitchFamily="2" charset="-122"/>
              </a:rPr>
              <a:t>是负数，显示“－”</a:t>
            </a:r>
          </a:p>
          <a:p>
            <a:pPr marL="0" indent="0" defTabSz="914400">
              <a:lnSpc>
                <a:spcPct val="11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bx,ax</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;AX</a:t>
            </a:r>
            <a:r>
              <a:rPr lang="zh-CN" altLang="en-US" sz="2800" dirty="0">
                <a:latin typeface="宋体" panose="02010600030101010101" pitchFamily="2" charset="-122"/>
              </a:rPr>
              <a:t>数据暂存于</a:t>
            </a:r>
            <a:r>
              <a:rPr lang="en-US" altLang="zh-CN" sz="2800">
                <a:latin typeface="宋体" panose="02010600030101010101" pitchFamily="2" charset="-122"/>
              </a:rPr>
              <a:t>BX</a:t>
            </a:r>
          </a:p>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dl,'-'</a:t>
            </a:r>
          </a:p>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ah,2</a:t>
            </a:r>
          </a:p>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int</a:t>
            </a:r>
            <a:r>
              <a:rPr lang="en-US" altLang="zh-CN" sz="2800">
                <a:solidFill>
                  <a:schemeClr val="accent2"/>
                </a:solidFill>
                <a:latin typeface="宋体" panose="02010600030101010101" pitchFamily="2" charset="-122"/>
              </a:rPr>
              <a:t> 21h</a:t>
            </a:r>
          </a:p>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ax,bx</a:t>
            </a:r>
            <a:endParaRPr lang="en-US" altLang="zh-CN" sz="2800">
              <a:solidFill>
                <a:schemeClr val="accent2"/>
              </a:solidFill>
              <a:latin typeface="宋体" panose="02010600030101010101" pitchFamily="2" charset="-122"/>
            </a:endParaRPr>
          </a:p>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tx2"/>
                </a:solidFill>
                <a:latin typeface="宋体" panose="02010600030101010101" pitchFamily="2" charset="-122"/>
              </a:rPr>
              <a:t>neg</a:t>
            </a:r>
            <a:r>
              <a:rPr lang="en-US" altLang="zh-CN" sz="2800">
                <a:solidFill>
                  <a:schemeClr val="tx2"/>
                </a:solidFill>
                <a:latin typeface="宋体" panose="02010600030101010101" pitchFamily="2" charset="-122"/>
              </a:rPr>
              <a:t> ax</a:t>
            </a:r>
            <a:r>
              <a:rPr lang="en-US" altLang="zh-CN" sz="2800">
                <a:latin typeface="宋体" panose="02010600030101010101" pitchFamily="2" charset="-122"/>
              </a:rPr>
              <a:t>	;</a:t>
            </a:r>
            <a:r>
              <a:rPr lang="zh-CN" altLang="en-US" sz="2800" dirty="0">
                <a:latin typeface="宋体" panose="02010600030101010101" pitchFamily="2" charset="-122"/>
              </a:rPr>
              <a:t>数据求补（求绝对值）</a:t>
            </a:r>
          </a:p>
          <a:p>
            <a:pPr marL="0" indent="0" defTabSz="914400">
              <a:lnSpc>
                <a:spcPct val="110000"/>
              </a:lnSpc>
              <a:buNone/>
              <a:tabLst>
                <a:tab pos="1520825" algn="l"/>
                <a:tab pos="3810000" algn="l"/>
              </a:tabLst>
            </a:pPr>
            <a:r>
              <a:rPr lang="en-US" altLang="zh-CN" sz="2800">
                <a:solidFill>
                  <a:schemeClr val="accent2"/>
                </a:solidFill>
                <a:latin typeface="宋体" panose="02010600030101010101" pitchFamily="2" charset="-122"/>
              </a:rPr>
              <a:t>write2:	</a:t>
            </a:r>
            <a:r>
              <a:rPr lang="en-US" altLang="zh-CN" sz="2800" dirty="0" err="1">
                <a:solidFill>
                  <a:schemeClr val="tx2"/>
                </a:solidFill>
                <a:latin typeface="宋体" panose="02010600030101010101" pitchFamily="2" charset="-122"/>
              </a:rPr>
              <a:t>mov</a:t>
            </a:r>
            <a:r>
              <a:rPr lang="en-US" altLang="zh-CN" sz="2800">
                <a:solidFill>
                  <a:schemeClr val="tx2"/>
                </a:solidFill>
                <a:latin typeface="宋体" panose="02010600030101010101" pitchFamily="2" charset="-122"/>
              </a:rPr>
              <a:t> bx,10</a:t>
            </a:r>
          </a:p>
          <a:p>
            <a:pPr marL="0" indent="0" defTabSz="914400">
              <a:lnSpc>
                <a:spcPct val="110000"/>
              </a:lnSpc>
              <a:buNone/>
              <a:tabLst>
                <a:tab pos="1520825" algn="l"/>
                <a:tab pos="3810000" algn="l"/>
              </a:tabLst>
            </a:pPr>
            <a:r>
              <a:rPr lang="en-US" altLang="zh-CN" sz="2800">
                <a:solidFill>
                  <a:schemeClr val="tx2"/>
                </a:solidFill>
                <a:latin typeface="宋体" panose="02010600030101010101" pitchFamily="2" charset="-122"/>
              </a:rPr>
              <a:t>	push </a:t>
            </a:r>
            <a:r>
              <a:rPr lang="en-US" altLang="zh-CN" sz="2800" dirty="0" err="1">
                <a:solidFill>
                  <a:schemeClr val="tx2"/>
                </a:solidFill>
                <a:latin typeface="宋体" panose="02010600030101010101" pitchFamily="2" charset="-122"/>
              </a:rPr>
              <a:t>bx</a:t>
            </a:r>
            <a:endParaRPr lang="en-US" altLang="zh-CN" sz="2800">
              <a:solidFill>
                <a:schemeClr val="tx2"/>
              </a:solidFill>
              <a:latin typeface="宋体" panose="02010600030101010101" pitchFamily="2" charset="-122"/>
            </a:endParaRPr>
          </a:p>
          <a:p>
            <a:pPr marL="0" indent="0" defTabSz="914400">
              <a:lnSpc>
                <a:spcPct val="110000"/>
              </a:lnSpc>
              <a:buNone/>
              <a:tabLst>
                <a:tab pos="1520825" algn="l"/>
                <a:tab pos="3810000" algn="l"/>
              </a:tabLst>
            </a:pPr>
            <a:r>
              <a:rPr lang="en-US" altLang="zh-CN" sz="2800">
                <a:latin typeface="宋体" panose="02010600030101010101" pitchFamily="2" charset="-122"/>
              </a:rPr>
              <a:t>	;10</a:t>
            </a:r>
            <a:r>
              <a:rPr lang="zh-CN" altLang="en-US" sz="2800" dirty="0">
                <a:latin typeface="宋体" panose="02010600030101010101" pitchFamily="2" charset="-122"/>
              </a:rPr>
              <a:t>压入堆栈，作为退出标志</a:t>
            </a:r>
          </a:p>
        </p:txBody>
      </p:sp>
      <p:grpSp>
        <p:nvGrpSpPr>
          <p:cNvPr id="350211" name="组合 350210"/>
          <p:cNvGrpSpPr/>
          <p:nvPr/>
        </p:nvGrpSpPr>
        <p:grpSpPr>
          <a:xfrm>
            <a:off x="177800" y="230188"/>
            <a:ext cx="203200" cy="6503987"/>
            <a:chOff x="112" y="145"/>
            <a:chExt cx="128" cy="4097"/>
          </a:xfrm>
        </p:grpSpPr>
        <p:sp>
          <p:nvSpPr>
            <p:cNvPr id="350212" name="矩形 350211"/>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0213" name="矩形 350212"/>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0214" name="组合 350213"/>
          <p:cNvGrpSpPr/>
          <p:nvPr/>
        </p:nvGrpSpPr>
        <p:grpSpPr>
          <a:xfrm>
            <a:off x="8793163" y="220663"/>
            <a:ext cx="198437" cy="6408737"/>
            <a:chOff x="5539" y="139"/>
            <a:chExt cx="125" cy="4037"/>
          </a:xfrm>
        </p:grpSpPr>
        <p:sp>
          <p:nvSpPr>
            <p:cNvPr id="350215" name="矩形 350214"/>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0216" name="矩形 350215"/>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0217" name="组合 350216"/>
          <p:cNvGrpSpPr/>
          <p:nvPr/>
        </p:nvGrpSpPr>
        <p:grpSpPr>
          <a:xfrm>
            <a:off x="412750" y="6477000"/>
            <a:ext cx="8686800" cy="228600"/>
            <a:chOff x="260" y="4080"/>
            <a:chExt cx="5472" cy="144"/>
          </a:xfrm>
        </p:grpSpPr>
        <p:sp>
          <p:nvSpPr>
            <p:cNvPr id="350218" name="矩形 350217"/>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0219" name="矩形 350218"/>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0220" name="组合 350219"/>
          <p:cNvGrpSpPr/>
          <p:nvPr/>
        </p:nvGrpSpPr>
        <p:grpSpPr>
          <a:xfrm>
            <a:off x="76200" y="176213"/>
            <a:ext cx="8745538" cy="161925"/>
            <a:chOff x="48" y="111"/>
            <a:chExt cx="5509" cy="102"/>
          </a:xfrm>
        </p:grpSpPr>
        <p:sp>
          <p:nvSpPr>
            <p:cNvPr id="350221" name="矩形 350220"/>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0222" name="矩形 350221"/>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0223" name="标题 350222"/>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4.19</a:t>
            </a:r>
            <a:r>
              <a:rPr lang="zh-CN" altLang="en-US" sz="2400" dirty="0">
                <a:latin typeface="黑体" panose="02010609060101010101" pitchFamily="2" charset="-122"/>
              </a:rPr>
              <a:t>－</a:t>
            </a:r>
            <a:r>
              <a:rPr lang="en-US" altLang="zh-CN" sz="2400">
                <a:latin typeface="黑体" panose="02010609060101010101" pitchFamily="2" charset="-122"/>
              </a:rPr>
              <a:t>3/5</a:t>
            </a:r>
          </a:p>
        </p:txBody>
      </p:sp>
      <p:pic>
        <p:nvPicPr>
          <p:cNvPr id="350224" name="图片 350223"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50225" name="图片 350224"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234" name="文本占位符 351233"/>
          <p:cNvSpPr>
            <a:spLocks noGrp="1"/>
          </p:cNvSpPr>
          <p:nvPr>
            <p:ph type="body" idx="1"/>
          </p:nvPr>
        </p:nvSpPr>
        <p:spPr>
          <a:xfrm>
            <a:off x="533400" y="914400"/>
            <a:ext cx="8153400" cy="5562600"/>
          </a:xfrm>
        </p:spPr>
        <p:txBody>
          <a:bodyPr/>
          <a:lstStyle/>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write3: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ax,0	</a:t>
            </a:r>
            <a:r>
              <a:rPr lang="en-US" altLang="zh-CN" sz="2800">
                <a:latin typeface="宋体" panose="02010600030101010101" pitchFamily="2" charset="-122"/>
              </a:rPr>
              <a:t>;</a:t>
            </a:r>
            <a:r>
              <a:rPr lang="zh-CN" altLang="en-US" sz="2800" dirty="0">
                <a:latin typeface="宋体" panose="02010600030101010101" pitchFamily="2" charset="-122"/>
              </a:rPr>
              <a:t>数据（商）为零</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jz</a:t>
            </a:r>
            <a:r>
              <a:rPr lang="en-US" altLang="zh-CN" sz="2800">
                <a:solidFill>
                  <a:schemeClr val="accent2"/>
                </a:solidFill>
                <a:latin typeface="宋体" panose="02010600030101010101" pitchFamily="2" charset="-122"/>
              </a:rPr>
              <a:t> write4</a:t>
            </a:r>
            <a:r>
              <a:rPr lang="en-US" altLang="zh-CN" sz="2800">
                <a:latin typeface="宋体" panose="02010600030101010101" pitchFamily="2" charset="-122"/>
              </a:rPr>
              <a:t>	;</a:t>
            </a:r>
            <a:r>
              <a:rPr lang="zh-CN" altLang="en-US" sz="2800" dirty="0">
                <a:latin typeface="宋体" panose="02010600030101010101" pitchFamily="2" charset="-122"/>
              </a:rPr>
              <a:t>转向显示</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sub </a:t>
            </a:r>
            <a:r>
              <a:rPr lang="en-US" altLang="zh-CN" sz="2800" dirty="0" err="1">
                <a:solidFill>
                  <a:schemeClr val="accent2"/>
                </a:solidFill>
                <a:latin typeface="宋体" panose="02010600030101010101" pitchFamily="2" charset="-122"/>
              </a:rPr>
              <a:t>dx,dx</a:t>
            </a:r>
            <a:r>
              <a:rPr lang="en-US" altLang="zh-CN" sz="2800">
                <a:latin typeface="宋体" panose="02010600030101010101" pitchFamily="2" charset="-122"/>
              </a:rPr>
              <a:t>	;</a:t>
            </a:r>
            <a:r>
              <a:rPr lang="zh-CN" altLang="en-US" sz="2800" dirty="0">
                <a:latin typeface="宋体" panose="02010600030101010101" pitchFamily="2" charset="-122"/>
              </a:rPr>
              <a:t>扩展被除数</a:t>
            </a:r>
            <a:r>
              <a:rPr lang="en-US" altLang="zh-CN" sz="2800">
                <a:latin typeface="宋体" panose="02010600030101010101" pitchFamily="2" charset="-122"/>
              </a:rPr>
              <a:t>DX.AX</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div </a:t>
            </a:r>
            <a:r>
              <a:rPr lang="en-US" altLang="zh-CN" sz="2800" dirty="0" err="1">
                <a:solidFill>
                  <a:schemeClr val="accent2"/>
                </a:solidFill>
                <a:latin typeface="宋体" panose="02010600030101010101" pitchFamily="2" charset="-122"/>
              </a:rPr>
              <a:t>bx</a:t>
            </a:r>
            <a:r>
              <a:rPr lang="en-US" altLang="zh-CN" sz="2800">
                <a:latin typeface="宋体" panose="02010600030101010101" pitchFamily="2" charset="-122"/>
              </a:rPr>
              <a:t>	;</a:t>
            </a:r>
            <a:r>
              <a:rPr lang="zh-CN" altLang="en-US" sz="2800" dirty="0">
                <a:latin typeface="宋体" panose="02010600030101010101" pitchFamily="2" charset="-122"/>
              </a:rPr>
              <a:t>数据除以</a:t>
            </a:r>
            <a:r>
              <a:rPr lang="en-US" altLang="zh-CN" sz="2800">
                <a:latin typeface="宋体" panose="02010600030101010101" pitchFamily="2" charset="-122"/>
              </a:rPr>
              <a:t>10</a:t>
            </a:r>
            <a:r>
              <a:rPr lang="zh-CN" altLang="en-US" sz="2800" dirty="0">
                <a:latin typeface="宋体" panose="02010600030101010101" pitchFamily="2" charset="-122"/>
              </a:rPr>
              <a:t>：</a:t>
            </a:r>
            <a:r>
              <a:rPr lang="en-US" altLang="zh-CN" sz="2800">
                <a:latin typeface="宋体" panose="02010600030101010101" pitchFamily="2" charset="-122"/>
              </a:rPr>
              <a:t>DX.AX÷10</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add dl,30h</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余数（</a:t>
            </a:r>
            <a:r>
              <a:rPr lang="en-US" altLang="zh-CN" sz="2800">
                <a:latin typeface="宋体" panose="02010600030101010101" pitchFamily="2" charset="-122"/>
              </a:rPr>
              <a:t>0</a:t>
            </a:r>
            <a:r>
              <a:rPr lang="zh-CN" altLang="en-US" sz="2800" dirty="0">
                <a:latin typeface="宋体" panose="02010600030101010101" pitchFamily="2" charset="-122"/>
              </a:rPr>
              <a:t>～</a:t>
            </a:r>
            <a:r>
              <a:rPr lang="en-US" altLang="zh-CN" sz="2800">
                <a:latin typeface="宋体" panose="02010600030101010101" pitchFamily="2" charset="-122"/>
              </a:rPr>
              <a:t>9</a:t>
            </a:r>
            <a:r>
              <a:rPr lang="zh-CN" altLang="en-US" sz="2800" dirty="0">
                <a:latin typeface="宋体" panose="02010600030101010101" pitchFamily="2" charset="-122"/>
              </a:rPr>
              <a:t>）转换为</a:t>
            </a:r>
            <a:r>
              <a:rPr lang="en-US" altLang="zh-CN" sz="2800">
                <a:latin typeface="宋体" panose="02010600030101010101" pitchFamily="2" charset="-122"/>
              </a:rPr>
              <a:t>ASCII</a:t>
            </a:r>
            <a:r>
              <a:rPr lang="zh-CN" altLang="en-US" sz="2800" dirty="0">
                <a:latin typeface="宋体" panose="02010600030101010101" pitchFamily="2" charset="-122"/>
              </a:rPr>
              <a:t>码</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tx2"/>
                </a:solidFill>
                <a:latin typeface="宋体" panose="02010600030101010101" pitchFamily="2" charset="-122"/>
              </a:rPr>
              <a:t>push </a:t>
            </a:r>
            <a:r>
              <a:rPr lang="en-US" altLang="zh-CN" sz="2800" dirty="0" err="1">
                <a:solidFill>
                  <a:schemeClr val="tx2"/>
                </a:solidFill>
                <a:latin typeface="宋体" panose="02010600030101010101" pitchFamily="2" charset="-122"/>
              </a:rPr>
              <a:t>dx</a:t>
            </a:r>
            <a:endParaRPr lang="en-US" altLang="zh-CN" sz="2800">
              <a:solidFill>
                <a:schemeClr val="tx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tx2"/>
                </a:solidFill>
                <a:latin typeface="宋体" panose="02010600030101010101" pitchFamily="2" charset="-122"/>
              </a:rPr>
              <a:t>	;</a:t>
            </a:r>
            <a:r>
              <a:rPr lang="zh-CN" altLang="en-US" sz="2800" dirty="0">
                <a:solidFill>
                  <a:schemeClr val="tx2"/>
                </a:solidFill>
                <a:latin typeface="宋体" panose="02010600030101010101" pitchFamily="2" charset="-122"/>
              </a:rPr>
              <a:t>数据各位先低位后高位压入堆栈</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jmp</a:t>
            </a:r>
            <a:r>
              <a:rPr lang="en-US" altLang="zh-CN" sz="2800">
                <a:solidFill>
                  <a:schemeClr val="accent2"/>
                </a:solidFill>
                <a:latin typeface="宋体" panose="02010600030101010101" pitchFamily="2" charset="-122"/>
              </a:rPr>
              <a:t> write3</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write4:	</a:t>
            </a:r>
            <a:r>
              <a:rPr lang="en-US" altLang="zh-CN" sz="2800">
                <a:solidFill>
                  <a:schemeClr val="tx2"/>
                </a:solidFill>
                <a:latin typeface="宋体" panose="02010600030101010101" pitchFamily="2" charset="-122"/>
              </a:rPr>
              <a:t>pop </a:t>
            </a:r>
            <a:r>
              <a:rPr lang="en-US" altLang="zh-CN" sz="2800" dirty="0" err="1">
                <a:solidFill>
                  <a:schemeClr val="tx2"/>
                </a:solidFill>
                <a:latin typeface="宋体" panose="02010600030101010101" pitchFamily="2" charset="-122"/>
              </a:rPr>
              <a:t>dx</a:t>
            </a:r>
            <a:endParaRPr lang="en-US" altLang="zh-CN" sz="2800">
              <a:solidFill>
                <a:schemeClr val="tx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a:solidFill>
                  <a:schemeClr val="tx2"/>
                </a:solidFill>
                <a:latin typeface="宋体" panose="02010600030101010101" pitchFamily="2" charset="-122"/>
              </a:rPr>
              <a:t>;</a:t>
            </a:r>
            <a:r>
              <a:rPr lang="zh-CN" altLang="en-US" sz="2800" dirty="0">
                <a:solidFill>
                  <a:schemeClr val="tx2"/>
                </a:solidFill>
                <a:latin typeface="宋体" panose="02010600030101010101" pitchFamily="2" charset="-122"/>
              </a:rPr>
              <a:t>数据各位先高位后低位弹出堆栈</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cmp</a:t>
            </a:r>
            <a:r>
              <a:rPr lang="en-US" altLang="zh-CN" sz="2800">
                <a:solidFill>
                  <a:schemeClr val="accent2"/>
                </a:solidFill>
                <a:latin typeface="宋体" panose="02010600030101010101" pitchFamily="2" charset="-122"/>
              </a:rPr>
              <a:t> dl,10	</a:t>
            </a:r>
            <a:r>
              <a:rPr lang="en-US" altLang="zh-CN" sz="2800">
                <a:latin typeface="宋体" panose="02010600030101010101" pitchFamily="2" charset="-122"/>
              </a:rPr>
              <a:t>;</a:t>
            </a:r>
            <a:r>
              <a:rPr lang="zh-CN" altLang="en-US" sz="2800" dirty="0">
                <a:latin typeface="宋体" panose="02010600030101010101" pitchFamily="2" charset="-122"/>
              </a:rPr>
              <a:t>是结束标志</a:t>
            </a:r>
            <a:r>
              <a:rPr lang="en-US" altLang="zh-CN" sz="2800">
                <a:latin typeface="宋体" panose="02010600030101010101" pitchFamily="2" charset="-122"/>
              </a:rPr>
              <a:t>10</a:t>
            </a:r>
            <a:r>
              <a:rPr lang="zh-CN" altLang="en-US" sz="2800" dirty="0">
                <a:latin typeface="宋体" panose="02010600030101010101" pitchFamily="2" charset="-122"/>
              </a:rPr>
              <a:t>，则退出</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je</a:t>
            </a:r>
            <a:r>
              <a:rPr lang="en-US" altLang="zh-CN" sz="280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sym typeface="+mn-ea"/>
              </a:rPr>
              <a:t>done</a:t>
            </a:r>
            <a:endParaRPr lang="en-US" altLang="zh-CN" sz="2800">
              <a:solidFill>
                <a:schemeClr val="accent2"/>
              </a:solidFill>
              <a:latin typeface="宋体" panose="02010600030101010101" pitchFamily="2" charset="-122"/>
            </a:endParaRPr>
          </a:p>
        </p:txBody>
      </p:sp>
      <p:grpSp>
        <p:nvGrpSpPr>
          <p:cNvPr id="351235" name="组合 351234"/>
          <p:cNvGrpSpPr/>
          <p:nvPr/>
        </p:nvGrpSpPr>
        <p:grpSpPr>
          <a:xfrm>
            <a:off x="177800" y="230188"/>
            <a:ext cx="203200" cy="6503987"/>
            <a:chOff x="112" y="145"/>
            <a:chExt cx="128" cy="4097"/>
          </a:xfrm>
        </p:grpSpPr>
        <p:sp>
          <p:nvSpPr>
            <p:cNvPr id="351236" name="矩形 351235"/>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1237" name="矩形 351236"/>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1238" name="组合 351237"/>
          <p:cNvGrpSpPr/>
          <p:nvPr/>
        </p:nvGrpSpPr>
        <p:grpSpPr>
          <a:xfrm>
            <a:off x="8793163" y="220663"/>
            <a:ext cx="198437" cy="6408737"/>
            <a:chOff x="5539" y="139"/>
            <a:chExt cx="125" cy="4037"/>
          </a:xfrm>
        </p:grpSpPr>
        <p:sp>
          <p:nvSpPr>
            <p:cNvPr id="351239" name="矩形 351238"/>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1240" name="矩形 351239"/>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1241" name="组合 351240"/>
          <p:cNvGrpSpPr/>
          <p:nvPr/>
        </p:nvGrpSpPr>
        <p:grpSpPr>
          <a:xfrm>
            <a:off x="412750" y="6477000"/>
            <a:ext cx="8686800" cy="228600"/>
            <a:chOff x="260" y="4080"/>
            <a:chExt cx="5472" cy="144"/>
          </a:xfrm>
        </p:grpSpPr>
        <p:sp>
          <p:nvSpPr>
            <p:cNvPr id="351242" name="矩形 351241"/>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1243" name="矩形 351242"/>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1244" name="组合 351243"/>
          <p:cNvGrpSpPr/>
          <p:nvPr/>
        </p:nvGrpSpPr>
        <p:grpSpPr>
          <a:xfrm>
            <a:off x="76200" y="176213"/>
            <a:ext cx="8745538" cy="161925"/>
            <a:chOff x="48" y="111"/>
            <a:chExt cx="5509" cy="102"/>
          </a:xfrm>
        </p:grpSpPr>
        <p:sp>
          <p:nvSpPr>
            <p:cNvPr id="351245" name="矩形 351244"/>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1246" name="矩形 351245"/>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1247" name="标题 351246"/>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4.19</a:t>
            </a:r>
            <a:r>
              <a:rPr lang="zh-CN" altLang="en-US" sz="2400" dirty="0">
                <a:latin typeface="黑体" panose="02010609060101010101" pitchFamily="2" charset="-122"/>
              </a:rPr>
              <a:t>－</a:t>
            </a:r>
            <a:r>
              <a:rPr lang="en-US" altLang="zh-CN" sz="2400">
                <a:latin typeface="黑体" panose="02010609060101010101" pitchFamily="2" charset="-122"/>
              </a:rPr>
              <a:t>4/5</a:t>
            </a:r>
          </a:p>
        </p:txBody>
      </p:sp>
      <p:pic>
        <p:nvPicPr>
          <p:cNvPr id="351248" name="图片 351247"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51249" name="图片 351248"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文本占位符 352257"/>
          <p:cNvSpPr>
            <a:spLocks noGrp="1"/>
          </p:cNvSpPr>
          <p:nvPr>
            <p:ph type="body" idx="1"/>
          </p:nvPr>
        </p:nvSpPr>
        <p:spPr>
          <a:xfrm>
            <a:off x="533400" y="914400"/>
            <a:ext cx="8153400" cy="5562600"/>
          </a:xfrm>
        </p:spPr>
        <p:txBody>
          <a:bodyPr/>
          <a:lstStyle/>
          <a:p>
            <a:pPr marL="0" indent="0" defTabSz="914400">
              <a:lnSpc>
                <a:spcPct val="80000"/>
              </a:lnSpc>
              <a:buNone/>
              <a:tabLst>
                <a:tab pos="1520825" algn="l"/>
                <a:tab pos="3810000" algn="l"/>
              </a:tabLst>
            </a:pPr>
            <a:r>
              <a:rPr lang="en-US" altLang="zh-CN"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ah,2	</a:t>
            </a:r>
            <a:r>
              <a:rPr lang="en-US" altLang="zh-CN" sz="2800">
                <a:latin typeface="宋体" panose="02010600030101010101" pitchFamily="2" charset="-122"/>
              </a:rPr>
              <a:t>;</a:t>
            </a:r>
            <a:r>
              <a:rPr lang="zh-CN" altLang="en-US" sz="2800" dirty="0">
                <a:latin typeface="宋体" panose="02010600030101010101" pitchFamily="2" charset="-122"/>
              </a:rPr>
              <a:t>进行显示</a:t>
            </a:r>
          </a:p>
          <a:p>
            <a:pPr marL="0" indent="0" defTabSz="914400">
              <a:lnSpc>
                <a:spcPct val="80000"/>
              </a:lnSpc>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int</a:t>
            </a:r>
            <a:r>
              <a:rPr lang="en-US" altLang="zh-CN" sz="2800">
                <a:solidFill>
                  <a:schemeClr val="accent2"/>
                </a:solidFill>
                <a:latin typeface="宋体" panose="02010600030101010101" pitchFamily="2" charset="-122"/>
              </a:rPr>
              <a:t> 21h</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jmp</a:t>
            </a:r>
            <a:r>
              <a:rPr lang="en-US" altLang="zh-CN" sz="2800">
                <a:solidFill>
                  <a:schemeClr val="accent2"/>
                </a:solidFill>
                <a:latin typeface="宋体" panose="02010600030101010101" pitchFamily="2" charset="-122"/>
              </a:rPr>
              <a:t> write4</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sym typeface="+mn-ea"/>
              </a:rPr>
              <a:t>done</a:t>
            </a: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dx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pop ax</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ret</a:t>
            </a:r>
            <a:r>
              <a:rPr lang="en-US" altLang="zh-CN" sz="2800">
                <a:latin typeface="宋体" panose="02010600030101010101" pitchFamily="2" charset="-122"/>
              </a:rPr>
              <a:t>	;</a:t>
            </a:r>
            <a:r>
              <a:rPr lang="zh-CN" altLang="en-US" sz="2800" dirty="0">
                <a:latin typeface="宋体" panose="02010600030101010101" pitchFamily="2" charset="-122"/>
              </a:rPr>
              <a:t>子程序返回</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write	</a:t>
            </a:r>
            <a:r>
              <a:rPr lang="en-US" altLang="zh-CN" sz="2800" dirty="0" err="1">
                <a:solidFill>
                  <a:schemeClr val="accent2"/>
                </a:solidFill>
                <a:latin typeface="宋体" panose="02010600030101010101" pitchFamily="2" charset="-122"/>
              </a:rPr>
              <a:t>endp</a:t>
            </a:r>
            <a:endParaRPr lang="en-US" altLang="zh-CN" sz="2800">
              <a:solidFill>
                <a:schemeClr val="accent2"/>
              </a:solidFill>
              <a:latin typeface="宋体" panose="02010600030101010101" pitchFamily="2" charset="-122"/>
            </a:endParaRPr>
          </a:p>
          <a:p>
            <a:pPr marL="0" indent="0" defTabSz="914400">
              <a:lnSpc>
                <a:spcPct val="80000"/>
              </a:lnSpc>
              <a:buNone/>
              <a:tabLst>
                <a:tab pos="1520825" algn="l"/>
                <a:tab pos="3810000" algn="l"/>
              </a:tabLst>
            </a:pPr>
            <a:r>
              <a:rPr lang="en-US" altLang="zh-CN" sz="2800">
                <a:latin typeface="宋体" panose="02010600030101010101" pitchFamily="2" charset="-122"/>
              </a:rPr>
              <a:t>	;</a:t>
            </a:r>
            <a:r>
              <a:rPr lang="zh-CN" altLang="en-US" sz="2800" dirty="0">
                <a:latin typeface="宋体" panose="02010600030101010101" pitchFamily="2" charset="-122"/>
              </a:rPr>
              <a:t>使光标回车换行的子程序</a:t>
            </a:r>
          </a:p>
          <a:p>
            <a:pPr marL="0" indent="0" defTabSz="914400">
              <a:lnSpc>
                <a:spcPct val="80000"/>
              </a:lnSpc>
              <a:buNone/>
              <a:tabLst>
                <a:tab pos="1520825" algn="l"/>
                <a:tab pos="3810000" algn="l"/>
              </a:tabLst>
            </a:pPr>
            <a:r>
              <a:rPr lang="en-US" altLang="zh-CN" sz="2800" dirty="0" err="1">
                <a:solidFill>
                  <a:schemeClr val="accent2"/>
                </a:solidFill>
                <a:latin typeface="宋体" panose="02010600030101010101" pitchFamily="2" charset="-122"/>
              </a:rPr>
              <a:t>dpcrlf</a:t>
            </a:r>
            <a:r>
              <a:rPr lang="en-US" altLang="zh-CN" sz="2800">
                <a:solidFill>
                  <a:schemeClr val="accent2"/>
                </a:solidFill>
                <a:latin typeface="宋体" panose="02010600030101010101" pitchFamily="2" charset="-122"/>
              </a:rPr>
              <a:t>	proc</a:t>
            </a:r>
          </a:p>
          <a:p>
            <a:pPr marL="0" indent="0" defTabSz="914400">
              <a:lnSpc>
                <a:spcPct val="80000"/>
              </a:lnSpc>
              <a:buNone/>
              <a:tabLst>
                <a:tab pos="1520825" algn="l"/>
                <a:tab pos="3810000" algn="l"/>
              </a:tabLst>
            </a:pPr>
            <a:r>
              <a:rPr lang="en-US" altLang="zh-CN" sz="2800">
                <a:solidFill>
                  <a:schemeClr val="accent2"/>
                </a:solidFill>
                <a:latin typeface="宋体" panose="02010600030101010101" pitchFamily="2" charset="-122"/>
              </a:rPr>
              <a:t>	...	</a:t>
            </a:r>
            <a:r>
              <a:rPr lang="en-US" altLang="zh-CN" sz="2800">
                <a:latin typeface="宋体" panose="02010600030101010101" pitchFamily="2" charset="-122"/>
              </a:rPr>
              <a:t>;</a:t>
            </a:r>
            <a:r>
              <a:rPr lang="zh-CN" altLang="en-US" sz="2800" dirty="0">
                <a:latin typeface="宋体" panose="02010600030101010101" pitchFamily="2" charset="-122"/>
              </a:rPr>
              <a:t>省略</a:t>
            </a:r>
          </a:p>
          <a:p>
            <a:pPr marL="0" indent="0" defTabSz="914400">
              <a:lnSpc>
                <a:spcPct val="80000"/>
              </a:lnSpc>
              <a:buNone/>
              <a:tabLst>
                <a:tab pos="1520825" algn="l"/>
                <a:tab pos="3810000" algn="l"/>
              </a:tabLst>
            </a:pPr>
            <a:r>
              <a:rPr lang="en-US" altLang="zh-CN" sz="2800" dirty="0" err="1">
                <a:solidFill>
                  <a:schemeClr val="accent2"/>
                </a:solidFill>
                <a:latin typeface="宋体" panose="02010600030101010101" pitchFamily="2" charset="-122"/>
              </a:rPr>
              <a:t>dpcrlf</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endp</a:t>
            </a:r>
            <a:endParaRPr lang="en-US" altLang="zh-CN" sz="2800">
              <a:solidFill>
                <a:schemeClr val="accent2"/>
              </a:solidFill>
              <a:latin typeface="宋体" panose="02010600030101010101" pitchFamily="2" charset="-122"/>
            </a:endParaRPr>
          </a:p>
        </p:txBody>
      </p:sp>
      <p:grpSp>
        <p:nvGrpSpPr>
          <p:cNvPr id="352259" name="组合 352258"/>
          <p:cNvGrpSpPr/>
          <p:nvPr/>
        </p:nvGrpSpPr>
        <p:grpSpPr>
          <a:xfrm>
            <a:off x="177800" y="230188"/>
            <a:ext cx="203200" cy="6503987"/>
            <a:chOff x="112" y="145"/>
            <a:chExt cx="128" cy="4097"/>
          </a:xfrm>
        </p:grpSpPr>
        <p:sp>
          <p:nvSpPr>
            <p:cNvPr id="352260" name="矩形 352259"/>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2261" name="矩形 352260"/>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2262" name="组合 352261"/>
          <p:cNvGrpSpPr/>
          <p:nvPr/>
        </p:nvGrpSpPr>
        <p:grpSpPr>
          <a:xfrm>
            <a:off x="8793163" y="220663"/>
            <a:ext cx="198437" cy="6408737"/>
            <a:chOff x="5539" y="139"/>
            <a:chExt cx="125" cy="4037"/>
          </a:xfrm>
        </p:grpSpPr>
        <p:sp>
          <p:nvSpPr>
            <p:cNvPr id="352263" name="矩形 352262"/>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2264" name="矩形 352263"/>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2265" name="组合 352264"/>
          <p:cNvGrpSpPr/>
          <p:nvPr/>
        </p:nvGrpSpPr>
        <p:grpSpPr>
          <a:xfrm>
            <a:off x="412750" y="6477000"/>
            <a:ext cx="8686800" cy="228600"/>
            <a:chOff x="260" y="4080"/>
            <a:chExt cx="5472" cy="144"/>
          </a:xfrm>
        </p:grpSpPr>
        <p:sp>
          <p:nvSpPr>
            <p:cNvPr id="352266" name="矩形 352265"/>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2267" name="矩形 352266"/>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2268" name="组合 352267"/>
          <p:cNvGrpSpPr/>
          <p:nvPr/>
        </p:nvGrpSpPr>
        <p:grpSpPr>
          <a:xfrm>
            <a:off x="76200" y="176213"/>
            <a:ext cx="8745538" cy="161925"/>
            <a:chOff x="48" y="111"/>
            <a:chExt cx="5509" cy="102"/>
          </a:xfrm>
        </p:grpSpPr>
        <p:sp>
          <p:nvSpPr>
            <p:cNvPr id="352269" name="矩形 352268"/>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2270" name="矩形 352269"/>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2271" name="标题 352270"/>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4.19</a:t>
            </a:r>
            <a:r>
              <a:rPr lang="zh-CN" altLang="en-US" sz="2400" dirty="0">
                <a:latin typeface="黑体" panose="02010609060101010101" pitchFamily="2" charset="-122"/>
              </a:rPr>
              <a:t>－</a:t>
            </a:r>
            <a:r>
              <a:rPr lang="en-US" altLang="zh-CN" sz="2400">
                <a:latin typeface="黑体" panose="02010609060101010101" pitchFamily="2" charset="-122"/>
              </a:rPr>
              <a:t>5/5</a:t>
            </a:r>
          </a:p>
        </p:txBody>
      </p:sp>
      <p:pic>
        <p:nvPicPr>
          <p:cNvPr id="352272" name="图片 352271" descr="6">
            <a:hlinkClick r:id="" action="ppaction://hlinkshowjump?jump=previousslide"/>
          </p:cNvPr>
          <p:cNvPicPr>
            <a:picLocks noChangeAspect="1"/>
          </p:cNvPicPr>
          <p:nvPr/>
        </p:nvPicPr>
        <p:blipFill>
          <a:blip r:embed="rId2"/>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22" name="标题 337921"/>
          <p:cNvSpPr>
            <a:spLocks noGrp="1"/>
          </p:cNvSpPr>
          <p:nvPr>
            <p:ph type="title"/>
          </p:nvPr>
        </p:nvSpPr>
        <p:spPr/>
        <p:txBody>
          <a:bodyPr anchor="ctr" anchorCtr="0"/>
          <a:lstStyle/>
          <a:p>
            <a:r>
              <a:rPr lang="zh-CN" altLang="en-US" sz="2800" dirty="0"/>
              <a:t>例题</a:t>
            </a:r>
            <a:r>
              <a:rPr lang="en-US" altLang="zh-CN" sz="2800" dirty="0"/>
              <a:t>4.20</a:t>
            </a:r>
            <a:r>
              <a:rPr lang="zh-CN" altLang="en-US" sz="2800" dirty="0"/>
              <a:t>：计算有符号数平均值</a:t>
            </a:r>
            <a:endParaRPr lang="zh-CN" altLang="en-US" sz="2800"/>
          </a:p>
        </p:txBody>
      </p:sp>
      <p:sp>
        <p:nvSpPr>
          <p:cNvPr id="337923" name="文本占位符 337922"/>
          <p:cNvSpPr>
            <a:spLocks noGrp="1"/>
          </p:cNvSpPr>
          <p:nvPr>
            <p:ph type="body" idx="1"/>
          </p:nvPr>
        </p:nvSpPr>
        <p:spPr>
          <a:xfrm>
            <a:off x="990600" y="1676400"/>
            <a:ext cx="7391400" cy="4495800"/>
          </a:xfrm>
        </p:spPr>
        <p:txBody>
          <a:bodyPr/>
          <a:lstStyle/>
          <a:p>
            <a:pPr>
              <a:lnSpc>
                <a:spcPct val="90000"/>
              </a:lnSpc>
            </a:pPr>
            <a:r>
              <a:rPr lang="zh-CN" altLang="en-US" sz="3200" dirty="0"/>
              <a:t>子程序将</a:t>
            </a:r>
            <a:r>
              <a:rPr lang="en-US" altLang="zh-CN" sz="3200"/>
              <a:t>16</a:t>
            </a:r>
            <a:r>
              <a:rPr lang="zh-CN" altLang="en-US" sz="3200" dirty="0"/>
              <a:t>位有符号二进制数求和，然后除以数据个数得到平均值</a:t>
            </a:r>
          </a:p>
          <a:p>
            <a:pPr>
              <a:lnSpc>
                <a:spcPct val="90000"/>
              </a:lnSpc>
              <a:spcBef>
                <a:spcPct val="50000"/>
              </a:spcBef>
            </a:pPr>
            <a:r>
              <a:rPr lang="zh-CN" altLang="en-US" sz="3200" dirty="0"/>
              <a:t>子程序的</a:t>
            </a:r>
            <a:r>
              <a:rPr lang="zh-CN" altLang="en-US" sz="3200" dirty="0">
                <a:solidFill>
                  <a:schemeClr val="tx2"/>
                </a:solidFill>
              </a:rPr>
              <a:t>入口参数利用堆栈传递</a:t>
            </a:r>
            <a:r>
              <a:rPr lang="zh-CN" altLang="en-US" sz="3200" dirty="0"/>
              <a:t>，主程序需要压入数据个数和数据缓冲区的偏移地址。子程序通过</a:t>
            </a:r>
            <a:r>
              <a:rPr lang="en-US" altLang="zh-CN" sz="3200"/>
              <a:t>BP</a:t>
            </a:r>
            <a:r>
              <a:rPr lang="zh-CN" altLang="en-US" sz="3200" dirty="0"/>
              <a:t>寄存器从堆栈段相应位置取出参数</a:t>
            </a:r>
          </a:p>
          <a:p>
            <a:pPr>
              <a:lnSpc>
                <a:spcPct val="90000"/>
              </a:lnSpc>
              <a:spcBef>
                <a:spcPct val="50000"/>
              </a:spcBef>
            </a:pPr>
            <a:r>
              <a:rPr lang="zh-CN" altLang="en-US" sz="3200" dirty="0"/>
              <a:t>子程序的</a:t>
            </a:r>
            <a:r>
              <a:rPr lang="zh-CN" altLang="en-US" sz="3200" dirty="0">
                <a:solidFill>
                  <a:schemeClr val="tx2"/>
                </a:solidFill>
              </a:rPr>
              <a:t>出口参数用寄存器</a:t>
            </a:r>
            <a:r>
              <a:rPr lang="en-US" altLang="zh-CN" sz="3200">
                <a:solidFill>
                  <a:schemeClr val="tx2"/>
                </a:solidFill>
              </a:rPr>
              <a:t>AX</a:t>
            </a:r>
            <a:r>
              <a:rPr lang="zh-CN" altLang="en-US" sz="3200" dirty="0">
                <a:solidFill>
                  <a:schemeClr val="tx2"/>
                </a:solidFill>
              </a:rPr>
              <a:t>传递</a:t>
            </a:r>
          </a:p>
          <a:p>
            <a:pPr>
              <a:lnSpc>
                <a:spcPct val="90000"/>
              </a:lnSpc>
              <a:spcBef>
                <a:spcPct val="50000"/>
              </a:spcBef>
            </a:pPr>
            <a:r>
              <a:rPr lang="zh-CN" altLang="en-US" sz="3200" dirty="0"/>
              <a:t>主程序提供</a:t>
            </a:r>
            <a:r>
              <a:rPr lang="en-US" altLang="zh-CN" sz="3200"/>
              <a:t>10</a:t>
            </a:r>
            <a:r>
              <a:rPr lang="zh-CN" altLang="en-US" sz="3200" dirty="0"/>
              <a:t>个数据，并保存平均值</a:t>
            </a:r>
          </a:p>
        </p:txBody>
      </p:sp>
      <p:sp>
        <p:nvSpPr>
          <p:cNvPr id="337924" name="矩形 337923" descr="041">
            <a:hlinkClick r:id="" action="ppaction://noaction"/>
          </p:cNvPr>
          <p:cNvSpPr/>
          <p:nvPr/>
        </p:nvSpPr>
        <p:spPr>
          <a:xfrm>
            <a:off x="7442200" y="1062038"/>
            <a:ext cx="1450975" cy="422275"/>
          </a:xfrm>
          <a:prstGeom prst="rect">
            <a:avLst/>
          </a:prstGeom>
          <a:blipFill rotWithShape="0">
            <a:blip r:embed="rId2"/>
            <a:stretch>
              <a:fillRect/>
            </a:stretch>
          </a:blipFill>
          <a:ln w="38100" cap="flat" cmpd="dbl">
            <a:solidFill>
              <a:srgbClr val="FFCC66"/>
            </a:solidFill>
            <a:prstDash val="solid"/>
            <a:miter/>
            <a:headEnd type="none" w="med" len="med"/>
            <a:tailEnd type="none" w="med" len="med"/>
          </a:ln>
          <a:effectLst>
            <a:outerShdw dist="45791" dir="2021404" algn="ctr" rotWithShape="0">
              <a:schemeClr val="folHlink"/>
            </a:outerShdw>
          </a:effectLst>
        </p:spPr>
        <p: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lnSpc>
                <a:spcPct val="80000"/>
              </a:lnSpc>
              <a:buNone/>
            </a:pPr>
            <a:r>
              <a:rPr lang="zh-CN" altLang="en-US" sz="2400" b="0" dirty="0">
                <a:solidFill>
                  <a:schemeClr val="accent2"/>
                </a:solidFill>
                <a:latin typeface="隶书" panose="02010509060101010101" pitchFamily="49" charset="-122"/>
                <a:ea typeface="隶书" panose="02010509060101010101" pitchFamily="49" charset="-122"/>
              </a:rPr>
              <a:t>避免溢出</a:t>
            </a:r>
            <a:endParaRPr lang="zh-CN" altLang="en-US" sz="2400" b="0">
              <a:solidFill>
                <a:schemeClr val="accent2"/>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23">
                                            <p:txEl>
                                              <p:pRg st="1" end="1"/>
                                            </p:txEl>
                                          </p:spTgt>
                                        </p:tgtEl>
                                        <p:attrNameLst>
                                          <p:attrName>style.visibility</p:attrName>
                                        </p:attrNameLst>
                                      </p:cBhvr>
                                      <p:to>
                                        <p:strVal val="visible"/>
                                      </p:to>
                                    </p:set>
                                    <p:animEffect transition="in" filter="blinds(horizontal)">
                                      <p:cBhvr>
                                        <p:cTn id="7" dur="500"/>
                                        <p:tgtEl>
                                          <p:spTgt spid="3379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23">
                                            <p:txEl>
                                              <p:pRg st="2" end="2"/>
                                            </p:txEl>
                                          </p:spTgt>
                                        </p:tgtEl>
                                        <p:attrNameLst>
                                          <p:attrName>style.visibility</p:attrName>
                                        </p:attrNameLst>
                                      </p:cBhvr>
                                      <p:to>
                                        <p:strVal val="visible"/>
                                      </p:to>
                                    </p:set>
                                    <p:animEffect transition="in" filter="blinds(horizontal)">
                                      <p:cBhvr>
                                        <p:cTn id="12" dur="500"/>
                                        <p:tgtEl>
                                          <p:spTgt spid="33792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7923">
                                            <p:txEl>
                                              <p:pRg st="3" end="3"/>
                                            </p:txEl>
                                          </p:spTgt>
                                        </p:tgtEl>
                                        <p:attrNameLst>
                                          <p:attrName>style.visibility</p:attrName>
                                        </p:attrNameLst>
                                      </p:cBhvr>
                                      <p:to>
                                        <p:strVal val="visible"/>
                                      </p:to>
                                    </p:set>
                                    <p:animEffect transition="in" filter="blinds(horizontal)">
                                      <p:cBhvr>
                                        <p:cTn id="17" dur="500"/>
                                        <p:tgtEl>
                                          <p:spTgt spid="3379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282" name="文本占位符 353281"/>
          <p:cNvSpPr>
            <a:spLocks noGrp="1"/>
          </p:cNvSpPr>
          <p:nvPr>
            <p:ph type="body" idx="1"/>
          </p:nvPr>
        </p:nvSpPr>
        <p:spPr>
          <a:xfrm>
            <a:off x="533400" y="304800"/>
            <a:ext cx="8153400" cy="6172200"/>
          </a:xfrm>
        </p:spPr>
        <p:txBody>
          <a:bodyPr/>
          <a:lstStyle/>
          <a:p>
            <a:pPr marL="0" indent="0" defTabSz="914400">
              <a:spcBef>
                <a:spcPct val="10000"/>
              </a:spcBef>
              <a:buNone/>
              <a:tabLst>
                <a:tab pos="1520825" algn="l"/>
                <a:tab pos="3810000" algn="l"/>
              </a:tabLst>
            </a:pPr>
            <a:r>
              <a:rPr lang="en-US" altLang="zh-CN" sz="2800" dirty="0">
                <a:solidFill>
                  <a:schemeClr val="accent2"/>
                </a:solidFill>
                <a:latin typeface="宋体" panose="02010600030101010101" pitchFamily="2" charset="-122"/>
              </a:rPr>
              <a:t>	;</a:t>
            </a:r>
            <a:r>
              <a:rPr lang="zh-CN" altLang="en-US" sz="2800" dirty="0">
                <a:solidFill>
                  <a:schemeClr val="accent2"/>
                </a:solidFill>
                <a:latin typeface="宋体" panose="02010600030101010101" pitchFamily="2" charset="-122"/>
              </a:rPr>
              <a:t>数据段</a:t>
            </a:r>
            <a:endParaRPr lang="zh-CN" altLang="en-US"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count	= 10</a:t>
            </a: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array	</a:t>
            </a:r>
            <a:r>
              <a:rPr lang="en-US" altLang="zh-CN" sz="2800" dirty="0" err="1">
                <a:solidFill>
                  <a:schemeClr val="accent2"/>
                </a:solidFill>
                <a:latin typeface="宋体" panose="02010600030101010101" pitchFamily="2" charset="-122"/>
              </a:rPr>
              <a:t>dw</a:t>
            </a:r>
            <a:r>
              <a:rPr lang="en-US" altLang="zh-CN" sz="2800">
                <a:solidFill>
                  <a:schemeClr val="accent2"/>
                </a:solidFill>
                <a:latin typeface="宋体" panose="02010600030101010101" pitchFamily="2" charset="-122"/>
              </a:rPr>
              <a:t> 1234,-1234,0,1,-1,32767</a:t>
            </a: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dw</a:t>
            </a:r>
            <a:r>
              <a:rPr lang="en-US" altLang="zh-CN" sz="2800">
                <a:solidFill>
                  <a:schemeClr val="accent2"/>
                </a:solidFill>
                <a:latin typeface="宋体" panose="02010600030101010101" pitchFamily="2" charset="-122"/>
              </a:rPr>
              <a:t> -32768,5678,-5678,9000</a:t>
            </a:r>
          </a:p>
          <a:p>
            <a:pPr marL="0" indent="0" defTabSz="914400">
              <a:spcBef>
                <a:spcPct val="10000"/>
              </a:spcBef>
              <a:buNone/>
              <a:tabLst>
                <a:tab pos="1520825" algn="l"/>
                <a:tab pos="3810000" algn="l"/>
              </a:tabLst>
            </a:pPr>
            <a:r>
              <a:rPr lang="en-US" altLang="zh-CN" sz="2800" dirty="0" err="1">
                <a:solidFill>
                  <a:schemeClr val="tx2"/>
                </a:solidFill>
                <a:latin typeface="宋体" panose="02010600030101010101" pitchFamily="2" charset="-122"/>
              </a:rPr>
              <a:t>wmed</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dw</a:t>
            </a:r>
            <a:r>
              <a:rPr lang="en-US" altLang="zh-CN" sz="2800">
                <a:solidFill>
                  <a:schemeClr val="accent2"/>
                </a:solidFill>
                <a:latin typeface="宋体" panose="02010600030101010101" pitchFamily="2" charset="-122"/>
              </a:rPr>
              <a:t> ?	</a:t>
            </a:r>
            <a:r>
              <a:rPr lang="en-US" altLang="zh-CN" sz="2800">
                <a:latin typeface="宋体" panose="02010600030101010101" pitchFamily="2" charset="-122"/>
              </a:rPr>
              <a:t>; </a:t>
            </a:r>
            <a:r>
              <a:rPr lang="zh-CN" altLang="en-US" sz="2800" dirty="0">
                <a:latin typeface="宋体" panose="02010600030101010101" pitchFamily="2" charset="-122"/>
              </a:rPr>
              <a:t>存放平均值</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a:solidFill>
                  <a:schemeClr val="accent2"/>
                </a:solidFill>
                <a:latin typeface="宋体" panose="02010600030101010101" pitchFamily="2" charset="-122"/>
              </a:rPr>
              <a:t>;</a:t>
            </a:r>
            <a:r>
              <a:rPr lang="zh-CN" altLang="en-US" sz="2800" dirty="0">
                <a:solidFill>
                  <a:schemeClr val="accent2"/>
                </a:solidFill>
                <a:latin typeface="宋体" panose="02010600030101010101" pitchFamily="2" charset="-122"/>
              </a:rPr>
              <a:t>代码段：主程序</a:t>
            </a:r>
            <a:endParaRPr lang="zh-CN" altLang="en-US"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zh-CN" altLang="en-US"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ax,count</a:t>
            </a:r>
            <a:endParaRPr lang="en-US" altLang="zh-CN" sz="280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	push ax</a:t>
            </a:r>
            <a:r>
              <a:rPr lang="en-US" altLang="zh-CN" sz="2800">
                <a:latin typeface="宋体" panose="02010600030101010101" pitchFamily="2" charset="-122"/>
              </a:rPr>
              <a:t>	;</a:t>
            </a:r>
            <a:r>
              <a:rPr lang="zh-CN" altLang="en-US" sz="2800" dirty="0">
                <a:latin typeface="宋体" panose="02010600030101010101" pitchFamily="2" charset="-122"/>
              </a:rPr>
              <a:t>压入数据个数</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ax,offset</a:t>
            </a:r>
            <a:r>
              <a:rPr lang="en-US" altLang="zh-CN" sz="2800">
                <a:solidFill>
                  <a:schemeClr val="accent2"/>
                </a:solidFill>
                <a:latin typeface="宋体" panose="02010600030101010101" pitchFamily="2" charset="-122"/>
              </a:rPr>
              <a:t> array</a:t>
            </a:r>
          </a:p>
          <a:p>
            <a:pPr marL="0" indent="0" defTabSz="914400">
              <a:spcBef>
                <a:spcPct val="10000"/>
              </a:spcBef>
              <a:buNone/>
              <a:tabLst>
                <a:tab pos="1520825" algn="l"/>
                <a:tab pos="3810000" algn="l"/>
              </a:tabLst>
            </a:pPr>
            <a:r>
              <a:rPr lang="en-US" altLang="zh-CN" sz="2800">
                <a:solidFill>
                  <a:schemeClr val="accent2"/>
                </a:solidFill>
                <a:latin typeface="宋体" panose="02010600030101010101" pitchFamily="2" charset="-122"/>
              </a:rPr>
              <a:t>	push ax</a:t>
            </a:r>
            <a:r>
              <a:rPr lang="en-US" altLang="zh-CN" sz="2800">
                <a:latin typeface="宋体" panose="02010600030101010101" pitchFamily="2" charset="-122"/>
              </a:rPr>
              <a:t>	;</a:t>
            </a:r>
            <a:r>
              <a:rPr lang="zh-CN" altLang="en-US" sz="2800" dirty="0">
                <a:latin typeface="宋体" panose="02010600030101010101" pitchFamily="2" charset="-122"/>
              </a:rPr>
              <a:t>压入缓冲区偏移地址</a:t>
            </a:r>
            <a:endParaRPr lang="zh-CN" altLang="en-US" sz="2800" dirty="0">
              <a:solidFill>
                <a:schemeClr val="accent2"/>
              </a:solidFill>
              <a:latin typeface="宋体" panose="02010600030101010101" pitchFamily="2" charset="-122"/>
            </a:endParaRP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tx2"/>
                </a:solidFill>
                <a:latin typeface="宋体" panose="02010600030101010101" pitchFamily="2" charset="-122"/>
              </a:rPr>
              <a:t>call mean</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调用子程序求平均值</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tx2"/>
                </a:solidFill>
                <a:latin typeface="宋体" panose="02010600030101010101" pitchFamily="2" charset="-122"/>
              </a:rPr>
              <a:t>add sp, 4</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平衡堆栈</a:t>
            </a:r>
          </a:p>
          <a:p>
            <a:pPr marL="0" indent="0" defTabSz="914400">
              <a:spcBef>
                <a:spcPct val="10000"/>
              </a:spcBef>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wmed,ax</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保存平均值（不含余数）</a:t>
            </a:r>
            <a:endParaRPr lang="zh-CN" altLang="en-US" sz="2800">
              <a:solidFill>
                <a:schemeClr val="accent2"/>
              </a:solidFill>
              <a:latin typeface="宋体" panose="02010600030101010101" pitchFamily="2" charset="-122"/>
            </a:endParaRPr>
          </a:p>
        </p:txBody>
      </p:sp>
      <p:grpSp>
        <p:nvGrpSpPr>
          <p:cNvPr id="353283" name="组合 353282"/>
          <p:cNvGrpSpPr/>
          <p:nvPr/>
        </p:nvGrpSpPr>
        <p:grpSpPr>
          <a:xfrm>
            <a:off x="177800" y="230188"/>
            <a:ext cx="203200" cy="6503987"/>
            <a:chOff x="112" y="145"/>
            <a:chExt cx="128" cy="4097"/>
          </a:xfrm>
        </p:grpSpPr>
        <p:sp>
          <p:nvSpPr>
            <p:cNvPr id="353284" name="矩形 353283"/>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3285" name="矩形 353284"/>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3286" name="组合 353285"/>
          <p:cNvGrpSpPr/>
          <p:nvPr/>
        </p:nvGrpSpPr>
        <p:grpSpPr>
          <a:xfrm>
            <a:off x="8793163" y="220663"/>
            <a:ext cx="198437" cy="6408737"/>
            <a:chOff x="5539" y="139"/>
            <a:chExt cx="125" cy="4037"/>
          </a:xfrm>
        </p:grpSpPr>
        <p:sp>
          <p:nvSpPr>
            <p:cNvPr id="353287" name="矩形 353286"/>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3288" name="矩形 353287"/>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3289" name="组合 353288"/>
          <p:cNvGrpSpPr/>
          <p:nvPr/>
        </p:nvGrpSpPr>
        <p:grpSpPr>
          <a:xfrm>
            <a:off x="412750" y="6477000"/>
            <a:ext cx="8686800" cy="228600"/>
            <a:chOff x="260" y="4080"/>
            <a:chExt cx="5472" cy="144"/>
          </a:xfrm>
        </p:grpSpPr>
        <p:sp>
          <p:nvSpPr>
            <p:cNvPr id="353290" name="矩形 353289"/>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3291" name="矩形 353290"/>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3292" name="组合 353291"/>
          <p:cNvGrpSpPr/>
          <p:nvPr/>
        </p:nvGrpSpPr>
        <p:grpSpPr>
          <a:xfrm>
            <a:off x="76200" y="176213"/>
            <a:ext cx="8745538" cy="161925"/>
            <a:chOff x="48" y="111"/>
            <a:chExt cx="5509" cy="102"/>
          </a:xfrm>
        </p:grpSpPr>
        <p:sp>
          <p:nvSpPr>
            <p:cNvPr id="353293" name="矩形 353292"/>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3294" name="矩形 353293"/>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3295" name="标题 353294"/>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4.20</a:t>
            </a:r>
            <a:r>
              <a:rPr lang="zh-CN" altLang="en-US" sz="2400" dirty="0">
                <a:latin typeface="黑体" panose="02010609060101010101" pitchFamily="2" charset="-122"/>
              </a:rPr>
              <a:t>－</a:t>
            </a:r>
            <a:r>
              <a:rPr lang="en-US" altLang="zh-CN" sz="2400">
                <a:latin typeface="黑体" panose="02010609060101010101" pitchFamily="2" charset="-122"/>
              </a:rPr>
              <a:t>1/4</a:t>
            </a:r>
          </a:p>
        </p:txBody>
      </p:sp>
      <p:pic>
        <p:nvPicPr>
          <p:cNvPr id="353296" name="图片 353295"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spTree>
  </p:cSld>
  <p:clrMapOvr>
    <a:masterClrMapping/>
  </p:clrMapOvr>
  <p:transition>
    <p:rand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306" name="文本占位符 354305"/>
          <p:cNvSpPr>
            <a:spLocks noGrp="1"/>
          </p:cNvSpPr>
          <p:nvPr>
            <p:ph type="body" idx="1"/>
          </p:nvPr>
        </p:nvSpPr>
        <p:spPr>
          <a:xfrm>
            <a:off x="533400" y="838200"/>
            <a:ext cx="8153400" cy="5638800"/>
          </a:xfrm>
        </p:spPr>
        <p:txBody>
          <a:bodyPr/>
          <a:lstStyle/>
          <a:p>
            <a:pPr marL="0" indent="0" defTabSz="914400">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计算</a:t>
            </a:r>
            <a:r>
              <a:rPr lang="en-US" altLang="zh-CN" sz="2800">
                <a:latin typeface="宋体" panose="02010600030101010101" pitchFamily="2" charset="-122"/>
              </a:rPr>
              <a:t>16</a:t>
            </a:r>
            <a:r>
              <a:rPr lang="zh-CN" altLang="en-US" sz="2800" dirty="0">
                <a:latin typeface="宋体" panose="02010600030101010101" pitchFamily="2" charset="-122"/>
              </a:rPr>
              <a:t>位有符号数平均值子程序</a:t>
            </a:r>
          </a:p>
          <a:p>
            <a:pPr marL="0" indent="0" defTabSz="914400">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入口参数：</a:t>
            </a:r>
            <a:r>
              <a:rPr lang="zh-CN" altLang="en-US" sz="2800" dirty="0">
                <a:solidFill>
                  <a:schemeClr val="tx2"/>
                </a:solidFill>
                <a:latin typeface="宋体" panose="02010600030101010101" pitchFamily="2" charset="-122"/>
              </a:rPr>
              <a:t>顺序压入数据个数和缓冲区偏移地址</a:t>
            </a:r>
          </a:p>
          <a:p>
            <a:pPr marL="0" indent="0" defTabSz="914400">
              <a:buNone/>
              <a:tabLst>
                <a:tab pos="1520825" algn="l"/>
                <a:tab pos="3810000" algn="l"/>
              </a:tabLst>
            </a:pPr>
            <a:r>
              <a:rPr lang="en-US" altLang="zh-CN" sz="2800">
                <a:latin typeface="宋体" panose="02010600030101010101" pitchFamily="2" charset="-122"/>
              </a:rPr>
              <a:t>;</a:t>
            </a:r>
            <a:r>
              <a:rPr lang="zh-CN" altLang="en-US" sz="2800" dirty="0">
                <a:latin typeface="宋体" panose="02010600030101010101" pitchFamily="2" charset="-122"/>
              </a:rPr>
              <a:t>出口参数：</a:t>
            </a:r>
            <a:r>
              <a:rPr lang="en-US" altLang="zh-CN" sz="2800">
                <a:solidFill>
                  <a:schemeClr val="tx2"/>
                </a:solidFill>
                <a:latin typeface="宋体" panose="02010600030101010101" pitchFamily="2" charset="-122"/>
              </a:rPr>
              <a:t>AX</a:t>
            </a:r>
            <a:r>
              <a:rPr lang="zh-CN" altLang="en-US" sz="2800" dirty="0">
                <a:solidFill>
                  <a:schemeClr val="tx2"/>
                </a:solidFill>
                <a:latin typeface="宋体" panose="02010600030101010101" pitchFamily="2" charset="-122"/>
              </a:rPr>
              <a:t>＝平均值</a:t>
            </a:r>
          </a:p>
          <a:p>
            <a:pPr marL="0" indent="0" defTabSz="914400">
              <a:buNone/>
              <a:tabLst>
                <a:tab pos="1520825" algn="l"/>
                <a:tab pos="3810000" algn="l"/>
              </a:tabLst>
            </a:pPr>
            <a:r>
              <a:rPr lang="en-US" altLang="zh-CN" sz="2800">
                <a:solidFill>
                  <a:schemeClr val="accent2"/>
                </a:solidFill>
                <a:latin typeface="宋体" panose="02010600030101010101" pitchFamily="2" charset="-122"/>
              </a:rPr>
              <a:t>mean	proc	</a:t>
            </a:r>
          </a:p>
          <a:p>
            <a:pPr marL="0" indent="0" defTabSz="914400">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bp</a:t>
            </a:r>
            <a:endParaRPr lang="en-US" altLang="zh-CN" sz="2800">
              <a:solidFill>
                <a:schemeClr val="accent2"/>
              </a:solidFill>
              <a:latin typeface="宋体" panose="02010600030101010101" pitchFamily="2" charset="-122"/>
            </a:endParaRPr>
          </a:p>
          <a:p>
            <a:pPr marL="0" indent="0" defTabSz="914400">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bp,sp</a:t>
            </a:r>
            <a:endParaRPr lang="en-US" altLang="zh-CN" sz="2800">
              <a:solidFill>
                <a:schemeClr val="accent2"/>
              </a:solidFill>
              <a:latin typeface="宋体" panose="02010600030101010101" pitchFamily="2" charset="-122"/>
            </a:endParaRPr>
          </a:p>
          <a:p>
            <a:pPr marL="0" indent="0" defTabSz="914400">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bx</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保护寄存器</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push </a:t>
            </a:r>
            <a:r>
              <a:rPr lang="en-US" altLang="zh-CN" sz="2800" dirty="0" err="1">
                <a:solidFill>
                  <a:schemeClr val="accent2"/>
                </a:solidFill>
                <a:latin typeface="宋体" panose="02010600030101010101" pitchFamily="2" charset="-122"/>
              </a:rPr>
              <a:t>cx</a:t>
            </a:r>
            <a:endParaRPr lang="en-US" altLang="zh-CN" sz="2800">
              <a:solidFill>
                <a:schemeClr val="accent2"/>
              </a:solidFill>
              <a:latin typeface="宋体" panose="02010600030101010101" pitchFamily="2" charset="-122"/>
            </a:endParaRPr>
          </a:p>
          <a:p>
            <a:pPr marL="0" indent="0" defTabSz="914400">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dx</a:t>
            </a:r>
            <a:endParaRPr lang="en-US" altLang="zh-CN" sz="2800">
              <a:solidFill>
                <a:schemeClr val="accent2"/>
              </a:solidFill>
              <a:latin typeface="宋体" panose="02010600030101010101" pitchFamily="2" charset="-122"/>
            </a:endParaRPr>
          </a:p>
          <a:p>
            <a:pPr marL="0" indent="0" defTabSz="914400">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si</a:t>
            </a:r>
            <a:endParaRPr lang="en-US" altLang="zh-CN" sz="2800">
              <a:solidFill>
                <a:schemeClr val="accent2"/>
              </a:solidFill>
              <a:latin typeface="宋体" panose="02010600030101010101" pitchFamily="2" charset="-122"/>
            </a:endParaRPr>
          </a:p>
          <a:p>
            <a:pPr marL="0" indent="0" defTabSz="914400">
              <a:buNone/>
              <a:tabLst>
                <a:tab pos="1520825" algn="l"/>
                <a:tab pos="3810000" algn="l"/>
              </a:tabLst>
            </a:pPr>
            <a:r>
              <a:rPr lang="en-US" altLang="zh-CN" sz="2800">
                <a:solidFill>
                  <a:schemeClr val="accent2"/>
                </a:solidFill>
                <a:latin typeface="宋体" panose="02010600030101010101" pitchFamily="2" charset="-122"/>
              </a:rPr>
              <a:t>	push </a:t>
            </a:r>
            <a:r>
              <a:rPr lang="en-US" altLang="zh-CN" sz="2800" dirty="0" err="1">
                <a:solidFill>
                  <a:schemeClr val="accent2"/>
                </a:solidFill>
                <a:latin typeface="宋体" panose="02010600030101010101" pitchFamily="2" charset="-122"/>
              </a:rPr>
              <a:t>di</a:t>
            </a:r>
            <a:endParaRPr lang="en-US" altLang="zh-CN" sz="2800">
              <a:solidFill>
                <a:schemeClr val="accent2"/>
              </a:solidFill>
              <a:latin typeface="宋体" panose="02010600030101010101" pitchFamily="2" charset="-122"/>
            </a:endParaRPr>
          </a:p>
        </p:txBody>
      </p:sp>
      <p:grpSp>
        <p:nvGrpSpPr>
          <p:cNvPr id="354307" name="组合 354306"/>
          <p:cNvGrpSpPr/>
          <p:nvPr/>
        </p:nvGrpSpPr>
        <p:grpSpPr>
          <a:xfrm>
            <a:off x="177800" y="230188"/>
            <a:ext cx="203200" cy="6503987"/>
            <a:chOff x="112" y="145"/>
            <a:chExt cx="128" cy="4097"/>
          </a:xfrm>
        </p:grpSpPr>
        <p:sp>
          <p:nvSpPr>
            <p:cNvPr id="354308" name="矩形 354307"/>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4309" name="矩形 354308"/>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4310" name="组合 354309"/>
          <p:cNvGrpSpPr/>
          <p:nvPr/>
        </p:nvGrpSpPr>
        <p:grpSpPr>
          <a:xfrm>
            <a:off x="8793163" y="220663"/>
            <a:ext cx="198437" cy="6408737"/>
            <a:chOff x="5539" y="139"/>
            <a:chExt cx="125" cy="4037"/>
          </a:xfrm>
        </p:grpSpPr>
        <p:sp>
          <p:nvSpPr>
            <p:cNvPr id="354311" name="矩形 354310"/>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4312" name="矩形 354311"/>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4313" name="组合 354312"/>
          <p:cNvGrpSpPr/>
          <p:nvPr/>
        </p:nvGrpSpPr>
        <p:grpSpPr>
          <a:xfrm>
            <a:off x="412750" y="6477000"/>
            <a:ext cx="8686800" cy="228600"/>
            <a:chOff x="260" y="4080"/>
            <a:chExt cx="5472" cy="144"/>
          </a:xfrm>
        </p:grpSpPr>
        <p:sp>
          <p:nvSpPr>
            <p:cNvPr id="354314" name="矩形 354313"/>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4315" name="矩形 354314"/>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4316" name="组合 354315"/>
          <p:cNvGrpSpPr/>
          <p:nvPr/>
        </p:nvGrpSpPr>
        <p:grpSpPr>
          <a:xfrm>
            <a:off x="76200" y="176213"/>
            <a:ext cx="8745538" cy="161925"/>
            <a:chOff x="48" y="111"/>
            <a:chExt cx="5509" cy="102"/>
          </a:xfrm>
        </p:grpSpPr>
        <p:sp>
          <p:nvSpPr>
            <p:cNvPr id="354317" name="矩形 354316"/>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4318" name="矩形 354317"/>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4319" name="标题 354318"/>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4.20</a:t>
            </a:r>
            <a:r>
              <a:rPr lang="zh-CN" altLang="en-US" sz="2400" dirty="0">
                <a:latin typeface="黑体" panose="02010609060101010101" pitchFamily="2" charset="-122"/>
              </a:rPr>
              <a:t>－</a:t>
            </a:r>
            <a:r>
              <a:rPr lang="en-US" altLang="zh-CN" sz="2400">
                <a:latin typeface="黑体" panose="02010609060101010101" pitchFamily="2" charset="-122"/>
              </a:rPr>
              <a:t>2/4</a:t>
            </a:r>
          </a:p>
        </p:txBody>
      </p:sp>
      <p:pic>
        <p:nvPicPr>
          <p:cNvPr id="354320" name="图片 354319"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54321" name="图片 354320"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5330" name="文本占位符 355329"/>
          <p:cNvSpPr>
            <a:spLocks noGrp="1"/>
          </p:cNvSpPr>
          <p:nvPr>
            <p:ph type="body" idx="1"/>
          </p:nvPr>
        </p:nvSpPr>
        <p:spPr>
          <a:xfrm>
            <a:off x="533400" y="838200"/>
            <a:ext cx="8153400" cy="5638800"/>
          </a:xfrm>
        </p:spPr>
        <p:txBody>
          <a:bodyPr/>
          <a:lstStyle/>
          <a:p>
            <a:pPr marL="0" indent="0" defTabSz="914400">
              <a:buNone/>
              <a:tabLst>
                <a:tab pos="1520825" algn="l"/>
                <a:tab pos="3810000" algn="l"/>
              </a:tabLst>
            </a:pPr>
            <a:r>
              <a:rPr lang="en-US" altLang="zh-CN"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bx,</a:t>
            </a:r>
            <a:r>
              <a:rPr lang="en-US" altLang="zh-CN" sz="2800">
                <a:solidFill>
                  <a:schemeClr val="tx2"/>
                </a:solidFill>
                <a:latin typeface="宋体" panose="02010600030101010101" pitchFamily="2" charset="-122"/>
              </a:rPr>
              <a:t>[bp+4]</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从堆栈取出偏移地址</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cx,</a:t>
            </a:r>
            <a:r>
              <a:rPr lang="en-US" altLang="zh-CN" sz="2800">
                <a:solidFill>
                  <a:schemeClr val="tx2"/>
                </a:solidFill>
                <a:latin typeface="宋体" panose="02010600030101010101" pitchFamily="2" charset="-122"/>
              </a:rPr>
              <a:t>[bp+6]</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从堆栈取数据个数</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xor</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si,si</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;SI</a:t>
            </a:r>
            <a:r>
              <a:rPr lang="zh-CN" altLang="en-US" sz="2800" dirty="0">
                <a:latin typeface="宋体" panose="02010600030101010101" pitchFamily="2" charset="-122"/>
              </a:rPr>
              <a:t>保存求和的低</a:t>
            </a:r>
            <a:r>
              <a:rPr lang="en-US" altLang="zh-CN" sz="2800">
                <a:latin typeface="宋体" panose="02010600030101010101" pitchFamily="2" charset="-122"/>
              </a:rPr>
              <a:t>16</a:t>
            </a:r>
            <a:r>
              <a:rPr lang="zh-CN" altLang="en-US" sz="2800" dirty="0">
                <a:latin typeface="宋体" panose="02010600030101010101" pitchFamily="2" charset="-122"/>
              </a:rPr>
              <a:t>位值</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di,si</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;DI</a:t>
            </a:r>
            <a:r>
              <a:rPr lang="zh-CN" altLang="en-US" sz="2800" dirty="0">
                <a:latin typeface="宋体" panose="02010600030101010101" pitchFamily="2" charset="-122"/>
              </a:rPr>
              <a:t>保存求和的高</a:t>
            </a:r>
            <a:r>
              <a:rPr lang="en-US" altLang="zh-CN" sz="2800">
                <a:latin typeface="宋体" panose="02010600030101010101" pitchFamily="2" charset="-122"/>
              </a:rPr>
              <a:t>16</a:t>
            </a:r>
            <a:r>
              <a:rPr lang="zh-CN" altLang="en-US" sz="2800" dirty="0">
                <a:latin typeface="宋体" panose="02010600030101010101" pitchFamily="2" charset="-122"/>
              </a:rPr>
              <a:t>位值</a:t>
            </a:r>
          </a:p>
          <a:p>
            <a:pPr marL="0" indent="0" defTabSz="914400">
              <a:buNone/>
              <a:tabLst>
                <a:tab pos="1520825" algn="l"/>
                <a:tab pos="3810000" algn="l"/>
              </a:tabLst>
            </a:pPr>
            <a:r>
              <a:rPr lang="en-US" altLang="zh-CN" sz="2800">
                <a:solidFill>
                  <a:schemeClr val="accent2"/>
                </a:solidFill>
                <a:latin typeface="宋体" panose="02010600030101010101" pitchFamily="2" charset="-122"/>
              </a:rPr>
              <a:t>mean1: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ax,[bx</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取出一个数据</a:t>
            </a:r>
            <a:r>
              <a:rPr lang="en-US" altLang="zh-CN" sz="2800">
                <a:latin typeface="宋体" panose="02010600030101010101" pitchFamily="2" charset="-122"/>
              </a:rPr>
              <a:t>→AX</a:t>
            </a:r>
          </a:p>
          <a:p>
            <a:pPr marL="0" indent="0" defTabSz="914400">
              <a:buNone/>
              <a:tabLst>
                <a:tab pos="1520825" algn="l"/>
                <a:tab pos="3810000" algn="l"/>
              </a:tabLst>
            </a:pPr>
            <a:r>
              <a:rPr lang="en-US" altLang="zh-CN" sz="2800">
                <a:solidFill>
                  <a:schemeClr val="accent2"/>
                </a:solidFill>
                <a:latin typeface="宋体" panose="02010600030101010101" pitchFamily="2" charset="-122"/>
              </a:rPr>
              <a:t>	</a:t>
            </a:r>
            <a:r>
              <a:rPr lang="en-US" altLang="zh-CN" sz="2800" dirty="0" err="1">
                <a:solidFill>
                  <a:schemeClr val="tx2"/>
                </a:solidFill>
                <a:latin typeface="宋体" panose="02010600030101010101" pitchFamily="2" charset="-122"/>
              </a:rPr>
              <a:t>cwd</a:t>
            </a:r>
            <a:r>
              <a:rPr lang="en-US" altLang="zh-CN" sz="2800">
                <a:solidFill>
                  <a:schemeClr val="accent2"/>
                </a:solidFill>
                <a:latin typeface="宋体" panose="02010600030101010101" pitchFamily="2" charset="-122"/>
              </a:rPr>
              <a:t>	</a:t>
            </a:r>
            <a:r>
              <a:rPr lang="en-US" altLang="zh-CN" sz="2800">
                <a:latin typeface="宋体" panose="02010600030101010101" pitchFamily="2" charset="-122"/>
              </a:rPr>
              <a:t>;</a:t>
            </a:r>
            <a:r>
              <a:rPr lang="zh-CN" altLang="en-US" sz="2800" dirty="0">
                <a:latin typeface="宋体" panose="02010600030101010101" pitchFamily="2" charset="-122"/>
              </a:rPr>
              <a:t>符号扩展</a:t>
            </a:r>
            <a:r>
              <a:rPr lang="en-US" altLang="zh-CN" sz="2800">
                <a:latin typeface="宋体" panose="02010600030101010101" pitchFamily="2" charset="-122"/>
              </a:rPr>
              <a:t>→DX</a:t>
            </a:r>
          </a:p>
          <a:p>
            <a:pPr marL="0" indent="0" defTabSz="914400">
              <a:buNone/>
              <a:tabLst>
                <a:tab pos="1520825" algn="l"/>
                <a:tab pos="3810000" algn="l"/>
              </a:tabLst>
            </a:pPr>
            <a:r>
              <a:rPr lang="en-US" altLang="zh-CN" sz="2800">
                <a:solidFill>
                  <a:schemeClr val="accent2"/>
                </a:solidFill>
                <a:latin typeface="宋体" panose="02010600030101010101" pitchFamily="2" charset="-122"/>
              </a:rPr>
              <a:t>	add </a:t>
            </a:r>
            <a:r>
              <a:rPr lang="en-US" altLang="zh-CN" sz="2800" dirty="0" err="1">
                <a:solidFill>
                  <a:schemeClr val="accent2"/>
                </a:solidFill>
                <a:latin typeface="宋体" panose="02010600030101010101" pitchFamily="2" charset="-122"/>
              </a:rPr>
              <a:t>si,ax</a:t>
            </a:r>
            <a:r>
              <a:rPr lang="en-US" altLang="zh-CN" sz="2800">
                <a:latin typeface="宋体" panose="02010600030101010101" pitchFamily="2" charset="-122"/>
              </a:rPr>
              <a:t>	;</a:t>
            </a:r>
            <a:r>
              <a:rPr lang="zh-CN" altLang="en-US" sz="2800" dirty="0">
                <a:latin typeface="宋体" panose="02010600030101010101" pitchFamily="2" charset="-122"/>
              </a:rPr>
              <a:t>求和低</a:t>
            </a:r>
            <a:r>
              <a:rPr lang="en-US" altLang="zh-CN" sz="2800">
                <a:latin typeface="宋体" panose="02010600030101010101" pitchFamily="2" charset="-122"/>
              </a:rPr>
              <a:t>16</a:t>
            </a:r>
            <a:r>
              <a:rPr lang="zh-CN" altLang="en-US" sz="2800" dirty="0">
                <a:latin typeface="宋体" panose="02010600030101010101" pitchFamily="2" charset="-122"/>
              </a:rPr>
              <a:t>位</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adc</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di,dx</a:t>
            </a:r>
            <a:r>
              <a:rPr lang="en-US" altLang="zh-CN" sz="2800">
                <a:latin typeface="宋体" panose="02010600030101010101" pitchFamily="2" charset="-122"/>
              </a:rPr>
              <a:t>	;</a:t>
            </a:r>
            <a:r>
              <a:rPr lang="zh-CN" altLang="en-US" sz="2800" dirty="0">
                <a:latin typeface="宋体" panose="02010600030101010101" pitchFamily="2" charset="-122"/>
              </a:rPr>
              <a:t>求和高</a:t>
            </a:r>
            <a:r>
              <a:rPr lang="en-US" altLang="zh-CN" sz="2800">
                <a:latin typeface="宋体" panose="02010600030101010101" pitchFamily="2" charset="-122"/>
              </a:rPr>
              <a:t>16</a:t>
            </a:r>
            <a:r>
              <a:rPr lang="zh-CN" altLang="en-US" sz="2800" dirty="0">
                <a:latin typeface="宋体" panose="02010600030101010101" pitchFamily="2" charset="-122"/>
              </a:rPr>
              <a:t>位</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inc </a:t>
            </a:r>
            <a:r>
              <a:rPr lang="en-US" altLang="zh-CN" sz="2800" dirty="0" err="1">
                <a:solidFill>
                  <a:schemeClr val="accent2"/>
                </a:solidFill>
                <a:latin typeface="宋体" panose="02010600030101010101" pitchFamily="2" charset="-122"/>
              </a:rPr>
              <a:t>bx</a:t>
            </a:r>
            <a:r>
              <a:rPr lang="en-US" altLang="zh-CN" sz="2800">
                <a:latin typeface="宋体" panose="02010600030101010101" pitchFamily="2" charset="-122"/>
              </a:rPr>
              <a:t>	;</a:t>
            </a:r>
            <a:r>
              <a:rPr lang="zh-CN" altLang="en-US" sz="2800" dirty="0">
                <a:latin typeface="宋体" panose="02010600030101010101" pitchFamily="2" charset="-122"/>
              </a:rPr>
              <a:t>指向下一个数据</a:t>
            </a:r>
          </a:p>
          <a:p>
            <a:pPr marL="0" indent="0" defTabSz="914400">
              <a:buNone/>
              <a:tabLst>
                <a:tab pos="1520825" algn="l"/>
                <a:tab pos="381000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inc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buNone/>
              <a:tabLst>
                <a:tab pos="1520825" algn="l"/>
                <a:tab pos="3810000" algn="l"/>
              </a:tabLst>
            </a:pPr>
            <a:r>
              <a:rPr lang="en-US" altLang="zh-CN" sz="2800">
                <a:solidFill>
                  <a:schemeClr val="accent2"/>
                </a:solidFill>
                <a:latin typeface="宋体" panose="02010600030101010101" pitchFamily="2" charset="-122"/>
              </a:rPr>
              <a:t>	loop mean1</a:t>
            </a:r>
            <a:r>
              <a:rPr lang="en-US" altLang="zh-CN" sz="2800">
                <a:latin typeface="宋体" panose="02010600030101010101" pitchFamily="2" charset="-122"/>
              </a:rPr>
              <a:t>	;</a:t>
            </a:r>
            <a:r>
              <a:rPr lang="zh-CN" altLang="en-US" sz="2800" dirty="0">
                <a:latin typeface="宋体" panose="02010600030101010101" pitchFamily="2" charset="-122"/>
              </a:rPr>
              <a:t>循环</a:t>
            </a:r>
          </a:p>
        </p:txBody>
      </p:sp>
      <p:grpSp>
        <p:nvGrpSpPr>
          <p:cNvPr id="355331" name="组合 355330"/>
          <p:cNvGrpSpPr/>
          <p:nvPr/>
        </p:nvGrpSpPr>
        <p:grpSpPr>
          <a:xfrm>
            <a:off x="177800" y="230188"/>
            <a:ext cx="203200" cy="6503987"/>
            <a:chOff x="112" y="145"/>
            <a:chExt cx="128" cy="4097"/>
          </a:xfrm>
        </p:grpSpPr>
        <p:sp>
          <p:nvSpPr>
            <p:cNvPr id="355332" name="矩形 355331"/>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5333" name="矩形 355332"/>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5334" name="组合 355333"/>
          <p:cNvGrpSpPr/>
          <p:nvPr/>
        </p:nvGrpSpPr>
        <p:grpSpPr>
          <a:xfrm>
            <a:off x="8793163" y="220663"/>
            <a:ext cx="198437" cy="6408737"/>
            <a:chOff x="5539" y="139"/>
            <a:chExt cx="125" cy="4037"/>
          </a:xfrm>
        </p:grpSpPr>
        <p:sp>
          <p:nvSpPr>
            <p:cNvPr id="355335" name="矩形 355334"/>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5336" name="矩形 355335"/>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5337" name="组合 355336"/>
          <p:cNvGrpSpPr/>
          <p:nvPr/>
        </p:nvGrpSpPr>
        <p:grpSpPr>
          <a:xfrm>
            <a:off x="412750" y="6477000"/>
            <a:ext cx="8686800" cy="228600"/>
            <a:chOff x="260" y="4080"/>
            <a:chExt cx="5472" cy="144"/>
          </a:xfrm>
        </p:grpSpPr>
        <p:sp>
          <p:nvSpPr>
            <p:cNvPr id="355338" name="矩形 355337"/>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5339" name="矩形 355338"/>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5340" name="组合 355339"/>
          <p:cNvGrpSpPr/>
          <p:nvPr/>
        </p:nvGrpSpPr>
        <p:grpSpPr>
          <a:xfrm>
            <a:off x="76200" y="176213"/>
            <a:ext cx="8745538" cy="161925"/>
            <a:chOff x="48" y="111"/>
            <a:chExt cx="5509" cy="102"/>
          </a:xfrm>
        </p:grpSpPr>
        <p:sp>
          <p:nvSpPr>
            <p:cNvPr id="355341" name="矩形 355340"/>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5342" name="矩形 355341"/>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5343" name="标题 355342"/>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4.20</a:t>
            </a:r>
            <a:r>
              <a:rPr lang="zh-CN" altLang="en-US" sz="2400" dirty="0">
                <a:latin typeface="黑体" panose="02010609060101010101" pitchFamily="2" charset="-122"/>
              </a:rPr>
              <a:t>－</a:t>
            </a:r>
            <a:r>
              <a:rPr lang="en-US" altLang="zh-CN" sz="2400">
                <a:latin typeface="黑体" panose="02010609060101010101" pitchFamily="2" charset="-122"/>
              </a:rPr>
              <a:t>3/4</a:t>
            </a:r>
          </a:p>
        </p:txBody>
      </p:sp>
      <p:pic>
        <p:nvPicPr>
          <p:cNvPr id="355344" name="图片 355343" descr="5">
            <a:hlinkClick r:id="" action="ppaction://hlinkshowjump?jump=nextslide"/>
          </p:cNvPr>
          <p:cNvPicPr>
            <a:picLocks noChangeAspect="1"/>
          </p:cNvPicPr>
          <p:nvPr/>
        </p:nvPicPr>
        <p:blipFill>
          <a:blip r:embed="rId2"/>
          <a:stretch>
            <a:fillRect/>
          </a:stretch>
        </p:blipFill>
        <p:spPr>
          <a:xfrm>
            <a:off x="8572500" y="6286500"/>
            <a:ext cx="571500" cy="571500"/>
          </a:xfrm>
          <a:prstGeom prst="rect">
            <a:avLst/>
          </a:prstGeom>
          <a:noFill/>
          <a:ln w="9525">
            <a:noFill/>
          </a:ln>
        </p:spPr>
      </p:pic>
      <p:pic>
        <p:nvPicPr>
          <p:cNvPr id="355345" name="图片 355344" descr="6">
            <a:hlinkClick r:id="" action="ppaction://hlinkshowjump?jump=previousslide"/>
          </p:cNvPr>
          <p:cNvPicPr>
            <a:picLocks noChangeAspect="1"/>
          </p:cNvPicPr>
          <p:nvPr/>
        </p:nvPicPr>
        <p:blipFill>
          <a:blip r:embed="rId3"/>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94" name="标题 357393"/>
          <p:cNvSpPr>
            <a:spLocks noGrp="1"/>
          </p:cNvSpPr>
          <p:nvPr>
            <p:ph type="title"/>
          </p:nvPr>
        </p:nvSpPr>
        <p:spPr>
          <a:xfrm>
            <a:off x="228600" y="76200"/>
            <a:ext cx="3733800" cy="838200"/>
          </a:xfrm>
        </p:spPr>
        <p:txBody>
          <a:bodyPr anchor="ctr" anchorCtr="0"/>
          <a:lstStyle/>
          <a:p>
            <a:r>
              <a:rPr lang="zh-CN" altLang="en-US" sz="2800" u="sng" dirty="0"/>
              <a:t>例题</a:t>
            </a:r>
            <a:r>
              <a:rPr lang="en-US" altLang="zh-CN" sz="2800" u="sng" dirty="0"/>
              <a:t>4.20</a:t>
            </a:r>
            <a:r>
              <a:rPr lang="zh-CN" altLang="en-US" sz="2800" u="sng" dirty="0"/>
              <a:t>的堆栈区</a:t>
            </a:r>
          </a:p>
        </p:txBody>
      </p:sp>
      <p:pic>
        <p:nvPicPr>
          <p:cNvPr id="357395" name="图片 357394" descr="14_6">
            <a:hlinkClick r:id="" action="ppaction://noaction"/>
          </p:cNvPr>
          <p:cNvPicPr>
            <a:picLocks noChangeAspect="1"/>
          </p:cNvPicPr>
          <p:nvPr/>
        </p:nvPicPr>
        <p:blipFill>
          <a:blip r:embed="rId2"/>
          <a:stretch>
            <a:fillRect/>
          </a:stretch>
        </p:blipFill>
        <p:spPr>
          <a:xfrm>
            <a:off x="8629650" y="6316663"/>
            <a:ext cx="514350" cy="533400"/>
          </a:xfrm>
          <a:prstGeom prst="rect">
            <a:avLst/>
          </a:prstGeom>
          <a:noFill/>
          <a:ln w="9525">
            <a:noFill/>
          </a:ln>
        </p:spPr>
      </p:pic>
      <p:graphicFrame>
        <p:nvGraphicFramePr>
          <p:cNvPr id="357491" name="表格 357490"/>
          <p:cNvGraphicFramePr/>
          <p:nvPr/>
        </p:nvGraphicFramePr>
        <p:xfrm>
          <a:off x="1524000" y="1219200"/>
          <a:ext cx="3810000" cy="4800600"/>
        </p:xfrm>
        <a:graphic>
          <a:graphicData uri="http://schemas.openxmlformats.org/drawingml/2006/table">
            <a:tbl>
              <a:tblPr/>
              <a:tblGrid>
                <a:gridCol w="2692400">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tblGrid>
              <a:tr h="931863">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dirty="0"/>
                        <a:t>堆栈段</a:t>
                      </a:r>
                    </a:p>
                  </a:txBody>
                  <a:tcPr>
                    <a:lnL cap="flat">
                      <a:noFill/>
                    </a:lnL>
                    <a:lnR>
                      <a:noFill/>
                    </a:lnR>
                    <a:lnT cap="flat">
                      <a:noFill/>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dirty="0"/>
                    </a:p>
                  </a:txBody>
                  <a:tcPr>
                    <a:lnL>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676275">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chemeClr val="tx2"/>
                          </a:solidFill>
                        </a:rPr>
                        <a:t>count</a:t>
                      </a:r>
                      <a:endParaRPr lang="zh-CN" altLang="en-US">
                        <a:solidFill>
                          <a:schemeClr val="tx2"/>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800" dirty="0"/>
                        <a:t>＋</a:t>
                      </a:r>
                      <a:r>
                        <a:rPr lang="en-US" altLang="zh-CN" sz="2800"/>
                        <a:t>6</a:t>
                      </a:r>
                      <a:endParaRPr lang="zh-CN" altLang="en-US" sz="2800"/>
                    </a:p>
                  </a:txBody>
                  <a:tcPr>
                    <a:lnL w="28575" cap="flat" cmpd="sng">
                      <a:solidFill>
                        <a:schemeClr val="tx1"/>
                      </a:solidFill>
                      <a:prstDash val="soli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677862">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chemeClr val="tx2"/>
                          </a:solidFill>
                        </a:rPr>
                        <a:t>offset array</a:t>
                      </a:r>
                      <a:endParaRPr lang="zh-CN" altLang="en-US">
                        <a:solidFill>
                          <a:schemeClr val="tx2"/>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800" dirty="0"/>
                        <a:t>＋</a:t>
                      </a:r>
                      <a:r>
                        <a:rPr lang="en-US" altLang="zh-CN" sz="2800"/>
                        <a:t>4</a:t>
                      </a:r>
                      <a:endParaRPr lang="zh-CN" altLang="en-US" sz="2800"/>
                    </a:p>
                  </a:txBody>
                  <a:tcPr>
                    <a:lnL w="28575" cap="flat" cmpd="sng">
                      <a:solidFill>
                        <a:schemeClr val="tx1"/>
                      </a:solidFill>
                      <a:prstDash val="soli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2"/>
                  </a:ext>
                </a:extLst>
              </a:tr>
              <a:tr h="677863">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chemeClr val="accent2"/>
                          </a:solidFill>
                        </a:rPr>
                        <a:t>IP</a:t>
                      </a:r>
                      <a:endParaRPr lang="zh-CN" altLang="en-US">
                        <a:solidFill>
                          <a:schemeClr val="accent2"/>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800" dirty="0"/>
                        <a:t>＋</a:t>
                      </a:r>
                      <a:r>
                        <a:rPr lang="en-US" altLang="zh-CN" sz="2800"/>
                        <a:t>2</a:t>
                      </a:r>
                      <a:endParaRPr lang="zh-CN" altLang="en-US" sz="2800"/>
                    </a:p>
                  </a:txBody>
                  <a:tcPr>
                    <a:lnL w="28575" cap="flat" cmpd="sng">
                      <a:solidFill>
                        <a:schemeClr val="tx1"/>
                      </a:solidFill>
                      <a:prstDash val="soli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3"/>
                  </a:ext>
                </a:extLst>
              </a:tr>
              <a:tr h="676275">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a:solidFill>
                            <a:schemeClr val="accent2"/>
                          </a:solidFill>
                        </a:rPr>
                        <a:t>BP</a:t>
                      </a:r>
                      <a:endParaRPr lang="zh-CN" altLang="en-US">
                        <a:solidFill>
                          <a:schemeClr val="accent2"/>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dirty="0"/>
                    </a:p>
                  </a:txBody>
                  <a:tcPr>
                    <a:lnL w="28575" cap="flat" cmpd="sng">
                      <a:solidFill>
                        <a:schemeClr val="tx1"/>
                      </a:solidFill>
                      <a:prstDash val="solid"/>
                      <a:headEnd type="none" w="med" len="med"/>
                      <a:tailEnd type="none" w="med" len="med"/>
                    </a:lnL>
                    <a:lnR cap="flat">
                      <a:noFill/>
                    </a:lnR>
                    <a:lnT>
                      <a:noFill/>
                    </a:lnT>
                    <a:lnB>
                      <a:noFill/>
                    </a:lnB>
                    <a:lnTlToBr>
                      <a:noFill/>
                    </a:lnTlToBr>
                    <a:lnBlToTr>
                      <a:noFill/>
                    </a:lnBlToTr>
                    <a:noFill/>
                  </a:tcPr>
                </a:tc>
                <a:extLst>
                  <a:ext uri="{0D108BD9-81ED-4DB2-BD59-A6C34878D82A}">
                    <a16:rowId xmlns:a16="http://schemas.microsoft.com/office/drawing/2014/main" val="10004"/>
                  </a:ext>
                </a:extLst>
              </a:tr>
              <a:tr h="1160462">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dirty="0"/>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just" defTabSz="914400" rtl="0" eaLnBrk="1" fontAlgn="base" latinLnBrk="0" hangingPunct="1">
                        <a:lnSpc>
                          <a:spcPct val="100000"/>
                        </a:lnSpc>
                        <a:spcBef>
                          <a:spcPct val="20000"/>
                        </a:spcBef>
                        <a:spcAft>
                          <a:spcPct val="0"/>
                        </a:spcAft>
                        <a:buClr>
                          <a:schemeClr val="accent2"/>
                        </a:buClr>
                        <a:buSzPct val="90000"/>
                        <a:buFont typeface="Wingdings" panose="05000000000000000000" pitchFamily="2" charset="2"/>
                        <a:buChar char="Ø"/>
                        <a:defRPr sz="3200" b="1" u="none" kern="1200" baseline="0">
                          <a:solidFill>
                            <a:schemeClr val="tx1"/>
                          </a:solidFill>
                          <a:latin typeface="Arial" panose="020B0604020202020204" pitchFamily="34" charset="0"/>
                          <a:ea typeface="宋体" panose="02010600030101010101" pitchFamily="2" charset="-122"/>
                        </a:defRPr>
                      </a:lvl1pPr>
                      <a:lvl2pPr marL="742950" lvl="1" indent="-285750" algn="just" defTabSz="914400" rtl="0" eaLnBrk="1" fontAlgn="base" latinLnBrk="0" hangingPunct="1">
                        <a:lnSpc>
                          <a:spcPct val="100000"/>
                        </a:lnSpc>
                        <a:spcBef>
                          <a:spcPct val="20000"/>
                        </a:spcBef>
                        <a:spcAft>
                          <a:spcPct val="0"/>
                        </a:spcAft>
                        <a:buClr>
                          <a:schemeClr val="tx1"/>
                        </a:buClr>
                        <a:buSzPct val="75000"/>
                        <a:buFont typeface="Wingdings" panose="05000000000000000000" pitchFamily="2" charset="2"/>
                        <a:buChar char="n"/>
                        <a:defRPr sz="2800" b="1" i="0" u="none" kern="1200" baseline="0">
                          <a:solidFill>
                            <a:schemeClr val="tx1"/>
                          </a:solidFill>
                          <a:latin typeface="Arial" panose="020B0604020202020204" pitchFamily="34" charset="0"/>
                          <a:ea typeface="宋体" panose="02010600030101010101" pitchFamily="2" charset="-122"/>
                        </a:defRPr>
                      </a:lvl2pPr>
                      <a:lvl3pPr marL="1143000" lvl="2" indent="-22860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Char char="n"/>
                        <a:defRPr sz="2400" b="1" i="0" u="none" kern="1200" baseline="0">
                          <a:solidFill>
                            <a:schemeClr val="tx1"/>
                          </a:solidFill>
                          <a:latin typeface="Arial" panose="020B0604020202020204" pitchFamily="34" charset="0"/>
                          <a:ea typeface="宋体" panose="02010600030101010101" pitchFamily="2" charset="-122"/>
                        </a:defRPr>
                      </a:lvl3pPr>
                      <a:lvl4pPr marL="1600200" lvl="3" indent="-228600" algn="just" defTabSz="914400" rtl="0" eaLnBrk="1" fontAlgn="base" latinLnBrk="0" hangingPunct="1">
                        <a:lnSpc>
                          <a:spcPct val="100000"/>
                        </a:lnSpc>
                        <a:spcBef>
                          <a:spcPct val="20000"/>
                        </a:spcBef>
                        <a:spcAft>
                          <a:spcPct val="0"/>
                        </a:spcAft>
                        <a:buClr>
                          <a:schemeClr val="tx2"/>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4pPr>
                      <a:lvl5pPr marL="2057400" lvl="4" indent="-228600" algn="just"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n"/>
                        <a:defRPr sz="2000" b="1" i="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endParaRPr lang="zh-CN" altLang="en-US" dirty="0"/>
                    </a:p>
                  </a:txBody>
                  <a:tcPr>
                    <a:lnL w="28575" cap="flat" cmpd="sng">
                      <a:solidFill>
                        <a:schemeClr val="tx1"/>
                      </a:solidFill>
                      <a:prstDash val="solid"/>
                      <a:headEnd type="none" w="med" len="med"/>
                      <a:tailEnd type="none" w="med" len="med"/>
                    </a:lnL>
                    <a:lnR cap="flat">
                      <a:noFill/>
                    </a:lnR>
                    <a:lnT>
                      <a:noFill/>
                    </a:lnT>
                    <a:lnB cap="flat">
                      <a:noFill/>
                    </a:lnB>
                    <a:lnTlToBr>
                      <a:noFill/>
                    </a:lnTlToBr>
                    <a:lnBlToTr>
                      <a:noFill/>
                    </a:lnBlToTr>
                    <a:noFill/>
                  </a:tcPr>
                </a:tc>
                <a:extLst>
                  <a:ext uri="{0D108BD9-81ED-4DB2-BD59-A6C34878D82A}">
                    <a16:rowId xmlns:a16="http://schemas.microsoft.com/office/drawing/2014/main" val="10005"/>
                  </a:ext>
                </a:extLst>
              </a:tr>
            </a:tbl>
          </a:graphicData>
        </a:graphic>
      </p:graphicFrame>
      <p:sp>
        <p:nvSpPr>
          <p:cNvPr id="357492" name="文本框 357491"/>
          <p:cNvSpPr txBox="1"/>
          <p:nvPr/>
        </p:nvSpPr>
        <p:spPr>
          <a:xfrm>
            <a:off x="5486400" y="4259263"/>
            <a:ext cx="1254125" cy="519112"/>
          </a:xfrm>
          <a:prstGeom prst="rect">
            <a:avLst/>
          </a:prstGeom>
          <a:noFill/>
          <a:ln w="9525">
            <a:noFill/>
          </a:ln>
        </p:spPr>
        <p:txBody>
          <a:bodyPr wrap="none" anchor="t" anchorCtr="0">
            <a:spAutoFit/>
          </a:bodyPr>
          <a:lstStyle/>
          <a:p>
            <a:r>
              <a:rPr lang="en-US" altLang="zh-CN" sz="2800" b="1">
                <a:latin typeface="宋体" panose="02010600030101010101" pitchFamily="2" charset="-122"/>
              </a:rPr>
              <a:t>BP</a:t>
            </a:r>
            <a:r>
              <a:rPr lang="zh-CN" altLang="en-US" sz="2800" b="1" dirty="0">
                <a:latin typeface="宋体" panose="02010600030101010101" pitchFamily="2" charset="-122"/>
              </a:rPr>
              <a:t>＝</a:t>
            </a:r>
            <a:r>
              <a:rPr lang="en-US" altLang="zh-CN" sz="2800" b="1">
                <a:latin typeface="宋体" panose="02010600030101010101" pitchFamily="2" charset="-122"/>
              </a:rPr>
              <a:t>SP</a:t>
            </a:r>
          </a:p>
        </p:txBody>
      </p:sp>
      <p:sp>
        <p:nvSpPr>
          <p:cNvPr id="357493" name="直接连接符 357492"/>
          <p:cNvSpPr/>
          <p:nvPr/>
        </p:nvSpPr>
        <p:spPr>
          <a:xfrm flipH="1">
            <a:off x="4343400" y="4540250"/>
            <a:ext cx="990600" cy="0"/>
          </a:xfrm>
          <a:prstGeom prst="line">
            <a:avLst/>
          </a:prstGeom>
          <a:ln w="28575" cap="flat" cmpd="sng">
            <a:solidFill>
              <a:schemeClr val="tx1"/>
            </a:solidFill>
            <a:prstDash val="solid"/>
            <a:headEnd type="none" w="med" len="med"/>
            <a:tailEnd type="triangle" w="med" len="med"/>
          </a:ln>
        </p:spPr>
      </p:sp>
      <p:sp>
        <p:nvSpPr>
          <p:cNvPr id="357494" name="文本框 357493"/>
          <p:cNvSpPr txBox="1"/>
          <p:nvPr/>
        </p:nvSpPr>
        <p:spPr>
          <a:xfrm>
            <a:off x="4419600" y="5313363"/>
            <a:ext cx="1619250" cy="519112"/>
          </a:xfrm>
          <a:prstGeom prst="rect">
            <a:avLst/>
          </a:prstGeom>
          <a:noFill/>
          <a:ln w="9525">
            <a:noFill/>
          </a:ln>
        </p:spPr>
        <p:txBody>
          <a:bodyPr wrap="none" anchor="t" anchorCtr="0">
            <a:spAutoFit/>
          </a:bodyPr>
          <a:lstStyle/>
          <a:p>
            <a:r>
              <a:rPr lang="zh-CN" altLang="en-US" sz="2800" b="1" dirty="0">
                <a:latin typeface="Arial" panose="020B0604020202020204" pitchFamily="34" charset="0"/>
              </a:rPr>
              <a:t>地址低端</a:t>
            </a:r>
          </a:p>
        </p:txBody>
      </p:sp>
    </p:spTree>
  </p:cSld>
  <p:clrMapOvr>
    <a:masterClrMapping/>
  </p:clrMapOvr>
  <p:transition spd="med" advClick="0">
    <p:random/>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354" name="文本占位符 356353"/>
          <p:cNvSpPr>
            <a:spLocks noGrp="1"/>
          </p:cNvSpPr>
          <p:nvPr>
            <p:ph type="body" idx="1"/>
          </p:nvPr>
        </p:nvSpPr>
        <p:spPr>
          <a:xfrm>
            <a:off x="533400" y="533400"/>
            <a:ext cx="8153400" cy="5943600"/>
          </a:xfrm>
        </p:spPr>
        <p:txBody>
          <a:bodyPr/>
          <a:lstStyle/>
          <a:p>
            <a:pPr marL="0" indent="0" defTabSz="914400">
              <a:lnSpc>
                <a:spcPct val="80000"/>
              </a:lnSpc>
              <a:buNone/>
              <a:tabLst>
                <a:tab pos="1136650" algn="l"/>
                <a:tab pos="3625850" algn="l"/>
              </a:tabLst>
            </a:pPr>
            <a:r>
              <a:rPr lang="en-US" altLang="zh-CN" sz="2800" dirty="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ax,si</a:t>
            </a:r>
            <a:endParaRPr lang="en-US" altLang="zh-CN" sz="2800">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dx,di</a:t>
            </a:r>
            <a:r>
              <a:rPr lang="en-US" altLang="zh-CN" sz="2800">
                <a:latin typeface="宋体" panose="02010600030101010101" pitchFamily="2" charset="-122"/>
              </a:rPr>
              <a:t>	;</a:t>
            </a:r>
            <a:r>
              <a:rPr lang="zh-CN" altLang="en-US" sz="2800" dirty="0">
                <a:latin typeface="宋体" panose="02010600030101010101" pitchFamily="2" charset="-122"/>
              </a:rPr>
              <a:t>累加和在</a:t>
            </a:r>
            <a:r>
              <a:rPr lang="en-US" altLang="zh-CN" sz="2800">
                <a:latin typeface="宋体" panose="02010600030101010101" pitchFamily="2" charset="-122"/>
              </a:rPr>
              <a:t>DX.AX</a:t>
            </a:r>
            <a:endParaRPr lang="en-US" altLang="zh-CN" sz="2800">
              <a:solidFill>
                <a:schemeClr val="accent2"/>
              </a:solidFill>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a:t>
            </a:r>
            <a:r>
              <a:rPr lang="en-US" altLang="zh-CN" sz="2800" dirty="0" err="1">
                <a:solidFill>
                  <a:schemeClr val="accent2"/>
                </a:solidFill>
                <a:latin typeface="宋体" panose="02010600030101010101" pitchFamily="2" charset="-122"/>
              </a:rPr>
              <a:t>mov</a:t>
            </a:r>
            <a:r>
              <a:rPr lang="en-US" altLang="zh-CN" sz="2800">
                <a:solidFill>
                  <a:schemeClr val="accent2"/>
                </a:solidFill>
                <a:latin typeface="宋体" panose="02010600030101010101" pitchFamily="2" charset="-122"/>
              </a:rPr>
              <a:t> cx,</a:t>
            </a:r>
            <a:r>
              <a:rPr lang="en-US" altLang="zh-CN" sz="2800">
                <a:solidFill>
                  <a:schemeClr val="tx2"/>
                </a:solidFill>
                <a:latin typeface="宋体" panose="02010600030101010101" pitchFamily="2" charset="-122"/>
              </a:rPr>
              <a:t>[bp+6]	</a:t>
            </a:r>
            <a:r>
              <a:rPr lang="en-US" altLang="zh-CN" sz="2800">
                <a:latin typeface="宋体" panose="02010600030101010101" pitchFamily="2" charset="-122"/>
              </a:rPr>
              <a:t>;</a:t>
            </a:r>
            <a:r>
              <a:rPr lang="zh-CN" altLang="en-US" sz="2800" dirty="0">
                <a:latin typeface="宋体" panose="02010600030101010101" pitchFamily="2" charset="-122"/>
              </a:rPr>
              <a:t>数据个数在</a:t>
            </a:r>
            <a:r>
              <a:rPr lang="en-US" altLang="zh-CN" sz="2800">
                <a:latin typeface="宋体" panose="02010600030101010101" pitchFamily="2" charset="-122"/>
              </a:rPr>
              <a:t>CX</a:t>
            </a: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a:t>
            </a:r>
            <a:r>
              <a:rPr lang="en-US" altLang="zh-CN" sz="2800" dirty="0" err="1">
                <a:solidFill>
                  <a:schemeClr val="tx2"/>
                </a:solidFill>
                <a:latin typeface="宋体" panose="02010600030101010101" pitchFamily="2" charset="-122"/>
              </a:rPr>
              <a:t>idiv</a:t>
            </a:r>
            <a:r>
              <a:rPr lang="en-US" altLang="zh-CN" sz="2800">
                <a:solidFill>
                  <a:schemeClr val="tx2"/>
                </a:solidFill>
                <a:latin typeface="宋体" panose="02010600030101010101" pitchFamily="2" charset="-122"/>
              </a:rPr>
              <a:t> </a:t>
            </a:r>
            <a:r>
              <a:rPr lang="en-US" altLang="zh-CN" sz="2800" dirty="0" err="1">
                <a:solidFill>
                  <a:schemeClr val="tx2"/>
                </a:solidFill>
                <a:latin typeface="宋体" panose="02010600030101010101" pitchFamily="2" charset="-122"/>
              </a:rPr>
              <a:t>cx</a:t>
            </a:r>
            <a:endParaRPr lang="en-US" altLang="zh-CN" sz="2800">
              <a:solidFill>
                <a:schemeClr val="tx2"/>
              </a:solidFill>
              <a:latin typeface="宋体" panose="02010600030101010101" pitchFamily="2" charset="-122"/>
            </a:endParaRPr>
          </a:p>
          <a:p>
            <a:pPr marL="0" indent="0" defTabSz="914400">
              <a:lnSpc>
                <a:spcPct val="80000"/>
              </a:lnSpc>
              <a:buNone/>
              <a:tabLst>
                <a:tab pos="1136650" algn="l"/>
                <a:tab pos="3625850" algn="l"/>
              </a:tabLst>
            </a:pPr>
            <a:r>
              <a:rPr lang="en-US" altLang="zh-CN" sz="2800">
                <a:latin typeface="宋体" panose="02010600030101010101" pitchFamily="2" charset="-122"/>
              </a:rPr>
              <a:t>;</a:t>
            </a:r>
            <a:r>
              <a:rPr lang="zh-CN" altLang="en-US" sz="2800" dirty="0">
                <a:latin typeface="宋体" panose="02010600030101010101" pitchFamily="2" charset="-122"/>
              </a:rPr>
              <a:t>有符号数除法，求的平均值在</a:t>
            </a:r>
            <a:r>
              <a:rPr lang="en-US" altLang="zh-CN" sz="2800">
                <a:latin typeface="宋体" panose="02010600030101010101" pitchFamily="2" charset="-122"/>
              </a:rPr>
              <a:t>AX</a:t>
            </a:r>
            <a:r>
              <a:rPr lang="zh-CN" altLang="en-US" sz="2800" dirty="0">
                <a:latin typeface="宋体" panose="02010600030101010101" pitchFamily="2" charset="-122"/>
              </a:rPr>
              <a:t>中、余数在</a:t>
            </a:r>
            <a:r>
              <a:rPr lang="en-US" altLang="zh-CN" sz="2800">
                <a:latin typeface="宋体" panose="02010600030101010101" pitchFamily="2" charset="-122"/>
              </a:rPr>
              <a:t>DX</a:t>
            </a:r>
            <a:r>
              <a:rPr lang="zh-CN" altLang="en-US" sz="2800" dirty="0">
                <a:latin typeface="宋体" panose="02010600030101010101" pitchFamily="2" charset="-122"/>
              </a:rPr>
              <a:t>中</a:t>
            </a:r>
          </a:p>
          <a:p>
            <a:pPr marL="0" indent="0" defTabSz="914400">
              <a:lnSpc>
                <a:spcPct val="80000"/>
              </a:lnSpc>
              <a:buNone/>
              <a:tabLst>
                <a:tab pos="1136650" algn="l"/>
                <a:tab pos="362585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pop </a:t>
            </a:r>
            <a:r>
              <a:rPr lang="en-US" altLang="zh-CN" sz="2800" dirty="0" err="1">
                <a:solidFill>
                  <a:schemeClr val="accent2"/>
                </a:solidFill>
                <a:latin typeface="宋体" panose="02010600030101010101" pitchFamily="2" charset="-122"/>
              </a:rPr>
              <a:t>di</a:t>
            </a:r>
            <a:r>
              <a:rPr lang="en-US" altLang="zh-CN" sz="2800">
                <a:latin typeface="宋体" panose="02010600030101010101" pitchFamily="2" charset="-122"/>
              </a:rPr>
              <a:t>	;</a:t>
            </a:r>
            <a:r>
              <a:rPr lang="zh-CN" altLang="en-US" sz="2800" dirty="0">
                <a:latin typeface="宋体" panose="02010600030101010101" pitchFamily="2" charset="-122"/>
              </a:rPr>
              <a:t>恢复寄存器</a:t>
            </a:r>
          </a:p>
          <a:p>
            <a:pPr marL="0" indent="0" defTabSz="914400">
              <a:lnSpc>
                <a:spcPct val="80000"/>
              </a:lnSpc>
              <a:buNone/>
              <a:tabLst>
                <a:tab pos="1136650" algn="l"/>
                <a:tab pos="3625850" algn="l"/>
              </a:tabLst>
            </a:pPr>
            <a:r>
              <a:rPr lang="zh-CN" altLang="en-US" sz="2800" dirty="0">
                <a:solidFill>
                  <a:schemeClr val="accent2"/>
                </a:solidFill>
                <a:latin typeface="宋体" panose="02010600030101010101" pitchFamily="2" charset="-122"/>
              </a:rPr>
              <a:t>	</a:t>
            </a:r>
            <a:r>
              <a:rPr lang="en-US" altLang="zh-CN" sz="2800">
                <a:solidFill>
                  <a:schemeClr val="accent2"/>
                </a:solidFill>
                <a:latin typeface="宋体" panose="02010600030101010101" pitchFamily="2" charset="-122"/>
              </a:rPr>
              <a:t>pop </a:t>
            </a:r>
            <a:r>
              <a:rPr lang="en-US" altLang="zh-CN" sz="2800" dirty="0" err="1">
                <a:solidFill>
                  <a:schemeClr val="accent2"/>
                </a:solidFill>
                <a:latin typeface="宋体" panose="02010600030101010101" pitchFamily="2" charset="-122"/>
              </a:rPr>
              <a:t>si</a:t>
            </a:r>
            <a:endParaRPr lang="en-US" altLang="zh-CN" sz="2800">
              <a:solidFill>
                <a:schemeClr val="accent2"/>
              </a:solidFill>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dx</a:t>
            </a:r>
            <a:endParaRPr lang="en-US" altLang="zh-CN" sz="2800">
              <a:solidFill>
                <a:schemeClr val="accent2"/>
              </a:solidFill>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cx</a:t>
            </a:r>
            <a:endParaRPr lang="en-US" altLang="zh-CN" sz="2800">
              <a:solidFill>
                <a:schemeClr val="accent2"/>
              </a:solidFill>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bx</a:t>
            </a:r>
            <a:endParaRPr lang="en-US" altLang="zh-CN" sz="2800">
              <a:solidFill>
                <a:schemeClr val="accent2"/>
              </a:solidFill>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pop </a:t>
            </a:r>
            <a:r>
              <a:rPr lang="en-US" altLang="zh-CN" sz="2800" dirty="0" err="1">
                <a:solidFill>
                  <a:schemeClr val="accent2"/>
                </a:solidFill>
                <a:latin typeface="宋体" panose="02010600030101010101" pitchFamily="2" charset="-122"/>
              </a:rPr>
              <a:t>bp</a:t>
            </a:r>
            <a:endParaRPr lang="en-US" altLang="zh-CN" sz="2800">
              <a:solidFill>
                <a:schemeClr val="accent2"/>
              </a:solidFill>
              <a:latin typeface="宋体" panose="02010600030101010101" pitchFamily="2" charset="-122"/>
            </a:endParaRP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	ret</a:t>
            </a:r>
          </a:p>
          <a:p>
            <a:pPr marL="0" indent="0" defTabSz="914400">
              <a:lnSpc>
                <a:spcPct val="80000"/>
              </a:lnSpc>
              <a:buNone/>
              <a:tabLst>
                <a:tab pos="1136650" algn="l"/>
                <a:tab pos="3625850" algn="l"/>
              </a:tabLst>
            </a:pPr>
            <a:r>
              <a:rPr lang="en-US" altLang="zh-CN" sz="2800">
                <a:solidFill>
                  <a:schemeClr val="accent2"/>
                </a:solidFill>
                <a:latin typeface="宋体" panose="02010600030101010101" pitchFamily="2" charset="-122"/>
              </a:rPr>
              <a:t>mean	</a:t>
            </a:r>
            <a:r>
              <a:rPr lang="en-US" altLang="zh-CN" sz="2800" dirty="0" err="1">
                <a:solidFill>
                  <a:schemeClr val="accent2"/>
                </a:solidFill>
                <a:latin typeface="宋体" panose="02010600030101010101" pitchFamily="2" charset="-122"/>
              </a:rPr>
              <a:t>endp</a:t>
            </a:r>
            <a:endParaRPr lang="en-US" altLang="zh-CN" sz="2800">
              <a:solidFill>
                <a:schemeClr val="accent2"/>
              </a:solidFill>
              <a:latin typeface="宋体" panose="02010600030101010101" pitchFamily="2" charset="-122"/>
            </a:endParaRPr>
          </a:p>
        </p:txBody>
      </p:sp>
      <p:grpSp>
        <p:nvGrpSpPr>
          <p:cNvPr id="356355" name="组合 356354"/>
          <p:cNvGrpSpPr/>
          <p:nvPr/>
        </p:nvGrpSpPr>
        <p:grpSpPr>
          <a:xfrm>
            <a:off x="177800" y="230188"/>
            <a:ext cx="203200" cy="6503987"/>
            <a:chOff x="112" y="145"/>
            <a:chExt cx="128" cy="4097"/>
          </a:xfrm>
        </p:grpSpPr>
        <p:sp>
          <p:nvSpPr>
            <p:cNvPr id="356356" name="矩形 356355"/>
            <p:cNvSpPr/>
            <p:nvPr/>
          </p:nvSpPr>
          <p:spPr>
            <a:xfrm flipH="1">
              <a:off x="192" y="162"/>
              <a:ext cx="48" cy="4080"/>
            </a:xfrm>
            <a:prstGeom prst="rect">
              <a:avLst/>
            </a:prstGeom>
            <a:gradFill rotWithShape="0">
              <a:gsLst>
                <a:gs pos="0">
                  <a:schemeClr val="bg1"/>
                </a:gs>
                <a:gs pos="100000">
                  <a:schemeClr val="folHlink"/>
                </a:gs>
              </a:gsLst>
              <a:lin ang="5400000" scaled="1"/>
              <a:tileRect/>
            </a:gradFill>
            <a:ln w="9525">
              <a:noFill/>
            </a:ln>
          </p:spPr>
          <p:txBody>
            <a:bodyPr/>
            <a:lstStyle/>
            <a:p>
              <a:endParaRPr lang="zh-CN" altLang="en-US"/>
            </a:p>
          </p:txBody>
        </p:sp>
        <p:sp>
          <p:nvSpPr>
            <p:cNvPr id="356357" name="矩形 356356"/>
            <p:cNvSpPr/>
            <p:nvPr/>
          </p:nvSpPr>
          <p:spPr>
            <a:xfrm>
              <a:off x="112" y="145"/>
              <a:ext cx="48" cy="3941"/>
            </a:xfrm>
            <a:prstGeom prst="rect">
              <a:avLst/>
            </a:prstGeom>
            <a:gradFill rotWithShape="0">
              <a:gsLst>
                <a:gs pos="0">
                  <a:schemeClr val="bg1"/>
                </a:gs>
                <a:gs pos="100000">
                  <a:schemeClr val="hlink"/>
                </a:gs>
              </a:gsLst>
              <a:lin ang="5400000" scaled="1"/>
              <a:tileRect/>
            </a:gradFill>
            <a:ln w="9525">
              <a:noFill/>
            </a:ln>
          </p:spPr>
          <p:txBody>
            <a:bodyPr wrap="none" anchor="ctr" anchorCtr="0"/>
            <a:lstStyle/>
            <a:p>
              <a:pPr algn="ctr"/>
              <a:endParaRPr dirty="0">
                <a:latin typeface="Times New Roman" panose="02020603050405020304" pitchFamily="18" charset="0"/>
              </a:endParaRPr>
            </a:p>
          </p:txBody>
        </p:sp>
      </p:grpSp>
      <p:grpSp>
        <p:nvGrpSpPr>
          <p:cNvPr id="356358" name="组合 356357"/>
          <p:cNvGrpSpPr/>
          <p:nvPr/>
        </p:nvGrpSpPr>
        <p:grpSpPr>
          <a:xfrm>
            <a:off x="8793163" y="220663"/>
            <a:ext cx="198437" cy="6408737"/>
            <a:chOff x="5539" y="139"/>
            <a:chExt cx="125" cy="4037"/>
          </a:xfrm>
        </p:grpSpPr>
        <p:sp>
          <p:nvSpPr>
            <p:cNvPr id="356359" name="矩形 356358"/>
            <p:cNvSpPr/>
            <p:nvPr/>
          </p:nvSpPr>
          <p:spPr>
            <a:xfrm rot="-10800000" flipH="1" flipV="1">
              <a:off x="5621" y="139"/>
              <a:ext cx="43" cy="3989"/>
            </a:xfrm>
            <a:prstGeom prst="rect">
              <a:avLst/>
            </a:prstGeom>
            <a:gradFill rotWithShape="0">
              <a:gsLst>
                <a:gs pos="0">
                  <a:schemeClr val="accent1"/>
                </a:gs>
                <a:gs pos="100000">
                  <a:schemeClr val="bg1"/>
                </a:gs>
              </a:gsLst>
              <a:lin ang="5400000" scaled="1"/>
              <a:tileRect/>
            </a:gradFill>
            <a:ln w="9525">
              <a:noFill/>
            </a:ln>
          </p:spPr>
          <p:txBody>
            <a:bodyPr/>
            <a:lstStyle/>
            <a:p>
              <a:endParaRPr lang="zh-CN" altLang="en-US"/>
            </a:p>
          </p:txBody>
        </p:sp>
        <p:sp>
          <p:nvSpPr>
            <p:cNvPr id="356360" name="矩形 356359"/>
            <p:cNvSpPr/>
            <p:nvPr/>
          </p:nvSpPr>
          <p:spPr>
            <a:xfrm rot="10800000" flipV="1">
              <a:off x="5539" y="240"/>
              <a:ext cx="49" cy="3936"/>
            </a:xfrm>
            <a:prstGeom prst="rect">
              <a:avLst/>
            </a:prstGeom>
            <a:gradFill rotWithShape="0">
              <a:gsLst>
                <a:gs pos="0">
                  <a:schemeClr val="accent2"/>
                </a:gs>
                <a:gs pos="100000">
                  <a:schemeClr val="bg1"/>
                </a:gs>
              </a:gsLst>
              <a:lin ang="5400000" scaled="1"/>
              <a:tileRect/>
            </a:gradFill>
            <a:ln w="9525">
              <a:noFill/>
            </a:ln>
          </p:spPr>
          <p:txBody>
            <a:bodyPr/>
            <a:lstStyle/>
            <a:p>
              <a:endParaRPr lang="zh-CN" altLang="en-US"/>
            </a:p>
          </p:txBody>
        </p:sp>
      </p:grpSp>
      <p:grpSp>
        <p:nvGrpSpPr>
          <p:cNvPr id="356361" name="组合 356360"/>
          <p:cNvGrpSpPr/>
          <p:nvPr/>
        </p:nvGrpSpPr>
        <p:grpSpPr>
          <a:xfrm>
            <a:off x="412750" y="6477000"/>
            <a:ext cx="8686800" cy="228600"/>
            <a:chOff x="260" y="4080"/>
            <a:chExt cx="5472" cy="144"/>
          </a:xfrm>
        </p:grpSpPr>
        <p:sp>
          <p:nvSpPr>
            <p:cNvPr id="356362" name="矩形 356361"/>
            <p:cNvSpPr/>
            <p:nvPr/>
          </p:nvSpPr>
          <p:spPr>
            <a:xfrm rot="5400000" flipV="1">
              <a:off x="2972" y="1368"/>
              <a:ext cx="48" cy="5472"/>
            </a:xfrm>
            <a:prstGeom prst="rect">
              <a:avLst/>
            </a:prstGeom>
            <a:gradFill rotWithShape="0">
              <a:gsLst>
                <a:gs pos="0">
                  <a:schemeClr val="bg1"/>
                </a:gs>
                <a:gs pos="100000">
                  <a:schemeClr val="accent1"/>
                </a:gs>
              </a:gsLst>
              <a:lin ang="0" scaled="1"/>
              <a:tileRect/>
            </a:gradFill>
            <a:ln w="9525">
              <a:noFill/>
            </a:ln>
          </p:spPr>
          <p:txBody>
            <a:bodyPr/>
            <a:lstStyle/>
            <a:p>
              <a:endParaRPr lang="zh-CN" altLang="en-US"/>
            </a:p>
          </p:txBody>
        </p:sp>
        <p:sp>
          <p:nvSpPr>
            <p:cNvPr id="356363" name="矩形 356362"/>
            <p:cNvSpPr/>
            <p:nvPr/>
          </p:nvSpPr>
          <p:spPr>
            <a:xfrm rot="5400000" flipV="1">
              <a:off x="2913" y="1522"/>
              <a:ext cx="48" cy="5355"/>
            </a:xfrm>
            <a:prstGeom prst="rect">
              <a:avLst/>
            </a:prstGeom>
            <a:gradFill rotWithShape="0">
              <a:gsLst>
                <a:gs pos="0">
                  <a:schemeClr val="bg1"/>
                </a:gs>
                <a:gs pos="100000">
                  <a:schemeClr val="hlink"/>
                </a:gs>
              </a:gsLst>
              <a:lin ang="0" scaled="1"/>
              <a:tileRect/>
            </a:gradFill>
            <a:ln w="9525">
              <a:noFill/>
            </a:ln>
          </p:spPr>
          <p:txBody>
            <a:bodyPr/>
            <a:lstStyle/>
            <a:p>
              <a:endParaRPr lang="zh-CN" altLang="en-US"/>
            </a:p>
          </p:txBody>
        </p:sp>
      </p:grpSp>
      <p:grpSp>
        <p:nvGrpSpPr>
          <p:cNvPr id="356364" name="组合 356363"/>
          <p:cNvGrpSpPr/>
          <p:nvPr/>
        </p:nvGrpSpPr>
        <p:grpSpPr>
          <a:xfrm>
            <a:off x="76200" y="176213"/>
            <a:ext cx="8745538" cy="161925"/>
            <a:chOff x="48" y="111"/>
            <a:chExt cx="5509" cy="102"/>
          </a:xfrm>
        </p:grpSpPr>
        <p:sp>
          <p:nvSpPr>
            <p:cNvPr id="356365" name="矩形 356364"/>
            <p:cNvSpPr/>
            <p:nvPr/>
          </p:nvSpPr>
          <p:spPr>
            <a:xfrm rot="5400000" flipV="1">
              <a:off x="2853" y="-2491"/>
              <a:ext cx="37" cy="5371"/>
            </a:xfrm>
            <a:prstGeom prst="rect">
              <a:avLst/>
            </a:prstGeom>
            <a:gradFill rotWithShape="0">
              <a:gsLst>
                <a:gs pos="0">
                  <a:schemeClr val="hlink"/>
                </a:gs>
                <a:gs pos="100000">
                  <a:schemeClr val="bg1"/>
                </a:gs>
              </a:gsLst>
              <a:lin ang="0" scaled="1"/>
              <a:tileRect/>
            </a:gradFill>
            <a:ln w="9525">
              <a:noFill/>
            </a:ln>
          </p:spPr>
          <p:txBody>
            <a:bodyPr/>
            <a:lstStyle/>
            <a:p>
              <a:endParaRPr lang="zh-CN" altLang="en-US"/>
            </a:p>
          </p:txBody>
        </p:sp>
        <p:sp>
          <p:nvSpPr>
            <p:cNvPr id="356366" name="矩形 356365"/>
            <p:cNvSpPr/>
            <p:nvPr/>
          </p:nvSpPr>
          <p:spPr>
            <a:xfrm rot="5400000" flipV="1">
              <a:off x="2783" y="-2624"/>
              <a:ext cx="38" cy="5509"/>
            </a:xfrm>
            <a:prstGeom prst="rect">
              <a:avLst/>
            </a:prstGeom>
            <a:gradFill rotWithShape="0">
              <a:gsLst>
                <a:gs pos="0">
                  <a:schemeClr val="accent1"/>
                </a:gs>
                <a:gs pos="100000">
                  <a:schemeClr val="bg1"/>
                </a:gs>
              </a:gsLst>
              <a:lin ang="0" scaled="1"/>
              <a:tileRect/>
            </a:gradFill>
            <a:ln w="9525">
              <a:noFill/>
            </a:ln>
          </p:spPr>
          <p:txBody>
            <a:bodyPr/>
            <a:lstStyle/>
            <a:p>
              <a:endParaRPr lang="zh-CN" altLang="en-US"/>
            </a:p>
          </p:txBody>
        </p:sp>
      </p:grpSp>
      <p:sp>
        <p:nvSpPr>
          <p:cNvPr id="356367" name="标题 356366"/>
          <p:cNvSpPr>
            <a:spLocks noGrp="1"/>
          </p:cNvSpPr>
          <p:nvPr>
            <p:ph type="title"/>
          </p:nvPr>
        </p:nvSpPr>
        <p:spPr>
          <a:xfrm>
            <a:off x="5929313" y="349250"/>
            <a:ext cx="2819400" cy="390525"/>
          </a:xfrm>
          <a:ln>
            <a:solidFill>
              <a:schemeClr val="folHlink"/>
            </a:solidFill>
            <a:miter/>
          </a:ln>
        </p:spPr>
        <p:txBody>
          <a:bodyPr anchor="ctr" anchorCtr="0"/>
          <a:lstStyle/>
          <a:p>
            <a:r>
              <a:rPr lang="zh-CN" altLang="en-US" sz="2400" dirty="0">
                <a:latin typeface="黑体" panose="02010609060101010101" pitchFamily="2" charset="-122"/>
              </a:rPr>
              <a:t>例题</a:t>
            </a:r>
            <a:r>
              <a:rPr lang="en-US" altLang="zh-CN" sz="2400" dirty="0">
                <a:latin typeface="黑体" panose="02010609060101010101" pitchFamily="2" charset="-122"/>
              </a:rPr>
              <a:t>4.20</a:t>
            </a:r>
            <a:r>
              <a:rPr lang="zh-CN" altLang="en-US" sz="2400" dirty="0">
                <a:latin typeface="黑体" panose="02010609060101010101" pitchFamily="2" charset="-122"/>
              </a:rPr>
              <a:t>－</a:t>
            </a:r>
            <a:r>
              <a:rPr lang="en-US" altLang="zh-CN" sz="2400">
                <a:latin typeface="黑体" panose="02010609060101010101" pitchFamily="2" charset="-122"/>
              </a:rPr>
              <a:t>4/4</a:t>
            </a:r>
          </a:p>
        </p:txBody>
      </p:sp>
      <p:pic>
        <p:nvPicPr>
          <p:cNvPr id="356369" name="图片 356368" descr="6">
            <a:hlinkClick r:id="" action="ppaction://hlinkshowjump?jump=previousslide"/>
          </p:cNvPr>
          <p:cNvPicPr>
            <a:picLocks noChangeAspect="1"/>
          </p:cNvPicPr>
          <p:nvPr/>
        </p:nvPicPr>
        <p:blipFill>
          <a:blip r:embed="rId2"/>
          <a:stretch>
            <a:fillRect/>
          </a:stretch>
        </p:blipFill>
        <p:spPr>
          <a:xfrm>
            <a:off x="0" y="6286500"/>
            <a:ext cx="571500" cy="571500"/>
          </a:xfrm>
          <a:prstGeom prst="rect">
            <a:avLst/>
          </a:prstGeom>
          <a:noFill/>
          <a:ln w="9525">
            <a:noFill/>
          </a:ln>
        </p:spPr>
      </p:pic>
    </p:spTree>
  </p:cSld>
  <p:clrMapOvr>
    <a:masterClrMapping/>
  </p:clrMapOvr>
  <p:transition>
    <p:random/>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标题 340993"/>
          <p:cNvSpPr>
            <a:spLocks noGrp="1"/>
          </p:cNvSpPr>
          <p:nvPr>
            <p:ph type="title"/>
          </p:nvPr>
        </p:nvSpPr>
        <p:spPr>
          <a:xfrm>
            <a:off x="971550" y="12700"/>
            <a:ext cx="7772400" cy="762000"/>
          </a:xfrm>
        </p:spPr>
        <p:txBody>
          <a:bodyPr anchor="ctr" anchorCtr="0"/>
          <a:lstStyle/>
          <a:p>
            <a:r>
              <a:rPr lang="zh-CN" altLang="en-US" dirty="0"/>
              <a:t>有符号数如何避免溢出</a:t>
            </a:r>
          </a:p>
        </p:txBody>
      </p:sp>
      <p:sp>
        <p:nvSpPr>
          <p:cNvPr id="340995" name="文本占位符 340994"/>
          <p:cNvSpPr>
            <a:spLocks noGrp="1"/>
          </p:cNvSpPr>
          <p:nvPr>
            <p:ph type="body" idx="1"/>
          </p:nvPr>
        </p:nvSpPr>
        <p:spPr>
          <a:xfrm>
            <a:off x="609600" y="1447800"/>
            <a:ext cx="8077200" cy="4953000"/>
          </a:xfrm>
        </p:spPr>
        <p:txBody>
          <a:bodyPr/>
          <a:lstStyle/>
          <a:p>
            <a:pPr marL="484505" indent="-484505"/>
            <a:r>
              <a:rPr lang="zh-CN" altLang="en-US" sz="3200" dirty="0"/>
              <a:t>为了避免有符号二进制数求和过程中溢出，被加数要进行符号扩展，得到倍长数据（大小没有变化），然后求和</a:t>
            </a:r>
          </a:p>
          <a:p>
            <a:pPr marL="484505" indent="-484505"/>
            <a:r>
              <a:rPr lang="zh-CN" altLang="en-US" sz="3200" dirty="0"/>
              <a:t>因为采用</a:t>
            </a:r>
            <a:r>
              <a:rPr lang="en-US" altLang="zh-CN" sz="3200"/>
              <a:t>16</a:t>
            </a:r>
            <a:r>
              <a:rPr lang="zh-CN" altLang="en-US" sz="3200" dirty="0"/>
              <a:t>位二进制数表示数据个数，最大是</a:t>
            </a:r>
            <a:r>
              <a:rPr lang="en-US" altLang="zh-CN" sz="3200"/>
              <a:t>2</a:t>
            </a:r>
            <a:r>
              <a:rPr lang="en-US" altLang="zh-CN" sz="3200" baseline="30000"/>
              <a:t>16</a:t>
            </a:r>
            <a:r>
              <a:rPr lang="zh-CN" altLang="en-US" sz="3200" dirty="0"/>
              <a:t>，这样扩展到</a:t>
            </a:r>
            <a:r>
              <a:rPr lang="en-US" altLang="zh-CN" sz="3200"/>
              <a:t>32</a:t>
            </a:r>
            <a:r>
              <a:rPr lang="zh-CN" altLang="en-US" sz="3200" dirty="0"/>
              <a:t>位二进制数表达累加和，不再会出现溢出</a:t>
            </a:r>
          </a:p>
          <a:p>
            <a:pPr marL="484505" indent="-484505"/>
            <a:r>
              <a:rPr lang="zh-CN" altLang="en-US" sz="3200" dirty="0"/>
              <a:t>考虑极端情况：数据全是－</a:t>
            </a:r>
            <a:r>
              <a:rPr lang="en-US" altLang="zh-CN" sz="3200"/>
              <a:t>2</a:t>
            </a:r>
            <a:r>
              <a:rPr lang="en-US" altLang="zh-CN" sz="3200" baseline="30000"/>
              <a:t>15</a:t>
            </a:r>
            <a:r>
              <a:rPr lang="zh-CN" altLang="en-US" sz="3200" dirty="0"/>
              <a:t>，共有</a:t>
            </a:r>
            <a:r>
              <a:rPr lang="en-US" altLang="zh-CN" sz="3200"/>
              <a:t>2</a:t>
            </a:r>
            <a:r>
              <a:rPr lang="en-US" altLang="zh-CN" sz="3200" baseline="30000"/>
              <a:t>16</a:t>
            </a:r>
            <a:r>
              <a:rPr lang="zh-CN" altLang="en-US" sz="3200" dirty="0"/>
              <a:t>个，求和结果是－</a:t>
            </a:r>
            <a:r>
              <a:rPr lang="en-US" altLang="zh-CN" sz="3200"/>
              <a:t>2</a:t>
            </a:r>
            <a:r>
              <a:rPr lang="en-US" altLang="zh-CN" sz="3200" baseline="30000"/>
              <a:t>31</a:t>
            </a:r>
            <a:r>
              <a:rPr lang="zh-CN" altLang="en-US" sz="3200" dirty="0"/>
              <a:t>，</a:t>
            </a:r>
            <a:r>
              <a:rPr lang="en-US" altLang="zh-CN" sz="3200"/>
              <a:t>32</a:t>
            </a:r>
            <a:r>
              <a:rPr lang="zh-CN" altLang="en-US" sz="3200" dirty="0"/>
              <a:t>位数据仍然可以表达</a:t>
            </a:r>
          </a:p>
        </p:txBody>
      </p:sp>
      <p:pic>
        <p:nvPicPr>
          <p:cNvPr id="341002" name="图片 341001" descr="14_6">
            <a:hlinkClick r:id="" action="ppaction://noaction"/>
          </p:cNvPr>
          <p:cNvPicPr>
            <a:picLocks noChangeAspect="1"/>
          </p:cNvPicPr>
          <p:nvPr/>
        </p:nvPicPr>
        <p:blipFill>
          <a:blip r:embed="rId2"/>
          <a:stretch>
            <a:fillRect/>
          </a:stretch>
        </p:blipFill>
        <p:spPr>
          <a:xfrm>
            <a:off x="8629650" y="6316663"/>
            <a:ext cx="514350" cy="533400"/>
          </a:xfrm>
          <a:prstGeom prst="rect">
            <a:avLst/>
          </a:prstGeom>
          <a:noFill/>
          <a:ln w="9525">
            <a:noFill/>
          </a:ln>
        </p:spPr>
      </p:pic>
      <p:grpSp>
        <p:nvGrpSpPr>
          <p:cNvPr id="341004" name="组合 341003"/>
          <p:cNvGrpSpPr/>
          <p:nvPr/>
        </p:nvGrpSpPr>
        <p:grpSpPr>
          <a:xfrm>
            <a:off x="4763" y="44450"/>
            <a:ext cx="6629400" cy="1295400"/>
            <a:chOff x="-6" y="20"/>
            <a:chExt cx="4176" cy="816"/>
          </a:xfrm>
        </p:grpSpPr>
        <p:sp>
          <p:nvSpPr>
            <p:cNvPr id="341005" name="矩形 341004"/>
            <p:cNvSpPr/>
            <p:nvPr/>
          </p:nvSpPr>
          <p:spPr>
            <a:xfrm>
              <a:off x="-6" y="428"/>
              <a:ext cx="4176" cy="52"/>
            </a:xfrm>
            <a:prstGeom prst="rect">
              <a:avLst/>
            </a:prstGeom>
            <a:noFill/>
            <a:ln w="19050" cap="flat" cmpd="sng">
              <a:solidFill>
                <a:schemeClr val="hlink"/>
              </a:solidFill>
              <a:prstDash val="solid"/>
              <a:miter/>
              <a:headEnd type="none" w="med" len="med"/>
              <a:tailEnd type="none" w="med" len="med"/>
            </a:ln>
          </p:spPr>
          <p:txBody>
            <a:bodyPr wrap="none" anchor="ctr" anchorCtr="0"/>
            <a:lstStyle/>
            <a:p>
              <a:pPr algn="ctr"/>
              <a:endParaRPr dirty="0">
                <a:latin typeface="Arial" panose="020B0604020202020204" pitchFamily="34" charset="0"/>
              </a:endParaRPr>
            </a:p>
          </p:txBody>
        </p:sp>
        <p:sp>
          <p:nvSpPr>
            <p:cNvPr id="341006" name="矩形 341005"/>
            <p:cNvSpPr/>
            <p:nvPr/>
          </p:nvSpPr>
          <p:spPr>
            <a:xfrm>
              <a:off x="784" y="260"/>
              <a:ext cx="240" cy="240"/>
            </a:xfrm>
            <a:prstGeom prst="rect">
              <a:avLst/>
            </a:prstGeom>
            <a:solidFill>
              <a:srgbClr val="3333CC">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41007" name="矩形 341006"/>
            <p:cNvSpPr/>
            <p:nvPr/>
          </p:nvSpPr>
          <p:spPr>
            <a:xfrm>
              <a:off x="16" y="596"/>
              <a:ext cx="240" cy="240"/>
            </a:xfrm>
            <a:prstGeom prst="rect">
              <a:avLst/>
            </a:prstGeom>
            <a:solidFill>
              <a:srgbClr val="3333CC">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41008" name="矩形 341007"/>
            <p:cNvSpPr/>
            <p:nvPr/>
          </p:nvSpPr>
          <p:spPr>
            <a:xfrm>
              <a:off x="256" y="356"/>
              <a:ext cx="240" cy="240"/>
            </a:xfrm>
            <a:prstGeom prst="rect">
              <a:avLst/>
            </a:prstGeom>
            <a:solidFill>
              <a:srgbClr val="009900">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41009" name="矩形 341008"/>
            <p:cNvSpPr/>
            <p:nvPr/>
          </p:nvSpPr>
          <p:spPr>
            <a:xfrm>
              <a:off x="1024" y="20"/>
              <a:ext cx="240" cy="240"/>
            </a:xfrm>
            <a:prstGeom prst="rect">
              <a:avLst/>
            </a:prstGeom>
            <a:solidFill>
              <a:srgbClr val="CC0000">
                <a:alpha val="50000"/>
              </a:srgbClr>
            </a:solidFill>
            <a:ln w="19050" cap="flat" cmpd="sng">
              <a:solidFill>
                <a:schemeClr val="hlink"/>
              </a:solidFill>
              <a:prstDash val="solid"/>
              <a:miter/>
              <a:headEnd type="none" w="med" len="med"/>
              <a:tailEnd type="none" w="med" len="med"/>
            </a:ln>
          </p:spPr>
          <p:txBody>
            <a:bodyPr/>
            <a:lstStyle/>
            <a:p>
              <a:endParaRPr lang="zh-CN" altLang="en-US"/>
            </a:p>
          </p:txBody>
        </p:sp>
        <p:sp>
          <p:nvSpPr>
            <p:cNvPr id="341010" name="文本框 341009"/>
            <p:cNvSpPr txBox="1"/>
            <p:nvPr/>
          </p:nvSpPr>
          <p:spPr>
            <a:xfrm>
              <a:off x="99" y="42"/>
              <a:ext cx="641" cy="250"/>
            </a:xfrm>
            <a:prstGeom prst="rect">
              <a:avLst/>
            </a:prstGeom>
            <a:gradFill rotWithShape="0">
              <a:gsLst>
                <a:gs pos="0">
                  <a:schemeClr val="accent1">
                    <a:gamma/>
                    <a:shade val="46275"/>
                    <a:invGamma/>
                  </a:schemeClr>
                </a:gs>
                <a:gs pos="50000">
                  <a:schemeClr val="accent1"/>
                </a:gs>
                <a:gs pos="100000">
                  <a:schemeClr val="accent1">
                    <a:gamma/>
                    <a:shade val="46275"/>
                    <a:invGamma/>
                  </a:schemeClr>
                </a:gs>
              </a:gsLst>
              <a:lin ang="2700000" scaled="1"/>
              <a:tileRect/>
            </a:gradFill>
            <a:ln w="9525">
              <a:noFill/>
            </a:ln>
            <a:effectLst>
              <a:outerShdw dist="35921" dir="2699999" algn="ctr" rotWithShape="0">
                <a:schemeClr val="folHlink"/>
              </a:outerShdw>
            </a:effectLst>
          </p:spPr>
          <p:txBody>
            <a:bodyPr>
              <a:spAutoFit/>
            </a:bodyPr>
            <a:lstStyle/>
            <a:p>
              <a:pPr algn="ctr"/>
              <a:r>
                <a:rPr lang="zh-CN" altLang="en-US" sz="2000" dirty="0">
                  <a:solidFill>
                    <a:schemeClr val="accent2"/>
                  </a:solidFill>
                  <a:latin typeface="华文新魏" panose="02010800040101010101" pitchFamily="2" charset="-122"/>
                  <a:ea typeface="华文新魏" panose="02010800040101010101" pitchFamily="2" charset="-122"/>
                </a:rPr>
                <a:t>第 </a:t>
              </a:r>
              <a:r>
                <a:rPr lang="en-US" altLang="zh-CN" sz="2000" dirty="0">
                  <a:solidFill>
                    <a:schemeClr val="accent2"/>
                  </a:solidFill>
                  <a:latin typeface="华文新魏" panose="02010800040101010101" pitchFamily="2" charset="-122"/>
                  <a:ea typeface="华文新魏" panose="02010800040101010101" pitchFamily="2" charset="-122"/>
                </a:rPr>
                <a:t>4</a:t>
              </a:r>
              <a:r>
                <a:rPr lang="en-US" altLang="zh-CN" sz="2000">
                  <a:solidFill>
                    <a:schemeClr val="accent2"/>
                  </a:solidFill>
                  <a:latin typeface="华文新魏" panose="02010800040101010101" pitchFamily="2" charset="-122"/>
                  <a:ea typeface="华文新魏" panose="02010800040101010101" pitchFamily="2" charset="-122"/>
                </a:rPr>
                <a:t> </a:t>
              </a:r>
              <a:r>
                <a:rPr lang="zh-CN" altLang="en-US" sz="2000" dirty="0">
                  <a:solidFill>
                    <a:schemeClr val="accent2"/>
                  </a:solidFill>
                  <a:latin typeface="华文新魏" panose="02010800040101010101" pitchFamily="2" charset="-122"/>
                  <a:ea typeface="华文新魏" panose="02010800040101010101" pitchFamily="2" charset="-122"/>
                </a:rPr>
                <a:t>章</a:t>
              </a:r>
            </a:p>
          </p:txBody>
        </p:sp>
      </p:grpSp>
    </p:spTree>
  </p:cSld>
  <p:clrMapOvr>
    <a:masterClrMapping/>
  </p:clrMapOvr>
  <p:transition advClick="0"/>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3581400" y="2286000"/>
            <a:ext cx="2819400" cy="2776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Clr>
                <a:schemeClr val="tx2"/>
              </a:buClr>
              <a:buSzPct val="90000"/>
              <a:buFont typeface="Symbol" panose="05050102010706020507" pitchFamily="18" charset="2"/>
              <a:buNone/>
            </a:pPr>
            <a:r>
              <a:rPr lang="en-US" altLang="zh-CN" u="none" dirty="0">
                <a:latin typeface="Arial" panose="020B0604020202020204" pitchFamily="34" charset="0"/>
                <a:sym typeface="Symbol" panose="05050102010706020507" pitchFamily="18" charset="2"/>
              </a:rPr>
              <a:t>   </a:t>
            </a:r>
            <a:r>
              <a:rPr lang="zh-CN" altLang="en-US" u="none" dirty="0">
                <a:latin typeface="Arial" panose="020B0604020202020204" pitchFamily="34" charset="0"/>
                <a:sym typeface="Symbol" panose="05050102010706020507" pitchFamily="18" charset="2"/>
              </a:rPr>
              <a:t>宏</a:t>
            </a:r>
            <a:r>
              <a:rPr lang="zh-CN" altLang="en-US" u="none" dirty="0">
                <a:latin typeface="Arial" panose="020B0604020202020204" pitchFamily="34" charset="0"/>
              </a:rPr>
              <a:t>汇编</a:t>
            </a:r>
          </a:p>
          <a:p>
            <a:pPr eaLnBrk="1" hangingPunct="1">
              <a:lnSpc>
                <a:spcPct val="150000"/>
              </a:lnSpc>
              <a:spcBef>
                <a:spcPct val="50000"/>
              </a:spcBef>
              <a:buClr>
                <a:schemeClr val="tx2"/>
              </a:buClr>
              <a:buSzPct val="90000"/>
              <a:buFont typeface="Symbol" panose="05050102010706020507" pitchFamily="18" charset="2"/>
              <a:buNone/>
            </a:pPr>
            <a:r>
              <a:rPr lang="zh-CN" altLang="en-US" u="none" dirty="0">
                <a:latin typeface="Arial" panose="020B0604020202020204" pitchFamily="34" charset="0"/>
                <a:sym typeface="Symbol" panose="05050102010706020507" pitchFamily="18" charset="2"/>
              </a:rPr>
              <a:t>  </a:t>
            </a:r>
            <a:r>
              <a:rPr lang="zh-CN" altLang="en-US" u="none" dirty="0">
                <a:latin typeface="Arial" panose="020B0604020202020204" pitchFamily="34" charset="0"/>
              </a:rPr>
              <a:t> </a:t>
            </a:r>
            <a:r>
              <a:rPr lang="zh-CN" altLang="en-US" u="none" dirty="0">
                <a:solidFill>
                  <a:schemeClr val="bg1">
                    <a:lumMod val="85000"/>
                  </a:schemeClr>
                </a:solidFill>
                <a:latin typeface="Arial" panose="020B0604020202020204" pitchFamily="34" charset="0"/>
              </a:rPr>
              <a:t>重复汇编</a:t>
            </a:r>
          </a:p>
          <a:p>
            <a:pPr eaLnBrk="1" hangingPunct="1">
              <a:lnSpc>
                <a:spcPct val="150000"/>
              </a:lnSpc>
              <a:spcBef>
                <a:spcPct val="50000"/>
              </a:spcBef>
              <a:buClr>
                <a:schemeClr val="tx2"/>
              </a:buClr>
              <a:buSzPct val="90000"/>
              <a:buFont typeface="Symbol" panose="05050102010706020507" pitchFamily="18" charset="2"/>
              <a:buNone/>
            </a:pPr>
            <a:r>
              <a:rPr lang="zh-CN" altLang="en-US" u="none" dirty="0">
                <a:solidFill>
                  <a:schemeClr val="bg1">
                    <a:lumMod val="85000"/>
                  </a:schemeClr>
                </a:solidFill>
                <a:latin typeface="Arial" panose="020B0604020202020204" pitchFamily="34" charset="0"/>
                <a:sym typeface="Symbol" panose="05050102010706020507" pitchFamily="18" charset="2"/>
              </a:rPr>
              <a:t>   条件汇编</a:t>
            </a:r>
            <a:endParaRPr lang="zh-CN" altLang="en-US" u="none" dirty="0">
              <a:solidFill>
                <a:schemeClr val="bg1">
                  <a:lumMod val="85000"/>
                </a:schemeClr>
              </a:solidFill>
              <a:latin typeface="Arial" panose="020B0604020202020204" pitchFamily="34" charset="0"/>
            </a:endParaRPr>
          </a:p>
        </p:txBody>
      </p:sp>
      <p:sp>
        <p:nvSpPr>
          <p:cNvPr id="72709" name="AutoShape 5"/>
          <p:cNvSpPr>
            <a:spLocks noChangeArrowheads="1"/>
          </p:cNvSpPr>
          <p:nvPr/>
        </p:nvSpPr>
        <p:spPr bwMode="auto">
          <a:xfrm>
            <a:off x="5715000" y="2514600"/>
            <a:ext cx="533400" cy="457200"/>
          </a:xfrm>
          <a:prstGeom prst="star5">
            <a:avLst/>
          </a:prstGeom>
          <a:solidFill>
            <a:srgbClr val="FF0000"/>
          </a:solidFill>
          <a:ln w="9525">
            <a:solidFill>
              <a:schemeClr val="tx1"/>
            </a:solidFill>
            <a:miter lim="800000"/>
          </a:ln>
          <a:effectLst/>
        </p:spPr>
        <p:txBody>
          <a:bodyPr wrap="none" anchor="ctr"/>
          <a:lstStyle/>
          <a:p>
            <a:pPr eaLnBrk="1" hangingPunct="1">
              <a:defRPr/>
            </a:pPr>
            <a:endParaRPr lang="zh-CN" altLang="en-US">
              <a:ea typeface="宋体" panose="02010600030101010101" pitchFamily="2" charset="-122"/>
            </a:endParaRPr>
          </a:p>
        </p:txBody>
      </p:sp>
    </p:spTree>
  </p:cSld>
  <p:clrMapOvr>
    <a:masterClrMapping/>
  </p:clrMapOvr>
  <p:transition>
    <p:rand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ChangeArrowheads="1"/>
          </p:cNvSpPr>
          <p:nvPr/>
        </p:nvSpPr>
        <p:spPr bwMode="auto">
          <a:xfrm>
            <a:off x="1905000" y="762000"/>
            <a:ext cx="259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a:t>
            </a:r>
            <a:r>
              <a:rPr lang="zh-CN" altLang="en-US" sz="3600" u="none">
                <a:solidFill>
                  <a:schemeClr val="tx2"/>
                </a:solidFill>
                <a:latin typeface="Arial" panose="020B0604020202020204" pitchFamily="34" charset="0"/>
              </a:rPr>
              <a:t>宏汇编</a:t>
            </a:r>
          </a:p>
        </p:txBody>
      </p:sp>
      <p:sp>
        <p:nvSpPr>
          <p:cNvPr id="107523" name="Rectangle 3"/>
          <p:cNvSpPr>
            <a:spLocks noChangeArrowheads="1"/>
          </p:cNvSpPr>
          <p:nvPr/>
        </p:nvSpPr>
        <p:spPr bwMode="auto">
          <a:xfrm>
            <a:off x="1905000" y="1905000"/>
            <a:ext cx="67818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ClrTx/>
              <a:buFontTx/>
              <a:buNone/>
            </a:pPr>
            <a:r>
              <a:rPr lang="en-US" altLang="zh-CN" sz="2400" u="none">
                <a:solidFill>
                  <a:schemeClr val="hlink"/>
                </a:solidFill>
              </a:rPr>
              <a:t>        </a:t>
            </a:r>
            <a:r>
              <a:rPr lang="zh-CN" altLang="en-US" sz="2400" u="none">
                <a:solidFill>
                  <a:schemeClr val="hlink"/>
                </a:solidFill>
              </a:rPr>
              <a:t>宏</a:t>
            </a:r>
            <a:r>
              <a:rPr lang="zh-CN" altLang="en-US" sz="2400" u="none"/>
              <a:t>：</a:t>
            </a:r>
            <a:r>
              <a:rPr lang="zh-CN" altLang="en-US" sz="2400" u="none">
                <a:ea typeface="楷体_GB2312" panose="02010609030101010101" pitchFamily="49" charset="-122"/>
              </a:rPr>
              <a:t>源程序中一段有独立功能的程序代码。</a:t>
            </a:r>
          </a:p>
          <a:p>
            <a:pPr>
              <a:spcBef>
                <a:spcPct val="50000"/>
              </a:spcBef>
              <a:buClrTx/>
              <a:buFontTx/>
              <a:buNone/>
            </a:pPr>
            <a:r>
              <a:rPr lang="zh-CN" altLang="en-US" sz="2400" u="none">
                <a:solidFill>
                  <a:schemeClr val="hlink"/>
                </a:solidFill>
              </a:rPr>
              <a:t>宏指令</a:t>
            </a:r>
            <a:r>
              <a:rPr lang="zh-CN" altLang="en-US" sz="2400" u="none"/>
              <a:t>：</a:t>
            </a:r>
            <a:r>
              <a:rPr lang="zh-CN" altLang="en-US" sz="2400" u="none">
                <a:latin typeface="楷体_GB2312" panose="02010609030101010101" pitchFamily="49" charset="-122"/>
                <a:ea typeface="楷体_GB2312" panose="02010609030101010101" pitchFamily="49" charset="-122"/>
              </a:rPr>
              <a:t>用户自定义的指令。在编程时，将多次</a:t>
            </a:r>
          </a:p>
          <a:p>
            <a:pPr>
              <a:spcBef>
                <a:spcPct val="50000"/>
              </a:spcBef>
              <a:buClrTx/>
              <a:buFontTx/>
              <a:buNone/>
            </a:pPr>
            <a:r>
              <a:rPr lang="zh-CN" altLang="en-US" sz="2400" u="none">
                <a:latin typeface="楷体_GB2312" panose="02010609030101010101" pitchFamily="49" charset="-122"/>
                <a:ea typeface="楷体_GB2312" panose="02010609030101010101" pitchFamily="49" charset="-122"/>
              </a:rPr>
              <a:t>        使用的功能用一条宏指令来代替。 </a:t>
            </a:r>
          </a:p>
        </p:txBody>
      </p:sp>
      <p:grpSp>
        <p:nvGrpSpPr>
          <p:cNvPr id="107524" name="Group 4"/>
          <p:cNvGrpSpPr/>
          <p:nvPr/>
        </p:nvGrpSpPr>
        <p:grpSpPr bwMode="auto">
          <a:xfrm>
            <a:off x="2133600" y="4419600"/>
            <a:ext cx="5029200" cy="1552575"/>
            <a:chOff x="624" y="3264"/>
            <a:chExt cx="3168" cy="978"/>
          </a:xfrm>
        </p:grpSpPr>
        <p:sp>
          <p:nvSpPr>
            <p:cNvPr id="107525" name="Text Box 5"/>
            <p:cNvSpPr txBox="1">
              <a:spLocks noChangeArrowheads="1"/>
            </p:cNvSpPr>
            <p:nvPr/>
          </p:nvSpPr>
          <p:spPr bwMode="auto">
            <a:xfrm>
              <a:off x="624" y="3552"/>
              <a:ext cx="13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400" u="none">
                  <a:latin typeface="Lucida Sans Unicode" panose="020B0602030504020204" pitchFamily="34" charset="0"/>
                </a:rPr>
                <a:t>汇编语言程序</a:t>
              </a:r>
              <a:endParaRPr lang="zh-CN" altLang="en-US" sz="2400" b="0" u="none">
                <a:solidFill>
                  <a:schemeClr val="accent2"/>
                </a:solidFill>
                <a:latin typeface="Lucida Sans Unicode" panose="020B0602030504020204" pitchFamily="34" charset="0"/>
              </a:endParaRPr>
            </a:p>
          </p:txBody>
        </p:sp>
        <p:sp>
          <p:nvSpPr>
            <p:cNvPr id="107526" name="Text Box 6"/>
            <p:cNvSpPr txBox="1">
              <a:spLocks noChangeArrowheads="1"/>
            </p:cNvSpPr>
            <p:nvPr/>
          </p:nvSpPr>
          <p:spPr bwMode="auto">
            <a:xfrm>
              <a:off x="2064" y="3264"/>
              <a:ext cx="1728"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400" u="none">
                  <a:latin typeface="Lucida Sans Unicode" panose="020B0602030504020204" pitchFamily="34" charset="0"/>
                </a:rPr>
                <a:t>指令</a:t>
              </a:r>
            </a:p>
            <a:p>
              <a:pPr algn="just">
                <a:spcBef>
                  <a:spcPct val="50000"/>
                </a:spcBef>
                <a:buClrTx/>
                <a:buFontTx/>
                <a:buNone/>
              </a:pPr>
              <a:r>
                <a:rPr lang="zh-CN" altLang="en-US" sz="2400" u="none">
                  <a:latin typeface="Lucida Sans Unicode" panose="020B0602030504020204" pitchFamily="34" charset="0"/>
                </a:rPr>
                <a:t>伪指令（伪操作）</a:t>
              </a:r>
            </a:p>
            <a:p>
              <a:pPr algn="just">
                <a:spcBef>
                  <a:spcPct val="50000"/>
                </a:spcBef>
                <a:buClrTx/>
                <a:buFontTx/>
                <a:buNone/>
              </a:pPr>
              <a:r>
                <a:rPr lang="zh-CN" altLang="en-US" sz="2400" u="none">
                  <a:solidFill>
                    <a:schemeClr val="hlink"/>
                  </a:solidFill>
                  <a:latin typeface="Lucida Sans Unicode" panose="020B0602030504020204" pitchFamily="34" charset="0"/>
                </a:rPr>
                <a:t>宏指令</a:t>
              </a:r>
            </a:p>
          </p:txBody>
        </p:sp>
        <p:sp>
          <p:nvSpPr>
            <p:cNvPr id="107527" name="AutoShape 7"/>
            <p:cNvSpPr/>
            <p:nvPr/>
          </p:nvSpPr>
          <p:spPr bwMode="auto">
            <a:xfrm>
              <a:off x="1920" y="3360"/>
              <a:ext cx="96" cy="768"/>
            </a:xfrm>
            <a:prstGeom prst="leftBrace">
              <a:avLst>
                <a:gd name="adj1" fmla="val 66667"/>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grpSp>
    </p:spTree>
  </p:cSld>
  <p:clrMapOvr>
    <a:masterClrMapping/>
  </p:clrMapOvr>
  <p:transition>
    <p:random/>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ext Box 2"/>
          <p:cNvSpPr txBox="1">
            <a:spLocks noChangeArrowheads="1"/>
          </p:cNvSpPr>
          <p:nvPr/>
        </p:nvSpPr>
        <p:spPr bwMode="auto">
          <a:xfrm>
            <a:off x="1828800" y="685800"/>
            <a:ext cx="6096000"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800" u="none">
                <a:solidFill>
                  <a:srgbClr val="FF0000"/>
                </a:solidFill>
              </a:rPr>
              <a:t>宏定义：</a:t>
            </a:r>
            <a:endParaRPr lang="zh-CN" altLang="en-US" sz="2800" b="0" u="none">
              <a:solidFill>
                <a:srgbClr val="FF0000"/>
              </a:solidFill>
            </a:endParaRPr>
          </a:p>
          <a:p>
            <a:pPr algn="just">
              <a:spcBef>
                <a:spcPct val="0"/>
              </a:spcBef>
              <a:buClrTx/>
              <a:buFontTx/>
              <a:buNone/>
            </a:pPr>
            <a:r>
              <a:rPr lang="zh-CN" altLang="en-US" sz="2400" b="0" u="none"/>
              <a:t>               </a:t>
            </a:r>
          </a:p>
          <a:p>
            <a:pPr algn="just">
              <a:spcBef>
                <a:spcPct val="0"/>
              </a:spcBef>
              <a:buClrTx/>
              <a:buFontTx/>
              <a:buNone/>
            </a:pPr>
            <a:r>
              <a:rPr lang="zh-CN" altLang="en-US" sz="2400" b="0" u="none"/>
              <a:t>        </a:t>
            </a:r>
            <a:r>
              <a:rPr lang="en-US" altLang="zh-CN" sz="2400" u="none">
                <a:latin typeface="Lucida Sans Unicode" panose="020B0602030504020204" pitchFamily="34" charset="0"/>
              </a:rPr>
              <a:t>macro_name</a:t>
            </a:r>
            <a:r>
              <a:rPr lang="en-US" altLang="zh-CN" sz="2400" u="none"/>
              <a:t>     </a:t>
            </a:r>
            <a:r>
              <a:rPr lang="en-US" altLang="zh-CN" sz="2400" u="none">
                <a:solidFill>
                  <a:schemeClr val="hlink"/>
                </a:solidFill>
              </a:rPr>
              <a:t>MACRO</a:t>
            </a:r>
            <a:r>
              <a:rPr lang="en-US" altLang="zh-CN" sz="2400" u="none"/>
              <a:t>  </a:t>
            </a:r>
            <a:r>
              <a:rPr lang="en-US" altLang="zh-CN" sz="2400" u="none">
                <a:latin typeface="楷体_GB2312" panose="02010609030101010101" pitchFamily="49" charset="-122"/>
                <a:ea typeface="楷体_GB2312" panose="02010609030101010101" pitchFamily="49" charset="-122"/>
              </a:rPr>
              <a:t>[</a:t>
            </a:r>
            <a:r>
              <a:rPr lang="zh-CN" altLang="en-US" sz="2400" u="none">
                <a:latin typeface="楷体_GB2312" panose="02010609030101010101" pitchFamily="49" charset="-122"/>
                <a:ea typeface="楷体_GB2312" panose="02010609030101010101" pitchFamily="49" charset="-122"/>
              </a:rPr>
              <a:t>哑元表</a:t>
            </a:r>
            <a:r>
              <a:rPr lang="en-US" altLang="zh-CN" sz="2400" u="none">
                <a:latin typeface="楷体_GB2312" panose="02010609030101010101" pitchFamily="49" charset="-122"/>
                <a:ea typeface="楷体_GB2312" panose="02010609030101010101" pitchFamily="49" charset="-122"/>
              </a:rPr>
              <a:t>]    </a:t>
            </a:r>
            <a:r>
              <a:rPr lang="en-US" altLang="zh-CN" sz="2400" u="none"/>
              <a:t> </a:t>
            </a:r>
          </a:p>
          <a:p>
            <a:pPr algn="just">
              <a:spcBef>
                <a:spcPct val="0"/>
              </a:spcBef>
              <a:buClrTx/>
              <a:buFontTx/>
              <a:buNone/>
            </a:pPr>
            <a:r>
              <a:rPr lang="en-US" altLang="zh-CN" sz="2400" u="none"/>
              <a:t>                                      [ LOCAL   </a:t>
            </a:r>
            <a:r>
              <a:rPr lang="zh-CN" altLang="en-US" sz="2400" u="none">
                <a:ea typeface="楷体_GB2312" panose="02010609030101010101" pitchFamily="49" charset="-122"/>
              </a:rPr>
              <a:t>标号表 </a:t>
            </a:r>
            <a:r>
              <a:rPr lang="en-US" altLang="zh-CN" sz="2400" u="none"/>
              <a:t>]</a:t>
            </a:r>
          </a:p>
          <a:p>
            <a:pPr lvl="4" algn="just">
              <a:spcBef>
                <a:spcPct val="0"/>
              </a:spcBef>
              <a:buFontTx/>
              <a:buNone/>
            </a:pPr>
            <a:r>
              <a:rPr lang="en-US" altLang="zh-CN" sz="2400" b="1" u="none"/>
              <a:t>              ……     </a:t>
            </a:r>
            <a:r>
              <a:rPr lang="zh-CN" altLang="en-US" sz="2400" b="1" u="none">
                <a:ea typeface="楷体_GB2312" panose="02010609030101010101" pitchFamily="49" charset="-122"/>
              </a:rPr>
              <a:t>（宏定义体）</a:t>
            </a:r>
            <a:r>
              <a:rPr lang="zh-CN" altLang="en-US" sz="2400" b="1" u="none"/>
              <a:t>              </a:t>
            </a:r>
          </a:p>
          <a:p>
            <a:pPr algn="just">
              <a:spcBef>
                <a:spcPct val="0"/>
              </a:spcBef>
              <a:buClrTx/>
              <a:buFontTx/>
              <a:buNone/>
            </a:pPr>
            <a:r>
              <a:rPr lang="zh-CN" altLang="en-US" sz="2400" u="none"/>
              <a:t>                                      </a:t>
            </a:r>
            <a:r>
              <a:rPr lang="en-US" altLang="zh-CN" sz="2400" u="none">
                <a:solidFill>
                  <a:schemeClr val="hlink"/>
                </a:solidFill>
              </a:rPr>
              <a:t>ENDM</a:t>
            </a:r>
          </a:p>
          <a:p>
            <a:pPr algn="just">
              <a:spcBef>
                <a:spcPct val="0"/>
              </a:spcBef>
              <a:buClrTx/>
              <a:buFontTx/>
              <a:buNone/>
            </a:pPr>
            <a:endParaRPr lang="en-US" altLang="zh-CN" sz="2400" u="none"/>
          </a:p>
          <a:p>
            <a:pPr algn="just">
              <a:spcBef>
                <a:spcPct val="0"/>
              </a:spcBef>
              <a:buClrTx/>
              <a:buFontTx/>
              <a:buNone/>
            </a:pPr>
            <a:r>
              <a:rPr lang="zh-CN" altLang="en-US" sz="2800" u="none">
                <a:solidFill>
                  <a:srgbClr val="FF0000"/>
                </a:solidFill>
              </a:rPr>
              <a:t>宏调用：</a:t>
            </a:r>
            <a:r>
              <a:rPr lang="zh-CN" altLang="en-US" sz="2800" u="none">
                <a:solidFill>
                  <a:srgbClr val="FFFF00"/>
                </a:solidFill>
              </a:rPr>
              <a:t> </a:t>
            </a:r>
            <a:r>
              <a:rPr lang="zh-CN" altLang="en-US" sz="2400" u="none">
                <a:latin typeface="楷体_GB2312" panose="02010609030101010101" pitchFamily="49" charset="-122"/>
                <a:ea typeface="楷体_GB2312" panose="02010609030101010101" pitchFamily="49" charset="-122"/>
              </a:rPr>
              <a:t>（必须先定义后调用）</a:t>
            </a:r>
            <a:endParaRPr lang="zh-CN" altLang="en-US" sz="2800" u="none">
              <a:solidFill>
                <a:srgbClr val="FFFF00"/>
              </a:solidFill>
            </a:endParaRPr>
          </a:p>
          <a:p>
            <a:pPr algn="just">
              <a:spcBef>
                <a:spcPct val="0"/>
              </a:spcBef>
              <a:buClrTx/>
              <a:buFontTx/>
              <a:buNone/>
            </a:pPr>
            <a:r>
              <a:rPr lang="zh-CN" altLang="en-US" sz="2400" b="0" u="none"/>
              <a:t>               </a:t>
            </a:r>
          </a:p>
          <a:p>
            <a:pPr algn="just">
              <a:spcBef>
                <a:spcPct val="0"/>
              </a:spcBef>
              <a:buClrTx/>
              <a:buFontTx/>
              <a:buNone/>
            </a:pPr>
            <a:r>
              <a:rPr lang="zh-CN" altLang="en-US" sz="2400" b="0" u="none"/>
              <a:t>        </a:t>
            </a:r>
            <a:r>
              <a:rPr lang="en-US" altLang="zh-CN" sz="2400" u="none">
                <a:latin typeface="Lucida Sans Unicode" panose="020B0602030504020204" pitchFamily="34" charset="0"/>
              </a:rPr>
              <a:t>macro_name</a:t>
            </a:r>
            <a:r>
              <a:rPr lang="en-US" altLang="zh-CN" sz="2400" u="none"/>
              <a:t>    </a:t>
            </a:r>
            <a:r>
              <a:rPr lang="en-US" altLang="zh-CN" sz="2400" u="none">
                <a:latin typeface="楷体_GB2312" panose="02010609030101010101" pitchFamily="49" charset="-122"/>
                <a:ea typeface="楷体_GB2312" panose="02010609030101010101" pitchFamily="49" charset="-122"/>
              </a:rPr>
              <a:t>[</a:t>
            </a:r>
            <a:r>
              <a:rPr lang="zh-CN" altLang="en-US" sz="2400" u="none">
                <a:latin typeface="楷体_GB2312" panose="02010609030101010101" pitchFamily="49" charset="-122"/>
                <a:ea typeface="楷体_GB2312" panose="02010609030101010101" pitchFamily="49" charset="-122"/>
              </a:rPr>
              <a:t>实元表</a:t>
            </a:r>
            <a:r>
              <a:rPr lang="en-US" altLang="zh-CN" sz="2400" u="none">
                <a:latin typeface="楷体_GB2312" panose="02010609030101010101" pitchFamily="49" charset="-122"/>
                <a:ea typeface="楷体_GB2312" panose="02010609030101010101" pitchFamily="49" charset="-122"/>
              </a:rPr>
              <a:t>]  </a:t>
            </a:r>
          </a:p>
          <a:p>
            <a:pPr algn="just">
              <a:spcBef>
                <a:spcPct val="0"/>
              </a:spcBef>
              <a:buClrTx/>
              <a:buFontTx/>
              <a:buNone/>
            </a:pPr>
            <a:endParaRPr lang="en-US" altLang="zh-CN" sz="2400" u="none">
              <a:latin typeface="楷体_GB2312" panose="02010609030101010101" pitchFamily="49" charset="-122"/>
              <a:ea typeface="楷体_GB2312" panose="02010609030101010101" pitchFamily="49" charset="-122"/>
            </a:endParaRPr>
          </a:p>
          <a:p>
            <a:pPr algn="just">
              <a:spcBef>
                <a:spcPct val="0"/>
              </a:spcBef>
              <a:buClrTx/>
              <a:buFontTx/>
              <a:buNone/>
            </a:pPr>
            <a:r>
              <a:rPr lang="zh-CN" altLang="en-US" sz="2800" u="none">
                <a:solidFill>
                  <a:srgbClr val="FF0000"/>
                </a:solidFill>
              </a:rPr>
              <a:t>宏展开：</a:t>
            </a:r>
          </a:p>
          <a:p>
            <a:pPr algn="just">
              <a:spcBef>
                <a:spcPct val="0"/>
              </a:spcBef>
              <a:buClrTx/>
              <a:buFontTx/>
              <a:buNone/>
            </a:pPr>
            <a:endParaRPr lang="zh-CN" altLang="en-US" sz="2800" u="none">
              <a:solidFill>
                <a:srgbClr val="FFFF00"/>
              </a:solidFill>
            </a:endParaRPr>
          </a:p>
          <a:p>
            <a:pPr algn="just">
              <a:spcBef>
                <a:spcPct val="0"/>
              </a:spcBef>
              <a:buClrTx/>
              <a:buFontTx/>
              <a:buNone/>
            </a:pPr>
            <a:r>
              <a:rPr lang="zh-CN" altLang="en-US" sz="2400" u="none">
                <a:latin typeface="楷体_GB2312" panose="02010609030101010101" pitchFamily="49" charset="-122"/>
                <a:ea typeface="楷体_GB2312" panose="02010609030101010101" pitchFamily="49" charset="-122"/>
              </a:rPr>
              <a:t>    </a:t>
            </a:r>
            <a:r>
              <a:rPr lang="zh-CN" altLang="en-US" sz="2600" u="none">
                <a:latin typeface="楷体_GB2312" panose="02010609030101010101" pitchFamily="49" charset="-122"/>
                <a:ea typeface="楷体_GB2312" panose="02010609030101010101" pitchFamily="49" charset="-122"/>
              </a:rPr>
              <a:t>汇编程序把</a:t>
            </a:r>
            <a:r>
              <a:rPr lang="zh-CN" altLang="en-US" sz="2600" u="none">
                <a:solidFill>
                  <a:srgbClr val="FF0000"/>
                </a:solidFill>
                <a:latin typeface="楷体_GB2312" panose="02010609030101010101" pitchFamily="49" charset="-122"/>
                <a:ea typeface="楷体_GB2312" panose="02010609030101010101" pitchFamily="49" charset="-122"/>
              </a:rPr>
              <a:t>宏调用</a:t>
            </a:r>
            <a:r>
              <a:rPr lang="zh-CN" altLang="en-US" sz="2600" u="none">
                <a:latin typeface="楷体_GB2312" panose="02010609030101010101" pitchFamily="49" charset="-122"/>
                <a:ea typeface="楷体_GB2312" panose="02010609030101010101" pitchFamily="49" charset="-122"/>
              </a:rPr>
              <a:t>展开</a:t>
            </a:r>
          </a:p>
        </p:txBody>
      </p:sp>
    </p:spTree>
  </p:cSld>
  <p:clrMapOvr>
    <a:masterClrMapping/>
  </p:clrMapOvr>
  <p:transition>
    <p:random/>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ext Box 2"/>
          <p:cNvSpPr txBox="1">
            <a:spLocks noChangeArrowheads="1"/>
          </p:cNvSpPr>
          <p:nvPr/>
        </p:nvSpPr>
        <p:spPr bwMode="auto">
          <a:xfrm>
            <a:off x="1600200" y="304800"/>
            <a:ext cx="3429000" cy="621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600" u="none"/>
              <a:t>例：求绝对值</a:t>
            </a:r>
            <a:endParaRPr lang="zh-CN" altLang="en-US" sz="2600" b="0" u="none"/>
          </a:p>
          <a:p>
            <a:pPr algn="just">
              <a:spcBef>
                <a:spcPct val="0"/>
              </a:spcBef>
              <a:buClrTx/>
              <a:buFontTx/>
              <a:buNone/>
            </a:pPr>
            <a:endParaRPr lang="zh-CN" altLang="en-US" sz="2400" b="0" u="none"/>
          </a:p>
          <a:p>
            <a:pPr algn="just">
              <a:spcBef>
                <a:spcPct val="0"/>
              </a:spcBef>
              <a:buClrTx/>
              <a:buFontTx/>
              <a:buNone/>
            </a:pPr>
            <a:r>
              <a:rPr lang="zh-CN" altLang="en-US" sz="2400" u="none">
                <a:solidFill>
                  <a:schemeClr val="hlink"/>
                </a:solidFill>
              </a:rPr>
              <a:t>宏定义</a:t>
            </a:r>
            <a:r>
              <a:rPr lang="zh-CN" altLang="en-US" sz="2400" u="none">
                <a:solidFill>
                  <a:srgbClr val="FFFF00"/>
                </a:solidFill>
              </a:rPr>
              <a:t>：</a:t>
            </a:r>
          </a:p>
          <a:p>
            <a:pPr lvl="1" algn="just">
              <a:spcBef>
                <a:spcPct val="0"/>
              </a:spcBef>
              <a:buClrTx/>
              <a:buFontTx/>
              <a:buNone/>
            </a:pPr>
            <a:endParaRPr lang="zh-CN" altLang="en-US" sz="2000" u="none">
              <a:latin typeface="Lucida Sans Unicode" panose="020B0602030504020204" pitchFamily="34" charset="0"/>
            </a:endParaRPr>
          </a:p>
          <a:p>
            <a:pPr algn="just">
              <a:spcBef>
                <a:spcPct val="0"/>
              </a:spcBef>
              <a:buClrTx/>
              <a:buFontTx/>
              <a:buNone/>
            </a:pPr>
            <a:r>
              <a:rPr lang="en-US" altLang="zh-CN" sz="2000" u="none">
                <a:latin typeface="Lucida Sans Unicode" panose="020B0602030504020204" pitchFamily="34" charset="0"/>
              </a:rPr>
              <a:t>absol   </a:t>
            </a:r>
            <a:r>
              <a:rPr lang="en-US" altLang="zh-CN" sz="2000" u="none">
                <a:solidFill>
                  <a:srgbClr val="FF3300"/>
                </a:solidFill>
                <a:latin typeface="Lucida Sans Unicode" panose="020B0602030504020204" pitchFamily="34" charset="0"/>
              </a:rPr>
              <a:t>MACRO</a:t>
            </a:r>
            <a:r>
              <a:rPr lang="en-US" altLang="zh-CN" sz="2000" u="none">
                <a:latin typeface="Lucida Sans Unicode" panose="020B0602030504020204" pitchFamily="34" charset="0"/>
              </a:rPr>
              <a:t>   </a:t>
            </a:r>
            <a:r>
              <a:rPr lang="en-US" altLang="zh-CN" sz="2000" u="none">
                <a:solidFill>
                  <a:schemeClr val="hlink"/>
                </a:solidFill>
                <a:latin typeface="Lucida Sans Unicode" panose="020B0602030504020204" pitchFamily="34" charset="0"/>
              </a:rPr>
              <a:t>oper</a:t>
            </a:r>
          </a:p>
          <a:p>
            <a:pPr algn="just">
              <a:lnSpc>
                <a:spcPct val="120000"/>
              </a:lnSpc>
              <a:spcBef>
                <a:spcPct val="0"/>
              </a:spcBef>
              <a:buClrTx/>
              <a:buFontTx/>
              <a:buNone/>
            </a:pPr>
            <a:r>
              <a:rPr lang="en-US" altLang="zh-CN" sz="2000" u="none">
                <a:latin typeface="Lucida Sans Unicode" panose="020B0602030504020204" pitchFamily="34" charset="0"/>
              </a:rPr>
              <a:t>           </a:t>
            </a:r>
            <a:r>
              <a:rPr lang="en-US" altLang="zh-CN" sz="2000" i="1" u="none">
                <a:latin typeface="Lucida Sans Unicode" panose="020B0602030504020204" pitchFamily="34" charset="0"/>
              </a:rPr>
              <a:t>LOCAL  next</a:t>
            </a:r>
          </a:p>
          <a:p>
            <a:pPr algn="just">
              <a:lnSpc>
                <a:spcPct val="120000"/>
              </a:lnSpc>
              <a:spcBef>
                <a:spcPct val="0"/>
              </a:spcBef>
              <a:buClrTx/>
              <a:buFontTx/>
              <a:buNone/>
            </a:pPr>
            <a:r>
              <a:rPr lang="en-US" altLang="zh-CN" sz="2000" u="none">
                <a:latin typeface="Lucida Sans Unicode" panose="020B0602030504020204" pitchFamily="34" charset="0"/>
              </a:rPr>
              <a:t>           cmp  </a:t>
            </a:r>
            <a:r>
              <a:rPr lang="en-US" altLang="zh-CN" sz="2000" u="none">
                <a:solidFill>
                  <a:schemeClr val="hlink"/>
                </a:solidFill>
                <a:latin typeface="Lucida Sans Unicode" panose="020B0602030504020204" pitchFamily="34" charset="0"/>
              </a:rPr>
              <a:t>oper</a:t>
            </a:r>
            <a:r>
              <a:rPr lang="en-US" altLang="zh-CN" sz="2000" u="none">
                <a:solidFill>
                  <a:schemeClr val="folHlink"/>
                </a:solidFill>
                <a:latin typeface="Lucida Sans Unicode" panose="020B0602030504020204" pitchFamily="34" charset="0"/>
              </a:rPr>
              <a:t> </a:t>
            </a:r>
            <a:r>
              <a:rPr lang="en-US" altLang="zh-CN" sz="2000" u="none">
                <a:latin typeface="Lucida Sans Unicode" panose="020B0602030504020204" pitchFamily="34" charset="0"/>
              </a:rPr>
              <a:t>, 0</a:t>
            </a:r>
          </a:p>
          <a:p>
            <a:pPr algn="just">
              <a:lnSpc>
                <a:spcPct val="120000"/>
              </a:lnSpc>
              <a:spcBef>
                <a:spcPct val="0"/>
              </a:spcBef>
              <a:buClrTx/>
              <a:buFontTx/>
              <a:buNone/>
            </a:pPr>
            <a:r>
              <a:rPr lang="en-US" altLang="zh-CN" sz="2000" u="none">
                <a:latin typeface="Lucida Sans Unicode" panose="020B0602030504020204" pitchFamily="34" charset="0"/>
              </a:rPr>
              <a:t>           jge   next</a:t>
            </a:r>
          </a:p>
          <a:p>
            <a:pPr algn="just">
              <a:lnSpc>
                <a:spcPct val="120000"/>
              </a:lnSpc>
              <a:spcBef>
                <a:spcPct val="0"/>
              </a:spcBef>
              <a:buClrTx/>
              <a:buFontTx/>
              <a:buNone/>
            </a:pPr>
            <a:r>
              <a:rPr lang="en-US" altLang="zh-CN" sz="2000" u="none">
                <a:latin typeface="Lucida Sans Unicode" panose="020B0602030504020204" pitchFamily="34" charset="0"/>
              </a:rPr>
              <a:t>           neg  </a:t>
            </a:r>
            <a:r>
              <a:rPr lang="en-US" altLang="zh-CN" sz="2000" u="none">
                <a:solidFill>
                  <a:schemeClr val="hlink"/>
                </a:solidFill>
                <a:latin typeface="Lucida Sans Unicode" panose="020B0602030504020204" pitchFamily="34" charset="0"/>
              </a:rPr>
              <a:t>oper</a:t>
            </a:r>
          </a:p>
          <a:p>
            <a:pPr algn="just">
              <a:lnSpc>
                <a:spcPct val="120000"/>
              </a:lnSpc>
              <a:spcBef>
                <a:spcPct val="0"/>
              </a:spcBef>
              <a:buClrTx/>
              <a:buFontTx/>
              <a:buNone/>
            </a:pPr>
            <a:r>
              <a:rPr lang="en-US" altLang="zh-CN" sz="2000" u="none">
                <a:latin typeface="Lucida Sans Unicode" panose="020B0602030504020204" pitchFamily="34" charset="0"/>
              </a:rPr>
              <a:t>next:  </a:t>
            </a:r>
          </a:p>
          <a:p>
            <a:pPr algn="just">
              <a:lnSpc>
                <a:spcPct val="120000"/>
              </a:lnSpc>
              <a:spcBef>
                <a:spcPct val="0"/>
              </a:spcBef>
              <a:buClrTx/>
              <a:buFontTx/>
              <a:buNone/>
            </a:pPr>
            <a:r>
              <a:rPr lang="en-US" altLang="zh-CN" sz="2000" u="none">
                <a:latin typeface="Lucida Sans Unicode" panose="020B0602030504020204" pitchFamily="34" charset="0"/>
              </a:rPr>
              <a:t>           </a:t>
            </a:r>
            <a:r>
              <a:rPr lang="en-US" altLang="zh-CN" sz="2000" u="none">
                <a:solidFill>
                  <a:srgbClr val="FF3300"/>
                </a:solidFill>
                <a:latin typeface="Lucida Sans Unicode" panose="020B0602030504020204" pitchFamily="34" charset="0"/>
              </a:rPr>
              <a:t>ENDM</a:t>
            </a:r>
          </a:p>
          <a:p>
            <a:pPr algn="just">
              <a:spcBef>
                <a:spcPct val="0"/>
              </a:spcBef>
              <a:buClrTx/>
              <a:buFontTx/>
              <a:buNone/>
            </a:pPr>
            <a:endParaRPr lang="en-US" altLang="zh-CN" sz="2000" u="none">
              <a:latin typeface="Lucida Sans Unicode" panose="020B0602030504020204" pitchFamily="34" charset="0"/>
            </a:endParaRPr>
          </a:p>
          <a:p>
            <a:pPr algn="just">
              <a:spcBef>
                <a:spcPct val="0"/>
              </a:spcBef>
              <a:buClrTx/>
              <a:buFontTx/>
              <a:buNone/>
            </a:pPr>
            <a:r>
              <a:rPr lang="zh-CN" altLang="en-US" sz="2400" u="none">
                <a:solidFill>
                  <a:schemeClr val="hlink"/>
                </a:solidFill>
              </a:rPr>
              <a:t>宏调用</a:t>
            </a:r>
            <a:r>
              <a:rPr lang="zh-CN" altLang="en-US" sz="2400" u="none">
                <a:solidFill>
                  <a:srgbClr val="FFFF00"/>
                </a:solidFill>
              </a:rPr>
              <a:t>：</a:t>
            </a:r>
          </a:p>
          <a:p>
            <a:pPr lvl="1" algn="just">
              <a:spcBef>
                <a:spcPct val="0"/>
              </a:spcBef>
              <a:buClrTx/>
              <a:buFontTx/>
              <a:buNone/>
            </a:pPr>
            <a:r>
              <a:rPr lang="en-US" altLang="zh-CN" sz="2000" u="none">
                <a:latin typeface="Lucida Sans Unicode" panose="020B0602030504020204" pitchFamily="34" charset="0"/>
              </a:rPr>
              <a:t>……</a:t>
            </a:r>
          </a:p>
          <a:p>
            <a:pPr lvl="1" algn="just">
              <a:spcBef>
                <a:spcPct val="0"/>
              </a:spcBef>
              <a:buClrTx/>
              <a:buFontTx/>
              <a:buNone/>
            </a:pPr>
            <a:r>
              <a:rPr lang="en-US" altLang="zh-CN" sz="2000" u="none">
                <a:latin typeface="Lucida Sans Unicode" panose="020B0602030504020204" pitchFamily="34" charset="0"/>
              </a:rPr>
              <a:t>absol  </a:t>
            </a:r>
            <a:r>
              <a:rPr lang="en-US" altLang="zh-CN" sz="2000" u="none">
                <a:solidFill>
                  <a:schemeClr val="hlink"/>
                </a:solidFill>
                <a:latin typeface="Lucida Sans Unicode" panose="020B0602030504020204" pitchFamily="34" charset="0"/>
              </a:rPr>
              <a:t>var</a:t>
            </a:r>
          </a:p>
          <a:p>
            <a:pPr lvl="1" algn="just">
              <a:spcBef>
                <a:spcPct val="0"/>
              </a:spcBef>
              <a:buClrTx/>
              <a:buFontTx/>
              <a:buNone/>
            </a:pPr>
            <a:r>
              <a:rPr lang="en-US" altLang="zh-CN" sz="2000" u="none">
                <a:latin typeface="Lucida Sans Unicode" panose="020B0602030504020204" pitchFamily="34" charset="0"/>
              </a:rPr>
              <a:t>……</a:t>
            </a:r>
          </a:p>
          <a:p>
            <a:pPr lvl="1" algn="just">
              <a:spcBef>
                <a:spcPct val="0"/>
              </a:spcBef>
              <a:buClrTx/>
              <a:buFontTx/>
              <a:buNone/>
            </a:pPr>
            <a:r>
              <a:rPr lang="en-US" altLang="zh-CN" sz="2000" u="none">
                <a:latin typeface="Lucida Sans Unicode" panose="020B0602030504020204" pitchFamily="34" charset="0"/>
              </a:rPr>
              <a:t>absol  </a:t>
            </a:r>
            <a:r>
              <a:rPr lang="en-US" altLang="zh-CN" sz="2000" u="none">
                <a:solidFill>
                  <a:schemeClr val="hlink"/>
                </a:solidFill>
                <a:latin typeface="Lucida Sans Unicode" panose="020B0602030504020204" pitchFamily="34" charset="0"/>
              </a:rPr>
              <a:t>bx</a:t>
            </a:r>
          </a:p>
          <a:p>
            <a:pPr lvl="1" algn="just">
              <a:spcBef>
                <a:spcPct val="0"/>
              </a:spcBef>
              <a:buClrTx/>
              <a:buFontTx/>
              <a:buNone/>
            </a:pPr>
            <a:r>
              <a:rPr lang="en-US" altLang="zh-CN" sz="2000" u="none">
                <a:latin typeface="Lucida Sans Unicode" panose="020B0602030504020204" pitchFamily="34" charset="0"/>
              </a:rPr>
              <a:t>……</a:t>
            </a:r>
          </a:p>
        </p:txBody>
      </p:sp>
      <p:sp>
        <p:nvSpPr>
          <p:cNvPr id="109571" name="Text Box 3"/>
          <p:cNvSpPr txBox="1">
            <a:spLocks noChangeArrowheads="1"/>
          </p:cNvSpPr>
          <p:nvPr/>
        </p:nvSpPr>
        <p:spPr bwMode="auto">
          <a:xfrm>
            <a:off x="5105400" y="1295400"/>
            <a:ext cx="33528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400" u="none">
                <a:solidFill>
                  <a:schemeClr val="hlink"/>
                </a:solidFill>
              </a:rPr>
              <a:t>宏展开：</a:t>
            </a:r>
            <a:endParaRPr lang="zh-CN" altLang="en-US" sz="2400" b="0" u="none">
              <a:solidFill>
                <a:schemeClr val="hlink"/>
              </a:solidFill>
            </a:endParaRPr>
          </a:p>
          <a:p>
            <a:pPr algn="just">
              <a:spcBef>
                <a:spcPct val="0"/>
              </a:spcBef>
              <a:buClrTx/>
              <a:buFontTx/>
              <a:buNone/>
            </a:pPr>
            <a:r>
              <a:rPr lang="zh-CN" altLang="en-US" sz="2400" b="0" u="none"/>
              <a:t>                 </a:t>
            </a:r>
            <a:r>
              <a:rPr lang="en-US" altLang="zh-CN" sz="2400" u="none"/>
              <a:t>……</a:t>
            </a:r>
          </a:p>
          <a:p>
            <a:pPr algn="just">
              <a:spcBef>
                <a:spcPct val="0"/>
              </a:spcBef>
              <a:buClrTx/>
              <a:buFontTx/>
              <a:buNone/>
            </a:pPr>
            <a:r>
              <a:rPr lang="en-US" altLang="zh-CN" sz="2400" u="none"/>
              <a:t>+               cmp  </a:t>
            </a:r>
            <a:r>
              <a:rPr lang="en-US" altLang="zh-CN" sz="2400" u="none">
                <a:solidFill>
                  <a:schemeClr val="hlink"/>
                </a:solidFill>
              </a:rPr>
              <a:t>var </a:t>
            </a:r>
            <a:r>
              <a:rPr lang="en-US" altLang="zh-CN" sz="2400" u="none"/>
              <a:t>, 0</a:t>
            </a:r>
          </a:p>
          <a:p>
            <a:pPr algn="just">
              <a:spcBef>
                <a:spcPct val="0"/>
              </a:spcBef>
              <a:buClrTx/>
              <a:buFontTx/>
              <a:buNone/>
            </a:pPr>
            <a:r>
              <a:rPr lang="en-US" altLang="zh-CN" sz="2400" u="none"/>
              <a:t>+               jge    ??0000</a:t>
            </a:r>
          </a:p>
          <a:p>
            <a:pPr algn="just">
              <a:spcBef>
                <a:spcPct val="0"/>
              </a:spcBef>
              <a:buClrTx/>
              <a:buFontTx/>
              <a:buNone/>
            </a:pPr>
            <a:r>
              <a:rPr lang="en-US" altLang="zh-CN" sz="2400" u="none"/>
              <a:t>+               </a:t>
            </a:r>
            <a:r>
              <a:rPr lang="en-US" altLang="zh-CN" sz="2400" u="none">
                <a:solidFill>
                  <a:schemeClr val="hlink"/>
                </a:solidFill>
              </a:rPr>
              <a:t>neg   var</a:t>
            </a:r>
          </a:p>
          <a:p>
            <a:pPr algn="just">
              <a:spcBef>
                <a:spcPct val="0"/>
              </a:spcBef>
              <a:buClrTx/>
              <a:buFontTx/>
              <a:buNone/>
            </a:pPr>
            <a:r>
              <a:rPr lang="en-US" altLang="zh-CN" sz="2400" u="none"/>
              <a:t>+  ??0000:  </a:t>
            </a:r>
          </a:p>
          <a:p>
            <a:pPr algn="just">
              <a:spcBef>
                <a:spcPct val="0"/>
              </a:spcBef>
              <a:buClrTx/>
              <a:buFontTx/>
              <a:buNone/>
            </a:pPr>
            <a:endParaRPr lang="en-US" altLang="zh-CN" sz="2400" u="none"/>
          </a:p>
          <a:p>
            <a:pPr algn="just">
              <a:spcBef>
                <a:spcPct val="0"/>
              </a:spcBef>
              <a:buClrTx/>
              <a:buFontTx/>
              <a:buNone/>
            </a:pPr>
            <a:r>
              <a:rPr lang="en-US" altLang="zh-CN" sz="2400" u="none"/>
              <a:t>                  ……</a:t>
            </a:r>
          </a:p>
          <a:p>
            <a:pPr algn="just">
              <a:spcBef>
                <a:spcPct val="0"/>
              </a:spcBef>
              <a:buClrTx/>
              <a:buFontTx/>
              <a:buNone/>
            </a:pPr>
            <a:r>
              <a:rPr lang="en-US" altLang="zh-CN" sz="2400" u="none"/>
              <a:t>+               cmp  </a:t>
            </a:r>
            <a:r>
              <a:rPr lang="en-US" altLang="zh-CN" sz="2400" u="none">
                <a:solidFill>
                  <a:schemeClr val="hlink"/>
                </a:solidFill>
              </a:rPr>
              <a:t>bx</a:t>
            </a:r>
            <a:r>
              <a:rPr lang="en-US" altLang="zh-CN" sz="2400" u="none">
                <a:solidFill>
                  <a:schemeClr val="folHlink"/>
                </a:solidFill>
              </a:rPr>
              <a:t> </a:t>
            </a:r>
            <a:r>
              <a:rPr lang="en-US" altLang="zh-CN" sz="2400" u="none"/>
              <a:t>, 0</a:t>
            </a:r>
          </a:p>
          <a:p>
            <a:pPr algn="just">
              <a:spcBef>
                <a:spcPct val="0"/>
              </a:spcBef>
              <a:buClrTx/>
              <a:buFontTx/>
              <a:buNone/>
            </a:pPr>
            <a:r>
              <a:rPr lang="en-US" altLang="zh-CN" sz="2400" u="none"/>
              <a:t>+               jge    ??0001</a:t>
            </a:r>
          </a:p>
          <a:p>
            <a:pPr algn="just">
              <a:spcBef>
                <a:spcPct val="0"/>
              </a:spcBef>
              <a:buClrTx/>
              <a:buFontTx/>
              <a:buNone/>
            </a:pPr>
            <a:r>
              <a:rPr lang="en-US" altLang="zh-CN" sz="2400" u="none"/>
              <a:t>+               neg   </a:t>
            </a:r>
            <a:r>
              <a:rPr lang="en-US" altLang="zh-CN" sz="2400" u="none">
                <a:solidFill>
                  <a:schemeClr val="hlink"/>
                </a:solidFill>
              </a:rPr>
              <a:t>bx</a:t>
            </a:r>
          </a:p>
          <a:p>
            <a:pPr algn="just">
              <a:spcBef>
                <a:spcPct val="0"/>
              </a:spcBef>
              <a:buClrTx/>
              <a:buFontTx/>
              <a:buNone/>
            </a:pPr>
            <a:r>
              <a:rPr lang="en-US" altLang="zh-CN" sz="2400" u="none"/>
              <a:t>+  ??0001:  </a:t>
            </a:r>
          </a:p>
          <a:p>
            <a:pPr algn="just">
              <a:spcBef>
                <a:spcPct val="0"/>
              </a:spcBef>
              <a:buClrTx/>
              <a:buFontTx/>
              <a:buNone/>
            </a:pPr>
            <a:r>
              <a:rPr lang="en-US" altLang="zh-CN" sz="2400" u="none"/>
              <a:t>                 ……</a:t>
            </a:r>
            <a:endParaRPr lang="en-US" altLang="zh-CN" sz="2400" b="0" u="none">
              <a:solidFill>
                <a:schemeClr val="accent2"/>
              </a:solidFill>
              <a:latin typeface="Lucida Sans Unicode" panose="020B0602030504020204" pitchFamily="34" charset="0"/>
            </a:endParaRPr>
          </a:p>
        </p:txBody>
      </p:sp>
      <p:sp>
        <p:nvSpPr>
          <p:cNvPr id="109572" name="Rectangle 4"/>
          <p:cNvSpPr>
            <a:spLocks noChangeArrowheads="1"/>
          </p:cNvSpPr>
          <p:nvPr/>
        </p:nvSpPr>
        <p:spPr bwMode="auto">
          <a:xfrm>
            <a:off x="4953000" y="2057400"/>
            <a:ext cx="3352800" cy="1524000"/>
          </a:xfrm>
          <a:prstGeom prst="rect">
            <a:avLst/>
          </a:prstGeom>
          <a:noFill/>
          <a:ln w="952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09573" name="Rectangle 5"/>
          <p:cNvSpPr>
            <a:spLocks noChangeArrowheads="1"/>
          </p:cNvSpPr>
          <p:nvPr/>
        </p:nvSpPr>
        <p:spPr bwMode="auto">
          <a:xfrm>
            <a:off x="4953000" y="4267200"/>
            <a:ext cx="3352800" cy="1524000"/>
          </a:xfrm>
          <a:prstGeom prst="rect">
            <a:avLst/>
          </a:prstGeom>
          <a:noFill/>
          <a:ln w="9525">
            <a:solidFill>
              <a:schemeClr val="tx1"/>
            </a:solidFill>
            <a:prstDash val="dash"/>
            <a:miter lim="800000"/>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09574" name="Line 6"/>
          <p:cNvSpPr>
            <a:spLocks noChangeShapeType="1"/>
          </p:cNvSpPr>
          <p:nvPr/>
        </p:nvSpPr>
        <p:spPr bwMode="auto">
          <a:xfrm flipV="1">
            <a:off x="3505200" y="2743200"/>
            <a:ext cx="1600200" cy="26670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
        <p:nvSpPr>
          <p:cNvPr id="109575" name="Line 7"/>
          <p:cNvSpPr>
            <a:spLocks noChangeShapeType="1"/>
          </p:cNvSpPr>
          <p:nvPr/>
        </p:nvSpPr>
        <p:spPr bwMode="auto">
          <a:xfrm flipV="1">
            <a:off x="3429000" y="5029200"/>
            <a:ext cx="1676400" cy="1066800"/>
          </a:xfrm>
          <a:prstGeom prst="line">
            <a:avLst/>
          </a:prstGeom>
          <a:noFill/>
          <a:ln w="12700"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spAutoFit/>
          </a:bodyPr>
          <a:lstStyle/>
          <a:p>
            <a:endParaRPr lang="zh-CN" altLang="en-US"/>
          </a:p>
        </p:txBody>
      </p:sp>
    </p:spTree>
  </p:cSld>
  <p:clrMapOvr>
    <a:masterClrMapping/>
  </p:clrMapOvr>
  <p:transition>
    <p:random/>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ext Box 2"/>
          <p:cNvSpPr txBox="1">
            <a:spLocks noChangeArrowheads="1"/>
          </p:cNvSpPr>
          <p:nvPr/>
        </p:nvSpPr>
        <p:spPr bwMode="auto">
          <a:xfrm>
            <a:off x="1676400" y="685800"/>
            <a:ext cx="7086600" cy="559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50000"/>
              </a:spcBef>
              <a:buClrTx/>
              <a:buFontTx/>
              <a:buNone/>
            </a:pPr>
            <a:r>
              <a:rPr lang="zh-CN" altLang="en-US" sz="2800" u="none"/>
              <a:t>宏汇编操作符：</a:t>
            </a:r>
            <a:r>
              <a:rPr lang="zh-CN" altLang="en-US" sz="2400" u="none"/>
              <a:t>  </a:t>
            </a:r>
            <a:r>
              <a:rPr lang="en-US" altLang="zh-CN" sz="2400" u="none"/>
              <a:t>&amp;     ;;     %</a:t>
            </a:r>
          </a:p>
          <a:p>
            <a:pPr algn="just">
              <a:lnSpc>
                <a:spcPct val="80000"/>
              </a:lnSpc>
              <a:spcBef>
                <a:spcPct val="50000"/>
              </a:spcBef>
              <a:buClrTx/>
              <a:buFontTx/>
              <a:buNone/>
            </a:pPr>
            <a:endParaRPr lang="en-US" altLang="zh-CN" sz="2400" u="none"/>
          </a:p>
          <a:p>
            <a:pPr algn="just">
              <a:lnSpc>
                <a:spcPct val="80000"/>
              </a:lnSpc>
              <a:spcBef>
                <a:spcPct val="50000"/>
              </a:spcBef>
              <a:buClrTx/>
              <a:buFontTx/>
              <a:buNone/>
            </a:pPr>
            <a:r>
              <a:rPr lang="zh-CN" altLang="en-US" sz="2400" u="none">
                <a:solidFill>
                  <a:srgbClr val="009900"/>
                </a:solidFill>
              </a:rPr>
              <a:t>符号</a:t>
            </a:r>
            <a:r>
              <a:rPr lang="en-US" altLang="zh-CN" sz="2400" u="none">
                <a:solidFill>
                  <a:srgbClr val="009900"/>
                </a:solidFill>
              </a:rPr>
              <a:t>1  &amp;  </a:t>
            </a:r>
            <a:r>
              <a:rPr lang="zh-CN" altLang="en-US" sz="2400" u="none">
                <a:solidFill>
                  <a:srgbClr val="009900"/>
                </a:solidFill>
              </a:rPr>
              <a:t>符号</a:t>
            </a:r>
            <a:r>
              <a:rPr lang="en-US" altLang="zh-CN" sz="2400" u="none">
                <a:solidFill>
                  <a:srgbClr val="009900"/>
                </a:solidFill>
              </a:rPr>
              <a:t>2</a:t>
            </a:r>
            <a:r>
              <a:rPr lang="en-US" altLang="zh-CN" sz="2400" u="none"/>
              <a:t>      </a:t>
            </a:r>
          </a:p>
          <a:p>
            <a:pPr algn="just">
              <a:lnSpc>
                <a:spcPct val="80000"/>
              </a:lnSpc>
              <a:spcBef>
                <a:spcPct val="50000"/>
              </a:spcBef>
              <a:buClrTx/>
              <a:buFontTx/>
              <a:buNone/>
            </a:pPr>
            <a:r>
              <a:rPr lang="en-US" altLang="zh-CN" sz="2400" u="none"/>
              <a:t>        </a:t>
            </a:r>
            <a:r>
              <a:rPr lang="zh-CN" altLang="en-US" sz="2400" u="none">
                <a:latin typeface="楷体_GB2312" panose="02010609030101010101" pitchFamily="49" charset="-122"/>
                <a:ea typeface="楷体_GB2312" panose="02010609030101010101" pitchFamily="49" charset="-122"/>
              </a:rPr>
              <a:t>宏展开时</a:t>
            </a:r>
            <a:r>
              <a:rPr lang="en-US" altLang="zh-CN" sz="2400" u="none">
                <a:latin typeface="楷体_GB2312" panose="02010609030101010101" pitchFamily="49" charset="-122"/>
                <a:ea typeface="楷体_GB2312" panose="02010609030101010101" pitchFamily="49" charset="-122"/>
              </a:rPr>
              <a:t>,</a:t>
            </a:r>
            <a:r>
              <a:rPr lang="zh-CN" altLang="en-US" sz="2400" u="none">
                <a:latin typeface="楷体_GB2312" panose="02010609030101010101" pitchFamily="49" charset="-122"/>
                <a:ea typeface="楷体_GB2312" panose="02010609030101010101" pitchFamily="49" charset="-122"/>
              </a:rPr>
              <a:t>合并前后两个符号形成一个符号。</a:t>
            </a:r>
          </a:p>
          <a:p>
            <a:pPr>
              <a:spcBef>
                <a:spcPct val="50000"/>
              </a:spcBef>
              <a:buClrTx/>
              <a:buFontTx/>
              <a:buNone/>
            </a:pPr>
            <a:endParaRPr lang="zh-CN" altLang="en-US" sz="2400" u="none"/>
          </a:p>
          <a:p>
            <a:pPr>
              <a:spcBef>
                <a:spcPct val="50000"/>
              </a:spcBef>
              <a:buClrTx/>
              <a:buFontTx/>
              <a:buNone/>
            </a:pPr>
            <a:r>
              <a:rPr lang="en-US" altLang="zh-CN" sz="2400" u="none">
                <a:solidFill>
                  <a:srgbClr val="009900"/>
                </a:solidFill>
              </a:rPr>
              <a:t>;;  </a:t>
            </a:r>
            <a:r>
              <a:rPr lang="zh-CN" altLang="en-US" sz="2400" u="none">
                <a:solidFill>
                  <a:srgbClr val="009900"/>
                </a:solidFill>
              </a:rPr>
              <a:t>注释</a:t>
            </a:r>
            <a:r>
              <a:rPr lang="zh-CN" altLang="en-US" sz="2400" u="none"/>
              <a:t>              </a:t>
            </a:r>
          </a:p>
          <a:p>
            <a:pPr>
              <a:spcBef>
                <a:spcPct val="50000"/>
              </a:spcBef>
              <a:buClrTx/>
              <a:buFontTx/>
              <a:buNone/>
            </a:pPr>
            <a:r>
              <a:rPr lang="zh-CN" altLang="en-US" sz="2400" u="none"/>
              <a:t>        </a:t>
            </a:r>
            <a:r>
              <a:rPr lang="zh-CN" altLang="en-US" sz="2400" u="none">
                <a:latin typeface="楷体_GB2312" panose="02010609030101010101" pitchFamily="49" charset="-122"/>
                <a:ea typeface="楷体_GB2312" panose="02010609030101010101" pitchFamily="49" charset="-122"/>
              </a:rPr>
              <a:t>宏展开时，</a:t>
            </a:r>
            <a:r>
              <a:rPr lang="en-US" altLang="zh-CN" sz="2400" u="none">
                <a:ea typeface="楷体_GB2312" panose="02010609030101010101" pitchFamily="49" charset="-122"/>
              </a:rPr>
              <a:t>;;</a:t>
            </a:r>
            <a:r>
              <a:rPr lang="zh-CN" altLang="en-US" sz="2400" u="none">
                <a:latin typeface="楷体_GB2312" panose="02010609030101010101" pitchFamily="49" charset="-122"/>
                <a:ea typeface="楷体_GB2312" panose="02010609030101010101" pitchFamily="49" charset="-122"/>
              </a:rPr>
              <a:t>后面的注释不予展开。</a:t>
            </a:r>
          </a:p>
          <a:p>
            <a:pPr>
              <a:spcBef>
                <a:spcPct val="50000"/>
              </a:spcBef>
              <a:buClrTx/>
              <a:buFontTx/>
              <a:buNone/>
            </a:pPr>
            <a:r>
              <a:rPr lang="zh-CN" altLang="en-US" sz="2400" b="0" u="none">
                <a:latin typeface="楷体_GB2312" panose="02010609030101010101" pitchFamily="49" charset="-122"/>
                <a:ea typeface="楷体_GB2312" panose="02010609030101010101" pitchFamily="49" charset="-122"/>
              </a:rPr>
              <a:t>   </a:t>
            </a:r>
            <a:endParaRPr lang="zh-CN" altLang="en-US" sz="2400" u="none"/>
          </a:p>
          <a:p>
            <a:pPr>
              <a:spcBef>
                <a:spcPct val="50000"/>
              </a:spcBef>
              <a:buClrTx/>
              <a:buFontTx/>
              <a:buNone/>
            </a:pPr>
            <a:r>
              <a:rPr lang="zh-CN" altLang="en-US" sz="2400" u="none">
                <a:solidFill>
                  <a:srgbClr val="009900"/>
                </a:solidFill>
              </a:rPr>
              <a:t> </a:t>
            </a:r>
            <a:r>
              <a:rPr lang="en-US" altLang="zh-CN" sz="2400" u="none">
                <a:solidFill>
                  <a:srgbClr val="009900"/>
                </a:solidFill>
              </a:rPr>
              <a:t>% </a:t>
            </a:r>
            <a:r>
              <a:rPr lang="zh-CN" altLang="zh-CN" sz="2400" u="none">
                <a:solidFill>
                  <a:srgbClr val="009900"/>
                </a:solidFill>
              </a:rPr>
              <a:t>表达式</a:t>
            </a:r>
            <a:r>
              <a:rPr lang="zh-CN" altLang="en-US" sz="2400" u="none"/>
              <a:t>      </a:t>
            </a:r>
          </a:p>
          <a:p>
            <a:pPr>
              <a:spcBef>
                <a:spcPct val="50000"/>
              </a:spcBef>
              <a:buClrTx/>
              <a:buFontTx/>
              <a:buNone/>
            </a:pPr>
            <a:r>
              <a:rPr lang="zh-CN" altLang="en-US" sz="2400" u="none"/>
              <a:t>        </a:t>
            </a:r>
            <a:r>
              <a:rPr lang="zh-CN" altLang="en-US" sz="2400" u="none">
                <a:latin typeface="楷体_GB2312" panose="02010609030101010101" pitchFamily="49" charset="-122"/>
                <a:ea typeface="楷体_GB2312" panose="02010609030101010101" pitchFamily="49" charset="-122"/>
              </a:rPr>
              <a:t>汇编程序将</a:t>
            </a:r>
            <a:r>
              <a:rPr lang="en-US" altLang="zh-CN" sz="2400" u="none">
                <a:ea typeface="楷体_GB2312" panose="02010609030101010101" pitchFamily="49" charset="-122"/>
              </a:rPr>
              <a:t>%</a:t>
            </a:r>
            <a:r>
              <a:rPr lang="zh-CN" altLang="en-US" sz="2400" u="none">
                <a:latin typeface="楷体_GB2312" panose="02010609030101010101" pitchFamily="49" charset="-122"/>
                <a:ea typeface="楷体_GB2312" panose="02010609030101010101" pitchFamily="49" charset="-122"/>
              </a:rPr>
              <a:t>后面的表达式转换为数字，并在展开期间用这个数取代哑元。</a:t>
            </a:r>
            <a:endParaRPr lang="zh-CN" altLang="en-US" sz="2400" u="none"/>
          </a:p>
        </p:txBody>
      </p:sp>
    </p:spTree>
  </p:cSld>
  <p:clrMapOvr>
    <a:masterClrMapping/>
  </p:clrMapOvr>
  <p:transition>
    <p:random/>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8" name="Rectangle 4"/>
          <p:cNvSpPr>
            <a:spLocks noGrp="1" noChangeArrowheads="1"/>
          </p:cNvSpPr>
          <p:nvPr>
            <p:ph type="title" idx="4294967295"/>
          </p:nvPr>
        </p:nvSpPr>
        <p:spPr>
          <a:xfrm>
            <a:off x="1116013" y="2997200"/>
            <a:ext cx="7772400" cy="762000"/>
          </a:xfrm>
        </p:spPr>
        <p:txBody>
          <a:bodyPr/>
          <a:lstStyle/>
          <a:p>
            <a:pPr eaLnBrk="1" hangingPunct="1">
              <a:defRPr/>
            </a:pPr>
            <a:r>
              <a:rPr lang="en-US" altLang="zh-CN"/>
              <a:t>DOS </a:t>
            </a:r>
            <a:r>
              <a:rPr lang="zh-CN" altLang="en-US"/>
              <a:t>功能调用</a:t>
            </a:r>
          </a:p>
        </p:txBody>
      </p:sp>
    </p:spTree>
  </p:cSld>
  <p:clrMapOvr>
    <a:masterClrMapping/>
  </p:clrMapOvr>
  <p:transition>
    <p:random/>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Text Box 2"/>
          <p:cNvSpPr txBox="1">
            <a:spLocks noChangeArrowheads="1"/>
          </p:cNvSpPr>
          <p:nvPr/>
        </p:nvSpPr>
        <p:spPr bwMode="auto">
          <a:xfrm>
            <a:off x="1905000" y="609600"/>
            <a:ext cx="6019800" cy="44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marL="457200" indent="-457200">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914400" indent="-45720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90000"/>
              </a:lnSpc>
              <a:spcBef>
                <a:spcPct val="0"/>
              </a:spcBef>
              <a:buClrTx/>
              <a:buFontTx/>
              <a:buNone/>
            </a:pPr>
            <a:r>
              <a:rPr lang="zh-CN" altLang="en-US" sz="2400" u="none"/>
              <a:t>调用 </a:t>
            </a:r>
            <a:r>
              <a:rPr lang="en-US" altLang="zh-CN" sz="2400" u="none"/>
              <a:t>DOS </a:t>
            </a:r>
            <a:r>
              <a:rPr lang="zh-CN" altLang="en-US" sz="2400" u="none"/>
              <a:t>或 </a:t>
            </a:r>
            <a:r>
              <a:rPr lang="en-US" altLang="zh-CN" sz="2400" u="none"/>
              <a:t>BIOS </a:t>
            </a:r>
            <a:r>
              <a:rPr lang="zh-CN" altLang="en-US" sz="2400" u="none"/>
              <a:t>功能的基本步骤：</a:t>
            </a:r>
          </a:p>
          <a:p>
            <a:pPr lvl="1" eaLnBrk="1" hangingPunct="1">
              <a:lnSpc>
                <a:spcPct val="190000"/>
              </a:lnSpc>
              <a:spcBef>
                <a:spcPct val="0"/>
              </a:spcBef>
              <a:buClrTx/>
              <a:buFontTx/>
              <a:buAutoNum type="arabicParenBoth"/>
            </a:pPr>
            <a:r>
              <a:rPr lang="zh-CN" altLang="en-US" sz="2200" u="none">
                <a:ea typeface="楷体_GB2312" panose="02010609030101010101" pitchFamily="49" charset="-122"/>
              </a:rPr>
              <a:t>将调用参数装入指定寄存器</a:t>
            </a:r>
          </a:p>
          <a:p>
            <a:pPr lvl="1" eaLnBrk="1" hangingPunct="1">
              <a:spcBef>
                <a:spcPct val="50000"/>
              </a:spcBef>
              <a:buClrTx/>
              <a:buFontTx/>
              <a:buAutoNum type="arabicParenBoth"/>
            </a:pPr>
            <a:r>
              <a:rPr lang="zh-CN" altLang="en-US" sz="2200" u="none">
                <a:ea typeface="楷体_GB2312" panose="02010609030101010101" pitchFamily="49" charset="-122"/>
              </a:rPr>
              <a:t>如需功能号，将它装入 </a:t>
            </a:r>
            <a:r>
              <a:rPr lang="en-US" altLang="zh-CN" sz="2200" u="none">
                <a:ea typeface="楷体_GB2312" panose="02010609030101010101" pitchFamily="49" charset="-122"/>
              </a:rPr>
              <a:t>AH</a:t>
            </a:r>
          </a:p>
          <a:p>
            <a:pPr lvl="1" eaLnBrk="1" hangingPunct="1">
              <a:spcBef>
                <a:spcPct val="50000"/>
              </a:spcBef>
              <a:buClrTx/>
              <a:buFontTx/>
              <a:buAutoNum type="arabicParenBoth"/>
            </a:pPr>
            <a:r>
              <a:rPr lang="zh-CN" altLang="en-US" sz="2200" u="none">
                <a:ea typeface="楷体_GB2312" panose="02010609030101010101" pitchFamily="49" charset="-122"/>
              </a:rPr>
              <a:t>如需子功能号，将它装入 </a:t>
            </a:r>
            <a:r>
              <a:rPr lang="en-US" altLang="zh-CN" sz="2200" u="none">
                <a:ea typeface="楷体_GB2312" panose="02010609030101010101" pitchFamily="49" charset="-122"/>
              </a:rPr>
              <a:t>AL</a:t>
            </a:r>
          </a:p>
          <a:p>
            <a:pPr lvl="1" eaLnBrk="1" hangingPunct="1">
              <a:spcBef>
                <a:spcPct val="50000"/>
              </a:spcBef>
              <a:buClrTx/>
              <a:buFontTx/>
              <a:buAutoNum type="arabicParenBoth"/>
            </a:pPr>
            <a:r>
              <a:rPr lang="zh-CN" altLang="en-US" sz="2200" u="none">
                <a:ea typeface="楷体_GB2312" panose="02010609030101010101" pitchFamily="49" charset="-122"/>
              </a:rPr>
              <a:t>按</a:t>
            </a:r>
            <a:r>
              <a:rPr lang="zh-CN" altLang="en-US" sz="2200" u="none">
                <a:solidFill>
                  <a:schemeClr val="hlink"/>
                </a:solidFill>
                <a:ea typeface="楷体_GB2312" panose="02010609030101010101" pitchFamily="49" charset="-122"/>
              </a:rPr>
              <a:t>中断类型号</a:t>
            </a:r>
            <a:r>
              <a:rPr lang="zh-CN" altLang="en-US" sz="2200" u="none">
                <a:ea typeface="楷体_GB2312" panose="02010609030101010101" pitchFamily="49" charset="-122"/>
              </a:rPr>
              <a:t>调用 </a:t>
            </a:r>
            <a:r>
              <a:rPr lang="en-US" altLang="zh-CN" sz="2200" u="none">
                <a:ea typeface="楷体_GB2312" panose="02010609030101010101" pitchFamily="49" charset="-122"/>
              </a:rPr>
              <a:t>DOS </a:t>
            </a:r>
            <a:r>
              <a:rPr lang="zh-CN" altLang="en-US" sz="2200" u="none">
                <a:ea typeface="楷体_GB2312" panose="02010609030101010101" pitchFamily="49" charset="-122"/>
              </a:rPr>
              <a:t>或 </a:t>
            </a:r>
            <a:r>
              <a:rPr lang="en-US" altLang="zh-CN" sz="2200" u="none">
                <a:ea typeface="楷体_GB2312" panose="02010609030101010101" pitchFamily="49" charset="-122"/>
              </a:rPr>
              <a:t>BIOS </a:t>
            </a:r>
            <a:r>
              <a:rPr lang="zh-CN" altLang="en-US" sz="2200" u="none">
                <a:ea typeface="楷体_GB2312" panose="02010609030101010101" pitchFamily="49" charset="-122"/>
              </a:rPr>
              <a:t>中断</a:t>
            </a:r>
          </a:p>
          <a:p>
            <a:pPr lvl="1" eaLnBrk="1" hangingPunct="1">
              <a:spcBef>
                <a:spcPct val="50000"/>
              </a:spcBef>
              <a:buClrTx/>
              <a:buFontTx/>
              <a:buAutoNum type="arabicParenBoth"/>
            </a:pPr>
            <a:r>
              <a:rPr lang="zh-CN" altLang="en-US" sz="2200" u="none">
                <a:ea typeface="楷体_GB2312" panose="02010609030101010101" pitchFamily="49" charset="-122"/>
              </a:rPr>
              <a:t>检查返回参数是否正确</a:t>
            </a:r>
          </a:p>
          <a:p>
            <a:pPr eaLnBrk="1" hangingPunct="1">
              <a:spcBef>
                <a:spcPct val="50000"/>
              </a:spcBef>
              <a:buClrTx/>
              <a:buFontTx/>
              <a:buNone/>
            </a:pPr>
            <a:endParaRPr lang="zh-CN" altLang="en-US" sz="2200" u="none">
              <a:ea typeface="楷体_GB2312" panose="02010609030101010101" pitchFamily="49" charset="-122"/>
            </a:endParaRPr>
          </a:p>
          <a:p>
            <a:pPr eaLnBrk="1" hangingPunct="1">
              <a:spcBef>
                <a:spcPct val="50000"/>
              </a:spcBef>
              <a:buClrTx/>
              <a:buFontTx/>
              <a:buNone/>
            </a:pPr>
            <a:r>
              <a:rPr lang="en-US" altLang="zh-CN" sz="2200" u="none">
                <a:ea typeface="楷体_GB2312" panose="02010609030101010101" pitchFamily="49" charset="-122"/>
              </a:rPr>
              <a:t>DOS </a:t>
            </a:r>
            <a:r>
              <a:rPr lang="zh-CN" altLang="en-US" sz="2200" u="none">
                <a:ea typeface="楷体_GB2312" panose="02010609030101010101" pitchFamily="49" charset="-122"/>
              </a:rPr>
              <a:t>功能与 </a:t>
            </a:r>
            <a:r>
              <a:rPr lang="en-US" altLang="zh-CN" sz="2200" u="none">
                <a:ea typeface="楷体_GB2312" panose="02010609030101010101" pitchFamily="49" charset="-122"/>
              </a:rPr>
              <a:t>BIOS </a:t>
            </a:r>
            <a:r>
              <a:rPr lang="zh-CN" altLang="en-US" sz="2200" u="none">
                <a:ea typeface="楷体_GB2312" panose="02010609030101010101" pitchFamily="49" charset="-122"/>
              </a:rPr>
              <a:t>功能都通过 </a:t>
            </a:r>
            <a:r>
              <a:rPr lang="zh-CN" altLang="en-US" sz="2200" u="none">
                <a:solidFill>
                  <a:srgbClr val="FF0000"/>
                </a:solidFill>
                <a:ea typeface="楷体_GB2312" panose="02010609030101010101" pitchFamily="49" charset="-122"/>
              </a:rPr>
              <a:t>软件中断</a:t>
            </a:r>
            <a:r>
              <a:rPr lang="zh-CN" altLang="en-US" sz="2200" u="none">
                <a:solidFill>
                  <a:srgbClr val="FFFF00"/>
                </a:solidFill>
                <a:ea typeface="楷体_GB2312" panose="02010609030101010101" pitchFamily="49" charset="-122"/>
              </a:rPr>
              <a:t> </a:t>
            </a:r>
            <a:r>
              <a:rPr lang="zh-CN" altLang="en-US" sz="2200" u="none">
                <a:ea typeface="楷体_GB2312" panose="02010609030101010101" pitchFamily="49" charset="-122"/>
              </a:rPr>
              <a:t>调用。</a:t>
            </a:r>
          </a:p>
        </p:txBody>
      </p:sp>
    </p:spTree>
  </p:cSld>
  <p:clrMapOvr>
    <a:masterClrMapping/>
  </p:clrMapOvr>
  <p:transition>
    <p:random/>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ChangeArrowheads="1"/>
          </p:cNvSpPr>
          <p:nvPr/>
        </p:nvSpPr>
        <p:spPr bwMode="auto">
          <a:xfrm>
            <a:off x="1828800" y="533400"/>
            <a:ext cx="4038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r>
              <a:rPr lang="en-US" altLang="zh-CN" sz="3600" u="none">
                <a:solidFill>
                  <a:schemeClr val="tx2"/>
                </a:solidFill>
                <a:latin typeface="Arial" panose="020B0604020202020204" pitchFamily="34" charset="0"/>
              </a:rPr>
              <a:t>1.  DOS </a:t>
            </a:r>
            <a:r>
              <a:rPr lang="zh-CN" altLang="en-US" sz="3600" u="none">
                <a:solidFill>
                  <a:schemeClr val="tx2"/>
                </a:solidFill>
                <a:latin typeface="Arial" panose="020B0604020202020204" pitchFamily="34" charset="0"/>
              </a:rPr>
              <a:t>中断调用</a:t>
            </a:r>
          </a:p>
        </p:txBody>
      </p:sp>
      <p:sp>
        <p:nvSpPr>
          <p:cNvPr id="118787" name="Text Box 3"/>
          <p:cNvSpPr txBox="1">
            <a:spLocks noChangeArrowheads="1"/>
          </p:cNvSpPr>
          <p:nvPr/>
        </p:nvSpPr>
        <p:spPr bwMode="auto">
          <a:xfrm>
            <a:off x="2057400" y="1447800"/>
            <a:ext cx="6400800"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en-US" altLang="zh-CN" sz="2600" u="none"/>
              <a:t>DOS </a:t>
            </a:r>
            <a:r>
              <a:rPr lang="zh-CN" altLang="en-US" sz="2600" u="none"/>
              <a:t>功能调用（ </a:t>
            </a:r>
            <a:r>
              <a:rPr lang="en-US" altLang="zh-CN" sz="2600" u="none">
                <a:solidFill>
                  <a:schemeClr val="hlink"/>
                </a:solidFill>
                <a:latin typeface="Lucida Sans Unicode" panose="020B0602030504020204" pitchFamily="34" charset="0"/>
              </a:rPr>
              <a:t>INT  21H</a:t>
            </a:r>
            <a:r>
              <a:rPr lang="en-US" altLang="zh-CN" sz="2600" u="none">
                <a:latin typeface="Lucida Sans Unicode" panose="020B0602030504020204" pitchFamily="34" charset="0"/>
              </a:rPr>
              <a:t> </a:t>
            </a:r>
            <a:r>
              <a:rPr lang="zh-CN" altLang="en-US" sz="2600" u="none">
                <a:latin typeface="Lucida Sans Unicode" panose="020B0602030504020204" pitchFamily="34" charset="0"/>
              </a:rPr>
              <a:t>）</a:t>
            </a:r>
          </a:p>
          <a:p>
            <a:pPr algn="just">
              <a:lnSpc>
                <a:spcPct val="125000"/>
              </a:lnSpc>
              <a:spcBef>
                <a:spcPct val="0"/>
              </a:spcBef>
              <a:buClrTx/>
              <a:buFontTx/>
              <a:buNone/>
            </a:pPr>
            <a:endParaRPr lang="zh-CN" altLang="en-US" sz="2600" b="0" u="none"/>
          </a:p>
          <a:p>
            <a:pPr algn="just">
              <a:lnSpc>
                <a:spcPct val="160000"/>
              </a:lnSpc>
              <a:spcBef>
                <a:spcPct val="0"/>
              </a:spcBef>
              <a:buClrTx/>
              <a:buFontTx/>
              <a:buNone/>
            </a:pPr>
            <a:r>
              <a:rPr lang="zh-CN" altLang="en-US" sz="2400" u="none">
                <a:ea typeface="楷体_GB2312" panose="02010609030101010101" pitchFamily="49" charset="-122"/>
              </a:rPr>
              <a:t>用户在程序中调用 </a:t>
            </a:r>
            <a:r>
              <a:rPr lang="en-US" altLang="zh-CN" sz="2400" u="none">
                <a:ea typeface="楷体_GB2312" panose="02010609030101010101" pitchFamily="49" charset="-122"/>
              </a:rPr>
              <a:t>DOS </a:t>
            </a:r>
            <a:r>
              <a:rPr lang="zh-CN" altLang="en-US" sz="2400" u="none">
                <a:ea typeface="楷体_GB2312" panose="02010609030101010101" pitchFamily="49" charset="-122"/>
              </a:rPr>
              <a:t>提供的一些子功能：</a:t>
            </a:r>
          </a:p>
          <a:p>
            <a:pPr lvl="1" algn="just">
              <a:lnSpc>
                <a:spcPct val="160000"/>
              </a:lnSpc>
              <a:spcBef>
                <a:spcPct val="0"/>
              </a:spcBef>
              <a:buClrTx/>
              <a:buFontTx/>
              <a:buNone/>
            </a:pPr>
            <a:r>
              <a:rPr lang="en-US" altLang="zh-CN" sz="2400" u="none">
                <a:ea typeface="楷体_GB2312" panose="02010609030101010101" pitchFamily="49" charset="-122"/>
              </a:rPr>
              <a:t>(1)  </a:t>
            </a:r>
            <a:r>
              <a:rPr lang="zh-CN" altLang="en-US" sz="2400" u="none">
                <a:ea typeface="楷体_GB2312" panose="02010609030101010101" pitchFamily="49" charset="-122"/>
              </a:rPr>
              <a:t>一般设备的输入输出</a:t>
            </a:r>
          </a:p>
          <a:p>
            <a:pPr lvl="1" algn="just">
              <a:lnSpc>
                <a:spcPct val="160000"/>
              </a:lnSpc>
              <a:spcBef>
                <a:spcPct val="0"/>
              </a:spcBef>
              <a:buClrTx/>
              <a:buFontTx/>
              <a:buNone/>
            </a:pPr>
            <a:r>
              <a:rPr lang="en-US" altLang="zh-CN" sz="2400" u="none">
                <a:ea typeface="楷体_GB2312" panose="02010609030101010101" pitchFamily="49" charset="-122"/>
              </a:rPr>
              <a:t>(2)  </a:t>
            </a:r>
            <a:r>
              <a:rPr lang="zh-CN" altLang="en-US" sz="2400" u="none">
                <a:ea typeface="楷体_GB2312" panose="02010609030101010101" pitchFamily="49" charset="-122"/>
              </a:rPr>
              <a:t>磁盘的输入输出及磁盘文件的管理</a:t>
            </a:r>
          </a:p>
          <a:p>
            <a:pPr lvl="1" algn="just">
              <a:lnSpc>
                <a:spcPct val="160000"/>
              </a:lnSpc>
              <a:spcBef>
                <a:spcPct val="0"/>
              </a:spcBef>
              <a:buClrTx/>
              <a:buFontTx/>
              <a:buNone/>
            </a:pPr>
            <a:r>
              <a:rPr lang="en-US" altLang="zh-CN" sz="2400" u="none">
                <a:ea typeface="楷体_GB2312" panose="02010609030101010101" pitchFamily="49" charset="-122"/>
              </a:rPr>
              <a:t>(3)  </a:t>
            </a:r>
            <a:r>
              <a:rPr lang="zh-CN" altLang="en-US" sz="2400" u="none">
                <a:ea typeface="楷体_GB2312" panose="02010609030101010101" pitchFamily="49" charset="-122"/>
              </a:rPr>
              <a:t>其它</a:t>
            </a:r>
          </a:p>
        </p:txBody>
      </p:sp>
    </p:spTree>
  </p:cSld>
  <p:clrMapOvr>
    <a:masterClrMapping/>
  </p:clrMapOvr>
  <p:transition>
    <p:random/>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1676400" y="533400"/>
            <a:ext cx="7010400" cy="93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en-US" altLang="zh-CN" sz="2400" u="none">
                <a:solidFill>
                  <a:srgbClr val="FF0000"/>
                </a:solidFill>
              </a:rPr>
              <a:t>DOS </a:t>
            </a:r>
            <a:r>
              <a:rPr lang="zh-CN" altLang="en-US" sz="2400" u="none">
                <a:solidFill>
                  <a:srgbClr val="FF0000"/>
                </a:solidFill>
              </a:rPr>
              <a:t>键盘功能调用</a:t>
            </a:r>
            <a:r>
              <a:rPr lang="zh-CN" altLang="en-US" sz="2400" u="none"/>
              <a:t> </a:t>
            </a:r>
            <a:r>
              <a:rPr lang="en-US" altLang="zh-CN" sz="2000" u="none"/>
              <a:t>( AH = 1, 6, 7, 8, A, B, C )</a:t>
            </a:r>
            <a:r>
              <a:rPr lang="en-US" altLang="zh-CN" sz="2400" u="none"/>
              <a:t>  </a:t>
            </a:r>
          </a:p>
          <a:p>
            <a:pPr algn="just">
              <a:lnSpc>
                <a:spcPct val="125000"/>
              </a:lnSpc>
              <a:spcBef>
                <a:spcPct val="0"/>
              </a:spcBef>
              <a:buClrTx/>
              <a:buFontTx/>
              <a:buNone/>
            </a:pPr>
            <a:r>
              <a:rPr lang="zh-CN" altLang="en-US" sz="2000" u="none">
                <a:latin typeface="楷体_GB2312" panose="02010609030101010101" pitchFamily="49" charset="-122"/>
                <a:ea typeface="楷体_GB2312" panose="02010609030101010101" pitchFamily="49" charset="-122"/>
              </a:rPr>
              <a:t>（单字符输入</a:t>
            </a:r>
            <a:r>
              <a:rPr lang="en-US" altLang="zh-CN" sz="2000" u="none">
                <a:latin typeface="楷体_GB2312" panose="02010609030101010101" pitchFamily="49" charset="-122"/>
                <a:ea typeface="楷体_GB2312" panose="02010609030101010101" pitchFamily="49" charset="-122"/>
              </a:rPr>
              <a:t>/</a:t>
            </a:r>
            <a:r>
              <a:rPr lang="zh-CN" altLang="en-US" sz="2000" u="none">
                <a:latin typeface="楷体_GB2312" panose="02010609030101010101" pitchFamily="49" charset="-122"/>
                <a:ea typeface="楷体_GB2312" panose="02010609030101010101" pitchFamily="49" charset="-122"/>
              </a:rPr>
              <a:t>输入字符串</a:t>
            </a:r>
            <a:r>
              <a:rPr lang="en-US" altLang="zh-CN" sz="2000" u="none">
                <a:latin typeface="楷体_GB2312" panose="02010609030101010101" pitchFamily="49" charset="-122"/>
                <a:ea typeface="楷体_GB2312" panose="02010609030101010101" pitchFamily="49" charset="-122"/>
              </a:rPr>
              <a:t>/</a:t>
            </a:r>
            <a:r>
              <a:rPr lang="zh-CN" altLang="en-US" sz="2000" u="none">
                <a:latin typeface="楷体_GB2312" panose="02010609030101010101" pitchFamily="49" charset="-122"/>
                <a:ea typeface="楷体_GB2312" panose="02010609030101010101" pitchFamily="49" charset="-122"/>
              </a:rPr>
              <a:t>清除键盘缓冲区</a:t>
            </a:r>
            <a:r>
              <a:rPr lang="en-US" altLang="zh-CN" sz="2000" u="none">
                <a:latin typeface="楷体_GB2312" panose="02010609030101010101" pitchFamily="49" charset="-122"/>
                <a:ea typeface="楷体_GB2312" panose="02010609030101010101" pitchFamily="49" charset="-122"/>
              </a:rPr>
              <a:t>/</a:t>
            </a:r>
            <a:r>
              <a:rPr lang="zh-CN" altLang="en-US" sz="2000" u="none">
                <a:latin typeface="楷体_GB2312" panose="02010609030101010101" pitchFamily="49" charset="-122"/>
                <a:ea typeface="楷体_GB2312" panose="02010609030101010101" pitchFamily="49" charset="-122"/>
              </a:rPr>
              <a:t>检验键盘状态）</a:t>
            </a:r>
            <a:endParaRPr lang="zh-CN" altLang="en-US" sz="2000" u="none">
              <a:latin typeface="Lucida Sans Unicode" panose="020B0602030504020204" pitchFamily="34" charset="0"/>
            </a:endParaRPr>
          </a:p>
        </p:txBody>
      </p:sp>
      <p:sp>
        <p:nvSpPr>
          <p:cNvPr id="119811" name="Text Box 3"/>
          <p:cNvSpPr txBox="1">
            <a:spLocks noChangeArrowheads="1"/>
          </p:cNvSpPr>
          <p:nvPr/>
        </p:nvSpPr>
        <p:spPr bwMode="auto">
          <a:xfrm>
            <a:off x="1676400" y="1998663"/>
            <a:ext cx="3048000" cy="375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spcBef>
                <a:spcPct val="0"/>
              </a:spcBef>
              <a:buClrTx/>
              <a:buFontTx/>
              <a:buNone/>
            </a:pPr>
            <a:r>
              <a:rPr lang="zh-CN" altLang="en-US" sz="2000" u="none"/>
              <a:t>例：单字符输入 </a:t>
            </a:r>
            <a:r>
              <a:rPr lang="en-US" altLang="zh-CN" sz="2000" u="none"/>
              <a:t>( AH=1 )</a:t>
            </a:r>
          </a:p>
          <a:p>
            <a:pPr lvl="2" algn="just">
              <a:spcBef>
                <a:spcPct val="0"/>
              </a:spcBef>
              <a:buFontTx/>
              <a:buNone/>
            </a:pPr>
            <a:endParaRPr lang="en-US" altLang="zh-CN" sz="2000" u="none">
              <a:latin typeface="Lucida Sans Unicode" panose="020B0602030504020204" pitchFamily="34" charset="0"/>
            </a:endParaRPr>
          </a:p>
          <a:p>
            <a:pPr algn="just">
              <a:spcBef>
                <a:spcPct val="0"/>
              </a:spcBef>
              <a:buClrTx/>
              <a:buFontTx/>
              <a:buNone/>
            </a:pPr>
            <a:r>
              <a:rPr lang="en-US" altLang="zh-CN" sz="2000" u="none">
                <a:latin typeface="Lucida Sans Unicode" panose="020B0602030504020204" pitchFamily="34" charset="0"/>
              </a:rPr>
              <a:t> </a:t>
            </a:r>
            <a:r>
              <a:rPr lang="en-US" altLang="zh-CN" sz="1800" u="none">
                <a:latin typeface="Lucida Sans Unicode" panose="020B0602030504020204" pitchFamily="34" charset="0"/>
              </a:rPr>
              <a:t>get_key:  </a:t>
            </a:r>
            <a:r>
              <a:rPr lang="en-US" altLang="zh-CN" sz="1800" u="none">
                <a:solidFill>
                  <a:schemeClr val="hlink"/>
                </a:solidFill>
                <a:latin typeface="Lucida Sans Unicode" panose="020B0602030504020204" pitchFamily="34" charset="0"/>
              </a:rPr>
              <a:t>mov   ah, 1</a:t>
            </a:r>
          </a:p>
          <a:p>
            <a:pPr algn="just">
              <a:spcBef>
                <a:spcPct val="0"/>
              </a:spcBef>
              <a:buClrTx/>
              <a:buFontTx/>
              <a:buNone/>
            </a:pPr>
            <a:r>
              <a:rPr lang="en-US" altLang="zh-CN" sz="1800" u="none">
                <a:solidFill>
                  <a:schemeClr val="hlink"/>
                </a:solidFill>
                <a:latin typeface="Lucida Sans Unicode" panose="020B0602030504020204" pitchFamily="34" charset="0"/>
              </a:rPr>
              <a:t>                int     21h</a:t>
            </a:r>
          </a:p>
          <a:p>
            <a:pPr algn="just">
              <a:spcBef>
                <a:spcPct val="0"/>
              </a:spcBef>
              <a:buClrTx/>
              <a:buFontTx/>
              <a:buNone/>
            </a:pPr>
            <a:r>
              <a:rPr lang="en-US" altLang="zh-CN" sz="1800" u="none">
                <a:latin typeface="Lucida Sans Unicode" panose="020B0602030504020204" pitchFamily="34" charset="0"/>
              </a:rPr>
              <a:t>                cmp   al, ‘Y’</a:t>
            </a:r>
          </a:p>
          <a:p>
            <a:pPr algn="just">
              <a:spcBef>
                <a:spcPct val="0"/>
              </a:spcBef>
              <a:buClrTx/>
              <a:buFontTx/>
              <a:buNone/>
            </a:pPr>
            <a:r>
              <a:rPr lang="en-US" altLang="zh-CN" sz="1800" u="none">
                <a:latin typeface="Lucida Sans Unicode" panose="020B0602030504020204" pitchFamily="34" charset="0"/>
              </a:rPr>
              <a:t>                je       yes</a:t>
            </a:r>
          </a:p>
          <a:p>
            <a:pPr algn="just">
              <a:spcBef>
                <a:spcPct val="0"/>
              </a:spcBef>
              <a:buClrTx/>
              <a:buFontTx/>
              <a:buNone/>
            </a:pPr>
            <a:r>
              <a:rPr lang="en-US" altLang="zh-CN" sz="1800" u="none">
                <a:latin typeface="Lucida Sans Unicode" panose="020B0602030504020204" pitchFamily="34" charset="0"/>
              </a:rPr>
              <a:t>                cmp   al, ‘N’</a:t>
            </a:r>
          </a:p>
          <a:p>
            <a:pPr algn="just">
              <a:spcBef>
                <a:spcPct val="0"/>
              </a:spcBef>
              <a:buClrTx/>
              <a:buFontTx/>
              <a:buNone/>
            </a:pPr>
            <a:r>
              <a:rPr lang="en-US" altLang="zh-CN" sz="1800" u="none">
                <a:latin typeface="Lucida Sans Unicode" panose="020B0602030504020204" pitchFamily="34" charset="0"/>
              </a:rPr>
              <a:t>                je       no</a:t>
            </a:r>
          </a:p>
          <a:p>
            <a:pPr algn="just">
              <a:spcBef>
                <a:spcPct val="0"/>
              </a:spcBef>
              <a:buClrTx/>
              <a:buFontTx/>
              <a:buNone/>
            </a:pPr>
            <a:r>
              <a:rPr lang="en-US" altLang="zh-CN" sz="1800" u="none">
                <a:latin typeface="Lucida Sans Unicode" panose="020B0602030504020204" pitchFamily="34" charset="0"/>
              </a:rPr>
              <a:t>                jne     get_key</a:t>
            </a:r>
          </a:p>
          <a:p>
            <a:pPr algn="just">
              <a:spcBef>
                <a:spcPct val="0"/>
              </a:spcBef>
              <a:buClrTx/>
              <a:buFontTx/>
              <a:buNone/>
            </a:pPr>
            <a:r>
              <a:rPr lang="en-US" altLang="zh-CN" sz="1800" u="none">
                <a:latin typeface="Lucida Sans Unicode" panose="020B0602030504020204" pitchFamily="34" charset="0"/>
              </a:rPr>
              <a:t> yes:</a:t>
            </a:r>
          </a:p>
          <a:p>
            <a:pPr algn="just">
              <a:spcBef>
                <a:spcPct val="0"/>
              </a:spcBef>
              <a:buClrTx/>
              <a:buFontTx/>
              <a:buNone/>
            </a:pPr>
            <a:r>
              <a:rPr lang="en-US" altLang="zh-CN" sz="1800" u="none">
                <a:latin typeface="Lucida Sans Unicode" panose="020B0602030504020204" pitchFamily="34" charset="0"/>
              </a:rPr>
              <a:t>                ……</a:t>
            </a:r>
          </a:p>
          <a:p>
            <a:pPr algn="just">
              <a:spcBef>
                <a:spcPct val="0"/>
              </a:spcBef>
              <a:buClrTx/>
              <a:buFontTx/>
              <a:buNone/>
            </a:pPr>
            <a:r>
              <a:rPr lang="en-US" altLang="zh-CN" sz="1800" u="none">
                <a:latin typeface="Lucida Sans Unicode" panose="020B0602030504020204" pitchFamily="34" charset="0"/>
              </a:rPr>
              <a:t> no:  </a:t>
            </a:r>
          </a:p>
          <a:p>
            <a:pPr algn="just">
              <a:spcBef>
                <a:spcPct val="0"/>
              </a:spcBef>
              <a:buClrTx/>
              <a:buFontTx/>
              <a:buNone/>
            </a:pPr>
            <a:r>
              <a:rPr lang="en-US" altLang="zh-CN" sz="1800" u="none">
                <a:latin typeface="Lucida Sans Unicode" panose="020B0602030504020204" pitchFamily="34" charset="0"/>
              </a:rPr>
              <a:t>                ……</a:t>
            </a:r>
            <a:endParaRPr lang="en-US" altLang="zh-CN" sz="1800" b="0" u="none"/>
          </a:p>
        </p:txBody>
      </p:sp>
      <p:sp>
        <p:nvSpPr>
          <p:cNvPr id="119812" name="Text Box 4"/>
          <p:cNvSpPr txBox="1">
            <a:spLocks noChangeArrowheads="1"/>
          </p:cNvSpPr>
          <p:nvPr/>
        </p:nvSpPr>
        <p:spPr bwMode="auto">
          <a:xfrm>
            <a:off x="5029200" y="1998663"/>
            <a:ext cx="3765550"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ClrTx/>
              <a:buFontTx/>
              <a:buNone/>
            </a:pPr>
            <a:r>
              <a:rPr lang="zh-CN" altLang="en-US" sz="2000" u="none"/>
              <a:t>例：输入字符串 </a:t>
            </a:r>
            <a:r>
              <a:rPr lang="en-US" altLang="zh-CN" sz="2000" u="none"/>
              <a:t>( AH=0ah )</a:t>
            </a:r>
          </a:p>
          <a:p>
            <a:pPr>
              <a:spcBef>
                <a:spcPct val="0"/>
              </a:spcBef>
              <a:buClrTx/>
              <a:buFontTx/>
              <a:buNone/>
            </a:pPr>
            <a:r>
              <a:rPr lang="en-US" altLang="zh-CN" sz="2000" u="none"/>
              <a:t> </a:t>
            </a:r>
          </a:p>
          <a:p>
            <a:pPr>
              <a:spcBef>
                <a:spcPct val="0"/>
              </a:spcBef>
              <a:buClrTx/>
              <a:buFontTx/>
              <a:buNone/>
            </a:pPr>
            <a:r>
              <a:rPr lang="zh-CN" altLang="en-US" sz="2000" u="none"/>
              <a:t>定义缓冲区：</a:t>
            </a:r>
          </a:p>
          <a:p>
            <a:pPr>
              <a:spcBef>
                <a:spcPct val="0"/>
              </a:spcBef>
              <a:buClrTx/>
              <a:buFontTx/>
              <a:buNone/>
            </a:pPr>
            <a:endParaRPr lang="zh-CN" altLang="en-US" sz="2000" u="none">
              <a:latin typeface="Lucida Sans Unicode" panose="020B0602030504020204" pitchFamily="34" charset="0"/>
            </a:endParaRPr>
          </a:p>
          <a:p>
            <a:pPr>
              <a:spcBef>
                <a:spcPct val="0"/>
              </a:spcBef>
              <a:buClrTx/>
              <a:buFontTx/>
              <a:buNone/>
            </a:pPr>
            <a:r>
              <a:rPr lang="en-US" altLang="zh-CN" sz="1800" u="none">
                <a:latin typeface="Lucida Sans Unicode" panose="020B0602030504020204" pitchFamily="34" charset="0"/>
              </a:rPr>
              <a:t>maxlen  db  32</a:t>
            </a:r>
          </a:p>
          <a:p>
            <a:pPr>
              <a:spcBef>
                <a:spcPct val="0"/>
              </a:spcBef>
              <a:buClrTx/>
              <a:buFontTx/>
              <a:buNone/>
            </a:pPr>
            <a:r>
              <a:rPr lang="en-US" altLang="zh-CN" sz="1800" u="none">
                <a:latin typeface="Lucida Sans Unicode" panose="020B0602030504020204" pitchFamily="34" charset="0"/>
              </a:rPr>
              <a:t>actlen    db   ?</a:t>
            </a:r>
          </a:p>
          <a:p>
            <a:pPr>
              <a:spcBef>
                <a:spcPct val="0"/>
              </a:spcBef>
              <a:buClrTx/>
              <a:buFontTx/>
              <a:buNone/>
            </a:pPr>
            <a:r>
              <a:rPr lang="en-US" altLang="zh-CN" sz="1800" u="none">
                <a:latin typeface="Lucida Sans Unicode" panose="020B0602030504020204" pitchFamily="34" charset="0"/>
              </a:rPr>
              <a:t>string    db  32  dup  ( ? )</a:t>
            </a:r>
          </a:p>
          <a:p>
            <a:pPr lvl="2">
              <a:spcBef>
                <a:spcPct val="0"/>
              </a:spcBef>
              <a:buFontTx/>
              <a:buNone/>
            </a:pPr>
            <a:endParaRPr lang="en-US" altLang="zh-CN" sz="1800" u="none">
              <a:latin typeface="Lucida Sans Unicode" panose="020B0602030504020204" pitchFamily="34" charset="0"/>
            </a:endParaRPr>
          </a:p>
          <a:p>
            <a:pPr>
              <a:spcBef>
                <a:spcPct val="0"/>
              </a:spcBef>
              <a:buClrTx/>
              <a:buFontTx/>
              <a:buNone/>
            </a:pPr>
            <a:r>
              <a:rPr lang="en-US" altLang="zh-CN" sz="1800" u="none">
                <a:latin typeface="Lucida Sans Unicode" panose="020B0602030504020204" pitchFamily="34" charset="0"/>
              </a:rPr>
              <a:t>maxlen  db  32, 0, 32 dup ( ? )</a:t>
            </a:r>
          </a:p>
          <a:p>
            <a:pPr>
              <a:spcBef>
                <a:spcPct val="0"/>
              </a:spcBef>
              <a:buClrTx/>
              <a:buFontTx/>
              <a:buNone/>
            </a:pPr>
            <a:endParaRPr lang="en-US" altLang="zh-CN" sz="1800" u="none">
              <a:latin typeface="Lucida Sans Unicode" panose="020B0602030504020204" pitchFamily="34" charset="0"/>
            </a:endParaRPr>
          </a:p>
          <a:p>
            <a:pPr>
              <a:spcBef>
                <a:spcPct val="0"/>
              </a:spcBef>
              <a:buClrTx/>
              <a:buFontTx/>
              <a:buNone/>
            </a:pPr>
            <a:r>
              <a:rPr lang="en-US" altLang="zh-CN" sz="1800" u="none">
                <a:latin typeface="Lucida Sans Unicode" panose="020B0602030504020204" pitchFamily="34" charset="0"/>
              </a:rPr>
              <a:t>maxlen  db  32, 33  dup  ( ? )</a:t>
            </a:r>
          </a:p>
          <a:p>
            <a:pPr lvl="2">
              <a:spcBef>
                <a:spcPct val="0"/>
              </a:spcBef>
              <a:buFontTx/>
              <a:buNone/>
            </a:pPr>
            <a:endParaRPr lang="en-US" altLang="zh-CN" sz="1800" u="none">
              <a:solidFill>
                <a:schemeClr val="hlink"/>
              </a:solidFill>
              <a:latin typeface="Lucida Sans Unicode" panose="020B0602030504020204" pitchFamily="34" charset="0"/>
            </a:endParaRPr>
          </a:p>
          <a:p>
            <a:pPr lvl="1">
              <a:spcBef>
                <a:spcPct val="0"/>
              </a:spcBef>
              <a:buClrTx/>
              <a:buFontTx/>
              <a:buNone/>
            </a:pPr>
            <a:r>
              <a:rPr lang="en-US" altLang="zh-CN" sz="1800" u="none">
                <a:solidFill>
                  <a:schemeClr val="hlink"/>
                </a:solidFill>
                <a:latin typeface="Lucida Sans Unicode" panose="020B0602030504020204" pitchFamily="34" charset="0"/>
              </a:rPr>
              <a:t>lea    dx,  maxlen</a:t>
            </a:r>
          </a:p>
          <a:p>
            <a:pPr lvl="1">
              <a:spcBef>
                <a:spcPct val="0"/>
              </a:spcBef>
              <a:buClrTx/>
              <a:buFontTx/>
              <a:buNone/>
            </a:pPr>
            <a:r>
              <a:rPr lang="en-US" altLang="zh-CN" sz="1800" u="none">
                <a:solidFill>
                  <a:schemeClr val="hlink"/>
                </a:solidFill>
                <a:latin typeface="Lucida Sans Unicode" panose="020B0602030504020204" pitchFamily="34" charset="0"/>
              </a:rPr>
              <a:t>mov  ah,  0ah</a:t>
            </a:r>
          </a:p>
          <a:p>
            <a:pPr lvl="1">
              <a:spcBef>
                <a:spcPct val="0"/>
              </a:spcBef>
              <a:buClrTx/>
              <a:buFontTx/>
              <a:buNone/>
            </a:pPr>
            <a:r>
              <a:rPr lang="en-US" altLang="zh-CN" sz="1800" u="none">
                <a:solidFill>
                  <a:schemeClr val="hlink"/>
                </a:solidFill>
                <a:latin typeface="Lucida Sans Unicode" panose="020B0602030504020204" pitchFamily="34" charset="0"/>
              </a:rPr>
              <a:t>int    21h</a:t>
            </a:r>
          </a:p>
        </p:txBody>
      </p:sp>
      <p:sp>
        <p:nvSpPr>
          <p:cNvPr id="119813" name="Rectangle 5"/>
          <p:cNvSpPr>
            <a:spLocks noChangeArrowheads="1"/>
          </p:cNvSpPr>
          <p:nvPr/>
        </p:nvSpPr>
        <p:spPr bwMode="auto">
          <a:xfrm>
            <a:off x="1651000" y="1903413"/>
            <a:ext cx="2971800" cy="38100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
        <p:nvSpPr>
          <p:cNvPr id="119814" name="Rectangle 6"/>
          <p:cNvSpPr>
            <a:spLocks noChangeArrowheads="1"/>
          </p:cNvSpPr>
          <p:nvPr/>
        </p:nvSpPr>
        <p:spPr bwMode="auto">
          <a:xfrm>
            <a:off x="5029200" y="1981200"/>
            <a:ext cx="3581400" cy="4343400"/>
          </a:xfrm>
          <a:prstGeom prst="rect">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ClrTx/>
              <a:buFontTx/>
              <a:buNone/>
            </a:pPr>
            <a:endParaRPr lang="zh-CN" altLang="en-US" sz="2400" b="0"/>
          </a:p>
        </p:txBody>
      </p:sp>
    </p:spTree>
  </p:cSld>
  <p:clrMapOvr>
    <a:masterClrMapping/>
  </p:clrMapOvr>
  <p:transition>
    <p:random/>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Text Box 2"/>
          <p:cNvSpPr txBox="1">
            <a:spLocks noChangeArrowheads="1"/>
          </p:cNvSpPr>
          <p:nvPr/>
        </p:nvSpPr>
        <p:spPr bwMode="auto">
          <a:xfrm>
            <a:off x="1905000" y="685800"/>
            <a:ext cx="5867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dash"/>
                <a:miter lim="800000"/>
                <a:headEnd/>
                <a:tailEnd/>
              </a14:hiddenLine>
            </a:ext>
          </a:extLst>
        </p:spPr>
        <p:txBody>
          <a:bodyPr>
            <a:spAutoFit/>
          </a:bodyPr>
          <a:lstStyle>
            <a:lvl1pPr>
              <a:spcBef>
                <a:spcPct val="20000"/>
              </a:spcBef>
              <a:buClr>
                <a:srgbClr val="009900"/>
              </a:buClr>
              <a:buFont typeface="Wingdings" panose="05000000000000000000" pitchFamily="2" charset="2"/>
              <a:buChar char="Q"/>
              <a:defRPr kumimoji="1" sz="3200" b="1">
                <a:solidFill>
                  <a:schemeClr val="tx1"/>
                </a:solidFill>
                <a:latin typeface="Times New Roman" panose="02020603050405020304" pitchFamily="18" charset="0"/>
                <a:ea typeface="宋体" panose="02010600030101010101" pitchFamily="2" charset="-122"/>
              </a:defRPr>
            </a:lvl1pPr>
            <a:lvl2pPr>
              <a:spcBef>
                <a:spcPct val="20000"/>
              </a:spcBef>
              <a:buClr>
                <a:srgbClr val="009900"/>
              </a:buClr>
              <a:buFont typeface="Wingdings" panose="05000000000000000000" pitchFamily="2" charset="2"/>
              <a:buChar char="ü"/>
              <a:defRPr kumimoji="1" sz="2800" b="1">
                <a:solidFill>
                  <a:schemeClr val="tx1"/>
                </a:solidFill>
                <a:latin typeface="Times New Roman" panose="02020603050405020304" pitchFamily="18" charset="0"/>
                <a:ea typeface="宋体" panose="02010600030101010101" pitchFamily="2" charset="-122"/>
              </a:defRPr>
            </a:lvl2pPr>
            <a:lvl3pPr>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25000"/>
              </a:lnSpc>
              <a:spcBef>
                <a:spcPct val="0"/>
              </a:spcBef>
              <a:buClrTx/>
              <a:buFontTx/>
              <a:buNone/>
            </a:pPr>
            <a:r>
              <a:rPr lang="en-US" altLang="zh-CN" sz="2400" u="none">
                <a:solidFill>
                  <a:srgbClr val="FF0000"/>
                </a:solidFill>
              </a:rPr>
              <a:t>DOS </a:t>
            </a:r>
            <a:r>
              <a:rPr lang="zh-CN" altLang="en-US" sz="2400" u="none">
                <a:solidFill>
                  <a:srgbClr val="FF0000"/>
                </a:solidFill>
              </a:rPr>
              <a:t>显示功能调用</a:t>
            </a:r>
            <a:r>
              <a:rPr lang="zh-CN" altLang="en-US" sz="2400" u="none"/>
              <a:t> </a:t>
            </a:r>
            <a:r>
              <a:rPr lang="en-US" altLang="zh-CN" sz="2000" u="none"/>
              <a:t>( AH=2, 6, 9 )</a:t>
            </a:r>
          </a:p>
          <a:p>
            <a:pPr algn="just">
              <a:lnSpc>
                <a:spcPct val="125000"/>
              </a:lnSpc>
              <a:spcBef>
                <a:spcPct val="0"/>
              </a:spcBef>
              <a:buClrTx/>
              <a:buFontTx/>
              <a:buNone/>
            </a:pPr>
            <a:r>
              <a:rPr lang="zh-CN" altLang="en-US" sz="2000" u="none">
                <a:latin typeface="楷体_GB2312" panose="02010609030101010101" pitchFamily="49" charset="-122"/>
                <a:ea typeface="楷体_GB2312" panose="02010609030101010101" pitchFamily="49" charset="-122"/>
              </a:rPr>
              <a:t>（显示一个字符</a:t>
            </a:r>
            <a:r>
              <a:rPr lang="en-US" altLang="zh-CN" sz="2000" u="none">
                <a:latin typeface="楷体_GB2312" panose="02010609030101010101" pitchFamily="49" charset="-122"/>
                <a:ea typeface="楷体_GB2312" panose="02010609030101010101" pitchFamily="49" charset="-122"/>
              </a:rPr>
              <a:t>/</a:t>
            </a:r>
            <a:r>
              <a:rPr lang="zh-CN" altLang="en-US" sz="2000" u="none">
                <a:latin typeface="楷体_GB2312" panose="02010609030101010101" pitchFamily="49" charset="-122"/>
                <a:ea typeface="楷体_GB2312" panose="02010609030101010101" pitchFamily="49" charset="-122"/>
              </a:rPr>
              <a:t>显示字符串）</a:t>
            </a:r>
            <a:endParaRPr lang="zh-CN" altLang="en-US" sz="2000" u="none"/>
          </a:p>
          <a:p>
            <a:pPr lvl="2" algn="just">
              <a:spcBef>
                <a:spcPct val="0"/>
              </a:spcBef>
              <a:buFontTx/>
              <a:buNone/>
            </a:pPr>
            <a:endParaRPr lang="zh-CN" altLang="en-US" u="none"/>
          </a:p>
          <a:p>
            <a:pPr lvl="1" algn="just">
              <a:spcBef>
                <a:spcPct val="0"/>
              </a:spcBef>
              <a:buClrTx/>
              <a:buFontTx/>
              <a:buNone/>
            </a:pPr>
            <a:r>
              <a:rPr lang="zh-CN" altLang="en-US" sz="2000" u="none"/>
              <a:t>例：显示一个字符 </a:t>
            </a:r>
            <a:r>
              <a:rPr lang="en-US" altLang="zh-CN" sz="2000" u="none"/>
              <a:t>( AH=2 )</a:t>
            </a:r>
          </a:p>
          <a:p>
            <a:pPr lvl="3" algn="just">
              <a:spcBef>
                <a:spcPct val="0"/>
              </a:spcBef>
              <a:buFontTx/>
              <a:buNone/>
            </a:pPr>
            <a:endParaRPr lang="en-US" altLang="zh-CN" b="1" u="none">
              <a:latin typeface="Lucida Sans Unicode" panose="020B0602030504020204" pitchFamily="34" charset="0"/>
            </a:endParaRPr>
          </a:p>
          <a:p>
            <a:pPr lvl="3" algn="just">
              <a:spcBef>
                <a:spcPct val="0"/>
              </a:spcBef>
              <a:buFontTx/>
              <a:buNone/>
            </a:pPr>
            <a:r>
              <a:rPr lang="en-US" altLang="zh-CN" b="1" u="none">
                <a:latin typeface="Lucida Sans Unicode" panose="020B0602030504020204" pitchFamily="34" charset="0"/>
              </a:rPr>
              <a:t>mov  ah, </a:t>
            </a:r>
            <a:r>
              <a:rPr lang="en-US" altLang="zh-CN" b="1" u="none">
                <a:solidFill>
                  <a:schemeClr val="hlink"/>
                </a:solidFill>
                <a:latin typeface="Lucida Sans Unicode" panose="020B0602030504020204" pitchFamily="34" charset="0"/>
              </a:rPr>
              <a:t>2</a:t>
            </a:r>
          </a:p>
          <a:p>
            <a:pPr lvl="3" algn="just">
              <a:spcBef>
                <a:spcPct val="0"/>
              </a:spcBef>
              <a:buFontTx/>
              <a:buNone/>
            </a:pPr>
            <a:r>
              <a:rPr lang="en-US" altLang="zh-CN" b="1" u="none">
                <a:latin typeface="Lucida Sans Unicode" panose="020B0602030504020204" pitchFamily="34" charset="0"/>
              </a:rPr>
              <a:t>mov  </a:t>
            </a:r>
            <a:r>
              <a:rPr lang="en-US" altLang="zh-CN" b="1" u="none">
                <a:solidFill>
                  <a:schemeClr val="hlink"/>
                </a:solidFill>
                <a:latin typeface="Lucida Sans Unicode" panose="020B0602030504020204" pitchFamily="34" charset="0"/>
              </a:rPr>
              <a:t>dl</a:t>
            </a:r>
            <a:r>
              <a:rPr lang="en-US" altLang="zh-CN" b="1" u="none">
                <a:latin typeface="Lucida Sans Unicode" panose="020B0602030504020204" pitchFamily="34" charset="0"/>
              </a:rPr>
              <a:t>,  ‘A’</a:t>
            </a:r>
          </a:p>
          <a:p>
            <a:pPr lvl="3" algn="just">
              <a:spcBef>
                <a:spcPct val="0"/>
              </a:spcBef>
              <a:buFontTx/>
              <a:buNone/>
            </a:pPr>
            <a:r>
              <a:rPr lang="en-US" altLang="zh-CN" b="1" u="none">
                <a:latin typeface="Lucida Sans Unicode" panose="020B0602030504020204" pitchFamily="34" charset="0"/>
              </a:rPr>
              <a:t>int    21h</a:t>
            </a:r>
          </a:p>
          <a:p>
            <a:pPr lvl="1" algn="just">
              <a:spcBef>
                <a:spcPct val="0"/>
              </a:spcBef>
              <a:buClrTx/>
              <a:buFontTx/>
              <a:buNone/>
            </a:pPr>
            <a:endParaRPr lang="en-US" altLang="zh-CN" sz="2000" u="none">
              <a:latin typeface="Lucida Sans Unicode" panose="020B0602030504020204" pitchFamily="34" charset="0"/>
            </a:endParaRPr>
          </a:p>
          <a:p>
            <a:pPr lvl="1" algn="just">
              <a:spcBef>
                <a:spcPct val="0"/>
              </a:spcBef>
              <a:buClrTx/>
              <a:buFontTx/>
              <a:buNone/>
            </a:pPr>
            <a:r>
              <a:rPr lang="zh-CN" altLang="en-US" sz="2000" u="none"/>
              <a:t>例：显示字符串 </a:t>
            </a:r>
            <a:r>
              <a:rPr lang="en-US" altLang="zh-CN" sz="2000" u="none"/>
              <a:t>( AH=9 )</a:t>
            </a:r>
          </a:p>
          <a:p>
            <a:pPr lvl="3" algn="just">
              <a:spcBef>
                <a:spcPct val="0"/>
              </a:spcBef>
              <a:buFontTx/>
              <a:buNone/>
            </a:pPr>
            <a:endParaRPr lang="en-US" altLang="zh-CN" b="1" u="none">
              <a:latin typeface="Lucida Sans Unicode" panose="020B0602030504020204" pitchFamily="34" charset="0"/>
            </a:endParaRPr>
          </a:p>
          <a:p>
            <a:pPr lvl="3" algn="just">
              <a:spcBef>
                <a:spcPct val="0"/>
              </a:spcBef>
              <a:buFontTx/>
              <a:buNone/>
            </a:pPr>
            <a:r>
              <a:rPr lang="en-US" altLang="zh-CN" b="1" u="none">
                <a:latin typeface="Lucida Sans Unicode" panose="020B0602030504020204" pitchFamily="34" charset="0"/>
              </a:rPr>
              <a:t>string  db  ‘HELLO’, 0dh, 0ah, </a:t>
            </a:r>
            <a:r>
              <a:rPr lang="en-US" altLang="zh-CN" b="1" u="none">
                <a:solidFill>
                  <a:schemeClr val="hlink"/>
                </a:solidFill>
                <a:latin typeface="Lucida Sans Unicode" panose="020B0602030504020204" pitchFamily="34" charset="0"/>
              </a:rPr>
              <a:t>‘$’</a:t>
            </a:r>
          </a:p>
          <a:p>
            <a:pPr lvl="3" algn="just">
              <a:spcBef>
                <a:spcPct val="0"/>
              </a:spcBef>
              <a:buFontTx/>
              <a:buNone/>
            </a:pPr>
            <a:r>
              <a:rPr lang="en-US" altLang="zh-CN" b="1" u="none">
                <a:latin typeface="Lucida Sans Unicode" panose="020B0602030504020204" pitchFamily="34" charset="0"/>
              </a:rPr>
              <a:t>mov    </a:t>
            </a:r>
            <a:r>
              <a:rPr lang="en-US" altLang="zh-CN" b="1" u="none">
                <a:solidFill>
                  <a:schemeClr val="hlink"/>
                </a:solidFill>
                <a:latin typeface="Lucida Sans Unicode" panose="020B0602030504020204" pitchFamily="34" charset="0"/>
              </a:rPr>
              <a:t>dx</a:t>
            </a:r>
            <a:r>
              <a:rPr lang="en-US" altLang="zh-CN" b="1" u="none">
                <a:latin typeface="Lucida Sans Unicode" panose="020B0602030504020204" pitchFamily="34" charset="0"/>
              </a:rPr>
              <a:t>,  offset  string</a:t>
            </a:r>
          </a:p>
          <a:p>
            <a:pPr lvl="3" algn="just">
              <a:spcBef>
                <a:spcPct val="0"/>
              </a:spcBef>
              <a:buFontTx/>
              <a:buNone/>
            </a:pPr>
            <a:r>
              <a:rPr lang="en-US" altLang="zh-CN" b="1" u="none">
                <a:latin typeface="Lucida Sans Unicode" panose="020B0602030504020204" pitchFamily="34" charset="0"/>
              </a:rPr>
              <a:t>mov    ah,  </a:t>
            </a:r>
            <a:r>
              <a:rPr lang="en-US" altLang="zh-CN" b="1" u="none">
                <a:solidFill>
                  <a:schemeClr val="hlink"/>
                </a:solidFill>
                <a:latin typeface="Lucida Sans Unicode" panose="020B0602030504020204" pitchFamily="34" charset="0"/>
              </a:rPr>
              <a:t>9</a:t>
            </a:r>
          </a:p>
          <a:p>
            <a:pPr lvl="3" algn="just">
              <a:spcBef>
                <a:spcPct val="0"/>
              </a:spcBef>
              <a:buFontTx/>
              <a:buNone/>
            </a:pPr>
            <a:r>
              <a:rPr lang="en-US" altLang="zh-CN" b="1" u="none">
                <a:latin typeface="Lucida Sans Unicode" panose="020B0602030504020204" pitchFamily="34" charset="0"/>
              </a:rPr>
              <a:t>int      21h</a:t>
            </a:r>
            <a:endParaRPr lang="en-US" altLang="zh-CN" sz="2400" b="1" u="none">
              <a:latin typeface="Lucida Sans Unicode" panose="020B0602030504020204" pitchFamily="34" charset="0"/>
            </a:endParaRPr>
          </a:p>
        </p:txBody>
      </p:sp>
    </p:spTree>
  </p:cSld>
  <p:clrMapOvr>
    <a:masterClrMapping/>
  </p:clrMapOvr>
  <p:transition>
    <p:random/>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p:cNvSpPr>
            <a:spLocks noGrp="1" noChangeArrowheads="1"/>
          </p:cNvSpPr>
          <p:nvPr>
            <p:ph type="ctrTitle" idx="4294967295"/>
          </p:nvPr>
        </p:nvSpPr>
        <p:spPr>
          <a:xfrm>
            <a:off x="827088" y="620713"/>
            <a:ext cx="8134350" cy="14700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effectLst/>
              </a:rPr>
              <a:t>感谢大家一如既往的支持！</a:t>
            </a:r>
          </a:p>
        </p:txBody>
      </p:sp>
      <p:sp>
        <p:nvSpPr>
          <p:cNvPr id="94213" name="WordArt 5"/>
          <p:cNvSpPr>
            <a:spLocks noChangeArrowheads="1" noChangeShapeType="1" noTextEdit="1"/>
          </p:cNvSpPr>
          <p:nvPr/>
        </p:nvSpPr>
        <p:spPr bwMode="auto">
          <a:xfrm>
            <a:off x="2699792" y="3861048"/>
            <a:ext cx="5616575" cy="914400"/>
          </a:xfrm>
          <a:prstGeom prst="rect">
            <a:avLst/>
          </a:prstGeom>
        </p:spPr>
        <p:txBody>
          <a:bodyPr wrap="none" fromWordArt="1">
            <a:prstTxWarp prst="textPlain">
              <a:avLst>
                <a:gd name="adj" fmla="val 50000"/>
              </a:avLst>
            </a:prstTxWarp>
          </a:bodyPr>
          <a:lstStyle/>
          <a:p>
            <a:pPr algn="ctr" eaLnBrk="1" hangingPunct="1">
              <a:defRPr/>
            </a:pPr>
            <a:r>
              <a:rPr lang="zh-CN" altLang="en-US" sz="3600" kern="10" dirty="0">
                <a:ln w="12700">
                  <a:solidFill>
                    <a:srgbClr val="EAEAEA"/>
                  </a:solidFill>
                  <a:round/>
                </a:ln>
                <a:gradFill rotWithShape="0">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80000"/>
                    </a:srgbClr>
                  </a:outerShdw>
                </a:effectLst>
                <a:latin typeface="宋体" panose="02010600030101010101" pitchFamily="2" charset="-122"/>
              </a:rPr>
              <a:t>考出好成绩！</a:t>
            </a:r>
          </a:p>
        </p:txBody>
      </p:sp>
      <p:sp>
        <p:nvSpPr>
          <p:cNvPr id="94215" name="WordArt 7"/>
          <p:cNvSpPr>
            <a:spLocks noChangeArrowheads="1" noChangeShapeType="1" noTextEdit="1"/>
          </p:cNvSpPr>
          <p:nvPr/>
        </p:nvSpPr>
        <p:spPr bwMode="auto">
          <a:xfrm>
            <a:off x="1187624" y="2738152"/>
            <a:ext cx="1828800" cy="457200"/>
          </a:xfrm>
          <a:prstGeom prst="rect">
            <a:avLst/>
          </a:prstGeom>
        </p:spPr>
        <p:txBody>
          <a:bodyPr wrap="none" fromWordArt="1">
            <a:prstTxWarp prst="textPlain">
              <a:avLst>
                <a:gd name="adj" fmla="val 50000"/>
              </a:avLst>
            </a:prstTxWarp>
          </a:bodyPr>
          <a:lstStyle/>
          <a:p>
            <a:pPr algn="ctr" eaLnBrk="1" hangingPunct="1">
              <a:defRPr/>
            </a:pPr>
            <a:r>
              <a:rPr lang="zh-CN" altLang="en-US" sz="3600" kern="10" dirty="0">
                <a:ln w="19050">
                  <a:solidFill>
                    <a:srgbClr val="99CCFF"/>
                  </a:solidFill>
                  <a:round/>
                </a:ln>
                <a:solidFill>
                  <a:srgbClr val="0066CC"/>
                </a:solidFill>
                <a:effectLst>
                  <a:outerShdw dist="35921" dir="2700000" algn="ctr" rotWithShape="0">
                    <a:srgbClr val="990000"/>
                  </a:outerShdw>
                </a:effectLst>
                <a:latin typeface="宋体" panose="02010600030101010101" pitchFamily="2" charset="-122"/>
              </a:rPr>
              <a:t>祝大家：</a:t>
            </a:r>
          </a:p>
        </p:txBody>
      </p:sp>
    </p:spTree>
  </p:cSld>
  <p:clrMapOvr>
    <a:masterClrMapping/>
  </p:clrMapOvr>
  <p:transition>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GU1MWNmNzkzNzZlOTYzYzIyMGI4NjQyMGNlMDgwNWIifQ=="/>
</p:tagLst>
</file>

<file path=ppt/theme/theme1.xml><?xml version="1.0" encoding="utf-8"?>
<a:theme xmlns:a="http://schemas.openxmlformats.org/drawingml/2006/main" name="第八章">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第八章">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第八章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第八章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第八章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第八章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第八章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第八章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第八章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第八章">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第八章">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rgbClr val="C0C0C0"/>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第八章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第八章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第八章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第八章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第八章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第八章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第八章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993366">
                <a:gamma/>
                <a:shade val="46275"/>
                <a:invGamma/>
              </a:srgbClr>
            </a:gs>
            <a:gs pos="100000">
              <a:srgbClr val="993366"/>
            </a:gs>
          </a:gsLst>
          <a:lin ang="5400000" scaled="1"/>
        </a:gradFill>
        <a:ln w="9525" cap="flat" cmpd="sng" algn="ctr">
          <a:solidFill>
            <a:schemeClr val="hlink"/>
          </a:solidFill>
          <a:prstDash val="solid"/>
          <a:round/>
          <a:headEnd type="none" w="med" len="med"/>
          <a:tailEnd type="none" w="med" len="med"/>
        </a:ln>
      </a:spPr>
      <a:bodyPr vert="horz" wrap="squar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3366">
                <a:gamma/>
                <a:shade val="46275"/>
                <a:invGamma/>
              </a:srgbClr>
            </a:gs>
            <a:gs pos="100000">
              <a:srgbClr val="993366"/>
            </a:gs>
          </a:gsLst>
          <a:lin ang="5400000" scaled="1"/>
        </a:gradFill>
        <a:ln w="9525" cap="flat" cmpd="sng" algn="ctr">
          <a:solidFill>
            <a:schemeClr val="hlink"/>
          </a:solidFill>
          <a:prstDash val="solid"/>
          <a:round/>
          <a:headEnd type="none" w="med" len="med"/>
          <a:tailEnd type="none" w="med" len="med"/>
        </a:ln>
      </a:spPr>
      <a:bodyPr vert="horz" wrap="squar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rgbClr val="993366">
                <a:gamma/>
                <a:shade val="46275"/>
                <a:invGamma/>
              </a:srgbClr>
            </a:gs>
            <a:gs pos="100000">
              <a:srgbClr val="993366"/>
            </a:gs>
          </a:gsLst>
          <a:lin ang="5400000" scaled="1"/>
        </a:gradFill>
        <a:ln w="9525" cap="flat" cmpd="sng" algn="ctr">
          <a:solidFill>
            <a:schemeClr val="hlink"/>
          </a:solidFill>
          <a:prstDash val="solid"/>
          <a:round/>
          <a:headEnd type="none" w="med" len="med"/>
          <a:tailEnd type="none" w="med" len="med"/>
        </a:ln>
      </a:spPr>
      <a:bodyPr vert="horz" wrap="squar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rgbClr val="993366">
                <a:gamma/>
                <a:shade val="46275"/>
                <a:invGamma/>
              </a:srgbClr>
            </a:gs>
            <a:gs pos="100000">
              <a:srgbClr val="993366"/>
            </a:gs>
          </a:gsLst>
          <a:lin ang="5400000" scaled="1"/>
        </a:gradFill>
        <a:ln w="9525" cap="flat" cmpd="sng" algn="ctr">
          <a:solidFill>
            <a:schemeClr val="hlink"/>
          </a:solidFill>
          <a:prstDash val="solid"/>
          <a:round/>
          <a:headEnd type="none" w="med" len="med"/>
          <a:tailEnd type="none" w="med" len="med"/>
        </a:ln>
      </a:spPr>
      <a:bodyPr vert="horz" wrap="squar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C:\Documents and Settings\w\Application Data\Microsoft\Templates\第八章.pot</Template>
  <TotalTime>204</TotalTime>
  <Words>7450</Words>
  <Application>Microsoft Macintosh PowerPoint</Application>
  <PresentationFormat>全屏显示(4:3)</PresentationFormat>
  <Paragraphs>1285</Paragraphs>
  <Slides>109</Slides>
  <Notes>0</Notes>
  <HiddenSlides>0</HiddenSlides>
  <MMClips>0</MMClips>
  <ScaleCrop>false</ScaleCrop>
  <HeadingPairs>
    <vt:vector size="6" baseType="variant">
      <vt:variant>
        <vt:lpstr>已用的字体</vt:lpstr>
      </vt:variant>
      <vt:variant>
        <vt:i4>17</vt:i4>
      </vt:variant>
      <vt:variant>
        <vt:lpstr>主题</vt:lpstr>
      </vt:variant>
      <vt:variant>
        <vt:i4>4</vt:i4>
      </vt:variant>
      <vt:variant>
        <vt:lpstr>幻灯片标题</vt:lpstr>
      </vt:variant>
      <vt:variant>
        <vt:i4>109</vt:i4>
      </vt:variant>
    </vt:vector>
  </HeadingPairs>
  <TitlesOfParts>
    <vt:vector size="130" baseType="lpstr">
      <vt:lpstr>方正舒体</vt:lpstr>
      <vt:lpstr>黑体</vt:lpstr>
      <vt:lpstr>华文新魏</vt:lpstr>
      <vt:lpstr>华文中宋</vt:lpstr>
      <vt:lpstr>楷体</vt:lpstr>
      <vt:lpstr>楷体_GB2312</vt:lpstr>
      <vt:lpstr>隶书</vt:lpstr>
      <vt:lpstr>宋体</vt:lpstr>
      <vt:lpstr>Arial</vt:lpstr>
      <vt:lpstr>Lucida Console</vt:lpstr>
      <vt:lpstr>Lucida Sans Unicode</vt:lpstr>
      <vt:lpstr>Monotype Sorts</vt:lpstr>
      <vt:lpstr>Symbol</vt:lpstr>
      <vt:lpstr>Times New Roman</vt:lpstr>
      <vt:lpstr>Wingdings</vt:lpstr>
      <vt:lpstr>Wingdings 2</vt:lpstr>
      <vt:lpstr>Wingdings 3</vt:lpstr>
      <vt:lpstr>第八章</vt:lpstr>
      <vt:lpstr>1_第八章</vt:lpstr>
      <vt:lpstr>万里长城</vt:lpstr>
      <vt:lpstr>1_万里长城</vt:lpstr>
      <vt:lpstr>《汇编语言程序设计》总复习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举例:</vt:lpstr>
      <vt:lpstr>PowerPoint 演示文稿</vt:lpstr>
      <vt:lpstr>PowerPoint 演示文稿</vt:lpstr>
      <vt:lpstr>举例</vt:lpstr>
      <vt:lpstr>汇编语言源程序组成</vt:lpstr>
      <vt:lpstr>PowerPoint 演示文稿</vt:lpstr>
      <vt:lpstr>PowerPoint 演示文稿</vt:lpstr>
      <vt:lpstr>PowerPoint 演示文稿</vt:lpstr>
      <vt:lpstr>PowerPoint 演示文稿</vt:lpstr>
      <vt:lpstr>标号/名字的命名</vt:lpstr>
      <vt:lpstr>PowerPoint 演示文稿</vt:lpstr>
      <vt:lpstr>PowerPoint 演示文稿</vt:lpstr>
      <vt:lpstr>PowerPoint 演示文稿</vt:lpstr>
      <vt:lpstr>PowerPoint 演示文稿</vt:lpstr>
      <vt:lpstr>PowerPoint 演示文稿</vt:lpstr>
      <vt:lpstr>    PTR合成运算符的另一种应用场合是当要引用的标号类型和定义类型不一致时，可以用PTR临时改变标号的类型为我们所需要的类型。 如：</vt:lpstr>
      <vt:lpstr>PowerPoint 演示文稿</vt:lpstr>
      <vt:lpstr>2.3.1  段定义伪操作</vt:lpstr>
      <vt:lpstr>PowerPoint 演示文稿</vt:lpstr>
      <vt:lpstr>PowerPoint 演示文稿</vt:lpstr>
      <vt:lpstr>PowerPoint 演示文稿</vt:lpstr>
      <vt:lpstr>PowerPoint 演示文稿</vt:lpstr>
      <vt:lpstr>字节量数据（Byte-sized）</vt:lpstr>
      <vt:lpstr>字变量数据</vt:lpstr>
      <vt:lpstr>？表达式</vt:lpstr>
      <vt:lpstr>PowerPoint 演示文稿</vt:lpstr>
      <vt:lpstr>举例</vt:lpstr>
      <vt:lpstr>举例：  ARRAY  DW  1, 2 , $+4 , 3 , 4 , $+4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8086的寻址方式和指令系统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下列指令哪些是错误的?</vt:lpstr>
      <vt:lpstr>PowerPoint 演示文稿</vt:lpstr>
      <vt:lpstr>PowerPoint 演示文稿</vt:lpstr>
      <vt:lpstr>PowerPoint 演示文稿</vt:lpstr>
      <vt:lpstr>PowerPoint 演示文稿</vt:lpstr>
      <vt:lpstr>8086汇编语言程序设计的基本方法</vt:lpstr>
      <vt:lpstr>PowerPoint 演示文稿</vt:lpstr>
      <vt:lpstr>PowerPoint 演示文稿</vt:lpstr>
      <vt:lpstr>PowerPoint 演示文稿</vt:lpstr>
      <vt:lpstr>PowerPoint 演示文稿</vt:lpstr>
      <vt:lpstr>PowerPoint 演示文稿</vt:lpstr>
      <vt:lpstr>PowerPoint 演示文稿</vt:lpstr>
      <vt:lpstr>举例</vt:lpstr>
      <vt:lpstr>3.子程序结构</vt:lpstr>
      <vt:lpstr>PowerPoint 演示文稿</vt:lpstr>
      <vt:lpstr>PowerPoint 演示文稿</vt:lpstr>
      <vt:lpstr>PowerPoint 演示文稿</vt:lpstr>
      <vt:lpstr>PowerPoint 演示文稿</vt:lpstr>
      <vt:lpstr>PowerPoint 演示文稿</vt:lpstr>
      <vt:lpstr>例题4.18：从键盘输入有符号十进制数</vt:lpstr>
      <vt:lpstr>ASCII码转换为二进制数</vt:lpstr>
      <vt:lpstr>例题4.18－1/5</vt:lpstr>
      <vt:lpstr>例题4.18－2/5</vt:lpstr>
      <vt:lpstr>例题4.18－3/5</vt:lpstr>
      <vt:lpstr>例题4.18－4/5</vt:lpstr>
      <vt:lpstr>例题4.18－5/5</vt:lpstr>
      <vt:lpstr>例题4.19：显示有符号十进制数</vt:lpstr>
      <vt:lpstr>二进制数转换为ASCII码</vt:lpstr>
      <vt:lpstr>例题4.19－1/5</vt:lpstr>
      <vt:lpstr>例题4.19－2/5</vt:lpstr>
      <vt:lpstr>例题4.19－3/5</vt:lpstr>
      <vt:lpstr>例题4.19－4/5</vt:lpstr>
      <vt:lpstr>例题4.19－5/5</vt:lpstr>
      <vt:lpstr>例题4.20：计算有符号数平均值</vt:lpstr>
      <vt:lpstr>例题4.20－1/4</vt:lpstr>
      <vt:lpstr>例题4.20－2/4</vt:lpstr>
      <vt:lpstr>例题4.20－3/4</vt:lpstr>
      <vt:lpstr>例题4.20的堆栈区</vt:lpstr>
      <vt:lpstr>例题4.20－4/4</vt:lpstr>
      <vt:lpstr>有符号数如何避免溢出</vt:lpstr>
      <vt:lpstr>PowerPoint 演示文稿</vt:lpstr>
      <vt:lpstr>PowerPoint 演示文稿</vt:lpstr>
      <vt:lpstr>PowerPoint 演示文稿</vt:lpstr>
      <vt:lpstr>PowerPoint 演示文稿</vt:lpstr>
      <vt:lpstr>PowerPoint 演示文稿</vt:lpstr>
      <vt:lpstr>DOS 功能调用</vt:lpstr>
      <vt:lpstr>PowerPoint 演示文稿</vt:lpstr>
      <vt:lpstr>PowerPoint 演示文稿</vt:lpstr>
      <vt:lpstr>PowerPoint 演示文稿</vt:lpstr>
      <vt:lpstr>PowerPoint 演示文稿</vt:lpstr>
      <vt:lpstr>感谢大家一如既往的支持！</vt:lpstr>
    </vt:vector>
  </TitlesOfParts>
  <Company>cnu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《汇编语言程序设计》总复习</dc:title>
  <dc:creator>wx</dc:creator>
  <cp:lastModifiedBy>耀增 黄</cp:lastModifiedBy>
  <cp:revision>38</cp:revision>
  <dcterms:created xsi:type="dcterms:W3CDTF">2004-12-19T14:03:00Z</dcterms:created>
  <dcterms:modified xsi:type="dcterms:W3CDTF">2026-01-12T16:17:33Z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E9B6977910474CD1B8F84F963A2D3514_12</vt:lpwstr>
  </property>
  <property fmtid="{D5CDD505-2E9C-101B-9397-08002B2CF9AE}" pid="3" name="KSOProductBuildVer">
    <vt:lpwstr>2052-12.1.0.21915</vt:lpwstr>
  </property>
</Properties>
</file>