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73" r:id="rId3"/>
    <p:sldId id="272" r:id="rId4"/>
    <p:sldId id="287" r:id="rId5"/>
    <p:sldId id="262" r:id="rId6"/>
    <p:sldId id="288" r:id="rId8"/>
    <p:sldId id="270" r:id="rId9"/>
    <p:sldId id="271" r:id="rId10"/>
    <p:sldId id="274" r:id="rId11"/>
    <p:sldId id="276" r:id="rId12"/>
    <p:sldId id="275" r:id="rId13"/>
    <p:sldId id="277" r:id="rId14"/>
    <p:sldId id="278" r:id="rId15"/>
    <p:sldId id="289" r:id="rId16"/>
    <p:sldId id="263" r:id="rId17"/>
    <p:sldId id="260" r:id="rId18"/>
    <p:sldId id="261" r:id="rId19"/>
    <p:sldId id="264" r:id="rId20"/>
    <p:sldId id="256" r:id="rId21"/>
    <p:sldId id="257" r:id="rId22"/>
    <p:sldId id="259" r:id="rId23"/>
    <p:sldId id="258" r:id="rId24"/>
    <p:sldId id="280" r:id="rId25"/>
    <p:sldId id="281" r:id="rId26"/>
    <p:sldId id="290" r:id="rId27"/>
    <p:sldId id="269" r:id="rId28"/>
    <p:sldId id="282" r:id="rId29"/>
    <p:sldId id="265" r:id="rId30"/>
    <p:sldId id="266" r:id="rId31"/>
    <p:sldId id="283" r:id="rId32"/>
    <p:sldId id="291"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80942" autoAdjust="0"/>
  </p:normalViewPr>
  <p:slideViewPr>
    <p:cSldViewPr snapToGrid="0">
      <p:cViewPr varScale="1">
        <p:scale>
          <a:sx n="63" d="100"/>
          <a:sy n="63" d="100"/>
        </p:scale>
        <p:origin x="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CAE0C-A047-4C5A-B40C-696D032ACC6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937168-D488-4106-9D5B-12AE5643C0F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Linux is a clone of the operating system Unix, written from scratch by Linus Torvalds with assistance from a loosely-knit team of hackers across the Net. It aims towards POSIX and Single UNIX Specification compliance.</a:t>
            </a:r>
            <a:endParaRPr lang="en-US" altLang="zh-CN" dirty="0"/>
          </a:p>
          <a:p>
            <a:r>
              <a:rPr lang="en-US" altLang="zh-CN" dirty="0"/>
              <a:t>It has all the features you would expect in a modern fully-fledged Unix, including true multitasking, virtual memory, shared libraries, demand loading, shared copy-on-write </a:t>
            </a:r>
            <a:r>
              <a:rPr lang="en-US" altLang="zh-CN" dirty="0" err="1"/>
              <a:t>executables</a:t>
            </a:r>
            <a:r>
              <a:rPr lang="en-US" altLang="zh-CN" dirty="0"/>
              <a:t>, proper memory management, and </a:t>
            </a:r>
            <a:r>
              <a:rPr lang="en-US" altLang="zh-CN" dirty="0" err="1"/>
              <a:t>multistack</a:t>
            </a:r>
            <a:r>
              <a:rPr lang="en-US" altLang="zh-CN" dirty="0"/>
              <a:t> networking including IPv4 and IPv6.</a:t>
            </a:r>
            <a:endParaRPr lang="en-US" altLang="zh-CN" dirty="0"/>
          </a:p>
          <a:p>
            <a:r>
              <a:rPr lang="en-US" altLang="zh-CN" dirty="0"/>
              <a:t>Although originally developed first for 32-bit x86-based PCs (386 or higher), today Linux also runs on a multitude of other processor architectures, in both 32- and 64-bit variants.</a:t>
            </a:r>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平时大家所说的</a:t>
            </a:r>
            <a:r>
              <a:rPr lang="en-US" altLang="zh-CN" dirty="0"/>
              <a:t>Linux</a:t>
            </a:r>
            <a:r>
              <a:rPr lang="zh-CN" altLang="en-US" dirty="0"/>
              <a:t>，根据上下文环境不同，可能存在两种不同的含义：</a:t>
            </a:r>
            <a:r>
              <a:rPr lang="en-US" altLang="zh-CN" dirty="0"/>
              <a:t>Linux kernel </a:t>
            </a:r>
            <a:r>
              <a:rPr lang="zh-CN" altLang="en-US" dirty="0"/>
              <a:t>和 </a:t>
            </a:r>
            <a:r>
              <a:rPr lang="en-US" altLang="zh-CN" sz="1200" dirty="0"/>
              <a:t>Linux distribution</a:t>
            </a:r>
            <a:r>
              <a:rPr lang="zh-CN" altLang="en-US" sz="1200" dirty="0"/>
              <a:t>。</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Linux distribution</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Linux distribution (often abbreviated as </a:t>
            </a:r>
            <a:r>
              <a:rPr lang="en-US" altLang="zh-CN" dirty="0" err="1"/>
              <a:t>distro</a:t>
            </a:r>
            <a:r>
              <a:rPr lang="en-US" altLang="zh-CN" dirty="0"/>
              <a:t>) is an operating system made from a software collection, which is based upon the Linux kernel and, often, a package management system. Linux users usually obtain their operating system by downloading one of the Linux distributions, which are available for a wide variety of systems ranging from embedded devices (for example, </a:t>
            </a:r>
            <a:r>
              <a:rPr lang="en-US" altLang="zh-CN" dirty="0" err="1"/>
              <a:t>OpenWrt</a:t>
            </a:r>
            <a:r>
              <a:rPr lang="en-US" altLang="zh-CN" dirty="0"/>
              <a:t>) and personal computers (for example, Linux Mint) to powerful supercomputers (for example, Rocks Cluster Distribution).</a:t>
            </a:r>
            <a:endParaRPr lang="en-US" altLang="zh-CN" dirty="0"/>
          </a:p>
          <a:p>
            <a:endParaRPr lang="en-US" altLang="zh-CN" dirty="0"/>
          </a:p>
          <a:p>
            <a:endParaRPr lang="en-US" altLang="zh-CN" dirty="0"/>
          </a:p>
          <a:p>
            <a:r>
              <a:rPr lang="en-US" altLang="zh-CN" dirty="0"/>
              <a:t>A typical Linux distribution comprises a Linux kernel, GNU tools and libraries, additional software, documentation, a window system (the most common being the X Window System), a window manager, and a desktop environment. Most of the included software is free and open-source software made available both as compiled binaries and in source code form, allowing modifications to the original software. Usually, Linux distributions optionally include some proprietary software that may not be available in source code form, such as binary blobs required for some device drivers.[1] A Linux distribution may also be described as a particular assortment of application and utility software (various GNU tools and libraries, for example), packaged together with the Linux kernel in such a way that its capabilities meet the needs of many users.[2] The software is usually adapted to the distribution and then packaged into software packages by the distribution's maintainers. The software packages are available online in so-called repositories, which are storage locations usually distributed around the world.[3][4] Beside glue components, such as the distribution installers (for example, </a:t>
            </a:r>
            <a:r>
              <a:rPr lang="en-US" altLang="zh-CN" dirty="0" err="1"/>
              <a:t>Debian-Installerand</a:t>
            </a:r>
            <a:r>
              <a:rPr lang="en-US" altLang="zh-CN" dirty="0"/>
              <a:t> Anaconda) or the package management systems, there are only very few packages that are originally written from the ground up by the maintainers of a </a:t>
            </a:r>
            <a:r>
              <a:rPr lang="en-US" altLang="zh-CN" dirty="0" err="1"/>
              <a:t>Linuxdistribution</a:t>
            </a:r>
            <a:r>
              <a:rPr lang="en-US" altLang="zh-CN" dirty="0"/>
              <a:t>.</a:t>
            </a:r>
            <a:endParaRPr lang="en-US" altLang="zh-CN" dirty="0"/>
          </a:p>
          <a:p>
            <a:endParaRPr lang="en-US" altLang="zh-CN" dirty="0"/>
          </a:p>
          <a:p>
            <a:r>
              <a:rPr lang="en-US" altLang="zh-CN" dirty="0"/>
              <a:t>Almost six hundred Linux distributions exist, with close to five hundred out of those in active development.[5] Because of the huge availability of software, distributions have taken a wide variety of forms, including those suitable for use on desktops, servers, laptops, netbooks, mobile phones and tablets,[6][7] as well as minimal environments typically for use in embedded systems.[8][9] There are commercially backed distributions, such as Fedora (Red Hat), </a:t>
            </a:r>
            <a:r>
              <a:rPr lang="en-US" altLang="zh-CN" dirty="0" err="1"/>
              <a:t>openSUSE</a:t>
            </a:r>
            <a:r>
              <a:rPr lang="en-US" altLang="zh-CN" dirty="0"/>
              <a:t> (SUSE) and Ubuntu (Canonical Ltd.), and entirely community-driven distributions, such as </a:t>
            </a:r>
            <a:r>
              <a:rPr lang="en-US" altLang="zh-CN" dirty="0" err="1"/>
              <a:t>Debian</a:t>
            </a:r>
            <a:r>
              <a:rPr lang="en-US" altLang="zh-CN" dirty="0"/>
              <a:t>, </a:t>
            </a:r>
            <a:r>
              <a:rPr lang="en-US" altLang="zh-CN" dirty="0" err="1"/>
              <a:t>Slackware</a:t>
            </a:r>
            <a:r>
              <a:rPr lang="en-US" altLang="zh-CN" dirty="0"/>
              <a:t>, Gentoo and Arch Linux. Most distributions come ready to use and pre-compiled for a specific instruction set, while some distributions (such as Gentoo) are distributed mostly in source code form and compiled locally during installation.[10]</a:t>
            </a:r>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340</a:t>
            </a:r>
            <a:r>
              <a:rPr lang="zh-CN" altLang="en-US" dirty="0"/>
              <a:t>亿美元</a:t>
            </a:r>
            <a:r>
              <a:rPr lang="en-US" altLang="zh-CN" dirty="0"/>
              <a:t>!</a:t>
            </a:r>
            <a:r>
              <a:rPr lang="zh-CN" altLang="en-US" dirty="0"/>
              <a:t>美科技界第三大交易完成</a:t>
            </a:r>
            <a:r>
              <a:rPr lang="en-US" altLang="zh-CN" dirty="0"/>
              <a:t>, IBM</a:t>
            </a:r>
            <a:r>
              <a:rPr lang="zh-CN" altLang="en-US" dirty="0"/>
              <a:t>有史以来最大的一次并购。</a:t>
            </a:r>
            <a:endParaRPr lang="en-US" altLang="zh-CN" dirty="0"/>
          </a:p>
          <a:p>
            <a:r>
              <a:rPr lang="en-US" altLang="zh-CN" dirty="0"/>
              <a:t>2019</a:t>
            </a:r>
            <a:r>
              <a:rPr lang="zh-CN" altLang="en-US" dirty="0"/>
              <a:t>年</a:t>
            </a:r>
            <a:r>
              <a:rPr lang="en-US" altLang="zh-CN" dirty="0"/>
              <a:t>7</a:t>
            </a:r>
            <a:r>
              <a:rPr lang="zh-CN" altLang="en-US" dirty="0"/>
              <a:t>月</a:t>
            </a:r>
            <a:r>
              <a:rPr lang="en-US" altLang="zh-CN" dirty="0"/>
              <a:t>10</a:t>
            </a:r>
            <a:r>
              <a:rPr lang="zh-CN" altLang="en-US" dirty="0"/>
              <a:t>日消息，</a:t>
            </a:r>
            <a:r>
              <a:rPr lang="en-US" altLang="zh-CN" dirty="0"/>
              <a:t>IBM</a:t>
            </a:r>
            <a:r>
              <a:rPr lang="zh-CN" altLang="en-US" dirty="0"/>
              <a:t>周二宣布以</a:t>
            </a:r>
            <a:r>
              <a:rPr lang="en-US" altLang="zh-CN" dirty="0"/>
              <a:t>340</a:t>
            </a:r>
            <a:r>
              <a:rPr lang="zh-CN" altLang="en-US" dirty="0"/>
              <a:t>亿美元正式收购红帽。</a:t>
            </a:r>
            <a:r>
              <a:rPr lang="en-US" altLang="zh-CN" dirty="0"/>
              <a:t>IBM</a:t>
            </a:r>
            <a:r>
              <a:rPr lang="zh-CN" altLang="en-US" dirty="0"/>
              <a:t>曾表示希望此次收购交易能帮助公司在云业务方面获得更大发展。</a:t>
            </a:r>
            <a:endParaRPr lang="zh-CN" altLang="en-US" dirty="0"/>
          </a:p>
          <a:p>
            <a:r>
              <a:rPr lang="en-US" altLang="zh-CN" dirty="0"/>
              <a:t>2018</a:t>
            </a:r>
            <a:r>
              <a:rPr lang="zh-CN" altLang="en-US" dirty="0"/>
              <a:t>年</a:t>
            </a:r>
            <a:r>
              <a:rPr lang="en-US" altLang="zh-CN" dirty="0"/>
              <a:t>10</a:t>
            </a:r>
            <a:r>
              <a:rPr lang="zh-CN" altLang="en-US" dirty="0"/>
              <a:t>月</a:t>
            </a:r>
            <a:r>
              <a:rPr lang="en-US" altLang="zh-CN" dirty="0"/>
              <a:t>28</a:t>
            </a:r>
            <a:r>
              <a:rPr lang="zh-CN" altLang="en-US" dirty="0"/>
              <a:t>日，</a:t>
            </a:r>
            <a:r>
              <a:rPr lang="en-US" altLang="zh-CN" dirty="0"/>
              <a:t>IBM</a:t>
            </a:r>
            <a:r>
              <a:rPr lang="zh-CN" altLang="en-US" dirty="0"/>
              <a:t>宣布以</a:t>
            </a:r>
            <a:r>
              <a:rPr lang="en-US" altLang="zh-CN" dirty="0"/>
              <a:t>340</a:t>
            </a:r>
            <a:r>
              <a:rPr lang="zh-CN" altLang="en-US" dirty="0"/>
              <a:t>亿美元收购开源软件公司红帽（红帽），寻求硬件及咨询业务的多元化，增加高利润产品和服务。此次交易不仅是</a:t>
            </a:r>
            <a:r>
              <a:rPr lang="en-US" altLang="zh-CN" dirty="0"/>
              <a:t>IBM</a:t>
            </a:r>
            <a:r>
              <a:rPr lang="zh-CN" altLang="en-US" dirty="0"/>
              <a:t>有史以来最大的一次并购，也是美国科技史上第三大交易。美国科技史最大交易为</a:t>
            </a:r>
            <a:r>
              <a:rPr lang="en-US" altLang="zh-CN" dirty="0"/>
              <a:t>2016</a:t>
            </a:r>
            <a:r>
              <a:rPr lang="zh-CN" altLang="en-US" dirty="0"/>
              <a:t>年戴尔以</a:t>
            </a:r>
            <a:r>
              <a:rPr lang="en-US" altLang="zh-CN" dirty="0"/>
              <a:t>670</a:t>
            </a:r>
            <a:r>
              <a:rPr lang="zh-CN" altLang="en-US" dirty="0"/>
              <a:t>亿美元价格并购数据存储公司</a:t>
            </a:r>
            <a:r>
              <a:rPr lang="en-US" altLang="zh-CN" dirty="0"/>
              <a:t>EMC</a:t>
            </a:r>
            <a:r>
              <a:rPr lang="zh-CN" altLang="en-US"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数据来源：</a:t>
            </a:r>
            <a:r>
              <a:rPr lang="en-US" altLang="zh-CN" sz="1200" kern="1200" dirty="0">
                <a:solidFill>
                  <a:schemeClr val="tx1"/>
                </a:solidFill>
                <a:effectLst/>
                <a:latin typeface="+mn-lt"/>
                <a:ea typeface="+mn-ea"/>
                <a:cs typeface="+mn-cs"/>
              </a:rPr>
              <a:t>the cloud market </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EC2 Statistics</a:t>
            </a:r>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数据来源： </a:t>
            </a:r>
            <a:r>
              <a:rPr lang="en-US" altLang="zh-CN" sz="1200" kern="1200" dirty="0">
                <a:solidFill>
                  <a:schemeClr val="tx1"/>
                </a:solidFill>
                <a:effectLst/>
                <a:latin typeface="+mn-lt"/>
                <a:ea typeface="+mn-ea"/>
                <a:cs typeface="+mn-cs"/>
              </a:rPr>
              <a:t>w3techs</a:t>
            </a:r>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数据来源：</a:t>
            </a:r>
            <a:r>
              <a:rPr lang="en-US" altLang="zh-CN" sz="1200" kern="1200" dirty="0">
                <a:solidFill>
                  <a:schemeClr val="tx1"/>
                </a:solidFill>
                <a:effectLst/>
                <a:latin typeface="+mn-lt"/>
                <a:ea typeface="+mn-ea"/>
                <a:cs typeface="+mn-cs"/>
              </a:rPr>
              <a:t>https://searchdns.netcraft.com</a:t>
            </a:r>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华为开发者大会</a:t>
            </a:r>
            <a:r>
              <a:rPr lang="en-US" altLang="zh-CN" dirty="0"/>
              <a:t>HDC2019</a:t>
            </a:r>
            <a:r>
              <a:rPr lang="zh-CN" altLang="en-US" dirty="0"/>
              <a:t>，</a:t>
            </a:r>
            <a:r>
              <a:rPr lang="en-US" altLang="zh-CN" dirty="0"/>
              <a:t>8 </a:t>
            </a:r>
            <a:r>
              <a:rPr lang="zh-CN" altLang="en-US" dirty="0"/>
              <a:t>月 </a:t>
            </a:r>
            <a:r>
              <a:rPr lang="en-US" altLang="zh-CN" dirty="0"/>
              <a:t>9 </a:t>
            </a:r>
            <a:r>
              <a:rPr lang="zh-CN" altLang="en-US" dirty="0"/>
              <a:t>日到 </a:t>
            </a:r>
            <a:r>
              <a:rPr lang="en-US" altLang="zh-CN" dirty="0"/>
              <a:t>8 </a:t>
            </a:r>
            <a:r>
              <a:rPr lang="zh-CN" altLang="en-US" dirty="0"/>
              <a:t>月 </a:t>
            </a:r>
            <a:r>
              <a:rPr lang="en-US" altLang="zh-CN" dirty="0"/>
              <a:t>11 </a:t>
            </a:r>
            <a:r>
              <a:rPr lang="zh-CN" altLang="en-US" dirty="0"/>
              <a:t>日在东莞松山湖。</a:t>
            </a:r>
            <a:endParaRPr lang="zh-CN" altLang="en-US" dirty="0"/>
          </a:p>
        </p:txBody>
      </p:sp>
      <p:sp>
        <p:nvSpPr>
          <p:cNvPr id="4" name="灯片编号占位符 3"/>
          <p:cNvSpPr>
            <a:spLocks noGrp="1"/>
          </p:cNvSpPr>
          <p:nvPr>
            <p:ph type="sldNum" sz="quarter" idx="10"/>
          </p:nvPr>
        </p:nvSpPr>
        <p:spPr/>
        <p:txBody>
          <a:bodyPr/>
          <a:lstStyle/>
          <a:p>
            <a:fld id="{2F937168-D488-4106-9D5B-12AE5643C0F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www.1ppt.com/hangye/" TargetMode="Externa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7.png"/><Relationship Id="rId6" Type="http://schemas.openxmlformats.org/officeDocument/2006/relationships/image" Target="../media/image6.png"/><Relationship Id="rId5" Type="http://schemas.microsoft.com/office/2007/relationships/hdphoto" Target="../media/image5.wdp"/><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7" Type="http://schemas.microsoft.com/office/2007/relationships/hdphoto" Target="../media/image5.wdp"/><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张平">
    <p:spTree>
      <p:nvGrpSpPr>
        <p:cNvPr id="1" name=""/>
        <p:cNvGrpSpPr/>
        <p:nvPr/>
      </p:nvGrpSpPr>
      <p:grpSpPr>
        <a:xfrm>
          <a:off x="0" y="0"/>
          <a:ext cx="0" cy="0"/>
          <a:chOff x="0" y="0"/>
          <a:chExt cx="0" cy="0"/>
        </a:xfrm>
      </p:grpSpPr>
      <p:sp>
        <p:nvSpPr>
          <p:cNvPr id="7" name="矩形: 剪去单角 6"/>
          <p:cNvSpPr/>
          <p:nvPr userDrawn="1"/>
        </p:nvSpPr>
        <p:spPr>
          <a:xfrm>
            <a:off x="-133165" y="976931"/>
            <a:ext cx="2263806" cy="1180730"/>
          </a:xfrm>
          <a:prstGeom prst="snip1Rect">
            <a:avLst/>
          </a:prstGeom>
          <a:solidFill>
            <a:srgbClr val="385D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hasCustomPrompt="1"/>
          </p:nvPr>
        </p:nvSpPr>
        <p:spPr>
          <a:xfrm>
            <a:off x="2827888" y="976931"/>
            <a:ext cx="5650925" cy="4954450"/>
          </a:xfrm>
          <a:prstGeom prst="rect">
            <a:avLst/>
          </a:prstGeom>
        </p:spPr>
        <p:txBody>
          <a:bodyPr/>
          <a:lstStyle>
            <a:lvl1pPr marL="514350" indent="-514350">
              <a:buFont typeface="+mj-lt"/>
              <a:buAutoNum type="arabicPeriod"/>
              <a:defRPr lang="zh-CN" altLang="en-US" sz="3200" b="1" kern="1200" dirty="0">
                <a:solidFill>
                  <a:schemeClr val="accent1">
                    <a:lumMod val="50000"/>
                  </a:schemeClr>
                </a:solidFill>
                <a:latin typeface="+mn-lt"/>
                <a:ea typeface="+mn-ea"/>
                <a:cs typeface="+mn-ea"/>
              </a:defRPr>
            </a:lvl1pPr>
            <a:lvl2pPr marL="914400" indent="-457200">
              <a:buFont typeface="+mj-lt"/>
              <a:buAutoNum type="arabicPeriod"/>
              <a:defRPr sz="3200">
                <a:latin typeface="楷体" panose="02010609060101010101" pitchFamily="49" charset="-122"/>
                <a:ea typeface="楷体" panose="02010609060101010101" pitchFamily="49" charset="-122"/>
              </a:defRPr>
            </a:lvl2pPr>
            <a:lvl3pPr marL="1371600" indent="-457200">
              <a:buFont typeface="+mj-lt"/>
              <a:buAutoNum type="arabicPeriod"/>
              <a:defRPr sz="2800">
                <a:latin typeface="楷体" panose="02010609060101010101" pitchFamily="49" charset="-122"/>
                <a:ea typeface="楷体" panose="02010609060101010101" pitchFamily="49" charset="-122"/>
              </a:defRPr>
            </a:lvl3pPr>
            <a:lvl4pPr marL="1714500" indent="-342900">
              <a:buFont typeface="+mj-lt"/>
              <a:buAutoNum type="arabicPeriod"/>
              <a:defRPr sz="2400">
                <a:latin typeface="楷体" panose="02010609060101010101" pitchFamily="49" charset="-122"/>
                <a:ea typeface="楷体" panose="02010609060101010101" pitchFamily="49" charset="-122"/>
              </a:defRPr>
            </a:lvl4pPr>
            <a:lvl5pPr marL="2171700" indent="-342900">
              <a:buFont typeface="+mj-lt"/>
              <a:buAutoNum type="arabicPeriod"/>
              <a:defRPr sz="2400">
                <a:latin typeface="楷体" panose="02010609060101010101" pitchFamily="49" charset="-122"/>
                <a:ea typeface="楷体" panose="02010609060101010101" pitchFamily="49" charset="-122"/>
              </a:defRPr>
            </a:lvl5pPr>
          </a:lstStyle>
          <a:p>
            <a:pPr lvl="0"/>
            <a:r>
              <a:rPr lang="zh-CN" altLang="en-US" dirty="0"/>
              <a:t> 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
        <p:nvSpPr>
          <p:cNvPr id="16" name="WordArt 293"/>
          <p:cNvSpPr>
            <a:spLocks noChangeArrowheads="1" noChangeShapeType="1" noTextEdit="1"/>
          </p:cNvSpPr>
          <p:nvPr userDrawn="1"/>
        </p:nvSpPr>
        <p:spPr bwMode="auto">
          <a:xfrm>
            <a:off x="552994" y="1243444"/>
            <a:ext cx="1143000" cy="533235"/>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b="1" kern="10" dirty="0">
                <a:blipFill dpi="0" rotWithShape="1">
                  <a:blip r:embed="rId2"/>
                  <a:srcRect/>
                  <a:tile tx="0" ty="0" sx="100000" sy="100000" flip="none" algn="tl"/>
                </a:blipFill>
                <a:effectLst>
                  <a:outerShdw dist="35921" dir="2700000" algn="ctr" rotWithShape="0">
                    <a:srgbClr val="000000">
                      <a:alpha val="80000"/>
                    </a:srgbClr>
                  </a:outerShdw>
                </a:effectLst>
                <a:cs typeface="+mn-ea"/>
                <a:sym typeface="+mn-lt"/>
              </a:rPr>
              <a:t>目录</a:t>
            </a:r>
            <a:endParaRPr lang="zh-CN" altLang="en-US" sz="3600" b="1" kern="10" dirty="0">
              <a:blipFill dpi="0" rotWithShape="1">
                <a:blip r:embed="rId2"/>
                <a:srcRect/>
                <a:tile tx="0" ty="0" sx="100000" sy="100000" flip="none" algn="tl"/>
              </a:blipFill>
              <a:effectLst>
                <a:outerShdw dist="35921" dir="2700000" algn="ctr" rotWithShape="0">
                  <a:srgbClr val="000000">
                    <a:alpha val="80000"/>
                  </a:srgbClr>
                </a:outerShdw>
              </a:effectLst>
              <a:cs typeface="+mn-ea"/>
              <a:sym typeface="+mn-lt"/>
            </a:endParaRPr>
          </a:p>
        </p:txBody>
      </p:sp>
      <p:sp>
        <p:nvSpPr>
          <p:cNvPr id="17" name="WordArt 294"/>
          <p:cNvSpPr>
            <a:spLocks noChangeArrowheads="1" noChangeShapeType="1" noTextEdit="1"/>
          </p:cNvSpPr>
          <p:nvPr userDrawn="1"/>
        </p:nvSpPr>
        <p:spPr bwMode="auto">
          <a:xfrm>
            <a:off x="564082" y="1912157"/>
            <a:ext cx="1143000" cy="152353"/>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400" dirty="0">
                <a:solidFill>
                  <a:schemeClr val="bg1"/>
                </a:solidFill>
                <a:cs typeface="+mn-ea"/>
                <a:sym typeface="+mn-lt"/>
              </a:rPr>
              <a:t>CONTENTS</a:t>
            </a:r>
            <a:endParaRPr lang="zh-CN" altLang="en-US" sz="4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4" presetClass="entr" presetSubtype="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 from="(-#ppt_w/2)" to="(#ppt_x)" calcmode="lin" valueType="num">
                                      <p:cBhvr>
                                        <p:cTn id="12" dur="600" fill="hold">
                                          <p:stCondLst>
                                            <p:cond delay="0"/>
                                          </p:stCondLst>
                                        </p:cTn>
                                        <p:tgtEl>
                                          <p:spTgt spid="16"/>
                                        </p:tgtEl>
                                        <p:attrNameLst>
                                          <p:attrName>ppt_x</p:attrName>
                                        </p:attrNameLst>
                                      </p:cBhvr>
                                    </p:anim>
                                    <p:anim from="0" to="-1.0" calcmode="lin" valueType="num">
                                      <p:cBhvr>
                                        <p:cTn id="13" dur="200" decel="50000" autoRev="1" fill="hold">
                                          <p:stCondLst>
                                            <p:cond delay="600"/>
                                          </p:stCondLst>
                                        </p:cTn>
                                        <p:tgtEl>
                                          <p:spTgt spid="16"/>
                                        </p:tgtEl>
                                        <p:attrNameLst>
                                          <p:attrName>xshear</p:attrName>
                                        </p:attrNameLst>
                                      </p:cBhvr>
                                    </p:anim>
                                    <p:animScale>
                                      <p:cBhvr>
                                        <p:cTn id="14" dur="200" decel="100000" autoRev="1" fill="hold">
                                          <p:stCondLst>
                                            <p:cond delay="600"/>
                                          </p:stCondLst>
                                        </p:cTn>
                                        <p:tgtEl>
                                          <p:spTgt spid="16"/>
                                        </p:tgtEl>
                                      </p:cBhvr>
                                      <p:from x="100000" y="100000"/>
                                      <p:to x="80000" y="100000"/>
                                    </p:animScale>
                                    <p:anim by="(#ppt_h/3+#ppt_w*0.1)" calcmode="lin" valueType="num">
                                      <p:cBhvr additive="sum">
                                        <p:cTn id="15" dur="200" decel="100000" autoRev="1" fill="hold">
                                          <p:stCondLst>
                                            <p:cond delay="600"/>
                                          </p:stCondLst>
                                        </p:cTn>
                                        <p:tgtEl>
                                          <p:spTgt spid="16"/>
                                        </p:tgtEl>
                                        <p:attrNameLst>
                                          <p:attrName>ppt_x</p:attrName>
                                        </p:attrNameLst>
                                      </p:cBhvr>
                                    </p:anim>
                                  </p:childTnLst>
                                </p:cTn>
                              </p:par>
                              <p:par>
                                <p:cTn id="16" presetID="34"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 from="(-#ppt_w/2)" to="(#ppt_x)" calcmode="lin" valueType="num">
                                      <p:cBhvr>
                                        <p:cTn id="18" dur="600" fill="hold">
                                          <p:stCondLst>
                                            <p:cond delay="0"/>
                                          </p:stCondLst>
                                        </p:cTn>
                                        <p:tgtEl>
                                          <p:spTgt spid="17"/>
                                        </p:tgtEl>
                                        <p:attrNameLst>
                                          <p:attrName>ppt_x</p:attrName>
                                        </p:attrNameLst>
                                      </p:cBhvr>
                                    </p:anim>
                                    <p:anim from="0" to="-1.0" calcmode="lin" valueType="num">
                                      <p:cBhvr>
                                        <p:cTn id="19" dur="200" decel="50000" autoRev="1" fill="hold">
                                          <p:stCondLst>
                                            <p:cond delay="600"/>
                                          </p:stCondLst>
                                        </p:cTn>
                                        <p:tgtEl>
                                          <p:spTgt spid="17"/>
                                        </p:tgtEl>
                                        <p:attrNameLst>
                                          <p:attrName>xshear</p:attrName>
                                        </p:attrNameLst>
                                      </p:cBhvr>
                                    </p:anim>
                                    <p:animScale>
                                      <p:cBhvr>
                                        <p:cTn id="20" dur="200" decel="100000" autoRev="1" fill="hold">
                                          <p:stCondLst>
                                            <p:cond delay="600"/>
                                          </p:stCondLst>
                                        </p:cTn>
                                        <p:tgtEl>
                                          <p:spTgt spid="17"/>
                                        </p:tgtEl>
                                      </p:cBhvr>
                                      <p:from x="100000" y="100000"/>
                                      <p:to x="80000" y="100000"/>
                                    </p:animScale>
                                    <p:anim by="(#ppt_h/3+#ppt_w*0.1)" calcmode="lin" valueType="num">
                                      <p:cBhvr additive="sum">
                                        <p:cTn id="21" dur="200" decel="100000" autoRev="1" fill="hold">
                                          <p:stCondLst>
                                            <p:cond delay="600"/>
                                          </p:stCondLst>
                                        </p:cTn>
                                        <p:tgtEl>
                                          <p:spTgt spid="17"/>
                                        </p:tgtEl>
                                        <p:attrNameLst>
                                          <p:attrName>ppt_x</p:attrName>
                                        </p:attrNameLst>
                                      </p:cBhvr>
                                    </p:anim>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left)">
                                      <p:cBhvr>
                                        <p:cTn id="25" dur="500"/>
                                        <p:tgtEl>
                                          <p:spTgt spid="3">
                                            <p:txEl>
                                              <p:pRg st="0" end="0"/>
                                            </p:txEl>
                                          </p:spTgt>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wipe(left)">
                                      <p:cBhvr>
                                        <p:cTn id="29" dur="500"/>
                                        <p:tgtEl>
                                          <p:spTgt spid="3">
                                            <p:txEl>
                                              <p:pRg st="1" end="1"/>
                                            </p:txEl>
                                          </p:spTgt>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wipe(left)">
                                      <p:cBhvr>
                                        <p:cTn id="33" dur="500"/>
                                        <p:tgtEl>
                                          <p:spTgt spid="3">
                                            <p:txEl>
                                              <p:pRg st="2" end="2"/>
                                            </p:txEl>
                                          </p:spTgt>
                                        </p:tgtEl>
                                      </p:cBhvr>
                                    </p:animEffect>
                                  </p:childTnLst>
                                </p:cTn>
                              </p:par>
                            </p:childTnLst>
                          </p:cTn>
                        </p:par>
                        <p:par>
                          <p:cTn id="34" fill="hold">
                            <p:stCondLst>
                              <p:cond delay="3000"/>
                            </p:stCondLst>
                            <p:childTnLst>
                              <p:par>
                                <p:cTn id="35" presetID="22" presetClass="entr" presetSubtype="8" fill="hold" grpId="0" nodeType="after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left)">
                                      <p:cBhvr>
                                        <p:cTn id="4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16" grpId="0" animBg="1"/>
      <p:bldP spid="1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小节首页@张平">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cstate="screen"/>
          <a:stretch>
            <a:fillRect/>
          </a:stretch>
        </p:blipFill>
        <p:spPr>
          <a:xfrm>
            <a:off x="6096000" y="675456"/>
            <a:ext cx="6048672" cy="6858000"/>
          </a:xfrm>
          <a:prstGeom prst="rect">
            <a:avLst/>
          </a:prstGeom>
        </p:spPr>
      </p:pic>
      <p:pic>
        <p:nvPicPr>
          <p:cNvPr id="12" name="图片 11"/>
          <p:cNvPicPr>
            <a:picLocks noChangeAspect="1"/>
          </p:cNvPicPr>
          <p:nvPr userDrawn="1"/>
        </p:nvPicPr>
        <p:blipFill>
          <a:blip r:embed="rId3" cstate="screen"/>
          <a:stretch>
            <a:fillRect/>
          </a:stretch>
        </p:blipFill>
        <p:spPr>
          <a:xfrm flipH="1">
            <a:off x="47328" y="675456"/>
            <a:ext cx="6408712" cy="6858000"/>
          </a:xfrm>
          <a:prstGeom prst="rect">
            <a:avLst/>
          </a:prstGeom>
        </p:spPr>
      </p:pic>
      <p:sp>
        <p:nvSpPr>
          <p:cNvPr id="3" name="文本占位符 2"/>
          <p:cNvSpPr>
            <a:spLocks noGrp="1"/>
          </p:cNvSpPr>
          <p:nvPr>
            <p:ph type="body" idx="1" hasCustomPrompt="1"/>
          </p:nvPr>
        </p:nvSpPr>
        <p:spPr>
          <a:xfrm>
            <a:off x="2928020" y="2348880"/>
            <a:ext cx="2591916" cy="2603502"/>
          </a:xfrm>
          <a:prstGeom prst="rect">
            <a:avLst/>
          </a:prstGeom>
        </p:spPr>
        <p:txBody>
          <a:bodyPr anchor="b"/>
          <a:lstStyle>
            <a:lvl1pPr marL="0" indent="0" algn="r">
              <a:buNone/>
              <a:defRPr lang="zh-CN" altLang="en-US" sz="16600" kern="1200" dirty="0">
                <a:solidFill>
                  <a:srgbClr val="385D8A"/>
                </a:solidFill>
                <a:latin typeface="Arial Narrow" panose="020B0606020202030204" pitchFamily="34" charset="0"/>
                <a:ea typeface="+mn-ea"/>
                <a:cs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dirty="0"/>
              <a:t>00</a:t>
            </a:r>
            <a:endParaRPr lang="zh-CN" altLang="en-US" dirty="0"/>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
        <p:nvSpPr>
          <p:cNvPr id="11" name="TextBox 10"/>
          <p:cNvSpPr txBox="1"/>
          <p:nvPr userDrawn="1"/>
        </p:nvSpPr>
        <p:spPr>
          <a:xfrm>
            <a:off x="911424" y="6717034"/>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black"/>
                </a:solidFill>
                <a:effectLst/>
                <a:uLnTx/>
                <a:uFillTx/>
                <a:hlinkClick r:id="rId4"/>
              </a:rPr>
              <a:t>行业</a:t>
            </a:r>
            <a:r>
              <a:rPr kumimoji="0" lang="en-US" altLang="zh-CN" sz="100" b="0" i="0" u="none" strike="noStrike" kern="0" cap="none" spc="0" normalizeH="0" baseline="0" noProof="0" dirty="0">
                <a:ln>
                  <a:noFill/>
                </a:ln>
                <a:solidFill>
                  <a:prstClr val="black"/>
                </a:solidFill>
                <a:effectLst/>
                <a:uLnTx/>
                <a:uFillTx/>
                <a:hlinkClick r:id="rId4"/>
              </a:rPr>
              <a:t>PPT</a:t>
            </a:r>
            <a:r>
              <a:rPr kumimoji="0" lang="zh-CN" altLang="en-US" sz="100" b="0" i="0" u="none" strike="noStrike" kern="0" cap="none" spc="0" normalizeH="0" baseline="0" noProof="0" dirty="0">
                <a:ln>
                  <a:noFill/>
                </a:ln>
                <a:solidFill>
                  <a:prstClr val="black"/>
                </a:solidFill>
                <a:effectLst/>
                <a:uLnTx/>
                <a:uFillTx/>
                <a:hlinkClick r:id="rId4"/>
              </a:rPr>
              <a:t>模板</a:t>
            </a:r>
            <a:r>
              <a:rPr kumimoji="0" lang="en-US" altLang="zh-CN" sz="100" b="0" i="0" u="none" strike="noStrike" kern="0" cap="none" spc="0" normalizeH="0" baseline="0" noProof="0" dirty="0">
                <a:ln>
                  <a:noFill/>
                </a:ln>
                <a:solidFill>
                  <a:prstClr val="black"/>
                </a:solidFill>
                <a:effectLst/>
                <a:uLnTx/>
                <a:uFillTx/>
              </a:rPr>
              <a:t>http://www.1ppt.com/hangye/</a:t>
            </a:r>
            <a:endParaRPr kumimoji="0" lang="en-US" altLang="zh-CN" sz="100" b="0" i="0" u="none" strike="noStrike" kern="0" cap="none" spc="0" normalizeH="0" baseline="0" noProof="0" dirty="0">
              <a:ln>
                <a:noFill/>
              </a:ln>
              <a:solidFill>
                <a:prstClr val="black"/>
              </a:solidFill>
              <a:effectLst/>
              <a:uLnTx/>
              <a:uFillTx/>
            </a:endParaRPr>
          </a:p>
        </p:txBody>
      </p:sp>
      <p:sp>
        <p:nvSpPr>
          <p:cNvPr id="15" name="等腰三角形 37"/>
          <p:cNvSpPr>
            <a:spLocks noChangeArrowheads="1"/>
          </p:cNvSpPr>
          <p:nvPr userDrawn="1"/>
        </p:nvSpPr>
        <p:spPr bwMode="auto">
          <a:xfrm>
            <a:off x="1452563" y="4003377"/>
            <a:ext cx="3008312" cy="2593975"/>
          </a:xfrm>
          <a:prstGeom prst="triangle">
            <a:avLst>
              <a:gd name="adj" fmla="val 50000"/>
            </a:avLst>
          </a:prstGeom>
          <a:solidFill>
            <a:srgbClr val="385D8A"/>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nvGrpSpPr>
          <p:cNvPr id="17" name="组合 16"/>
          <p:cNvGrpSpPr/>
          <p:nvPr userDrawn="1"/>
        </p:nvGrpSpPr>
        <p:grpSpPr>
          <a:xfrm>
            <a:off x="7002463" y="260648"/>
            <a:ext cx="3008312" cy="2603500"/>
            <a:chOff x="7002463" y="-9525"/>
            <a:chExt cx="3008312" cy="2603500"/>
          </a:xfrm>
        </p:grpSpPr>
        <p:sp>
          <p:nvSpPr>
            <p:cNvPr id="18" name="等腰三角形 7"/>
            <p:cNvSpPr>
              <a:spLocks noChangeArrowheads="1"/>
            </p:cNvSpPr>
            <p:nvPr/>
          </p:nvSpPr>
          <p:spPr bwMode="auto">
            <a:xfrm rot="10800000">
              <a:off x="7002463" y="0"/>
              <a:ext cx="3008312" cy="2593975"/>
            </a:xfrm>
            <a:prstGeom prst="triangle">
              <a:avLst>
                <a:gd name="adj" fmla="val 50000"/>
              </a:avLst>
            </a:prstGeom>
            <a:solidFill>
              <a:srgbClr val="385D8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sp>
          <p:nvSpPr>
            <p:cNvPr id="19" name="直角三角形 13"/>
            <p:cNvSpPr>
              <a:spLocks noChangeArrowheads="1"/>
            </p:cNvSpPr>
            <p:nvPr/>
          </p:nvSpPr>
          <p:spPr bwMode="auto">
            <a:xfrm rot="10800000" flipH="1">
              <a:off x="8499475" y="-9525"/>
              <a:ext cx="1511300" cy="2603500"/>
            </a:xfrm>
            <a:prstGeom prst="rtTriangle">
              <a:avLst/>
            </a:prstGeom>
            <a:solidFill>
              <a:srgbClr val="30302F">
                <a:alpha val="4784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FFFFFF"/>
                </a:solidFill>
                <a:effectLst/>
                <a:uLnTx/>
                <a:uFillTx/>
                <a:latin typeface="+mn-lt"/>
                <a:ea typeface="+mn-ea"/>
                <a:cs typeface="+mn-ea"/>
                <a:sym typeface="+mn-lt"/>
              </a:endParaRPr>
            </a:p>
          </p:txBody>
        </p:sp>
      </p:grpSp>
      <p:sp>
        <p:nvSpPr>
          <p:cNvPr id="2" name="标题 1"/>
          <p:cNvSpPr>
            <a:spLocks noGrp="1"/>
          </p:cNvSpPr>
          <p:nvPr>
            <p:ph type="title"/>
          </p:nvPr>
        </p:nvSpPr>
        <p:spPr>
          <a:xfrm>
            <a:off x="5591521" y="3645024"/>
            <a:ext cx="4752951" cy="1191915"/>
          </a:xfrm>
          <a:prstGeom prst="rect">
            <a:avLst/>
          </a:prstGeom>
        </p:spPr>
        <p:txBody>
          <a:bodyPr/>
          <a:lstStyle>
            <a:lvl1pPr>
              <a:defRPr lang="zh-CN" altLang="en-US" sz="3600" b="1" kern="1200" dirty="0">
                <a:solidFill>
                  <a:srgbClr val="385D8A"/>
                </a:solidFill>
                <a:latin typeface="+mn-lt"/>
                <a:ea typeface="+mn-ea"/>
                <a:cs typeface="+mn-ea"/>
              </a:defRPr>
            </a:lvl1pPr>
          </a:lstStyle>
          <a:p>
            <a:r>
              <a:rPr lang="zh-CN" altLang="en-US" dirty="0"/>
              <a:t>单击此处编辑母版标题样式</a:t>
            </a:r>
            <a:endParaRPr lang="zh-CN" altLang="en-US" dirty="0"/>
          </a:p>
        </p:txBody>
      </p:sp>
      <p:sp>
        <p:nvSpPr>
          <p:cNvPr id="4" name="文本框 3"/>
          <p:cNvSpPr txBox="1"/>
          <p:nvPr userDrawn="1"/>
        </p:nvSpPr>
        <p:spPr>
          <a:xfrm>
            <a:off x="5638510" y="2879503"/>
            <a:ext cx="1782860" cy="523220"/>
          </a:xfrm>
          <a:prstGeom prst="rect">
            <a:avLst/>
          </a:prstGeom>
          <a:solidFill>
            <a:srgbClr val="385D8A"/>
          </a:solidFill>
        </p:spPr>
        <p:txBody>
          <a:bodyPr wrap="none" rtlCol="0">
            <a:spAutoFit/>
          </a:bodyPr>
          <a:lstStyle/>
          <a:p>
            <a:r>
              <a:rPr kumimoji="0" lang="en-US" altLang="zh-CN" sz="2800" b="0" i="0" u="none" strike="noStrike" kern="0" cap="none" spc="0" normalizeH="0" baseline="0" dirty="0">
                <a:ln>
                  <a:noFill/>
                </a:ln>
                <a:solidFill>
                  <a:schemeClr val="bg1"/>
                </a:solidFill>
                <a:effectLst/>
                <a:uLnTx/>
                <a:uFillTx/>
                <a:latin typeface="+mn-lt"/>
                <a:ea typeface="+mn-ea"/>
                <a:cs typeface="+mn-ea"/>
              </a:rPr>
              <a:t>SUBTITLE</a:t>
            </a:r>
            <a:endParaRPr kumimoji="0" lang="zh-CN" altLang="en-US" sz="2800" b="0" i="0" u="none" strike="noStrike" kern="0" cap="none" spc="0" normalizeH="0" baseline="0" dirty="0">
              <a:ln>
                <a:noFill/>
              </a:ln>
              <a:solidFill>
                <a:schemeClr val="bg1"/>
              </a:solidFill>
              <a:effectLst/>
              <a:uLnTx/>
              <a:uFillTx/>
              <a:latin typeface="+mn-lt"/>
              <a:ea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500"/>
                                        <p:tgtEl>
                                          <p:spTgt spid="1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left)">
                                      <p:cBhvr>
                                        <p:cTn id="15" dur="500"/>
                                        <p:tgtEl>
                                          <p:spTgt spid="3">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15" grpId="0" animBg="1"/>
      <p:bldP spid="2" grpId="0"/>
      <p:bldP spid="4"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张平">
    <p:spTree>
      <p:nvGrpSpPr>
        <p:cNvPr id="1" name=""/>
        <p:cNvGrpSpPr/>
        <p:nvPr/>
      </p:nvGrpSpPr>
      <p:grpSpPr>
        <a:xfrm>
          <a:off x="0" y="0"/>
          <a:ext cx="0" cy="0"/>
          <a:chOff x="0" y="0"/>
          <a:chExt cx="0" cy="0"/>
        </a:xfrm>
      </p:grpSpPr>
      <p:sp>
        <p:nvSpPr>
          <p:cNvPr id="2" name="标题 1"/>
          <p:cNvSpPr>
            <a:spLocks noGrp="1"/>
          </p:cNvSpPr>
          <p:nvPr>
            <p:ph type="title"/>
          </p:nvPr>
        </p:nvSpPr>
        <p:spPr>
          <a:xfrm>
            <a:off x="1330093" y="697517"/>
            <a:ext cx="7993358" cy="457315"/>
          </a:xfrm>
          <a:prstGeom prst="rect">
            <a:avLst/>
          </a:prstGeom>
        </p:spPr>
        <p:txBody>
          <a:bodyPr/>
          <a:lstStyle>
            <a:lvl1pPr>
              <a:defRPr lang="zh-CN" altLang="en-US" sz="2400" b="1" kern="1200" dirty="0">
                <a:solidFill>
                  <a:srgbClr val="385D8A"/>
                </a:solidFill>
                <a:latin typeface="+mn-lt"/>
                <a:ea typeface="+mn-ea"/>
                <a:cs typeface="+mn-ea"/>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grpSp>
        <p:nvGrpSpPr>
          <p:cNvPr id="12" name="组合 11"/>
          <p:cNvGrpSpPr/>
          <p:nvPr userDrawn="1"/>
        </p:nvGrpSpPr>
        <p:grpSpPr>
          <a:xfrm>
            <a:off x="707232" y="662608"/>
            <a:ext cx="492224" cy="492224"/>
            <a:chOff x="1965186" y="1419622"/>
            <a:chExt cx="302558" cy="314067"/>
          </a:xfrm>
          <a:solidFill>
            <a:srgbClr val="385D8A"/>
          </a:solidFill>
        </p:grpSpPr>
        <p:sp>
          <p:nvSpPr>
            <p:cNvPr id="13" name="矩形 12"/>
            <p:cNvSpPr/>
            <p:nvPr userDrawn="1"/>
          </p:nvSpPr>
          <p:spPr>
            <a:xfrm>
              <a:off x="1965186" y="1419622"/>
              <a:ext cx="252000" cy="25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userDrawn="1"/>
          </p:nvSpPr>
          <p:spPr>
            <a:xfrm>
              <a:off x="2087744" y="1553689"/>
              <a:ext cx="180000" cy="18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350" fill="hold"/>
                                        <p:tgtEl>
                                          <p:spTgt spid="12"/>
                                        </p:tgtEl>
                                        <p:attrNameLst>
                                          <p:attrName>ppt_w</p:attrName>
                                        </p:attrNameLst>
                                      </p:cBhvr>
                                      <p:tavLst>
                                        <p:tav tm="0">
                                          <p:val>
                                            <p:fltVal val="0"/>
                                          </p:val>
                                        </p:tav>
                                        <p:tav tm="100000">
                                          <p:val>
                                            <p:strVal val="#ppt_w"/>
                                          </p:val>
                                        </p:tav>
                                      </p:tavLst>
                                    </p:anim>
                                    <p:anim calcmode="lin" valueType="num">
                                      <p:cBhvr>
                                        <p:cTn id="8" dur="350" fill="hold"/>
                                        <p:tgtEl>
                                          <p:spTgt spid="1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316591" y="555079"/>
            <a:ext cx="10037209" cy="457316"/>
          </a:xfrm>
          <a:prstGeom prst="rect">
            <a:avLst/>
          </a:prstGeom>
        </p:spPr>
        <p:txBody>
          <a:bodyPr/>
          <a:lstStyle>
            <a:lvl1pPr>
              <a:defRPr lang="zh-CN" altLang="en-US" sz="2400" b="1" kern="1200" dirty="0">
                <a:solidFill>
                  <a:srgbClr val="385D8A"/>
                </a:solidFill>
                <a:latin typeface="+mn-lt"/>
                <a:ea typeface="+mn-ea"/>
                <a:cs typeface="+mn-ea"/>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838200" y="1222513"/>
            <a:ext cx="10515600" cy="4954450"/>
          </a:xfrm>
          <a:prstGeom prst="rect">
            <a:avLst/>
          </a:prstGeom>
        </p:spPr>
        <p:txBody>
          <a:bodyPr/>
          <a:lstStyle>
            <a:lvl1pPr marL="228600" indent="-228600">
              <a:buFont typeface="Wingdings" panose="05000000000000000000" pitchFamily="2" charset="2"/>
              <a:buChar char="Ø"/>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 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grpSp>
        <p:nvGrpSpPr>
          <p:cNvPr id="8" name="组合 7"/>
          <p:cNvGrpSpPr/>
          <p:nvPr userDrawn="1"/>
        </p:nvGrpSpPr>
        <p:grpSpPr>
          <a:xfrm>
            <a:off x="707232" y="512854"/>
            <a:ext cx="492224" cy="492224"/>
            <a:chOff x="1965186" y="1419622"/>
            <a:chExt cx="302558" cy="314067"/>
          </a:xfrm>
          <a:solidFill>
            <a:srgbClr val="385D8A"/>
          </a:solidFill>
        </p:grpSpPr>
        <p:sp>
          <p:nvSpPr>
            <p:cNvPr id="9" name="矩形 8"/>
            <p:cNvSpPr/>
            <p:nvPr userDrawn="1"/>
          </p:nvSpPr>
          <p:spPr>
            <a:xfrm>
              <a:off x="1965186" y="1419622"/>
              <a:ext cx="252000" cy="25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userDrawn="1"/>
          </p:nvSpPr>
          <p:spPr>
            <a:xfrm>
              <a:off x="2087744" y="1553689"/>
              <a:ext cx="180000" cy="18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350" fill="hold"/>
                                        <p:tgtEl>
                                          <p:spTgt spid="8"/>
                                        </p:tgtEl>
                                        <p:attrNameLst>
                                          <p:attrName>ppt_w</p:attrName>
                                        </p:attrNameLst>
                                      </p:cBhvr>
                                      <p:tavLst>
                                        <p:tav tm="0">
                                          <p:val>
                                            <p:fltVal val="0"/>
                                          </p:val>
                                        </p:tav>
                                        <p:tav tm="100000">
                                          <p:val>
                                            <p:strVal val="#ppt_w"/>
                                          </p:val>
                                        </p:tav>
                                      </p:tavLst>
                                    </p:anim>
                                    <p:anim calcmode="lin" valueType="num">
                                      <p:cBhvr>
                                        <p:cTn id="8" dur="35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wipe(left)">
                                      <p:cBhvr>
                                        <p:cTn id="16" dur="500"/>
                                        <p:tgtEl>
                                          <p:spTgt spid="3">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left)">
                                      <p:cBhvr>
                                        <p:cTn id="24" dur="500"/>
                                        <p:tgtEl>
                                          <p:spTgt spid="3">
                                            <p:txEl>
                                              <p:pRg st="2" end="2"/>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left)">
                                      <p:cBhvr>
                                        <p:cTn id="28" dur="500"/>
                                        <p:tgtEl>
                                          <p:spTgt spid="3">
                                            <p:txEl>
                                              <p:pRg st="3" end="3"/>
                                            </p:txEl>
                                          </p:spTgt>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screen"/>
          <a:stretch>
            <a:fillRect/>
          </a:stretch>
        </p:blipFill>
        <p:spPr>
          <a:xfrm>
            <a:off x="6096000" y="675456"/>
            <a:ext cx="6048672" cy="6858000"/>
          </a:xfrm>
          <a:prstGeom prst="rect">
            <a:avLst/>
          </a:prstGeom>
        </p:spPr>
      </p:pic>
      <p:pic>
        <p:nvPicPr>
          <p:cNvPr id="12" name="图片 11"/>
          <p:cNvPicPr>
            <a:picLocks noChangeAspect="1"/>
          </p:cNvPicPr>
          <p:nvPr userDrawn="1"/>
        </p:nvPicPr>
        <p:blipFill>
          <a:blip r:embed="rId3" cstate="screen"/>
          <a:stretch>
            <a:fillRect/>
          </a:stretch>
        </p:blipFill>
        <p:spPr>
          <a:xfrm flipH="1">
            <a:off x="47328" y="675456"/>
            <a:ext cx="6408712" cy="6858000"/>
          </a:xfrm>
          <a:prstGeom prst="rect">
            <a:avLst/>
          </a:prstGeom>
        </p:spPr>
      </p:pic>
      <p:pic>
        <p:nvPicPr>
          <p:cNvPr id="14" name="Picture 2" descr="https://gimg2.baidu.com/image_search/src=http%3A%2F%2Fupload-images.jianshu.io%2Fupload_images%2F4328762-883f350af13e526d.png&amp;refer=http%3A%2F%2Fupload-images.jianshu.io&amp;app=2002&amp;size=f9999,10000&amp;q=a80&amp;n=0&amp;g=0n&amp;fmt=auto?sec=1667461827&amp;t=4fe55b94f212f72e189c7ea51652be85"/>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backgroundRemoval t="9804" b="89840" l="4000" r="95500">
                        <a14:foregroundMark x1="4900" y1="33155" x2="4900" y2="33155"/>
                        <a14:foregroundMark x1="84800" y1="62210" x2="84800" y2="62210"/>
                        <a14:foregroundMark x1="72200" y1="83422" x2="72200" y2="83422"/>
                        <a14:foregroundMark x1="93500" y1="83422" x2="93500" y2="83422"/>
                        <a14:foregroundMark x1="81300" y1="51515" x2="81300" y2="51515"/>
                        <a14:foregroundMark x1="76200" y1="60963" x2="76200" y2="60963"/>
                        <a14:foregroundMark x1="76700" y1="72193" x2="77400" y2="74688"/>
                        <a14:foregroundMark x1="81300" y1="81818" x2="81300" y2="81818"/>
                        <a14:foregroundMark x1="85300" y1="29768" x2="85300" y2="29768"/>
                        <a14:foregroundMark x1="62700" y1="39394" x2="62700" y2="39394"/>
                        <a14:foregroundMark x1="52000" y1="44385" x2="52000" y2="44385"/>
                        <a14:foregroundMark x1="37100" y1="45276" x2="37100" y2="45276"/>
                        <a14:foregroundMark x1="19600" y1="45276" x2="19600" y2="45276"/>
                        <a14:foregroundMark x1="20500" y1="23529" x2="20500" y2="23529"/>
                        <a14:foregroundMark x1="84800" y1="67201" x2="84800" y2="67201"/>
                        <a14:foregroundMark x1="80400" y1="65062" x2="80400" y2="65062"/>
                        <a14:foregroundMark x1="79500" y1="48485" x2="79500" y2="48485"/>
                        <a14:foregroundMark x1="95100" y1="68806" x2="95100" y2="68806"/>
                        <a14:foregroundMark x1="80200" y1="59358" x2="80200" y2="59358"/>
                        <a14:foregroundMark x1="85100" y1="50624" x2="85100" y2="50624"/>
                        <a14:foregroundMark x1="79000" y1="56328" x2="79000" y2="56328"/>
                        <a14:foregroundMark x1="78800" y1="69340" x2="78800" y2="69340"/>
                        <a14:foregroundMark x1="84400" y1="77540" x2="84400" y2="77540"/>
                        <a14:foregroundMark x1="77600" y1="78075" x2="77600" y2="78075"/>
                        <a14:foregroundMark x1="74800" y1="66310" x2="74800" y2="66310"/>
                        <a14:foregroundMark x1="74800" y1="66310" x2="74800" y2="66310"/>
                        <a14:foregroundMark x1="76700" y1="53832" x2="76700" y2="53832"/>
                        <a14:foregroundMark x1="77600" y1="45989" x2="77600" y2="45989"/>
                        <a14:foregroundMark x1="78800" y1="41533" x2="78800" y2="41533"/>
                        <a14:foregroundMark x1="78300" y1="30303" x2="78300" y2="30303"/>
                        <a14:foregroundMark x1="79000" y1="43494" x2="79000" y2="43494"/>
                        <a14:foregroundMark x1="87600" y1="45989" x2="87600" y2="45989"/>
                        <a14:foregroundMark x1="88100" y1="60071" x2="88100" y2="60071"/>
                        <a14:foregroundMark x1="88100" y1="69340" x2="88100" y2="69340"/>
                        <a14:foregroundMark x1="85800" y1="74332" x2="85800" y2="74332"/>
                        <a14:foregroundMark x1="27000" y1="67558" x2="27000" y2="67558"/>
                        <a14:foregroundMark x1="11900" y1="67558" x2="11900" y2="67558"/>
                        <a14:foregroundMark x1="45700" y1="60963" x2="46400" y2="61319"/>
                        <a14:foregroundMark x1="65500" y1="61854" x2="65500" y2="61854"/>
                        <a14:foregroundMark x1="81100" y1="49020" x2="81100" y2="49020"/>
                        <a14:foregroundMark x1="95500" y1="58824" x2="95500" y2="58824"/>
                        <a14:foregroundMark x1="33600" y1="65597" x2="33600" y2="65597"/>
                        <a14:foregroundMark x1="4000" y1="76827" x2="4000" y2="76827"/>
                        <a14:backgroundMark x1="40800" y1="14439" x2="40800" y2="14439"/>
                        <a14:backgroundMark x1="40300" y1="82175" x2="40300" y2="82175"/>
                      </a14:backgroundRemoval>
                    </a14:imgEffect>
                  </a14:imgLayer>
                </a14:imgProps>
              </a:ext>
              <a:ext uri="{28A0092B-C50C-407E-A947-70E740481C1C}">
                <a14:useLocalDpi xmlns:a14="http://schemas.microsoft.com/office/drawing/2010/main" val="0"/>
              </a:ext>
            </a:extLst>
          </a:blip>
          <a:srcRect/>
          <a:stretch>
            <a:fillRect/>
          </a:stretch>
        </p:blipFill>
        <p:spPr bwMode="auto">
          <a:xfrm>
            <a:off x="7280988" y="1092373"/>
            <a:ext cx="2659224" cy="149182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hasCustomPrompt="1"/>
          </p:nvPr>
        </p:nvSpPr>
        <p:spPr>
          <a:xfrm>
            <a:off x="5748530" y="2680396"/>
            <a:ext cx="5847122" cy="910888"/>
          </a:xfrm>
          <a:prstGeom prst="rect">
            <a:avLst/>
          </a:prstGeom>
        </p:spPr>
        <p:txBody>
          <a:bodyPr anchor="b"/>
          <a:lstStyle>
            <a:lvl1pPr algn="ctr">
              <a:defRPr lang="zh-CN" altLang="en-US" sz="4800" kern="1200" dirty="0">
                <a:solidFill>
                  <a:schemeClr val="accent1">
                    <a:lumMod val="50000"/>
                  </a:schemeClr>
                </a:solidFill>
                <a:latin typeface="+mn-lt"/>
                <a:ea typeface="+mn-ea"/>
                <a:cs typeface="+mn-ea"/>
              </a:defRPr>
            </a:lvl1pPr>
          </a:lstStyle>
          <a:p>
            <a:r>
              <a:rPr lang="zh-CN" altLang="en-US" dirty="0"/>
              <a:t>编辑母版标题样式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grpSp>
        <p:nvGrpSpPr>
          <p:cNvPr id="8" name="组合 7"/>
          <p:cNvGrpSpPr/>
          <p:nvPr userDrawn="1"/>
        </p:nvGrpSpPr>
        <p:grpSpPr>
          <a:xfrm>
            <a:off x="1055440" y="548680"/>
            <a:ext cx="4024195" cy="5832123"/>
            <a:chOff x="1559496" y="764704"/>
            <a:chExt cx="3849496" cy="5578937"/>
          </a:xfrm>
        </p:grpSpPr>
        <p:pic>
          <p:nvPicPr>
            <p:cNvPr id="9" name="图片 8"/>
            <p:cNvPicPr>
              <a:picLocks noChangeAspect="1"/>
            </p:cNvPicPr>
            <p:nvPr/>
          </p:nvPicPr>
          <p:blipFill>
            <a:blip r:embed="rId6" cstate="screen"/>
            <a:stretch>
              <a:fillRect/>
            </a:stretch>
          </p:blipFill>
          <p:spPr>
            <a:xfrm>
              <a:off x="1559496" y="764704"/>
              <a:ext cx="3849496" cy="5027851"/>
            </a:xfrm>
            <a:prstGeom prst="rect">
              <a:avLst/>
            </a:prstGeom>
          </p:spPr>
        </p:pic>
        <p:pic>
          <p:nvPicPr>
            <p:cNvPr id="10" name="图片 9"/>
            <p:cNvPicPr>
              <a:picLocks noChangeAspect="1"/>
            </p:cNvPicPr>
            <p:nvPr/>
          </p:nvPicPr>
          <p:blipFill>
            <a:blip r:embed="rId7" cstate="screen"/>
            <a:stretch>
              <a:fillRect/>
            </a:stretch>
          </p:blipFill>
          <p:spPr>
            <a:xfrm>
              <a:off x="1991544" y="3573016"/>
              <a:ext cx="2839740" cy="2770625"/>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800"/>
                                        <p:tgtEl>
                                          <p:spTgt spid="8"/>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致谢@张平">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stretch>
            <a:fillRect/>
          </a:stretch>
        </p:blipFill>
        <p:spPr>
          <a:xfrm>
            <a:off x="6096000" y="675456"/>
            <a:ext cx="6048672" cy="6858000"/>
          </a:xfrm>
          <a:prstGeom prst="rect">
            <a:avLst/>
          </a:prstGeom>
        </p:spPr>
      </p:pic>
      <p:grpSp>
        <p:nvGrpSpPr>
          <p:cNvPr id="4" name="组合 3"/>
          <p:cNvGrpSpPr/>
          <p:nvPr userDrawn="1"/>
        </p:nvGrpSpPr>
        <p:grpSpPr>
          <a:xfrm>
            <a:off x="1008622" y="620688"/>
            <a:ext cx="3863242" cy="5598859"/>
            <a:chOff x="1559496" y="764704"/>
            <a:chExt cx="3849496" cy="5578937"/>
          </a:xfrm>
        </p:grpSpPr>
        <p:pic>
          <p:nvPicPr>
            <p:cNvPr id="5" name="图片 4"/>
            <p:cNvPicPr>
              <a:picLocks noChangeAspect="1"/>
            </p:cNvPicPr>
            <p:nvPr/>
          </p:nvPicPr>
          <p:blipFill>
            <a:blip r:embed="rId3" cstate="screen"/>
            <a:stretch>
              <a:fillRect/>
            </a:stretch>
          </p:blipFill>
          <p:spPr>
            <a:xfrm>
              <a:off x="1559496" y="764704"/>
              <a:ext cx="3849496" cy="5027851"/>
            </a:xfrm>
            <a:prstGeom prst="rect">
              <a:avLst/>
            </a:prstGeom>
          </p:spPr>
        </p:pic>
        <p:pic>
          <p:nvPicPr>
            <p:cNvPr id="6" name="图片 5"/>
            <p:cNvPicPr>
              <a:picLocks noChangeAspect="1"/>
            </p:cNvPicPr>
            <p:nvPr/>
          </p:nvPicPr>
          <p:blipFill>
            <a:blip r:embed="rId4" cstate="screen"/>
            <a:stretch>
              <a:fillRect/>
            </a:stretch>
          </p:blipFill>
          <p:spPr>
            <a:xfrm>
              <a:off x="1991544" y="3573016"/>
              <a:ext cx="2839740" cy="2770625"/>
            </a:xfrm>
            <a:prstGeom prst="rect">
              <a:avLst/>
            </a:prstGeom>
          </p:spPr>
        </p:pic>
      </p:grpSp>
      <p:sp>
        <p:nvSpPr>
          <p:cNvPr id="7" name="矩形 6"/>
          <p:cNvSpPr/>
          <p:nvPr userDrawn="1"/>
        </p:nvSpPr>
        <p:spPr>
          <a:xfrm>
            <a:off x="4673753" y="4127826"/>
            <a:ext cx="7047057" cy="646331"/>
          </a:xfrm>
          <a:prstGeom prst="rect">
            <a:avLst/>
          </a:prstGeom>
        </p:spPr>
        <p:txBody>
          <a:bodyPr wrap="none">
            <a:spAutoFit/>
          </a:bodyPr>
          <a:lstStyle/>
          <a:p>
            <a:pPr algn="dist"/>
            <a:r>
              <a:rPr lang="en-US" altLang="zh-CN" sz="3600" dirty="0">
                <a:solidFill>
                  <a:schemeClr val="accent1">
                    <a:lumMod val="50000"/>
                  </a:schemeClr>
                </a:solidFill>
                <a:latin typeface="Arial Black" panose="020B0A04020102020204" pitchFamily="34" charset="0"/>
                <a:cs typeface="+mn-ea"/>
                <a:sym typeface="+mn-lt"/>
              </a:rPr>
              <a:t>Thanks for your attention</a:t>
            </a:r>
            <a:r>
              <a:rPr lang="zh-CN" altLang="en-US" sz="3600" dirty="0">
                <a:solidFill>
                  <a:schemeClr val="accent1">
                    <a:lumMod val="50000"/>
                  </a:schemeClr>
                </a:solidFill>
                <a:latin typeface="Arial Black" panose="020B0A04020102020204" pitchFamily="34" charset="0"/>
                <a:cs typeface="+mn-ea"/>
                <a:sym typeface="+mn-lt"/>
              </a:rPr>
              <a:t>！</a:t>
            </a:r>
            <a:endParaRPr lang="zh-CN" altLang="en-US" sz="3600" dirty="0">
              <a:solidFill>
                <a:schemeClr val="accent1">
                  <a:lumMod val="50000"/>
                </a:schemeClr>
              </a:solidFill>
              <a:latin typeface="Arial Black" panose="020B0A04020102020204" pitchFamily="34" charset="0"/>
              <a:cs typeface="+mn-ea"/>
              <a:sym typeface="+mn-lt"/>
            </a:endParaRPr>
          </a:p>
        </p:txBody>
      </p:sp>
      <p:pic>
        <p:nvPicPr>
          <p:cNvPr id="8" name="图片 7"/>
          <p:cNvPicPr>
            <a:picLocks noChangeAspect="1"/>
          </p:cNvPicPr>
          <p:nvPr userDrawn="1"/>
        </p:nvPicPr>
        <p:blipFill>
          <a:blip r:embed="rId5" cstate="screen"/>
          <a:stretch>
            <a:fillRect/>
          </a:stretch>
        </p:blipFill>
        <p:spPr>
          <a:xfrm flipH="1">
            <a:off x="47328" y="675456"/>
            <a:ext cx="6408712" cy="6858000"/>
          </a:xfrm>
          <a:prstGeom prst="rect">
            <a:avLst/>
          </a:prstGeom>
        </p:spPr>
      </p:pic>
      <p:pic>
        <p:nvPicPr>
          <p:cNvPr id="9" name="Picture 2" descr="https://gimg2.baidu.com/image_search/src=http%3A%2F%2Fupload-images.jianshu.io%2Fupload_images%2F4328762-883f350af13e526d.png&amp;refer=http%3A%2F%2Fupload-images.jianshu.io&amp;app=2002&amp;size=f9999,10000&amp;q=a80&amp;n=0&amp;g=0n&amp;fmt=auto?sec=1667461827&amp;t=4fe55b94f212f72e189c7ea51652be85"/>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9804" b="89840" l="4000" r="95500">
                        <a14:foregroundMark x1="4900" y1="33155" x2="4900" y2="33155"/>
                        <a14:foregroundMark x1="84800" y1="62210" x2="84800" y2="62210"/>
                        <a14:foregroundMark x1="72200" y1="83422" x2="72200" y2="83422"/>
                        <a14:foregroundMark x1="93500" y1="83422" x2="93500" y2="83422"/>
                        <a14:foregroundMark x1="81300" y1="51515" x2="81300" y2="51515"/>
                        <a14:foregroundMark x1="76200" y1="60963" x2="76200" y2="60963"/>
                        <a14:foregroundMark x1="76700" y1="72193" x2="77400" y2="74688"/>
                        <a14:foregroundMark x1="81300" y1="81818" x2="81300" y2="81818"/>
                        <a14:foregroundMark x1="85300" y1="29768" x2="85300" y2="29768"/>
                        <a14:foregroundMark x1="62700" y1="39394" x2="62700" y2="39394"/>
                        <a14:foregroundMark x1="52000" y1="44385" x2="52000" y2="44385"/>
                        <a14:foregroundMark x1="37100" y1="45276" x2="37100" y2="45276"/>
                        <a14:foregroundMark x1="19600" y1="45276" x2="19600" y2="45276"/>
                        <a14:foregroundMark x1="20500" y1="23529" x2="20500" y2="23529"/>
                        <a14:foregroundMark x1="84800" y1="67201" x2="84800" y2="67201"/>
                        <a14:foregroundMark x1="80400" y1="65062" x2="80400" y2="65062"/>
                        <a14:foregroundMark x1="79500" y1="48485" x2="79500" y2="48485"/>
                        <a14:foregroundMark x1="95100" y1="68806" x2="95100" y2="68806"/>
                        <a14:foregroundMark x1="80200" y1="59358" x2="80200" y2="59358"/>
                        <a14:foregroundMark x1="85100" y1="50624" x2="85100" y2="50624"/>
                        <a14:foregroundMark x1="79000" y1="56328" x2="79000" y2="56328"/>
                        <a14:foregroundMark x1="78800" y1="69340" x2="78800" y2="69340"/>
                        <a14:foregroundMark x1="84400" y1="77540" x2="84400" y2="77540"/>
                        <a14:foregroundMark x1="77600" y1="78075" x2="77600" y2="78075"/>
                        <a14:foregroundMark x1="74800" y1="66310" x2="74800" y2="66310"/>
                        <a14:foregroundMark x1="74800" y1="66310" x2="74800" y2="66310"/>
                        <a14:foregroundMark x1="76700" y1="53832" x2="76700" y2="53832"/>
                        <a14:foregroundMark x1="77600" y1="45989" x2="77600" y2="45989"/>
                        <a14:foregroundMark x1="78800" y1="41533" x2="78800" y2="41533"/>
                        <a14:foregroundMark x1="78300" y1="30303" x2="78300" y2="30303"/>
                        <a14:foregroundMark x1="79000" y1="43494" x2="79000" y2="43494"/>
                        <a14:foregroundMark x1="87600" y1="45989" x2="87600" y2="45989"/>
                        <a14:foregroundMark x1="88100" y1="60071" x2="88100" y2="60071"/>
                        <a14:foregroundMark x1="88100" y1="69340" x2="88100" y2="69340"/>
                        <a14:foregroundMark x1="85800" y1="74332" x2="85800" y2="74332"/>
                        <a14:foregroundMark x1="27000" y1="67558" x2="27000" y2="67558"/>
                        <a14:foregroundMark x1="11900" y1="67558" x2="11900" y2="67558"/>
                        <a14:foregroundMark x1="45700" y1="60963" x2="46400" y2="61319"/>
                        <a14:foregroundMark x1="65500" y1="61854" x2="65500" y2="61854"/>
                        <a14:foregroundMark x1="81100" y1="49020" x2="81100" y2="49020"/>
                        <a14:foregroundMark x1="95500" y1="58824" x2="95500" y2="58824"/>
                        <a14:foregroundMark x1="33600" y1="65597" x2="33600" y2="65597"/>
                        <a14:foregroundMark x1="4000" y1="76827" x2="4000" y2="76827"/>
                        <a14:backgroundMark x1="40800" y1="14439" x2="40800" y2="14439"/>
                        <a14:backgroundMark x1="40300" y1="82175" x2="40300" y2="82175"/>
                      </a14:backgroundRemoval>
                    </a14:imgEffect>
                  </a14:imgLayer>
                </a14:imgProps>
              </a:ext>
              <a:ext uri="{28A0092B-C50C-407E-A947-70E740481C1C}">
                <a14:useLocalDpi xmlns:a14="http://schemas.microsoft.com/office/drawing/2010/main" val="0"/>
              </a:ext>
            </a:extLst>
          </a:blip>
          <a:srcRect/>
          <a:stretch>
            <a:fillRect/>
          </a:stretch>
        </p:blipFill>
        <p:spPr bwMode="auto">
          <a:xfrm>
            <a:off x="6334599" y="1331453"/>
            <a:ext cx="3850696" cy="2160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800"/>
                                        <p:tgtEl>
                                          <p:spTgt spid="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500"/>
                            </p:stCondLst>
                            <p:childTnLst>
                              <p:par>
                                <p:cTn id="13" presetID="42"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600"/>
                                        <p:tgtEl>
                                          <p:spTgt spid="7"/>
                                        </p:tgtEl>
                                      </p:cBhvr>
                                    </p:animEffect>
                                    <p:anim calcmode="lin" valueType="num">
                                      <p:cBhvr>
                                        <p:cTn id="16" dur="1600" fill="hold"/>
                                        <p:tgtEl>
                                          <p:spTgt spid="7"/>
                                        </p:tgtEl>
                                        <p:attrNameLst>
                                          <p:attrName>ppt_x</p:attrName>
                                        </p:attrNameLst>
                                      </p:cBhvr>
                                      <p:tavLst>
                                        <p:tav tm="0">
                                          <p:val>
                                            <p:strVal val="#ppt_x"/>
                                          </p:val>
                                        </p:tav>
                                        <p:tav tm="100000">
                                          <p:val>
                                            <p:strVal val="#ppt_x"/>
                                          </p:val>
                                        </p:tav>
                                      </p:tavLst>
                                    </p:anim>
                                    <p:anim calcmode="lin" valueType="num">
                                      <p:cBhvr>
                                        <p:cTn id="17" dur="1600" fill="hold"/>
                                        <p:tgtEl>
                                          <p:spTgt spid="7"/>
                                        </p:tgtEl>
                                        <p:attrNameLst>
                                          <p:attrName>ppt_y</p:attrName>
                                        </p:attrNameLst>
                                      </p:cBhvr>
                                      <p:tavLst>
                                        <p:tav tm="0">
                                          <p:val>
                                            <p:strVal val="#ppt_y+.1"/>
                                          </p:val>
                                        </p:tav>
                                        <p:tav tm="100000">
                                          <p:val>
                                            <p:strVal val="#ppt_y"/>
                                          </p:val>
                                        </p:tav>
                                      </p:tavLst>
                                    </p:anim>
                                  </p:childTnLst>
                                </p:cTn>
                              </p:par>
                            </p:childTnLst>
                          </p:cTn>
                        </p:par>
                        <p:par>
                          <p:cTn id="18" fill="hold">
                            <p:stCondLst>
                              <p:cond delay="3500"/>
                            </p:stCondLst>
                            <p:childTnLst>
                              <p:par>
                                <p:cTn id="19" presetID="26" presetClass="emph" presetSubtype="0" fill="hold" grpId="1" nodeType="afterEffect">
                                  <p:stCondLst>
                                    <p:cond delay="0"/>
                                  </p:stCondLst>
                                  <p:childTnLst>
                                    <p:animEffect transition="out" filter="fade">
                                      <p:cBhvr>
                                        <p:cTn id="20" dur="500" tmFilter="0, 0; .2, .5; .8, .5; 1, 0"/>
                                        <p:tgtEl>
                                          <p:spTgt spid="7"/>
                                        </p:tgtEl>
                                      </p:cBhvr>
                                    </p:animEffect>
                                    <p:animScale>
                                      <p:cBhvr>
                                        <p:cTn id="21"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
        <p:nvSpPr>
          <p:cNvPr id="11" name="TextBox 10"/>
          <p:cNvSpPr txBox="1"/>
          <p:nvPr userDrawn="1"/>
        </p:nvSpPr>
        <p:spPr>
          <a:xfrm>
            <a:off x="911424" y="6717034"/>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black"/>
                </a:solidFill>
                <a:effectLst/>
                <a:uLnTx/>
                <a:uFillTx/>
                <a:hlinkClick r:id="rId2"/>
              </a:rPr>
              <a:t>行业</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en-US" altLang="zh-CN" sz="100" b="0" i="0" u="none" strike="noStrike" kern="0" cap="none" spc="0" normalizeH="0" baseline="0" noProof="0" dirty="0">
                <a:ln>
                  <a:noFill/>
                </a:ln>
                <a:solidFill>
                  <a:prstClr val="black"/>
                </a:solidFill>
                <a:effectLst/>
                <a:uLnTx/>
                <a:uFillTx/>
              </a:rPr>
              <a:t>http://www.1ppt.com/hangye/</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98B5535-6453-4045-A675-64EF0EEF373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B170005-BF01-4CE9-B7C9-81848EC8733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2" name="Title 1"/>
          <p:cNvSpPr>
            <a:spLocks noGrp="1"/>
          </p:cNvSpPr>
          <p:nvPr>
            <p:ph type="ctrTitle"/>
          </p:nvPr>
        </p:nvSpPr>
        <p:spPr>
          <a:xfrm>
            <a:off x="1524000" y="1122363"/>
            <a:ext cx="9144000" cy="2387600"/>
          </a:xfrm>
          <a:prstGeom prst="rect">
            <a:avLst/>
          </a:prstGeom>
        </p:spPr>
        <p:txBody>
          <a:bodyPr anchor="b"/>
          <a:lstStyle>
            <a:lvl1pPr algn="ctr">
              <a:defRPr sz="6000">
                <a:latin typeface="楷体" panose="02010609060101010101" pitchFamily="49" charset="-122"/>
                <a:ea typeface="楷体" panose="02010609060101010101" pitchFamily="49" charset="-122"/>
              </a:defRPr>
            </a:lvl1pPr>
          </a:lstStyle>
          <a:p>
            <a:r>
              <a:rPr lang="zh-CN" altLang="en-US"/>
              <a:t>单击此处编辑母版标题样式</a:t>
            </a:r>
            <a:endParaRPr lang="en-US" dirty="0"/>
          </a:p>
        </p:txBody>
      </p:sp>
      <p:sp>
        <p:nvSpPr>
          <p:cNvPr id="14" name="Subtitle 2"/>
          <p:cNvSpPr>
            <a:spLocks noGrp="1"/>
          </p:cNvSpPr>
          <p:nvPr>
            <p:ph type="subTitle" idx="1"/>
          </p:nvPr>
        </p:nvSpPr>
        <p:spPr>
          <a:xfrm>
            <a:off x="1524000" y="3773714"/>
            <a:ext cx="9144000" cy="1484086"/>
          </a:xfrm>
          <a:prstGeom prst="rect">
            <a:avLst/>
          </a:prstGeom>
        </p:spPr>
        <p:txBody>
          <a:bodyPr>
            <a:normAutofit/>
          </a:bodyPr>
          <a:lstStyle>
            <a:lvl1pPr marL="0" indent="0" algn="ctr">
              <a:buNone/>
              <a:defRPr sz="3200">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5" name="Date Placeholder 3"/>
          <p:cNvSpPr>
            <a:spLocks noGrp="1"/>
          </p:cNvSpPr>
          <p:nvPr>
            <p:ph type="dt" sz="half" idx="10"/>
          </p:nvPr>
        </p:nvSpPr>
        <p:spPr>
          <a:xfrm>
            <a:off x="838200" y="6356350"/>
            <a:ext cx="2743200" cy="365125"/>
          </a:xfrm>
          <a:prstGeom prst="rect">
            <a:avLst/>
          </a:prstGeom>
        </p:spPr>
        <p:txBody>
          <a:bodyPr/>
          <a:lstStyle/>
          <a:p>
            <a:endParaRPr lang="zh-CN" altLang="en-US" dirty="0"/>
          </a:p>
        </p:txBody>
      </p:sp>
      <p:sp>
        <p:nvSpPr>
          <p:cNvPr id="17"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8" name="Slide Number Placeholder 5"/>
          <p:cNvSpPr>
            <a:spLocks noGrp="1"/>
          </p:cNvSpPr>
          <p:nvPr>
            <p:ph type="sldNum" sz="quarter" idx="12"/>
          </p:nvPr>
        </p:nvSpPr>
        <p:spPr>
          <a:xfrm>
            <a:off x="8610600" y="6356350"/>
            <a:ext cx="2743200" cy="365125"/>
          </a:xfrm>
          <a:prstGeom prst="rect">
            <a:avLst/>
          </a:prstGeom>
        </p:spPr>
        <p:txBody>
          <a:bodyPr/>
          <a:lstStyle/>
          <a:p>
            <a:fld id="{2ED8E067-0DD2-4B0E-BBA9-A9574EF6B0DC}" type="slidenum">
              <a:rPr lang="zh-CN" altLang="en-US" smtClean="0"/>
            </a:fld>
            <a:endParaRPr lang="zh-CN" altLang="en-US"/>
          </a:p>
        </p:txBody>
      </p:sp>
      <p:cxnSp>
        <p:nvCxnSpPr>
          <p:cNvPr id="22" name="直接连接符 21"/>
          <p:cNvCxnSpPr/>
          <p:nvPr userDrawn="1"/>
        </p:nvCxnSpPr>
        <p:spPr>
          <a:xfrm>
            <a:off x="0" y="64770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a:off x="1028700" y="476250"/>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0" y="64770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1028700" y="476250"/>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2108353" y="3547050"/>
            <a:ext cx="7873847" cy="0"/>
          </a:xfrm>
          <a:prstGeom prst="line">
            <a:avLst/>
          </a:prstGeom>
          <a:ln w="19050">
            <a:solidFill>
              <a:srgbClr val="002060"/>
            </a:solidFill>
          </a:ln>
          <a:effectLst/>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67831" y="4893382"/>
            <a:ext cx="1256338" cy="1256338"/>
          </a:xfrm>
          <a:prstGeom prst="rect">
            <a:avLst/>
          </a:prstGeom>
        </p:spPr>
      </p:pic>
      <p:cxnSp>
        <p:nvCxnSpPr>
          <p:cNvPr id="28" name="直接连接符 27"/>
          <p:cNvCxnSpPr/>
          <p:nvPr userDrawn="1"/>
        </p:nvCxnSpPr>
        <p:spPr>
          <a:xfrm>
            <a:off x="10335491" y="635635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10335491" y="635635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10677006" y="6185132"/>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Click="0" advTm="5000">
        <p:random/>
      </p:transition>
    </mc:Choice>
    <mc:Fallback>
      <p:transition spd="slow" advClick="0" advTm="500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5" name="Title 1"/>
          <p:cNvSpPr>
            <a:spLocks noGrp="1"/>
          </p:cNvSpPr>
          <p:nvPr>
            <p:ph type="title"/>
          </p:nvPr>
        </p:nvSpPr>
        <p:spPr>
          <a:xfrm>
            <a:off x="838200" y="8625"/>
            <a:ext cx="10515600" cy="739775"/>
          </a:xfrm>
          <a:prstGeom prst="rect">
            <a:avLst/>
          </a:prstGeom>
        </p:spPr>
        <p:txBody>
          <a:bodyPr>
            <a:normAutofit/>
          </a:bodyPr>
          <a:lstStyle>
            <a:lvl1pPr>
              <a:defRPr sz="3200">
                <a:latin typeface="楷体" panose="02010609060101010101" pitchFamily="49" charset="-122"/>
                <a:ea typeface="楷体" panose="02010609060101010101" pitchFamily="49" charset="-122"/>
              </a:defRPr>
            </a:lvl1pPr>
          </a:lstStyle>
          <a:p>
            <a:r>
              <a:rPr lang="zh-CN" altLang="en-US" dirty="0"/>
              <a:t>单击此处编辑母版标题样式</a:t>
            </a:r>
            <a:endParaRPr lang="en-US" dirty="0"/>
          </a:p>
        </p:txBody>
      </p:sp>
      <p:sp>
        <p:nvSpPr>
          <p:cNvPr id="16" name="Content Placeholder 2"/>
          <p:cNvSpPr>
            <a:spLocks noGrp="1"/>
          </p:cNvSpPr>
          <p:nvPr>
            <p:ph idx="1"/>
          </p:nvPr>
        </p:nvSpPr>
        <p:spPr>
          <a:xfrm>
            <a:off x="838200" y="943276"/>
            <a:ext cx="10515600" cy="52971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7" name="直接连接符 16"/>
          <p:cNvCxnSpPr/>
          <p:nvPr userDrawn="1"/>
        </p:nvCxnSpPr>
        <p:spPr>
          <a:xfrm>
            <a:off x="0" y="759135"/>
            <a:ext cx="10395430" cy="0"/>
          </a:xfrm>
          <a:prstGeom prst="line">
            <a:avLst/>
          </a:prstGeom>
          <a:ln w="15875">
            <a:solidFill>
              <a:srgbClr val="002060">
                <a:alpha val="7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711215" y="0"/>
            <a:ext cx="0" cy="943276"/>
          </a:xfrm>
          <a:prstGeom prst="line">
            <a:avLst/>
          </a:prstGeom>
          <a:ln w="15875">
            <a:solidFill>
              <a:srgbClr val="002060">
                <a:alpha val="7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0" y="6476400"/>
            <a:ext cx="12192000" cy="0"/>
          </a:xfrm>
          <a:prstGeom prst="line">
            <a:avLst/>
          </a:prstGeom>
          <a:ln w="15875">
            <a:solidFill>
              <a:srgbClr val="002060">
                <a:alpha val="70000"/>
              </a:srgbClr>
            </a:solidFill>
          </a:ln>
          <a:effectLst/>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9608509" y="6488668"/>
            <a:ext cx="2500883" cy="369332"/>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zh-CN" b="0" dirty="0">
                <a:effectLst/>
                <a:latin typeface="楷体" panose="02010609060101010101" pitchFamily="49" charset="-122"/>
                <a:ea typeface="楷体" panose="02010609060101010101" pitchFamily="49" charset="-122"/>
                <a:cs typeface="Times New Roman" panose="02020603050405020304" pitchFamily="18" charset="0"/>
              </a:rPr>
              <a:t>Linux</a:t>
            </a:r>
            <a:r>
              <a:rPr lang="zh-CN" altLang="en-US" b="0" dirty="0">
                <a:effectLst/>
                <a:latin typeface="楷体" panose="02010609060101010101" pitchFamily="49" charset="-122"/>
                <a:ea typeface="楷体" panose="02010609060101010101" pitchFamily="49" charset="-122"/>
                <a:cs typeface="Times New Roman" panose="02020603050405020304" pitchFamily="18" charset="0"/>
              </a:rPr>
              <a:t>操作系统</a:t>
            </a:r>
            <a:r>
              <a:rPr lang="en-US" altLang="zh-CN" b="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b="0" dirty="0">
                <a:effectLst/>
                <a:latin typeface="楷体" panose="02010609060101010101" pitchFamily="49" charset="-122"/>
                <a:ea typeface="楷体" panose="02010609060101010101" pitchFamily="49" charset="-122"/>
                <a:cs typeface="Times New Roman" panose="02020603050405020304" pitchFamily="18" charset="0"/>
              </a:rPr>
              <a:t>张平</a:t>
            </a:r>
            <a:endParaRPr lang="zh-CN" altLang="en-US" b="0" dirty="0">
              <a:effectLst/>
              <a:latin typeface="楷体" panose="02010609060101010101" pitchFamily="49" charset="-122"/>
              <a:ea typeface="楷体" panose="02010609060101010101" pitchFamily="49" charset="-122"/>
              <a:cs typeface="Times New Roman" panose="02020603050405020304" pitchFamily="18" charset="0"/>
            </a:endParaRPr>
          </a:p>
        </p:txBody>
      </p:sp>
      <p:cxnSp>
        <p:nvCxnSpPr>
          <p:cNvPr id="22" name="直接连接符 21"/>
          <p:cNvCxnSpPr/>
          <p:nvPr userDrawn="1"/>
        </p:nvCxnSpPr>
        <p:spPr>
          <a:xfrm>
            <a:off x="9583397" y="6476399"/>
            <a:ext cx="0" cy="381601"/>
          </a:xfrm>
          <a:prstGeom prst="line">
            <a:avLst/>
          </a:prstGeom>
          <a:ln w="15875">
            <a:solidFill>
              <a:srgbClr val="002060">
                <a:alpha val="70000"/>
              </a:srgb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2"/>
          <a:stretch>
            <a:fillRect/>
          </a:stretch>
        </p:blipFill>
        <p:spPr>
          <a:xfrm>
            <a:off x="118045" y="107386"/>
            <a:ext cx="504000" cy="542252"/>
          </a:xfrm>
          <a:prstGeom prst="rect">
            <a:avLst/>
          </a:prstGeom>
        </p:spPr>
      </p:pic>
      <p:pic>
        <p:nvPicPr>
          <p:cNvPr id="24" name="图片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76578" y="206542"/>
            <a:ext cx="1105186" cy="110518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5000">
        <p:random/>
      </p:transition>
    </mc:Choice>
    <mc:Fallback>
      <p:transition spd="slow" advClick="0" advTm="500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2" name="Date Placeholder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23"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24" name="Slide Number Placeholder 5"/>
          <p:cNvSpPr>
            <a:spLocks noGrp="1"/>
          </p:cNvSpPr>
          <p:nvPr>
            <p:ph type="sldNum" sz="quarter" idx="12"/>
          </p:nvPr>
        </p:nvSpPr>
        <p:spPr>
          <a:xfrm>
            <a:off x="8610600" y="6356350"/>
            <a:ext cx="2743200" cy="365125"/>
          </a:xfrm>
          <a:prstGeom prst="rect">
            <a:avLst/>
          </a:prstGeom>
        </p:spPr>
        <p:txBody>
          <a:bodyPr/>
          <a:lstStyle/>
          <a:p>
            <a:fld id="{2ED8E067-0DD2-4B0E-BBA9-A9574EF6B0DC}" type="slidenum">
              <a:rPr lang="zh-CN" altLang="en-US" smtClean="0"/>
            </a:fld>
            <a:endParaRPr lang="zh-CN" altLang="en-US"/>
          </a:p>
        </p:txBody>
      </p:sp>
      <p:cxnSp>
        <p:nvCxnSpPr>
          <p:cNvPr id="25" name="直接连接符 24"/>
          <p:cNvCxnSpPr/>
          <p:nvPr userDrawn="1"/>
        </p:nvCxnSpPr>
        <p:spPr>
          <a:xfrm>
            <a:off x="2209800" y="3509963"/>
            <a:ext cx="7772400" cy="15631"/>
          </a:xfrm>
          <a:prstGeom prst="line">
            <a:avLst/>
          </a:prstGeom>
          <a:ln>
            <a:solidFill>
              <a:schemeClr val="bg1">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2209800" y="3509963"/>
            <a:ext cx="7772400" cy="15631"/>
          </a:xfrm>
          <a:prstGeom prst="line">
            <a:avLst/>
          </a:prstGeom>
          <a:ln>
            <a:solidFill>
              <a:srgbClr val="002060"/>
            </a:solidFill>
          </a:ln>
          <a:effectLst/>
        </p:spPr>
        <p:style>
          <a:lnRef idx="1">
            <a:schemeClr val="accent1"/>
          </a:lnRef>
          <a:fillRef idx="0">
            <a:schemeClr val="accent1"/>
          </a:fillRef>
          <a:effectRef idx="0">
            <a:schemeClr val="accent1"/>
          </a:effectRef>
          <a:fontRef idx="minor">
            <a:schemeClr val="tx1"/>
          </a:fontRef>
        </p:style>
      </p:cxnSp>
      <p:sp>
        <p:nvSpPr>
          <p:cNvPr id="27" name="矩形 26"/>
          <p:cNvSpPr/>
          <p:nvPr userDrawn="1"/>
        </p:nvSpPr>
        <p:spPr>
          <a:xfrm>
            <a:off x="2001868" y="2586633"/>
            <a:ext cx="8188268" cy="923330"/>
          </a:xfrm>
          <a:prstGeom prst="rect">
            <a:avLst/>
          </a:prstGeom>
          <a:noFill/>
        </p:spPr>
        <p:txBody>
          <a:bodyPr wrap="none" lIns="91440" tIns="45720" rIns="91440" bIns="45720">
            <a:spAutoFit/>
          </a:bodyPr>
          <a:lstStyle/>
          <a:p>
            <a:pPr algn="ctr"/>
            <a:r>
              <a:rPr lang="en-US" altLang="zh-CN" sz="5400" b="1" dirty="0">
                <a:ln w="12700" cmpd="sng">
                  <a:solidFill>
                    <a:schemeClr val="accent4"/>
                  </a:solidFill>
                  <a:prstDash val="solid"/>
                </a:ln>
                <a:solidFill>
                  <a:schemeClr val="tx1"/>
                </a:solidFill>
              </a:rPr>
              <a:t>Thanks for your attention</a:t>
            </a:r>
            <a:r>
              <a:rPr lang="zh-CN" altLang="en-US" sz="5400" b="1" dirty="0">
                <a:ln w="12700" cmpd="sng">
                  <a:solidFill>
                    <a:schemeClr val="accent4"/>
                  </a:solidFill>
                  <a:prstDash val="solid"/>
                </a:ln>
                <a:solidFill>
                  <a:schemeClr val="tx1"/>
                </a:solidFill>
              </a:rPr>
              <a:t>！</a:t>
            </a:r>
            <a:endParaRPr lang="zh-CN" altLang="en-US" sz="5400" b="1" dirty="0">
              <a:ln w="12700" cmpd="sng">
                <a:solidFill>
                  <a:schemeClr val="accent4"/>
                </a:solidFill>
                <a:prstDash val="solid"/>
              </a:ln>
              <a:solidFill>
                <a:schemeClr val="tx1"/>
              </a:solidFill>
            </a:endParaRPr>
          </a:p>
        </p:txBody>
      </p:sp>
      <p:pic>
        <p:nvPicPr>
          <p:cNvPr id="28" name="图片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3140" y="4119033"/>
            <a:ext cx="1256338" cy="1256338"/>
          </a:xfrm>
          <a:prstGeom prst="rect">
            <a:avLst/>
          </a:prstGeom>
        </p:spPr>
      </p:pic>
      <p:cxnSp>
        <p:nvCxnSpPr>
          <p:cNvPr id="29" name="直接连接符 28"/>
          <p:cNvCxnSpPr/>
          <p:nvPr userDrawn="1"/>
        </p:nvCxnSpPr>
        <p:spPr>
          <a:xfrm>
            <a:off x="10335491" y="635635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10335491" y="635635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10677006" y="6185132"/>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0" y="64770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1028700" y="476250"/>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0" y="647700"/>
            <a:ext cx="1524000" cy="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a:off x="1028700" y="476250"/>
            <a:ext cx="0" cy="342900"/>
          </a:xfrm>
          <a:prstGeom prst="line">
            <a:avLst/>
          </a:prstGeom>
          <a:ln w="19050">
            <a:solidFill>
              <a:srgbClr val="002060">
                <a:alpha val="8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Click="0" advTm="5000">
        <p:random/>
      </p:transition>
    </mc:Choice>
    <mc:Fallback>
      <p:transition spd="slow" advClick="0" advTm="5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8.jpeg"/><Relationship Id="rId21" Type="http://schemas.openxmlformats.org/officeDocument/2006/relationships/image" Target="../media/image10.png"/><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3"/>
          <p:cNvPicPr>
            <a:picLocks noChangeAspect="1"/>
          </p:cNvPicPr>
          <p:nvPr userDrawn="1"/>
        </p:nvPicPr>
        <p:blipFill>
          <a:blip r:embed="rId21" cstate="screen"/>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userDrawn="1"/>
        </p:nvSpPr>
        <p:spPr>
          <a:xfrm>
            <a:off x="263352" y="260648"/>
            <a:ext cx="11665296" cy="633670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632504" y="5330545"/>
            <a:ext cx="1105186" cy="11051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mc:AlternateContent xmlns:mc="http://schemas.openxmlformats.org/markup-compatibility/2006">
    <mc:Choice xmlns:p14="http://schemas.microsoft.com/office/powerpoint/2010/main" Requires="p14">
      <p:transition spd="slow" p14:dur="1500" advClick="0" advTm="5000">
        <p:random/>
      </p:transition>
    </mc:Choice>
    <mc:Fallback>
      <p:transition spd="slow" advClick="0" advTm="5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jpe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4.xml"/><Relationship Id="rId5" Type="http://schemas.openxmlformats.org/officeDocument/2006/relationships/image" Target="../media/image24.jpeg"/><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31.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dirty="0"/>
              <a:t>Linux</a:t>
            </a:r>
            <a:r>
              <a:rPr lang="zh-CN" altLang="en-US" dirty="0"/>
              <a:t>概述</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chemeClr val="accent1">
                    <a:lumMod val="50000"/>
                  </a:schemeClr>
                </a:solidFill>
              </a:rPr>
              <a:t>什么是</a:t>
            </a:r>
            <a:r>
              <a:rPr lang="en-US" altLang="zh-CN" dirty="0">
                <a:solidFill>
                  <a:schemeClr val="accent1">
                    <a:lumMod val="50000"/>
                  </a:schemeClr>
                </a:solidFill>
              </a:rPr>
              <a:t>Linux?</a:t>
            </a:r>
            <a:endParaRPr lang="en-US" altLang="zh-CN" dirty="0">
              <a:solidFill>
                <a:schemeClr val="accent1">
                  <a:lumMod val="50000"/>
                </a:schemeClr>
              </a:solidFill>
            </a:endParaRPr>
          </a:p>
          <a:p>
            <a:r>
              <a:rPr lang="en-US" altLang="zh-CN" dirty="0"/>
              <a:t>Linux</a:t>
            </a:r>
            <a:r>
              <a:rPr lang="zh-CN" altLang="en-US" dirty="0"/>
              <a:t>的发展历史</a:t>
            </a:r>
            <a:endParaRPr lang="en-US" altLang="zh-CN" dirty="0"/>
          </a:p>
          <a:p>
            <a:r>
              <a:rPr lang="en-US" altLang="zh-CN" dirty="0"/>
              <a:t>Linux</a:t>
            </a:r>
            <a:r>
              <a:rPr lang="zh-CN" altLang="en-US" dirty="0"/>
              <a:t>操作系统的版本</a:t>
            </a:r>
            <a:endParaRPr lang="en-US" altLang="zh-CN" dirty="0"/>
          </a:p>
          <a:p>
            <a:r>
              <a:rPr lang="en-US" altLang="zh-CN" dirty="0"/>
              <a:t>Linux</a:t>
            </a:r>
            <a:r>
              <a:rPr lang="zh-CN" altLang="en-US" dirty="0"/>
              <a:t>的主要应用领域</a:t>
            </a:r>
            <a:endParaRPr lang="zh-CN" altLang="en-US" dirty="0"/>
          </a:p>
        </p:txBody>
      </p:sp>
      <p:sp>
        <p:nvSpPr>
          <p:cNvPr id="2" name="标题 1"/>
          <p:cNvSpPr>
            <a:spLocks noGrp="1"/>
          </p:cNvSpPr>
          <p:nvPr>
            <p:ph type="title" idx="4294967295"/>
          </p:nvPr>
        </p:nvSpPr>
        <p:spPr>
          <a:xfrm>
            <a:off x="7138553" y="5931381"/>
            <a:ext cx="3172691" cy="457200"/>
          </a:xfrm>
          <a:prstGeom prst="rect">
            <a:avLst/>
          </a:prstGeom>
        </p:spPr>
        <p:txBody>
          <a:bodyPr/>
          <a:lstStyle/>
          <a:p>
            <a:r>
              <a:rPr lang="zh-CN" altLang="en-US" sz="2000" dirty="0"/>
              <a:t>第</a:t>
            </a:r>
            <a:r>
              <a:rPr lang="en-US" altLang="zh-CN" sz="2000" dirty="0"/>
              <a:t>1</a:t>
            </a:r>
            <a:r>
              <a:rPr lang="zh-CN" altLang="en-US" sz="2000" dirty="0"/>
              <a:t>章 </a:t>
            </a:r>
            <a:r>
              <a:rPr lang="en-US" altLang="zh-CN" sz="2000" dirty="0"/>
              <a:t>Linux</a:t>
            </a:r>
            <a:r>
              <a:rPr lang="zh-CN" altLang="en-US" sz="2000" dirty="0"/>
              <a:t>概述</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zh-CN" dirty="0"/>
              <a:t>01</a:t>
            </a:r>
            <a:endParaRPr lang="zh-CN" altLang="en-US" dirty="0"/>
          </a:p>
        </p:txBody>
      </p:sp>
      <p:sp>
        <p:nvSpPr>
          <p:cNvPr id="3" name="标题 2"/>
          <p:cNvSpPr>
            <a:spLocks noGrp="1"/>
          </p:cNvSpPr>
          <p:nvPr>
            <p:ph type="title"/>
          </p:nvPr>
        </p:nvSpPr>
        <p:spPr/>
        <p:txBody>
          <a:bodyPr/>
          <a:lstStyle/>
          <a:p>
            <a:r>
              <a:rPr lang="zh-CN" altLang="en-US" dirty="0"/>
              <a:t>什么是</a:t>
            </a:r>
            <a:r>
              <a:rPr lang="en-US" altLang="zh-CN" dirty="0"/>
              <a:t>Linux</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a:t>
            </a:r>
            <a:r>
              <a:rPr lang="en-US" altLang="zh-CN" dirty="0"/>
              <a:t>Linux</a:t>
            </a:r>
            <a:endParaRPr lang="zh-CN" altLang="en-US" dirty="0"/>
          </a:p>
        </p:txBody>
      </p:sp>
      <p:sp>
        <p:nvSpPr>
          <p:cNvPr id="7" name="内容占位符 6"/>
          <p:cNvSpPr>
            <a:spLocks noGrp="1"/>
          </p:cNvSpPr>
          <p:nvPr>
            <p:ph idx="1"/>
          </p:nvPr>
        </p:nvSpPr>
        <p:spPr/>
        <p:txBody>
          <a:bodyPr/>
          <a:lstStyle/>
          <a:p>
            <a:endParaRPr lang="zh-CN" altLang="en-US"/>
          </a:p>
        </p:txBody>
      </p:sp>
      <p:sp>
        <p:nvSpPr>
          <p:cNvPr id="4" name="矩形 3"/>
          <p:cNvSpPr/>
          <p:nvPr/>
        </p:nvSpPr>
        <p:spPr>
          <a:xfrm>
            <a:off x="969364" y="5871132"/>
            <a:ext cx="3434017" cy="369332"/>
          </a:xfrm>
          <a:prstGeom prst="rect">
            <a:avLst/>
          </a:prstGeom>
        </p:spPr>
        <p:txBody>
          <a:bodyPr wrap="none">
            <a:spAutoFit/>
          </a:bodyPr>
          <a:lstStyle/>
          <a:p>
            <a:r>
              <a:rPr lang="zh-CN" altLang="en-US" dirty="0"/>
              <a:t>https://www.kernel.org/linux.html</a:t>
            </a:r>
            <a:endParaRPr lang="zh-CN" altLang="en-US" dirty="0"/>
          </a:p>
        </p:txBody>
      </p:sp>
      <p:pic>
        <p:nvPicPr>
          <p:cNvPr id="5" name="图片 4"/>
          <p:cNvPicPr>
            <a:picLocks noChangeAspect="1"/>
          </p:cNvPicPr>
          <p:nvPr/>
        </p:nvPicPr>
        <p:blipFill>
          <a:blip r:embed="rId1"/>
          <a:stretch>
            <a:fillRect/>
          </a:stretch>
        </p:blipFill>
        <p:spPr>
          <a:xfrm>
            <a:off x="838200" y="1964724"/>
            <a:ext cx="10515600" cy="3141698"/>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p:txBody>
          <a:bodyPr/>
          <a:lstStyle/>
          <a:p>
            <a:r>
              <a:rPr lang="en-US" altLang="zh-CN" dirty="0"/>
              <a:t>02</a:t>
            </a:r>
            <a:endParaRPr lang="zh-CN" altLang="en-US" dirty="0"/>
          </a:p>
        </p:txBody>
      </p:sp>
      <p:sp>
        <p:nvSpPr>
          <p:cNvPr id="4" name="标题 3"/>
          <p:cNvSpPr>
            <a:spLocks noGrp="1"/>
          </p:cNvSpPr>
          <p:nvPr>
            <p:ph type="title"/>
          </p:nvPr>
        </p:nvSpPr>
        <p:spPr/>
        <p:txBody>
          <a:bodyPr/>
          <a:lstStyle/>
          <a:p>
            <a:r>
              <a:rPr lang="en-US" altLang="zh-CN" dirty="0"/>
              <a:t>Linux</a:t>
            </a:r>
            <a:r>
              <a:rPr lang="zh-CN" altLang="en-US" dirty="0"/>
              <a:t>的发展历史</a:t>
            </a: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的发展历史</a:t>
            </a:r>
            <a:endParaRPr lang="zh-CN" altLang="en-US" dirty="0"/>
          </a:p>
        </p:txBody>
      </p:sp>
      <p:sp>
        <p:nvSpPr>
          <p:cNvPr id="3" name="内容占位符 2"/>
          <p:cNvSpPr>
            <a:spLocks noGrp="1"/>
          </p:cNvSpPr>
          <p:nvPr>
            <p:ph idx="1"/>
          </p:nvPr>
        </p:nvSpPr>
        <p:spPr/>
        <p:txBody>
          <a:bodyPr/>
          <a:lstStyle/>
          <a:p>
            <a:r>
              <a:rPr lang="zh-CN" altLang="zh-CN" dirty="0"/>
              <a:t>林纳斯</a:t>
            </a:r>
            <a:r>
              <a:rPr lang="en-US" altLang="zh-CN" dirty="0"/>
              <a:t>·</a:t>
            </a:r>
            <a:r>
              <a:rPr lang="zh-CN" altLang="zh-CN" dirty="0"/>
              <a:t>本纳第克特</a:t>
            </a:r>
            <a:r>
              <a:rPr lang="en-US" altLang="zh-CN" dirty="0"/>
              <a:t>·</a:t>
            </a:r>
            <a:r>
              <a:rPr lang="zh-CN" altLang="zh-CN" dirty="0"/>
              <a:t>托瓦兹（</a:t>
            </a:r>
            <a:r>
              <a:rPr lang="en-US" altLang="zh-CN" dirty="0"/>
              <a:t>Linus Benedict Torvalds</a:t>
            </a:r>
            <a:r>
              <a:rPr lang="zh-CN" altLang="en-US" dirty="0"/>
              <a:t>）</a:t>
            </a:r>
            <a:endParaRPr lang="en-US" altLang="zh-CN" dirty="0"/>
          </a:p>
          <a:p>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2392372" y="2660582"/>
            <a:ext cx="6820809" cy="2214701"/>
          </a:xfrm>
          <a:prstGeom prst="rect">
            <a:avLst/>
          </a:prstGeom>
          <a:ln>
            <a:noFill/>
          </a:ln>
          <a:effectLst>
            <a:outerShdw blurRad="292100" dist="139700" dir="2700000" algn="tl" rotWithShape="0">
              <a:srgbClr val="333333">
                <a:alpha val="65000"/>
              </a:srgbClr>
            </a:outerShdw>
          </a:effectLst>
        </p:spPr>
      </p:pic>
      <p:pic>
        <p:nvPicPr>
          <p:cNvPr id="5" name="图片 4"/>
          <p:cNvPicPr/>
          <p:nvPr/>
        </p:nvPicPr>
        <p:blipFill>
          <a:blip r:embed="rId2"/>
          <a:stretch>
            <a:fillRect/>
          </a:stretch>
        </p:blipFill>
        <p:spPr>
          <a:xfrm>
            <a:off x="9704800" y="4132650"/>
            <a:ext cx="1380490" cy="1485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的发展历史</a:t>
            </a:r>
            <a:endParaRPr lang="zh-CN" altLang="en-US" dirty="0"/>
          </a:p>
        </p:txBody>
      </p:sp>
      <p:sp>
        <p:nvSpPr>
          <p:cNvPr id="3" name="内容占位符 2"/>
          <p:cNvSpPr>
            <a:spLocks noGrp="1"/>
          </p:cNvSpPr>
          <p:nvPr>
            <p:ph idx="1"/>
          </p:nvPr>
        </p:nvSpPr>
        <p:spPr>
          <a:xfrm>
            <a:off x="436245" y="1223148"/>
            <a:ext cx="10515600" cy="4954450"/>
          </a:xfrm>
        </p:spPr>
        <p:txBody>
          <a:bodyPr>
            <a:normAutofit/>
          </a:bodyPr>
          <a:lstStyle/>
          <a:p>
            <a:r>
              <a:rPr lang="en-US" altLang="zh-CN" dirty="0"/>
              <a:t>1969</a:t>
            </a:r>
            <a:r>
              <a:rPr lang="zh-CN" altLang="en-US" dirty="0"/>
              <a:t>年，</a:t>
            </a:r>
            <a:r>
              <a:rPr lang="en-US" altLang="zh-CN" dirty="0"/>
              <a:t>AT&amp;T</a:t>
            </a:r>
            <a:r>
              <a:rPr lang="zh-CN" altLang="en-US" dirty="0"/>
              <a:t>的贝尔实验室的</a:t>
            </a:r>
            <a:r>
              <a:rPr lang="en-US" altLang="zh-CN" dirty="0" err="1"/>
              <a:t>KenThompson</a:t>
            </a:r>
            <a:r>
              <a:rPr lang="zh-CN" altLang="en-US" dirty="0"/>
              <a:t>、</a:t>
            </a:r>
            <a:r>
              <a:rPr lang="en-US" altLang="zh-CN" dirty="0"/>
              <a:t>Dennis Ritchie</a:t>
            </a:r>
            <a:r>
              <a:rPr lang="zh-CN" altLang="en-US" dirty="0"/>
              <a:t>和</a:t>
            </a:r>
            <a:r>
              <a:rPr lang="en-US" altLang="zh-CN" dirty="0"/>
              <a:t>Douglas </a:t>
            </a:r>
            <a:r>
              <a:rPr lang="en-US" altLang="zh-CN" dirty="0" err="1"/>
              <a:t>McIlroy</a:t>
            </a:r>
            <a:r>
              <a:rPr lang="zh-CN" altLang="en-US" dirty="0"/>
              <a:t>开发了著名的</a:t>
            </a:r>
            <a:r>
              <a:rPr lang="en-US" altLang="zh-CN" dirty="0"/>
              <a:t>UNIX</a:t>
            </a:r>
            <a:r>
              <a:rPr lang="zh-CN" altLang="en-US" dirty="0"/>
              <a:t>操作系统。</a:t>
            </a:r>
            <a:endParaRPr lang="en-US" altLang="zh-CN" dirty="0"/>
          </a:p>
          <a:p>
            <a:r>
              <a:rPr lang="en-US" altLang="zh-CN" dirty="0"/>
              <a:t>1984</a:t>
            </a:r>
            <a:r>
              <a:rPr lang="zh-CN" altLang="en-US" dirty="0"/>
              <a:t>年，因为 </a:t>
            </a:r>
            <a:r>
              <a:rPr lang="en-US" altLang="zh-CN" dirty="0"/>
              <a:t>UNIX </a:t>
            </a:r>
            <a:r>
              <a:rPr lang="zh-CN" altLang="en-US" dirty="0"/>
              <a:t>规定“不能对学生提供源码”，</a:t>
            </a:r>
            <a:r>
              <a:rPr lang="en-US" altLang="zh-CN" dirty="0"/>
              <a:t>Andrew </a:t>
            </a:r>
            <a:r>
              <a:rPr lang="en-US" altLang="zh-CN" dirty="0" err="1"/>
              <a:t>Tanenbaum</a:t>
            </a:r>
            <a:r>
              <a:rPr lang="zh-CN" altLang="en-US" dirty="0"/>
              <a:t>老师开发兼容于 </a:t>
            </a:r>
            <a:r>
              <a:rPr lang="en-US" altLang="zh-CN" dirty="0"/>
              <a:t>UNIX </a:t>
            </a:r>
            <a:r>
              <a:rPr lang="zh-CN" altLang="en-US" dirty="0"/>
              <a:t>的 </a:t>
            </a:r>
            <a:r>
              <a:rPr lang="en-US" altLang="zh-CN" dirty="0" err="1"/>
              <a:t>Minix</a:t>
            </a:r>
            <a:r>
              <a:rPr lang="zh-CN" altLang="en-US" dirty="0"/>
              <a:t>，用于教学；</a:t>
            </a:r>
            <a:endParaRPr lang="en-US" altLang="zh-CN" dirty="0"/>
          </a:p>
          <a:p>
            <a:r>
              <a:rPr lang="en-US" altLang="zh-CN" dirty="0"/>
              <a:t>1990</a:t>
            </a:r>
            <a:r>
              <a:rPr lang="zh-CN" altLang="zh-CN" dirty="0"/>
              <a:t>年，芬兰赫尔辛基大学学生</a:t>
            </a:r>
            <a:r>
              <a:rPr lang="en-US" altLang="zh-CN" dirty="0"/>
              <a:t>Linus Torvalds</a:t>
            </a:r>
            <a:r>
              <a:rPr lang="zh-CN" altLang="zh-CN" dirty="0"/>
              <a:t>首次接触</a:t>
            </a:r>
            <a:r>
              <a:rPr lang="en-US" altLang="zh-CN" dirty="0" err="1"/>
              <a:t>Minix</a:t>
            </a:r>
            <a:r>
              <a:rPr lang="zh-CN" altLang="zh-CN" dirty="0"/>
              <a:t>系统。</a:t>
            </a:r>
            <a:endParaRPr lang="en-US" altLang="zh-CN" dirty="0"/>
          </a:p>
          <a:p>
            <a:r>
              <a:rPr lang="en-US" altLang="zh-CN" dirty="0"/>
              <a:t>1991</a:t>
            </a:r>
            <a:r>
              <a:rPr lang="zh-CN" altLang="zh-CN" dirty="0"/>
              <a:t>年年底，</a:t>
            </a:r>
            <a:r>
              <a:rPr lang="en-US" altLang="zh-CN" dirty="0"/>
              <a:t>Linus Torvalds</a:t>
            </a:r>
            <a:r>
              <a:rPr lang="zh-CN" altLang="zh-CN" dirty="0"/>
              <a:t>公开了</a:t>
            </a:r>
            <a:r>
              <a:rPr lang="en-US" altLang="zh-CN" dirty="0"/>
              <a:t>Linux</a:t>
            </a:r>
            <a:r>
              <a:rPr lang="zh-CN" altLang="zh-CN" dirty="0"/>
              <a:t>内核源码</a:t>
            </a:r>
            <a:r>
              <a:rPr lang="en-US" altLang="zh-CN" dirty="0"/>
              <a:t>0.02</a:t>
            </a:r>
            <a:r>
              <a:rPr lang="zh-CN" altLang="zh-CN" dirty="0"/>
              <a:t>版，此版本仅仅是部分代码。</a:t>
            </a:r>
            <a:endParaRPr lang="en-US" altLang="zh-CN" dirty="0"/>
          </a:p>
          <a:p>
            <a:r>
              <a:rPr lang="en-US" altLang="zh-CN" dirty="0"/>
              <a:t>1993</a:t>
            </a:r>
            <a:r>
              <a:rPr lang="zh-CN" altLang="zh-CN" dirty="0"/>
              <a:t>年，</a:t>
            </a:r>
            <a:r>
              <a:rPr lang="en-US" altLang="zh-CN" dirty="0"/>
              <a:t>Linux 1.0</a:t>
            </a:r>
            <a:r>
              <a:rPr lang="zh-CN" altLang="zh-CN" dirty="0"/>
              <a:t>版本发行，</a:t>
            </a:r>
            <a:r>
              <a:rPr lang="en-US" altLang="zh-CN" dirty="0"/>
              <a:t>Linux</a:t>
            </a:r>
            <a:r>
              <a:rPr lang="zh-CN" altLang="zh-CN" dirty="0"/>
              <a:t>转向</a:t>
            </a:r>
            <a:r>
              <a:rPr lang="en-US" altLang="zh-CN" dirty="0"/>
              <a:t>GPL</a:t>
            </a:r>
            <a:r>
              <a:rPr lang="zh-CN" altLang="zh-CN" dirty="0"/>
              <a:t>版本协议。</a:t>
            </a:r>
            <a:endParaRPr lang="zh-CN" altLang="zh-CN" dirty="0"/>
          </a:p>
          <a:p>
            <a:r>
              <a:rPr lang="en-US" altLang="zh-CN" dirty="0"/>
              <a:t>1996</a:t>
            </a:r>
            <a:r>
              <a:rPr lang="zh-CN" altLang="zh-CN" dirty="0"/>
              <a:t>年，美国国家标准技术局的计算机系统实验室确认</a:t>
            </a:r>
            <a:r>
              <a:rPr lang="en-US" altLang="zh-CN" dirty="0"/>
              <a:t>Linux</a:t>
            </a:r>
            <a:r>
              <a:rPr lang="zh-CN" altLang="zh-CN" dirty="0"/>
              <a:t>版本</a:t>
            </a:r>
            <a:r>
              <a:rPr lang="en-US" altLang="zh-CN" dirty="0"/>
              <a:t>1.2.13</a:t>
            </a:r>
            <a:r>
              <a:rPr lang="zh-CN" altLang="zh-CN" dirty="0"/>
              <a:t>符合</a:t>
            </a:r>
            <a:r>
              <a:rPr lang="en-US" altLang="zh-CN" dirty="0"/>
              <a:t>POSIX</a:t>
            </a:r>
            <a:r>
              <a:rPr lang="zh-CN" altLang="zh-CN" dirty="0"/>
              <a:t>标准。</a:t>
            </a:r>
            <a:endParaRPr lang="zh-CN" altLang="zh-CN" dirty="0"/>
          </a:p>
          <a:p>
            <a:endParaRPr lang="zh-CN" altLang="zh-CN" dirty="0"/>
          </a:p>
          <a:p>
            <a:endParaRPr lang="zh-CN"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的发展历史</a:t>
            </a:r>
            <a:endParaRPr lang="zh-CN" altLang="en-US" dirty="0"/>
          </a:p>
        </p:txBody>
      </p:sp>
      <p:sp>
        <p:nvSpPr>
          <p:cNvPr id="3" name="内容占位符 2"/>
          <p:cNvSpPr>
            <a:spLocks noGrp="1"/>
          </p:cNvSpPr>
          <p:nvPr>
            <p:ph idx="1"/>
          </p:nvPr>
        </p:nvSpPr>
        <p:spPr/>
        <p:txBody>
          <a:bodyPr/>
          <a:lstStyle/>
          <a:p>
            <a:r>
              <a:rPr lang="en-US" altLang="zh-CN" dirty="0"/>
              <a:t>Linux</a:t>
            </a:r>
            <a:r>
              <a:rPr lang="zh-CN" altLang="zh-CN" dirty="0"/>
              <a:t>的诞生、发展依赖着五个重要支柱：</a:t>
            </a:r>
            <a:endParaRPr lang="en-US" altLang="zh-CN" dirty="0"/>
          </a:p>
          <a:p>
            <a:pPr lvl="1"/>
            <a:r>
              <a:rPr lang="en-US" altLang="zh-CN" dirty="0"/>
              <a:t>UNIX </a:t>
            </a:r>
            <a:r>
              <a:rPr lang="zh-CN" altLang="zh-CN" dirty="0"/>
              <a:t>操作系统、</a:t>
            </a:r>
            <a:endParaRPr lang="en-US" altLang="zh-CN" dirty="0"/>
          </a:p>
          <a:p>
            <a:pPr lvl="1"/>
            <a:r>
              <a:rPr lang="en-US" altLang="zh-CN" dirty="0"/>
              <a:t>MINIX </a:t>
            </a:r>
            <a:r>
              <a:rPr lang="zh-CN" altLang="zh-CN" dirty="0"/>
              <a:t>操作系统、</a:t>
            </a:r>
            <a:endParaRPr lang="en-US" altLang="zh-CN" dirty="0"/>
          </a:p>
          <a:p>
            <a:pPr lvl="1"/>
            <a:r>
              <a:rPr lang="en-US" altLang="zh-CN" dirty="0"/>
              <a:t>GNU</a:t>
            </a:r>
            <a:r>
              <a:rPr lang="zh-CN" altLang="zh-CN" dirty="0"/>
              <a:t>计划</a:t>
            </a:r>
            <a:endParaRPr lang="en-US" altLang="zh-CN" dirty="0"/>
          </a:p>
          <a:p>
            <a:pPr lvl="1"/>
            <a:r>
              <a:rPr lang="en-US" altLang="zh-CN" dirty="0"/>
              <a:t>POSIX </a:t>
            </a:r>
            <a:r>
              <a:rPr lang="zh-CN" altLang="zh-CN" dirty="0"/>
              <a:t>标准</a:t>
            </a:r>
            <a:endParaRPr lang="en-US" altLang="zh-CN" dirty="0"/>
          </a:p>
          <a:p>
            <a:pPr lvl="1"/>
            <a:r>
              <a:rPr lang="en-US" altLang="zh-CN" dirty="0"/>
              <a:t>Internet </a:t>
            </a:r>
            <a:r>
              <a:rPr lang="zh-CN" altLang="zh-CN" dirty="0"/>
              <a:t>网络。</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GNU</a:t>
            </a:r>
            <a:endParaRPr lang="zh-CN" altLang="en-US" dirty="0"/>
          </a:p>
        </p:txBody>
      </p:sp>
      <p:sp>
        <p:nvSpPr>
          <p:cNvPr id="3" name="内容占位符 2"/>
          <p:cNvSpPr>
            <a:spLocks noGrp="1"/>
          </p:cNvSpPr>
          <p:nvPr>
            <p:ph idx="1"/>
          </p:nvPr>
        </p:nvSpPr>
        <p:spPr/>
        <p:txBody>
          <a:bodyPr/>
          <a:lstStyle/>
          <a:p>
            <a:r>
              <a:rPr lang="en-US" altLang="zh-CN" dirty="0"/>
              <a:t>GNU</a:t>
            </a:r>
            <a:r>
              <a:rPr lang="zh-CN" altLang="en-US" dirty="0"/>
              <a:t>的开发始于</a:t>
            </a:r>
            <a:r>
              <a:rPr lang="en-US" altLang="zh-CN" dirty="0"/>
              <a:t>1984</a:t>
            </a:r>
            <a:r>
              <a:rPr lang="zh-CN" altLang="en-US" dirty="0"/>
              <a:t>年</a:t>
            </a:r>
            <a:r>
              <a:rPr lang="en-US" altLang="zh-CN" dirty="0"/>
              <a:t>1</a:t>
            </a:r>
            <a:r>
              <a:rPr lang="zh-CN" altLang="en-US" dirty="0"/>
              <a:t>月，称为</a:t>
            </a:r>
            <a:r>
              <a:rPr lang="en-US" altLang="zh-CN" dirty="0"/>
              <a:t>GNU Project</a:t>
            </a:r>
            <a:r>
              <a:rPr lang="zh-CN" altLang="en-US" dirty="0"/>
              <a:t>。</a:t>
            </a:r>
            <a:endParaRPr lang="en-US" altLang="zh-CN" dirty="0"/>
          </a:p>
          <a:p>
            <a:pPr lvl="1"/>
            <a:r>
              <a:rPr lang="zh-CN" altLang="en-US" dirty="0">
                <a:solidFill>
                  <a:schemeClr val="bg1">
                    <a:lumMod val="50000"/>
                  </a:schemeClr>
                </a:solidFill>
              </a:rPr>
              <a:t>“</a:t>
            </a:r>
            <a:r>
              <a:rPr lang="en-US" altLang="zh-CN" dirty="0">
                <a:solidFill>
                  <a:schemeClr val="bg1">
                    <a:lumMod val="50000"/>
                  </a:schemeClr>
                </a:solidFill>
              </a:rPr>
              <a:t>GNU”</a:t>
            </a:r>
            <a:r>
              <a:rPr lang="zh-CN" altLang="en-US" dirty="0">
                <a:solidFill>
                  <a:schemeClr val="bg1">
                    <a:lumMod val="50000"/>
                  </a:schemeClr>
                </a:solidFill>
              </a:rPr>
              <a:t>是“</a:t>
            </a:r>
            <a:r>
              <a:rPr lang="en-US" altLang="zh-CN" dirty="0">
                <a:solidFill>
                  <a:schemeClr val="bg1">
                    <a:lumMod val="50000"/>
                  </a:schemeClr>
                </a:solidFill>
              </a:rPr>
              <a:t>GNU's Not Unix”</a:t>
            </a:r>
            <a:r>
              <a:rPr lang="zh-CN" altLang="en-US" dirty="0">
                <a:solidFill>
                  <a:schemeClr val="bg1">
                    <a:lumMod val="50000"/>
                  </a:schemeClr>
                </a:solidFill>
              </a:rPr>
              <a:t>的递归首字母缩写词。“</a:t>
            </a:r>
            <a:r>
              <a:rPr lang="en-US" altLang="zh-CN" dirty="0">
                <a:solidFill>
                  <a:schemeClr val="bg1">
                    <a:lumMod val="50000"/>
                  </a:schemeClr>
                </a:solidFill>
              </a:rPr>
              <a:t>GNU”</a:t>
            </a:r>
            <a:r>
              <a:rPr lang="zh-CN" altLang="en-US" dirty="0">
                <a:solidFill>
                  <a:schemeClr val="bg1">
                    <a:lumMod val="50000"/>
                  </a:schemeClr>
                </a:solidFill>
              </a:rPr>
              <a:t>的发音为</a:t>
            </a:r>
            <a:r>
              <a:rPr lang="en-US" altLang="zh-CN" dirty="0" err="1">
                <a:solidFill>
                  <a:schemeClr val="bg1">
                    <a:lumMod val="50000"/>
                  </a:schemeClr>
                </a:solidFill>
              </a:rPr>
              <a:t>g'noo</a:t>
            </a:r>
            <a:r>
              <a:rPr lang="zh-CN" altLang="en-US" dirty="0">
                <a:solidFill>
                  <a:schemeClr val="bg1">
                    <a:lumMod val="50000"/>
                  </a:schemeClr>
                </a:solidFill>
              </a:rPr>
              <a:t>。</a:t>
            </a:r>
            <a:endParaRPr lang="en-US" altLang="zh-CN" dirty="0">
              <a:solidFill>
                <a:schemeClr val="bg1">
                  <a:lumMod val="50000"/>
                </a:schemeClr>
              </a:solidFill>
            </a:endParaRPr>
          </a:p>
          <a:p>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886326" y="2791338"/>
            <a:ext cx="6755108" cy="2720092"/>
          </a:xfrm>
          <a:prstGeom prst="rect">
            <a:avLst/>
          </a:prstGeom>
          <a:ln>
            <a:noFill/>
          </a:ln>
          <a:effectLst>
            <a:outerShdw blurRad="292100" dist="139700" dir="2700000" algn="tl" rotWithShape="0">
              <a:srgbClr val="333333">
                <a:alpha val="65000"/>
              </a:srgbClr>
            </a:outerShdw>
          </a:effectLst>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87620" y="2358190"/>
            <a:ext cx="3081575" cy="315324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GNU</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GNU</a:t>
            </a:r>
            <a:r>
              <a:rPr lang="zh-CN" altLang="en-US" dirty="0"/>
              <a:t>是一个类</a:t>
            </a:r>
            <a:r>
              <a:rPr lang="en-US" altLang="zh-CN" dirty="0"/>
              <a:t>Unix</a:t>
            </a:r>
            <a:r>
              <a:rPr lang="zh-CN" altLang="en-US" dirty="0"/>
              <a:t>操作系统。它是由多个应用程序、系统库、开发工具乃至游戏构成的程序集合。</a:t>
            </a:r>
            <a:endParaRPr lang="en-US" altLang="zh-CN" dirty="0"/>
          </a:p>
          <a:p>
            <a:endParaRPr lang="zh-CN" altLang="en-US" dirty="0"/>
          </a:p>
          <a:p>
            <a:r>
              <a:rPr lang="zh-CN" altLang="en-US" dirty="0"/>
              <a:t>类</a:t>
            </a:r>
            <a:r>
              <a:rPr lang="en-US" altLang="zh-CN" dirty="0"/>
              <a:t>Unix</a:t>
            </a:r>
            <a:r>
              <a:rPr lang="zh-CN" altLang="en-US" dirty="0"/>
              <a:t>操作系统中用于资源分配和硬件管理的程序称为“内核”。</a:t>
            </a:r>
            <a:r>
              <a:rPr lang="en-US" altLang="zh-CN" dirty="0"/>
              <a:t>GNU</a:t>
            </a:r>
            <a:r>
              <a:rPr lang="zh-CN" altLang="en-US" dirty="0"/>
              <a:t>自己的内核，</a:t>
            </a:r>
            <a:r>
              <a:rPr lang="en-US" altLang="zh-CN" dirty="0"/>
              <a:t>The Hurd</a:t>
            </a:r>
            <a:r>
              <a:rPr lang="zh-CN" altLang="en-US" dirty="0"/>
              <a:t>，开始于</a:t>
            </a:r>
            <a:r>
              <a:rPr lang="en-US" altLang="zh-CN" dirty="0"/>
              <a:t>1990</a:t>
            </a:r>
            <a:r>
              <a:rPr lang="zh-CN" altLang="en-US" dirty="0"/>
              <a:t>年。志愿者们仍在继续开发</a:t>
            </a:r>
            <a:r>
              <a:rPr lang="en-US" altLang="zh-CN" dirty="0"/>
              <a:t>Hurd</a:t>
            </a:r>
            <a:r>
              <a:rPr lang="zh-CN" altLang="en-US" dirty="0"/>
              <a:t>。</a:t>
            </a:r>
            <a:endParaRPr lang="en-US" altLang="zh-CN" dirty="0"/>
          </a:p>
          <a:p>
            <a:endParaRPr lang="en-US" altLang="zh-CN" dirty="0"/>
          </a:p>
          <a:p>
            <a:r>
              <a:rPr lang="en-US" altLang="zh-CN" dirty="0"/>
              <a:t>1993</a:t>
            </a:r>
            <a:r>
              <a:rPr lang="zh-CN" altLang="zh-CN" dirty="0"/>
              <a:t>年，</a:t>
            </a:r>
            <a:r>
              <a:rPr lang="en-US" altLang="zh-CN" dirty="0"/>
              <a:t>Linux 1.0</a:t>
            </a:r>
            <a:r>
              <a:rPr lang="zh-CN" altLang="zh-CN" dirty="0"/>
              <a:t>版本发行，</a:t>
            </a:r>
            <a:r>
              <a:rPr lang="en-US" altLang="zh-CN" dirty="0"/>
              <a:t>Linux</a:t>
            </a:r>
            <a:r>
              <a:rPr lang="zh-CN" altLang="zh-CN" dirty="0"/>
              <a:t>转向</a:t>
            </a:r>
            <a:r>
              <a:rPr lang="en-US" altLang="zh-CN" dirty="0"/>
              <a:t>GPL</a:t>
            </a:r>
            <a:r>
              <a:rPr lang="zh-CN" altLang="zh-CN" dirty="0"/>
              <a:t>版本协议。</a:t>
            </a:r>
            <a:endParaRPr lang="zh-CN" altLang="zh-CN" dirty="0"/>
          </a:p>
          <a:p>
            <a:endParaRPr lang="en-US" altLang="zh-CN" dirty="0"/>
          </a:p>
          <a:p>
            <a:r>
              <a:rPr lang="zh-CN" altLang="en-US" dirty="0"/>
              <a:t>（</a:t>
            </a:r>
            <a:r>
              <a:rPr lang="en-US" altLang="zh-CN" dirty="0"/>
              <a:t>GNU/Linux</a:t>
            </a:r>
            <a:r>
              <a:rPr lang="zh-CN" altLang="en-US" dirty="0"/>
              <a:t>命名争议）</a:t>
            </a:r>
            <a:endParaRPr lang="zh-CN" altLang="en-US" dirty="0"/>
          </a:p>
          <a:p>
            <a:pPr lvl="1"/>
            <a:r>
              <a:rPr lang="en-US" altLang="zh-CN" dirty="0"/>
              <a:t>GNU/Linux</a:t>
            </a:r>
            <a:r>
              <a:rPr lang="zh-CN" altLang="en-US" dirty="0"/>
              <a:t>操作系统与</a:t>
            </a:r>
            <a:r>
              <a:rPr lang="en-US" altLang="zh-CN" dirty="0"/>
              <a:t>Linux</a:t>
            </a:r>
            <a:r>
              <a:rPr lang="zh-CN" altLang="en-US" dirty="0"/>
              <a:t>操作系统。</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GPL</a:t>
            </a:r>
            <a:r>
              <a:rPr lang="zh-CN" altLang="en-US" dirty="0"/>
              <a:t>（通用公共许可证）</a:t>
            </a:r>
            <a:endParaRPr lang="zh-CN" altLang="en-US" dirty="0"/>
          </a:p>
        </p:txBody>
      </p:sp>
      <p:sp>
        <p:nvSpPr>
          <p:cNvPr id="3" name="内容占位符 2"/>
          <p:cNvSpPr>
            <a:spLocks noGrp="1"/>
          </p:cNvSpPr>
          <p:nvPr>
            <p:ph idx="1"/>
          </p:nvPr>
        </p:nvSpPr>
        <p:spPr/>
        <p:txBody>
          <a:bodyPr/>
          <a:lstStyle/>
          <a:p>
            <a:r>
              <a:rPr lang="en-US" altLang="zh-CN" dirty="0"/>
              <a:t>GPL</a:t>
            </a:r>
            <a:r>
              <a:rPr lang="zh-CN" altLang="en-US" dirty="0"/>
              <a:t>，是</a:t>
            </a:r>
            <a:r>
              <a:rPr lang="en-US" altLang="zh-CN" dirty="0"/>
              <a:t>GNU General Public License</a:t>
            </a:r>
            <a:r>
              <a:rPr lang="zh-CN" altLang="en-US" dirty="0"/>
              <a:t>的缩写（</a:t>
            </a:r>
            <a:r>
              <a:rPr lang="en-US" altLang="zh-CN" dirty="0"/>
              <a:t>GNU</a:t>
            </a:r>
            <a:r>
              <a:rPr lang="zh-CN" altLang="en-US" dirty="0"/>
              <a:t>通用公共许可证）。</a:t>
            </a:r>
            <a:endParaRPr lang="en-US" altLang="zh-CN" dirty="0"/>
          </a:p>
          <a:p>
            <a:r>
              <a:rPr lang="en-US" altLang="zh-CN" dirty="0"/>
              <a:t>GPL</a:t>
            </a:r>
            <a:r>
              <a:rPr lang="zh-CN" altLang="en-US" dirty="0"/>
              <a:t>试图保证你共享和修改自由软件的自由。</a:t>
            </a:r>
            <a:r>
              <a:rPr lang="en-US" altLang="zh-CN" dirty="0"/>
              <a:t>GPL</a:t>
            </a:r>
            <a:r>
              <a:rPr lang="zh-CN" altLang="en-US" dirty="0"/>
              <a:t>适用于大多数自由软件基金会的软件。</a:t>
            </a:r>
            <a:endParaRPr lang="en-US" altLang="zh-CN" dirty="0"/>
          </a:p>
          <a:p>
            <a:r>
              <a:rPr lang="zh-CN" altLang="en-US" dirty="0"/>
              <a:t>当我们谈到自由软件（</a:t>
            </a:r>
            <a:r>
              <a:rPr lang="en-US" altLang="zh-CN" dirty="0"/>
              <a:t>free software</a:t>
            </a:r>
            <a:r>
              <a:rPr lang="zh-CN" altLang="en-US" dirty="0"/>
              <a:t>）时，我们指的是自由而不是价格。</a:t>
            </a:r>
            <a:endParaRPr lang="en-US" altLang="zh-CN" dirty="0"/>
          </a:p>
          <a:p>
            <a:endParaRPr lang="en-US" altLang="zh-CN" dirty="0"/>
          </a:p>
          <a:p>
            <a:r>
              <a:rPr lang="zh-CN" altLang="en-US" dirty="0"/>
              <a:t>开源协议代表</a:t>
            </a:r>
            <a:r>
              <a:rPr lang="en-US" altLang="zh-CN" dirty="0"/>
              <a:t>(</a:t>
            </a:r>
            <a:r>
              <a:rPr lang="en-US" altLang="zh-CN" dirty="0" err="1"/>
              <a:t>BSD,Apache,GPL,LGPL,MIT</a:t>
            </a:r>
            <a:r>
              <a:rPr lang="en-US" altLang="zh-CN" dirty="0"/>
              <a:t>)</a:t>
            </a:r>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8014981" y="3429948"/>
            <a:ext cx="2857143" cy="31428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POSIX</a:t>
            </a:r>
            <a:endParaRPr lang="zh-CN" altLang="en-US" dirty="0"/>
          </a:p>
        </p:txBody>
      </p:sp>
      <p:sp>
        <p:nvSpPr>
          <p:cNvPr id="3" name="内容占位符 2"/>
          <p:cNvSpPr>
            <a:spLocks noGrp="1"/>
          </p:cNvSpPr>
          <p:nvPr>
            <p:ph idx="1"/>
          </p:nvPr>
        </p:nvSpPr>
        <p:spPr/>
        <p:txBody>
          <a:bodyPr>
            <a:normAutofit/>
          </a:bodyPr>
          <a:lstStyle/>
          <a:p>
            <a:r>
              <a:rPr lang="en-US" altLang="zh-CN" dirty="0"/>
              <a:t>POSIX</a:t>
            </a:r>
            <a:r>
              <a:rPr lang="zh-CN" altLang="en-US" dirty="0"/>
              <a:t>表示可移植操作系统接口（</a:t>
            </a:r>
            <a:r>
              <a:rPr lang="en-US" altLang="zh-CN" dirty="0"/>
              <a:t>Portable Operating System Interface of UNIX</a:t>
            </a:r>
            <a:r>
              <a:rPr lang="zh-CN" altLang="en-US" dirty="0"/>
              <a:t>，缩写为 </a:t>
            </a:r>
            <a:r>
              <a:rPr lang="en-US" altLang="zh-CN" dirty="0"/>
              <a:t>POSIX </a:t>
            </a:r>
            <a:r>
              <a:rPr lang="zh-CN" altLang="en-US" dirty="0"/>
              <a:t>），</a:t>
            </a:r>
            <a:r>
              <a:rPr lang="en-US" altLang="zh-CN" dirty="0"/>
              <a:t>POSIX</a:t>
            </a:r>
            <a:r>
              <a:rPr lang="zh-CN" altLang="en-US" dirty="0"/>
              <a:t>标准定义了操作系统应该为应用程序提供的接口标准。其正式称呼为</a:t>
            </a:r>
            <a:r>
              <a:rPr lang="en-US" altLang="zh-CN" dirty="0"/>
              <a:t>IEEE 1003</a:t>
            </a:r>
            <a:r>
              <a:rPr lang="zh-CN" altLang="en-US" dirty="0"/>
              <a:t>，而国际标准名称为</a:t>
            </a:r>
            <a:r>
              <a:rPr lang="en-US" altLang="zh-CN" dirty="0"/>
              <a:t>ISO/IEC 9945</a:t>
            </a:r>
            <a:r>
              <a:rPr lang="zh-CN" altLang="en-US" dirty="0"/>
              <a:t>。</a:t>
            </a:r>
            <a:endParaRPr lang="en-US" altLang="zh-CN" dirty="0"/>
          </a:p>
          <a:p>
            <a:endParaRPr lang="en-US" altLang="zh-CN" dirty="0"/>
          </a:p>
          <a:p>
            <a:r>
              <a:rPr lang="en-US" altLang="zh-CN" dirty="0"/>
              <a:t>POSIX</a:t>
            </a:r>
            <a:r>
              <a:rPr lang="zh-CN" altLang="en-US" dirty="0"/>
              <a:t>的诞生和</a:t>
            </a:r>
            <a:r>
              <a:rPr lang="en-US" altLang="zh-CN" dirty="0"/>
              <a:t>UNIX</a:t>
            </a:r>
            <a:r>
              <a:rPr lang="zh-CN" altLang="en-US" dirty="0"/>
              <a:t>的发展是密不可分的，</a:t>
            </a:r>
            <a:r>
              <a:rPr lang="en-US" altLang="zh-CN" dirty="0"/>
              <a:t>IEEE</a:t>
            </a:r>
            <a:r>
              <a:rPr lang="zh-CN" altLang="en-US" dirty="0"/>
              <a:t>最初开发 </a:t>
            </a:r>
            <a:r>
              <a:rPr lang="en-US" altLang="zh-CN" dirty="0"/>
              <a:t>POSIX </a:t>
            </a:r>
            <a:r>
              <a:rPr lang="zh-CN" altLang="en-US" dirty="0"/>
              <a:t>标准，是为了提高 </a:t>
            </a:r>
            <a:r>
              <a:rPr lang="en-US" altLang="zh-CN" dirty="0"/>
              <a:t>UNIX </a:t>
            </a:r>
            <a:r>
              <a:rPr lang="zh-CN" altLang="en-US" dirty="0"/>
              <a:t>环境下应用程序的可移植性。</a:t>
            </a:r>
            <a:endParaRPr lang="en-US" altLang="zh-CN" dirty="0"/>
          </a:p>
          <a:p>
            <a:endParaRPr lang="en-US" altLang="zh-CN" dirty="0"/>
          </a:p>
          <a:p>
            <a:r>
              <a:rPr lang="en-US" altLang="zh-CN" dirty="0"/>
              <a:t>POSIX </a:t>
            </a:r>
            <a:r>
              <a:rPr lang="zh-CN" altLang="en-US" dirty="0"/>
              <a:t>并不局限于 </a:t>
            </a:r>
            <a:r>
              <a:rPr lang="en-US" altLang="zh-CN" dirty="0"/>
              <a:t>UNIX</a:t>
            </a:r>
            <a:r>
              <a:rPr lang="zh-CN" altLang="en-US" dirty="0"/>
              <a:t>。许多其它的操作系统，例如 </a:t>
            </a:r>
            <a:r>
              <a:rPr lang="en-US" altLang="zh-CN" dirty="0"/>
              <a:t>DEC OpenVMS </a:t>
            </a:r>
            <a:r>
              <a:rPr lang="zh-CN" altLang="en-US" dirty="0"/>
              <a:t>支持 </a:t>
            </a:r>
            <a:r>
              <a:rPr lang="en-US" altLang="zh-CN" dirty="0"/>
              <a:t>POSIX </a:t>
            </a:r>
            <a:r>
              <a:rPr lang="zh-CN" altLang="en-US" dirty="0"/>
              <a:t>标准。</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p:txBody>
          <a:bodyPr/>
          <a:lstStyle/>
          <a:p>
            <a:r>
              <a:rPr lang="en-US" altLang="zh-CN" dirty="0"/>
              <a:t>03</a:t>
            </a:r>
            <a:endParaRPr lang="zh-CN" altLang="en-US" dirty="0"/>
          </a:p>
        </p:txBody>
      </p:sp>
      <p:sp>
        <p:nvSpPr>
          <p:cNvPr id="4" name="标题 3"/>
          <p:cNvSpPr>
            <a:spLocks noGrp="1"/>
          </p:cNvSpPr>
          <p:nvPr>
            <p:ph type="title"/>
          </p:nvPr>
        </p:nvSpPr>
        <p:spPr/>
        <p:txBody>
          <a:bodyPr/>
          <a:lstStyle/>
          <a:p>
            <a:r>
              <a:rPr lang="en-US" altLang="zh-CN" dirty="0"/>
              <a:t>Linux</a:t>
            </a:r>
            <a:r>
              <a:rPr lang="zh-CN" altLang="en-US" dirty="0"/>
              <a:t>操作系统的版本</a:t>
            </a: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操作系统的版本</a:t>
            </a:r>
            <a:endParaRPr lang="zh-CN" altLang="en-US" dirty="0"/>
          </a:p>
        </p:txBody>
      </p:sp>
      <p:sp>
        <p:nvSpPr>
          <p:cNvPr id="7" name="内容占位符 6"/>
          <p:cNvSpPr>
            <a:spLocks noGrp="1"/>
          </p:cNvSpPr>
          <p:nvPr>
            <p:ph idx="1"/>
          </p:nvPr>
        </p:nvSpPr>
        <p:spPr/>
        <p:txBody>
          <a:bodyPr/>
          <a:lstStyle/>
          <a:p>
            <a:endParaRPr lang="zh-CN" altLang="en-US"/>
          </a:p>
        </p:txBody>
      </p:sp>
      <p:sp>
        <p:nvSpPr>
          <p:cNvPr id="4" name="矩形 3"/>
          <p:cNvSpPr/>
          <p:nvPr/>
        </p:nvSpPr>
        <p:spPr>
          <a:xfrm>
            <a:off x="2707267" y="2150519"/>
            <a:ext cx="5754717" cy="646331"/>
          </a:xfrm>
          <a:prstGeom prst="rect">
            <a:avLst/>
          </a:prstGeom>
          <a:ln>
            <a:solidFill>
              <a:srgbClr val="92D050"/>
            </a:solidFill>
          </a:ln>
        </p:spPr>
        <p:txBody>
          <a:bodyPr wrap="square">
            <a:spAutoFit/>
          </a:bodyPr>
          <a:lstStyle/>
          <a:p>
            <a:r>
              <a:rPr lang="en-US" altLang="zh-CN" sz="3600" dirty="0"/>
              <a:t>Linux kernel</a:t>
            </a:r>
            <a:r>
              <a:rPr lang="zh-CN" altLang="en-US" sz="3600" dirty="0"/>
              <a:t>（内核）</a:t>
            </a:r>
            <a:endParaRPr lang="en-US" altLang="zh-CN" sz="3600" dirty="0"/>
          </a:p>
        </p:txBody>
      </p:sp>
      <p:sp>
        <p:nvSpPr>
          <p:cNvPr id="5" name="矩形 4"/>
          <p:cNvSpPr/>
          <p:nvPr/>
        </p:nvSpPr>
        <p:spPr>
          <a:xfrm>
            <a:off x="2707267" y="3328801"/>
            <a:ext cx="5754717" cy="646331"/>
          </a:xfrm>
          <a:prstGeom prst="rect">
            <a:avLst/>
          </a:prstGeom>
          <a:ln>
            <a:solidFill>
              <a:srgbClr val="92D050"/>
            </a:solidFill>
          </a:ln>
        </p:spPr>
        <p:txBody>
          <a:bodyPr wrap="none">
            <a:spAutoFit/>
          </a:bodyPr>
          <a:lstStyle/>
          <a:p>
            <a:r>
              <a:rPr lang="en-US" altLang="zh-CN" sz="3600" dirty="0"/>
              <a:t>Linux distribution</a:t>
            </a:r>
            <a:r>
              <a:rPr lang="zh-CN" altLang="en-US" sz="3600" dirty="0"/>
              <a:t>（发行版）</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 Kernel</a:t>
            </a:r>
            <a:r>
              <a:rPr lang="zh-CN" altLang="en-US" dirty="0"/>
              <a:t>（</a:t>
            </a:r>
            <a:r>
              <a:rPr lang="en-US" altLang="zh-CN" dirty="0"/>
              <a:t>Linux</a:t>
            </a:r>
            <a:r>
              <a:rPr lang="zh-CN" altLang="en-US" dirty="0"/>
              <a:t>内核）</a:t>
            </a:r>
            <a:endParaRPr lang="zh-CN" altLang="en-US" dirty="0"/>
          </a:p>
        </p:txBody>
      </p:sp>
      <p:sp>
        <p:nvSpPr>
          <p:cNvPr id="3" name="内容占位符 2"/>
          <p:cNvSpPr>
            <a:spLocks noGrp="1"/>
          </p:cNvSpPr>
          <p:nvPr>
            <p:ph idx="1"/>
          </p:nvPr>
        </p:nvSpPr>
        <p:spPr/>
        <p:txBody>
          <a:bodyPr/>
          <a:lstStyle/>
          <a:p>
            <a:r>
              <a:rPr lang="en-US" altLang="zh-CN" dirty="0"/>
              <a:t>https://www.kernel.org</a:t>
            </a:r>
            <a:endParaRPr lang="zh-CN" altLang="en-US" dirty="0"/>
          </a:p>
        </p:txBody>
      </p:sp>
      <p:pic>
        <p:nvPicPr>
          <p:cNvPr id="8" name="图片 7"/>
          <p:cNvPicPr>
            <a:picLocks noChangeAspect="1"/>
          </p:cNvPicPr>
          <p:nvPr/>
        </p:nvPicPr>
        <p:blipFill>
          <a:blip r:embed="rId1"/>
          <a:stretch>
            <a:fillRect/>
          </a:stretch>
        </p:blipFill>
        <p:spPr>
          <a:xfrm>
            <a:off x="300355" y="2005965"/>
            <a:ext cx="10309860" cy="3499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a:t>
            </a:r>
            <a:r>
              <a:rPr lang="en-US" altLang="zh-CN" dirty="0" err="1"/>
              <a:t>linux</a:t>
            </a:r>
            <a:r>
              <a:rPr lang="zh-CN" altLang="en-US" dirty="0"/>
              <a:t>内核版本</a:t>
            </a:r>
            <a:endParaRPr lang="zh-CN" altLang="en-US" dirty="0"/>
          </a:p>
        </p:txBody>
      </p:sp>
      <p:sp>
        <p:nvSpPr>
          <p:cNvPr id="5" name="内容占位符 4"/>
          <p:cNvSpPr>
            <a:spLocks noGrp="1"/>
          </p:cNvSpPr>
          <p:nvPr>
            <p:ph idx="1"/>
          </p:nvPr>
        </p:nvSpPr>
        <p:spPr/>
        <p:txBody>
          <a:bodyPr/>
          <a:lstStyle/>
          <a:p>
            <a:endParaRPr lang="zh-CN" altLang="en-US"/>
          </a:p>
        </p:txBody>
      </p:sp>
      <p:sp>
        <p:nvSpPr>
          <p:cNvPr id="6" name="文本框 5"/>
          <p:cNvSpPr txBox="1"/>
          <p:nvPr/>
        </p:nvSpPr>
        <p:spPr>
          <a:xfrm>
            <a:off x="838200" y="5871132"/>
            <a:ext cx="3867150" cy="368300"/>
          </a:xfrm>
          <a:prstGeom prst="rect">
            <a:avLst/>
          </a:prstGeom>
          <a:noFill/>
        </p:spPr>
        <p:txBody>
          <a:bodyPr wrap="none" rtlCol="0">
            <a:spAutoFit/>
          </a:bodyPr>
          <a:lstStyle/>
          <a:p>
            <a:r>
              <a:rPr lang="en-US" altLang="zh-CN" dirty="0"/>
              <a:t>ubuntu-22.04-desktop-amd64.iso</a:t>
            </a:r>
            <a:endParaRPr lang="zh-CN" altLang="en-US" dirty="0"/>
          </a:p>
        </p:txBody>
      </p:sp>
      <p:pic>
        <p:nvPicPr>
          <p:cNvPr id="7" name="图片 6"/>
          <p:cNvPicPr>
            <a:picLocks noChangeAspect="1"/>
          </p:cNvPicPr>
          <p:nvPr/>
        </p:nvPicPr>
        <p:blipFill>
          <a:blip r:embed="rId1"/>
          <a:stretch>
            <a:fillRect/>
          </a:stretch>
        </p:blipFill>
        <p:spPr>
          <a:xfrm>
            <a:off x="838199" y="4266400"/>
            <a:ext cx="10440000" cy="848883"/>
          </a:xfrm>
          <a:prstGeom prst="rect">
            <a:avLst/>
          </a:prstGeom>
        </p:spPr>
      </p:pic>
      <p:pic>
        <p:nvPicPr>
          <p:cNvPr id="8" name="图片 7"/>
          <p:cNvPicPr>
            <a:picLocks noChangeAspect="1"/>
          </p:cNvPicPr>
          <p:nvPr/>
        </p:nvPicPr>
        <p:blipFill>
          <a:blip r:embed="rId2"/>
          <a:stretch>
            <a:fillRect/>
          </a:stretch>
        </p:blipFill>
        <p:spPr>
          <a:xfrm>
            <a:off x="857247" y="2257091"/>
            <a:ext cx="10440000" cy="1397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2792941" y="1222375"/>
            <a:ext cx="6606117" cy="4954588"/>
          </a:xfr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Linux distribution </a:t>
            </a:r>
            <a:r>
              <a:rPr lang="zh-CN" altLang="en-US" dirty="0"/>
              <a:t>（</a:t>
            </a:r>
            <a:r>
              <a:rPr lang="en-US" altLang="zh-CN" dirty="0"/>
              <a:t>Linux</a:t>
            </a:r>
            <a:r>
              <a:rPr lang="zh-CN" altLang="en-US" dirty="0"/>
              <a:t>发行版）</a:t>
            </a:r>
            <a:endParaRPr lang="zh-CN" altLang="en-US" dirty="0"/>
          </a:p>
        </p:txBody>
      </p:sp>
      <p:sp>
        <p:nvSpPr>
          <p:cNvPr id="4" name="内容占位符 3"/>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A Linux distribution is an operating system made from a software collection, which is based upon the  Linux kernel and, often, a package management system.</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 typical Linux distribution comprises a Linux kernel, GNU tools and libraries, additional software, documentation, a window system (the most common being the X Window System), a window manager, and a desktop environment. Most of the included software is free and open-source software.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Almost six hundred Linux distributions exist, with close to five hundred out of those in active development.</a:t>
            </a:r>
            <a:endParaRPr lang="en-US" altLang="zh-CN" dirty="0">
              <a:latin typeface="Times New Roman" panose="02020603050405020304" pitchFamily="18" charset="0"/>
              <a:cs typeface="Times New Roman" panose="02020603050405020304" pitchFamily="18" charset="0"/>
            </a:endParaRPr>
          </a:p>
          <a:p>
            <a:endParaRPr lang="zh-CN" altLang="en-US" dirty="0"/>
          </a:p>
        </p:txBody>
      </p:sp>
      <p:sp>
        <p:nvSpPr>
          <p:cNvPr id="5" name="矩形 4"/>
          <p:cNvSpPr/>
          <p:nvPr/>
        </p:nvSpPr>
        <p:spPr>
          <a:xfrm>
            <a:off x="838200" y="5871132"/>
            <a:ext cx="4714880" cy="369332"/>
          </a:xfrm>
          <a:prstGeom prst="rect">
            <a:avLst/>
          </a:prstGeom>
        </p:spPr>
        <p:txBody>
          <a:bodyPr wrap="none">
            <a:spAutoFit/>
          </a:bodyPr>
          <a:lstStyle/>
          <a:p>
            <a:r>
              <a:rPr lang="zh-CN" altLang="en-US" dirty="0"/>
              <a:t>https://en.wikipedia.org/wiki/Linux_distribution</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代表性的发行版</a:t>
            </a:r>
            <a:endParaRPr lang="zh-CN" altLang="en-US" dirty="0"/>
          </a:p>
        </p:txBody>
      </p:sp>
      <p:sp>
        <p:nvSpPr>
          <p:cNvPr id="4" name="内容占位符 3"/>
          <p:cNvSpPr>
            <a:spLocks noGrp="1"/>
          </p:cNvSpPr>
          <p:nvPr>
            <p:ph idx="1"/>
          </p:nvPr>
        </p:nvSpPr>
        <p:spPr/>
        <p:txBody>
          <a:bodyPr/>
          <a:lstStyle/>
          <a:p>
            <a:endParaRPr lang="zh-CN" altLang="en-US" dirty="0"/>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5763" y="1592560"/>
            <a:ext cx="2021461" cy="1673770"/>
          </a:xfrm>
          <a:prstGeom prst="rect">
            <a:avLst/>
          </a:prstGeom>
          <a:ln>
            <a:noFill/>
          </a:ln>
          <a:effectLst>
            <a:outerShdw blurRad="292100" dist="139700" dir="2700000" algn="tl" rotWithShape="0">
              <a:srgbClr val="333333">
                <a:alpha val="65000"/>
              </a:srgbClr>
            </a:outerShdw>
          </a:effectLst>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7808" t="11075" r="4818" b="15238"/>
          <a:stretch>
            <a:fillRect/>
          </a:stretch>
        </p:blipFill>
        <p:spPr>
          <a:xfrm>
            <a:off x="1558636" y="4010891"/>
            <a:ext cx="2708588" cy="1521320"/>
          </a:xfrm>
          <a:prstGeom prst="rect">
            <a:avLst/>
          </a:prstGeom>
          <a:ln>
            <a:noFill/>
          </a:ln>
          <a:effectLst>
            <a:outerShdw blurRad="292100" dist="139700" dir="2700000" algn="tl" rotWithShape="0">
              <a:srgbClr val="333333">
                <a:alpha val="65000"/>
              </a:srgbClr>
            </a:outerShdw>
          </a:effectLst>
        </p:spPr>
      </p:pic>
      <p:pic>
        <p:nvPicPr>
          <p:cNvPr id="12" name="图片 11"/>
          <p:cNvPicPr>
            <a:picLocks noChangeAspect="1"/>
          </p:cNvPicPr>
          <p:nvPr/>
        </p:nvPicPr>
        <p:blipFill rotWithShape="1">
          <a:blip r:embed="rId3">
            <a:extLst>
              <a:ext uri="{28A0092B-C50C-407E-A947-70E740481C1C}">
                <a14:useLocalDpi xmlns:a14="http://schemas.microsoft.com/office/drawing/2010/main" val="0"/>
              </a:ext>
            </a:extLst>
          </a:blip>
          <a:srcRect l="22221" t="12026" r="21830" b="17942"/>
          <a:stretch>
            <a:fillRect/>
          </a:stretch>
        </p:blipFill>
        <p:spPr>
          <a:xfrm>
            <a:off x="8990521" y="2195341"/>
            <a:ext cx="1677651" cy="1749964"/>
          </a:xfrm>
          <a:prstGeom prst="rect">
            <a:avLst/>
          </a:prstGeom>
          <a:ln>
            <a:noFill/>
          </a:ln>
          <a:effectLst>
            <a:outerShdw blurRad="292100" dist="139700" dir="2700000" algn="tl" rotWithShape="0">
              <a:srgbClr val="333333">
                <a:alpha val="65000"/>
              </a:srgbClr>
            </a:outerShdw>
          </a:effectLst>
        </p:spPr>
      </p:pic>
      <p:pic>
        <p:nvPicPr>
          <p:cNvPr id="13" name="图片 12"/>
          <p:cNvPicPr>
            <a:picLocks noChangeAspect="1"/>
          </p:cNvPicPr>
          <p:nvPr/>
        </p:nvPicPr>
        <p:blipFill>
          <a:blip r:embed="rId4"/>
          <a:stretch>
            <a:fillRect/>
          </a:stretch>
        </p:blipFill>
        <p:spPr>
          <a:xfrm>
            <a:off x="6339063" y="4522687"/>
            <a:ext cx="3171429" cy="1009524"/>
          </a:xfrm>
          <a:prstGeom prst="rect">
            <a:avLst/>
          </a:prstGeom>
          <a:ln>
            <a:noFill/>
          </a:ln>
          <a:effectLst>
            <a:outerShdw blurRad="292100" dist="139700" dir="2700000" algn="tl" rotWithShape="0">
              <a:srgbClr val="333333">
                <a:alpha val="65000"/>
              </a:srgbClr>
            </a:outerShdw>
          </a:effectLst>
        </p:spPr>
      </p:pic>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7512" y="1857945"/>
            <a:ext cx="1143000" cy="11430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IBM340</a:t>
            </a:r>
            <a:r>
              <a:rPr lang="zh-CN" altLang="en-US" dirty="0"/>
              <a:t>亿美元收购红帽发力云计算</a:t>
            </a:r>
            <a:endParaRPr lang="zh-CN" altLang="en-US" dirty="0"/>
          </a:p>
        </p:txBody>
      </p:sp>
      <p:sp>
        <p:nvSpPr>
          <p:cNvPr id="3" name="内容占位符 2"/>
          <p:cNvSpPr>
            <a:spLocks noGrp="1"/>
          </p:cNvSpPr>
          <p:nvPr>
            <p:ph idx="1"/>
          </p:nvPr>
        </p:nvSpPr>
        <p:spPr/>
        <p:txBody>
          <a:bodyPr/>
          <a:lstStyle/>
          <a:p>
            <a:r>
              <a:rPr lang="en-US" altLang="zh-CN" dirty="0"/>
              <a:t>2019</a:t>
            </a:r>
            <a:r>
              <a:rPr lang="zh-CN" altLang="en-US" dirty="0"/>
              <a:t>年</a:t>
            </a:r>
            <a:r>
              <a:rPr lang="en-US" altLang="zh-CN" dirty="0"/>
              <a:t>7</a:t>
            </a:r>
            <a:r>
              <a:rPr lang="zh-CN" altLang="en-US" dirty="0"/>
              <a:t>月</a:t>
            </a:r>
            <a:r>
              <a:rPr lang="en-US" altLang="zh-CN" dirty="0"/>
              <a:t>10</a:t>
            </a:r>
            <a:r>
              <a:rPr lang="zh-CN" altLang="en-US" dirty="0"/>
              <a:t>日消息</a:t>
            </a:r>
            <a:endParaRPr lang="zh-CN" altLang="en-US" dirty="0"/>
          </a:p>
          <a:p>
            <a:endParaRPr lang="zh-CN" altLang="en-US" dirty="0"/>
          </a:p>
        </p:txBody>
      </p:sp>
      <p:pic>
        <p:nvPicPr>
          <p:cNvPr id="4" name="图片 3"/>
          <p:cNvPicPr>
            <a:picLocks noChangeAspect="1"/>
          </p:cNvPicPr>
          <p:nvPr/>
        </p:nvPicPr>
        <p:blipFill>
          <a:blip r:embed="rId1"/>
          <a:stretch>
            <a:fillRect/>
          </a:stretch>
        </p:blipFill>
        <p:spPr>
          <a:xfrm>
            <a:off x="2483386" y="1768183"/>
            <a:ext cx="6838751" cy="4214855"/>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常见发行版特点</a:t>
            </a:r>
            <a:endParaRPr lang="zh-CN" altLang="en-US" dirty="0"/>
          </a:p>
        </p:txBody>
      </p:sp>
      <p:sp>
        <p:nvSpPr>
          <p:cNvPr id="3" name="内容占位符 2"/>
          <p:cNvSpPr>
            <a:spLocks noGrp="1"/>
          </p:cNvSpPr>
          <p:nvPr>
            <p:ph idx="1"/>
          </p:nvPr>
        </p:nvSpPr>
        <p:spPr/>
        <p:txBody>
          <a:bodyPr/>
          <a:lstStyle/>
          <a:p>
            <a:r>
              <a:rPr lang="en-US" altLang="zh-CN" dirty="0"/>
              <a:t>Ubuntu</a:t>
            </a:r>
            <a:r>
              <a:rPr lang="zh-CN" altLang="en-US" dirty="0"/>
              <a:t>，</a:t>
            </a:r>
            <a:r>
              <a:rPr lang="en-US" altLang="zh-CN" dirty="0"/>
              <a:t>Linux Mint</a:t>
            </a:r>
            <a:r>
              <a:rPr lang="zh-CN" altLang="en-US" dirty="0"/>
              <a:t>和</a:t>
            </a:r>
            <a:r>
              <a:rPr lang="en-US" altLang="zh-CN" dirty="0" err="1"/>
              <a:t>PCLinuxOS</a:t>
            </a:r>
            <a:r>
              <a:rPr lang="zh-CN" altLang="en-US" dirty="0"/>
              <a:t>是其中最易用使用的。想快速部署使用，就可以选择这几个。</a:t>
            </a:r>
            <a:endParaRPr lang="en-US" altLang="zh-CN" dirty="0"/>
          </a:p>
          <a:p>
            <a:r>
              <a:rPr lang="en-US" altLang="zh-CN" dirty="0" err="1"/>
              <a:t>Slackware</a:t>
            </a:r>
            <a:r>
              <a:rPr lang="en-US" altLang="zh-CN" dirty="0"/>
              <a:t> Linux</a:t>
            </a:r>
            <a:r>
              <a:rPr lang="zh-CN" altLang="en-US" dirty="0"/>
              <a:t>，</a:t>
            </a:r>
            <a:r>
              <a:rPr lang="en-US" altLang="zh-CN" dirty="0"/>
              <a:t>Arch Linux</a:t>
            </a:r>
            <a:r>
              <a:rPr lang="zh-CN" altLang="en-US" dirty="0"/>
              <a:t>和</a:t>
            </a:r>
            <a:r>
              <a:rPr lang="en-US" altLang="zh-CN" dirty="0"/>
              <a:t>FreeBSD</a:t>
            </a:r>
            <a:r>
              <a:rPr lang="zh-CN" altLang="en-US" dirty="0"/>
              <a:t>是更激进的发行版，更新比较频繁。需要有一定的基础，要不搞崩了都不知道问题所在。 </a:t>
            </a:r>
            <a:endParaRPr lang="en-US" altLang="zh-CN" dirty="0"/>
          </a:p>
          <a:p>
            <a:r>
              <a:rPr lang="en-US" altLang="zh-CN" dirty="0" err="1"/>
              <a:t>Debian</a:t>
            </a:r>
            <a:r>
              <a:rPr lang="en-US" altLang="zh-CN" dirty="0"/>
              <a:t> GNU/Linux</a:t>
            </a:r>
            <a:r>
              <a:rPr lang="zh-CN" altLang="en-US" dirty="0"/>
              <a:t>，</a:t>
            </a:r>
            <a:r>
              <a:rPr lang="en-US" altLang="zh-CN" dirty="0" err="1"/>
              <a:t>openSUSE</a:t>
            </a:r>
            <a:r>
              <a:rPr lang="zh-CN" altLang="en-US" dirty="0"/>
              <a:t>，</a:t>
            </a:r>
            <a:r>
              <a:rPr lang="en-US" altLang="zh-CN" dirty="0"/>
              <a:t>Fedora</a:t>
            </a:r>
            <a:r>
              <a:rPr lang="zh-CN" altLang="en-US" dirty="0"/>
              <a:t>，</a:t>
            </a:r>
            <a:r>
              <a:rPr lang="en-US" altLang="zh-CN" dirty="0" err="1"/>
              <a:t>CentOS</a:t>
            </a:r>
            <a:r>
              <a:rPr lang="zh-CN" altLang="en-US" dirty="0"/>
              <a:t>和</a:t>
            </a:r>
            <a:r>
              <a:rPr lang="en-US" altLang="zh-CN" dirty="0" err="1"/>
              <a:t>Mageia</a:t>
            </a:r>
            <a:r>
              <a:rPr lang="zh-CN" altLang="en-US" dirty="0"/>
              <a:t>则是比较保守的发行版。稳定性是他们的特点。但是软件包都比较旧。</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a:t>
            </a:r>
            <a:r>
              <a:rPr lang="en-US" altLang="zh-CN" dirty="0"/>
              <a:t>Linux</a:t>
            </a:r>
            <a:r>
              <a:rPr lang="zh-CN" altLang="zh-CN" dirty="0"/>
              <a:t>发行版市场占有率</a:t>
            </a:r>
            <a:endParaRPr lang="zh-CN" altLang="en-US" dirty="0"/>
          </a:p>
        </p:txBody>
      </p:sp>
      <p:sp>
        <p:nvSpPr>
          <p:cNvPr id="3" name="内容占位符 2"/>
          <p:cNvSpPr>
            <a:spLocks noGrp="1"/>
          </p:cNvSpPr>
          <p:nvPr>
            <p:ph idx="1"/>
          </p:nvPr>
        </p:nvSpPr>
        <p:spPr/>
        <p:txBody>
          <a:bodyPr/>
          <a:lstStyle/>
          <a:p>
            <a:r>
              <a:rPr lang="en-US" altLang="zh-CN" dirty="0"/>
              <a:t>EC2</a:t>
            </a:r>
            <a:r>
              <a:rPr lang="zh-CN" altLang="zh-CN" dirty="0"/>
              <a:t>中</a:t>
            </a:r>
            <a:r>
              <a:rPr lang="zh-CN" altLang="en-US" dirty="0"/>
              <a:t>各</a:t>
            </a:r>
            <a:r>
              <a:rPr lang="zh-CN" altLang="zh-CN" dirty="0"/>
              <a:t>操作系统</a:t>
            </a:r>
            <a:r>
              <a:rPr lang="zh-CN" altLang="en-US" dirty="0"/>
              <a:t>的使用比例</a:t>
            </a:r>
            <a:endParaRPr lang="zh-CN" altLang="en-US" dirty="0"/>
          </a:p>
        </p:txBody>
      </p:sp>
      <p:pic>
        <p:nvPicPr>
          <p:cNvPr id="4" name="图片 3"/>
          <p:cNvPicPr/>
          <p:nvPr/>
        </p:nvPicPr>
        <p:blipFill rotWithShape="1">
          <a:blip r:embed="rId1"/>
          <a:srcRect t="17398" b="4158"/>
          <a:stretch>
            <a:fillRect/>
          </a:stretch>
        </p:blipFill>
        <p:spPr bwMode="auto">
          <a:xfrm>
            <a:off x="3311520" y="1922669"/>
            <a:ext cx="5568959" cy="3952269"/>
          </a:xfrm>
          <a:prstGeom prst="rect">
            <a:avLst/>
          </a:prstGeom>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a:t>
            </a:r>
            <a:r>
              <a:rPr lang="en-US" altLang="zh-CN" dirty="0"/>
              <a:t>Linux</a:t>
            </a:r>
            <a:r>
              <a:rPr lang="zh-CN" altLang="zh-CN" dirty="0"/>
              <a:t>发行版市场占有率</a:t>
            </a:r>
            <a:endParaRPr lang="zh-CN" altLang="en-US" dirty="0"/>
          </a:p>
        </p:txBody>
      </p:sp>
      <p:sp>
        <p:nvSpPr>
          <p:cNvPr id="3" name="内容占位符 2"/>
          <p:cNvSpPr>
            <a:spLocks noGrp="1"/>
          </p:cNvSpPr>
          <p:nvPr>
            <p:ph idx="1"/>
          </p:nvPr>
        </p:nvSpPr>
        <p:spPr/>
        <p:txBody>
          <a:bodyPr/>
          <a:lstStyle/>
          <a:p>
            <a:r>
              <a:rPr lang="en-US" altLang="zh-CN" dirty="0"/>
              <a:t>Web</a:t>
            </a:r>
            <a:r>
              <a:rPr lang="zh-CN" altLang="zh-CN" dirty="0"/>
              <a:t>服务器中</a:t>
            </a:r>
            <a:r>
              <a:rPr lang="en-US" altLang="zh-CN" dirty="0"/>
              <a:t>Linux</a:t>
            </a:r>
            <a:r>
              <a:rPr lang="zh-CN" altLang="zh-CN" dirty="0"/>
              <a:t>各类发行版使用情况</a:t>
            </a:r>
            <a:endParaRPr lang="zh-CN" altLang="en-US" dirty="0"/>
          </a:p>
        </p:txBody>
      </p:sp>
      <p:pic>
        <p:nvPicPr>
          <p:cNvPr id="4" name="图片 3"/>
          <p:cNvPicPr/>
          <p:nvPr/>
        </p:nvPicPr>
        <p:blipFill>
          <a:blip r:embed="rId1"/>
          <a:stretch>
            <a:fillRect/>
          </a:stretch>
        </p:blipFill>
        <p:spPr>
          <a:xfrm>
            <a:off x="4148918" y="1791938"/>
            <a:ext cx="3517853" cy="40418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p:txBody>
          <a:bodyPr/>
          <a:lstStyle/>
          <a:p>
            <a:r>
              <a:rPr lang="en-US" altLang="zh-CN" dirty="0"/>
              <a:t>04</a:t>
            </a:r>
            <a:endParaRPr lang="zh-CN" altLang="en-US" dirty="0"/>
          </a:p>
        </p:txBody>
      </p:sp>
      <p:sp>
        <p:nvSpPr>
          <p:cNvPr id="4" name="标题 3"/>
          <p:cNvSpPr>
            <a:spLocks noGrp="1"/>
          </p:cNvSpPr>
          <p:nvPr>
            <p:ph type="title"/>
          </p:nvPr>
        </p:nvSpPr>
        <p:spPr/>
        <p:txBody>
          <a:bodyPr/>
          <a:lstStyle/>
          <a:p>
            <a:r>
              <a:rPr lang="en-US" altLang="zh-CN" dirty="0"/>
              <a:t>Linux</a:t>
            </a:r>
            <a:r>
              <a:rPr lang="zh-CN" altLang="en-US" dirty="0"/>
              <a:t>的主要应用领域</a:t>
            </a:r>
            <a:br>
              <a:rPr lang="zh-CN" altLang="en-US"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Linux</a:t>
            </a:r>
            <a:r>
              <a:rPr lang="zh-CN" altLang="en-US" b="1" dirty="0"/>
              <a:t>操作系统主要应用领域</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、传统企业级服务器应用场景</a:t>
            </a:r>
            <a:endParaRPr lang="en-US" altLang="zh-CN" dirty="0"/>
          </a:p>
          <a:p>
            <a:r>
              <a:rPr lang="en-US" altLang="zh-CN" dirty="0"/>
              <a:t>2</a:t>
            </a:r>
            <a:r>
              <a:rPr lang="zh-CN" altLang="en-US" dirty="0"/>
              <a:t>、嵌入式、物联网、边缘计算等应用场景</a:t>
            </a:r>
            <a:endParaRPr lang="en-US" altLang="zh-CN" dirty="0"/>
          </a:p>
          <a:p>
            <a:pPr latinLnBrk="1"/>
            <a:r>
              <a:rPr lang="en-US" altLang="zh-CN" dirty="0"/>
              <a:t>3</a:t>
            </a:r>
            <a:r>
              <a:rPr lang="zh-CN" altLang="en-US" dirty="0"/>
              <a:t>、智能手机、平板电脑等移动终端</a:t>
            </a:r>
            <a:endParaRPr lang="en-US" altLang="zh-CN" dirty="0"/>
          </a:p>
          <a:p>
            <a:pPr latinLnBrk="1"/>
            <a:r>
              <a:rPr lang="en-US" altLang="zh-CN" dirty="0"/>
              <a:t>4</a:t>
            </a:r>
            <a:r>
              <a:rPr lang="zh-CN" altLang="en-US" dirty="0"/>
              <a:t>、云计算、区块链、大数据、深度学习等应用场景</a:t>
            </a:r>
            <a:endParaRPr lang="en-US" altLang="zh-CN" dirty="0"/>
          </a:p>
          <a:p>
            <a:pPr latinLnBrk="1"/>
            <a:r>
              <a:rPr lang="en-US" altLang="zh-CN" dirty="0"/>
              <a:t>5</a:t>
            </a:r>
            <a:r>
              <a:rPr lang="zh-CN" altLang="en-US" dirty="0"/>
              <a:t>、个人桌面操作系统</a:t>
            </a:r>
            <a:endParaRPr lang="en-US" altLang="zh-CN" dirty="0"/>
          </a:p>
          <a:p>
            <a:pPr latinLnBrk="1"/>
            <a:endParaRPr lang="en-US" altLang="zh-CN" b="1" dirty="0"/>
          </a:p>
          <a:p>
            <a:endParaRPr lang="en-US" altLang="zh-CN" b="1" dirty="0"/>
          </a:p>
          <a:p>
            <a:endParaRPr lang="en-US" altLang="zh-CN" b="1" dirty="0"/>
          </a:p>
          <a:p>
            <a:endParaRPr lang="en-US" altLang="zh-CN" b="1"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传统企业级服务器应用场景</a:t>
            </a:r>
            <a:endParaRPr lang="zh-CN" altLang="en-US" dirty="0"/>
          </a:p>
        </p:txBody>
      </p:sp>
      <p:sp>
        <p:nvSpPr>
          <p:cNvPr id="7" name="内容占位符 6"/>
          <p:cNvSpPr>
            <a:spLocks noGrp="1"/>
          </p:cNvSpPr>
          <p:nvPr>
            <p:ph idx="1"/>
          </p:nvPr>
        </p:nvSpPr>
        <p:spPr/>
        <p:txBody>
          <a:bodyPr/>
          <a:lstStyle/>
          <a:p>
            <a:endParaRPr lang="zh-CN" altLang="en-US"/>
          </a:p>
        </p:txBody>
      </p:sp>
      <p:pic>
        <p:nvPicPr>
          <p:cNvPr id="4" name="图片 3"/>
          <p:cNvPicPr/>
          <p:nvPr/>
        </p:nvPicPr>
        <p:blipFill>
          <a:blip r:embed="rId1"/>
          <a:stretch>
            <a:fillRect/>
          </a:stretch>
        </p:blipFill>
        <p:spPr>
          <a:xfrm>
            <a:off x="713237" y="1351857"/>
            <a:ext cx="6956805" cy="407995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p:cNvPicPr/>
          <p:nvPr/>
        </p:nvPicPr>
        <p:blipFill>
          <a:blip r:embed="rId2"/>
          <a:stretch>
            <a:fillRect/>
          </a:stretch>
        </p:blipFill>
        <p:spPr>
          <a:xfrm>
            <a:off x="5403376" y="2075191"/>
            <a:ext cx="5950424" cy="383429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矩形 5"/>
          <p:cNvSpPr/>
          <p:nvPr/>
        </p:nvSpPr>
        <p:spPr>
          <a:xfrm>
            <a:off x="161983" y="6014830"/>
            <a:ext cx="3106171" cy="369332"/>
          </a:xfrm>
          <a:prstGeom prst="rect">
            <a:avLst/>
          </a:prstGeom>
        </p:spPr>
        <p:txBody>
          <a:bodyPr wrap="none">
            <a:spAutoFit/>
          </a:bodyPr>
          <a:lstStyle/>
          <a:p>
            <a:r>
              <a:rPr lang="en-US" altLang="zh-CN" dirty="0"/>
              <a:t>https://searchdns.netcraft.com</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Android</a:t>
            </a:r>
            <a:endParaRPr lang="zh-CN" altLang="en-US" dirty="0"/>
          </a:p>
        </p:txBody>
      </p:sp>
      <p:sp>
        <p:nvSpPr>
          <p:cNvPr id="5" name="内容占位符 4"/>
          <p:cNvSpPr>
            <a:spLocks noGrp="1"/>
          </p:cNvSpPr>
          <p:nvPr>
            <p:ph idx="1"/>
          </p:nvPr>
        </p:nvSpPr>
        <p:spPr/>
        <p:txBody>
          <a:bodyPr/>
          <a:lstStyle/>
          <a:p>
            <a:endParaRPr lang="zh-CN" altLang="en-US"/>
          </a:p>
        </p:txBody>
      </p:sp>
      <p:pic>
        <p:nvPicPr>
          <p:cNvPr id="1026" name="Picture 2" descr="https://timgsa.baidu.com/timg?image&amp;quality=80&amp;size=b9999_10000&amp;sec=1565711895549&amp;di=7e55aadff9be169e3fd2ccf3e97941cc&amp;imgtype=0&amp;src=http%3A%2F%2Fp.ananas.chaoxing.com%2Fstar2%2F2014-03%2F1024_0%2F1395731366370bjdzz.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5320" y="1141846"/>
            <a:ext cx="7108825" cy="50986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鸿蒙</a:t>
            </a:r>
            <a:r>
              <a:rPr lang="en-US" altLang="zh-CN" dirty="0"/>
              <a:t>OS</a:t>
            </a:r>
            <a:endParaRPr lang="zh-CN" altLang="en-US" dirty="0"/>
          </a:p>
        </p:txBody>
      </p:sp>
      <p:sp>
        <p:nvSpPr>
          <p:cNvPr id="5" name="内容占位符 4"/>
          <p:cNvSpPr>
            <a:spLocks noGrp="1"/>
          </p:cNvSpPr>
          <p:nvPr>
            <p:ph idx="1"/>
          </p:nvPr>
        </p:nvSpPr>
        <p:spPr/>
        <p:txBody>
          <a:bodyPr/>
          <a:lstStyle/>
          <a:p>
            <a:endParaRPr lang="zh-CN" altLang="en-US"/>
          </a:p>
        </p:txBody>
      </p:sp>
      <p:pic>
        <p:nvPicPr>
          <p:cNvPr id="2050" name="Picture 2" descr="https://timgsa.baidu.com/timg?image&amp;quality=80&amp;size=b9999_10000&amp;sec=1565712163817&amp;di=134f246343da5e96305f1a3153acccf3&amp;imgtype=0&amp;src=http%3A%2F%2Fi0.hdslb.com%2Fbfs%2Farticle%2F7dd5f8c847d5cd15acebc0f6edbd9e4e2642cde6.jpg"/>
          <p:cNvPicPr>
            <a:picLocks noChangeAspect="1" noChangeArrowheads="1"/>
          </p:cNvPicPr>
          <p:nvPr/>
        </p:nvPicPr>
        <p:blipFill rotWithShape="1">
          <a:blip r:embed="rId1">
            <a:extLst>
              <a:ext uri="{28A0092B-C50C-407E-A947-70E740481C1C}">
                <a14:useLocalDpi xmlns:a14="http://schemas.microsoft.com/office/drawing/2010/main" val="0"/>
              </a:ext>
            </a:extLst>
          </a:blip>
          <a:srcRect b="12974"/>
          <a:stretch>
            <a:fillRect/>
          </a:stretch>
        </p:blipFill>
        <p:spPr bwMode="auto">
          <a:xfrm>
            <a:off x="1325322" y="1509583"/>
            <a:ext cx="9236556" cy="4516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前沿应用场景</a:t>
            </a:r>
            <a:endParaRPr lang="zh-CN" altLang="en-US" dirty="0"/>
          </a:p>
        </p:txBody>
      </p:sp>
      <p:sp>
        <p:nvSpPr>
          <p:cNvPr id="10" name="内容占位符 9"/>
          <p:cNvSpPr>
            <a:spLocks noGrp="1"/>
          </p:cNvSpPr>
          <p:nvPr>
            <p:ph idx="1"/>
          </p:nvPr>
        </p:nvSpPr>
        <p:spPr/>
        <p:txBody>
          <a:bodyPr/>
          <a:lstStyle/>
          <a:p>
            <a:endParaRPr lang="zh-CN" altLang="en-US"/>
          </a:p>
        </p:txBody>
      </p:sp>
      <p:pic>
        <p:nvPicPr>
          <p:cNvPr id="4" name="图片 3"/>
          <p:cNvPicPr/>
          <p:nvPr/>
        </p:nvPicPr>
        <p:blipFill>
          <a:blip r:embed="rId1"/>
          <a:stretch>
            <a:fillRect/>
          </a:stretch>
        </p:blipFill>
        <p:spPr>
          <a:xfrm>
            <a:off x="705778" y="1502273"/>
            <a:ext cx="6335974" cy="275582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p:cNvPicPr/>
          <p:nvPr/>
        </p:nvPicPr>
        <p:blipFill>
          <a:blip r:embed="rId2"/>
          <a:stretch>
            <a:fillRect/>
          </a:stretch>
        </p:blipFill>
        <p:spPr>
          <a:xfrm>
            <a:off x="3873765" y="2419085"/>
            <a:ext cx="5274310" cy="28168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图片 5"/>
          <p:cNvPicPr/>
          <p:nvPr/>
        </p:nvPicPr>
        <p:blipFill>
          <a:blip r:embed="rId3"/>
          <a:stretch>
            <a:fillRect/>
          </a:stretch>
        </p:blipFill>
        <p:spPr>
          <a:xfrm>
            <a:off x="7051344" y="3039925"/>
            <a:ext cx="4048125" cy="32359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文本框 2"/>
          <p:cNvSpPr txBox="1"/>
          <p:nvPr/>
        </p:nvSpPr>
        <p:spPr>
          <a:xfrm>
            <a:off x="5472953" y="1052655"/>
            <a:ext cx="907621" cy="369332"/>
          </a:xfrm>
          <a:prstGeom prst="rect">
            <a:avLst/>
          </a:prstGeom>
          <a:noFill/>
        </p:spPr>
        <p:txBody>
          <a:bodyPr wrap="none" rtlCol="0">
            <a:spAutoFit/>
          </a:bodyPr>
          <a:lstStyle/>
          <a:p>
            <a:r>
              <a:rPr lang="zh-CN" altLang="en-US" dirty="0"/>
              <a:t>大数据</a:t>
            </a:r>
            <a:endParaRPr lang="zh-CN" altLang="en-US" dirty="0"/>
          </a:p>
        </p:txBody>
      </p:sp>
      <p:sp>
        <p:nvSpPr>
          <p:cNvPr id="7" name="文本框 6"/>
          <p:cNvSpPr txBox="1"/>
          <p:nvPr/>
        </p:nvSpPr>
        <p:spPr>
          <a:xfrm>
            <a:off x="7911352" y="1923999"/>
            <a:ext cx="877163" cy="369332"/>
          </a:xfrm>
          <a:prstGeom prst="rect">
            <a:avLst/>
          </a:prstGeom>
          <a:noFill/>
        </p:spPr>
        <p:txBody>
          <a:bodyPr wrap="none" rtlCol="0">
            <a:spAutoFit/>
          </a:bodyPr>
          <a:lstStyle/>
          <a:p>
            <a:r>
              <a:rPr lang="zh-CN" altLang="en-US" dirty="0"/>
              <a:t>区块链</a:t>
            </a:r>
            <a:endParaRPr lang="zh-CN" altLang="en-US" dirty="0"/>
          </a:p>
        </p:txBody>
      </p:sp>
      <p:sp>
        <p:nvSpPr>
          <p:cNvPr id="8" name="文本框 7"/>
          <p:cNvSpPr txBox="1"/>
          <p:nvPr/>
        </p:nvSpPr>
        <p:spPr>
          <a:xfrm>
            <a:off x="10222306" y="2510855"/>
            <a:ext cx="1107996" cy="369332"/>
          </a:xfrm>
          <a:prstGeom prst="rect">
            <a:avLst/>
          </a:prstGeom>
          <a:noFill/>
        </p:spPr>
        <p:txBody>
          <a:bodyPr wrap="none" rtlCol="0">
            <a:spAutoFit/>
          </a:bodyPr>
          <a:lstStyle/>
          <a:p>
            <a:r>
              <a:rPr lang="zh-CN" altLang="en-US" dirty="0"/>
              <a:t>人工智能</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commondata" val="eyJoZGlkIjoiNGQ5YmIxOWYwNmNjNGVhNjY4NzRkZTE0MzZkNGQzNzUifQ=="/>
</p:tagLst>
</file>

<file path=ppt/theme/theme1.xml><?xml version="1.0" encoding="utf-8"?>
<a:theme xmlns:a="http://schemas.openxmlformats.org/drawingml/2006/main" name="Linux@张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0fs4aqcf">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2570</Words>
  <Application>WPS 演示</Application>
  <PresentationFormat>宽屏</PresentationFormat>
  <Paragraphs>165</Paragraphs>
  <Slides>30</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宋体</vt:lpstr>
      <vt:lpstr>Wingdings</vt:lpstr>
      <vt:lpstr>楷体</vt:lpstr>
      <vt:lpstr>Arial Narrow</vt:lpstr>
      <vt:lpstr>Calibri</vt:lpstr>
      <vt:lpstr>Arial Black</vt:lpstr>
      <vt:lpstr>Times New Roman</vt:lpstr>
      <vt:lpstr>微软雅黑</vt:lpstr>
      <vt:lpstr>Arial Unicode MS</vt:lpstr>
      <vt:lpstr>Linux@张平</vt:lpstr>
      <vt:lpstr>Linux概述</vt:lpstr>
      <vt:lpstr>第1章 Linux概述</vt:lpstr>
      <vt:lpstr>什么是Linux</vt:lpstr>
      <vt:lpstr>什么是Linux</vt:lpstr>
      <vt:lpstr>Linux的发展历史 </vt:lpstr>
      <vt:lpstr>Linux的发展历史</vt:lpstr>
      <vt:lpstr>Linux的发展历史</vt:lpstr>
      <vt:lpstr>Linux的发展历史</vt:lpstr>
      <vt:lpstr>GNU</vt:lpstr>
      <vt:lpstr>GNU</vt:lpstr>
      <vt:lpstr>GPL（通用公共许可证）</vt:lpstr>
      <vt:lpstr>POSIX</vt:lpstr>
      <vt:lpstr>Linux操作系统的版本 </vt:lpstr>
      <vt:lpstr>Linux操作系统的版本</vt:lpstr>
      <vt:lpstr>Linux Kernel（Linux内核）</vt:lpstr>
      <vt:lpstr>查看linux内核版本</vt:lpstr>
      <vt:lpstr>PowerPoint 演示文稿</vt:lpstr>
      <vt:lpstr>Linux distribution （Linux发行版）</vt:lpstr>
      <vt:lpstr>Linux代表性的发行版</vt:lpstr>
      <vt:lpstr>IBM340亿美元收购红帽发力云计算</vt:lpstr>
      <vt:lpstr>常见发行版特点</vt:lpstr>
      <vt:lpstr>不同Linux发行版市场占有率</vt:lpstr>
      <vt:lpstr>不同Linux发行版市场占有率</vt:lpstr>
      <vt:lpstr>Linux的主要应用领域 </vt:lpstr>
      <vt:lpstr>Linux操作系统主要应用领域</vt:lpstr>
      <vt:lpstr>传统企业级服务器应用场景</vt:lpstr>
      <vt:lpstr>Android</vt:lpstr>
      <vt:lpstr>鸿蒙OS</vt:lpstr>
      <vt:lpstr>Linux前沿应用场景</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Linux发行版</dc:title>
  <dc:creator>John</dc:creator>
  <cp:lastModifiedBy>pc2</cp:lastModifiedBy>
  <cp:revision>81</cp:revision>
  <dcterms:created xsi:type="dcterms:W3CDTF">2019-07-09T12:44:00Z</dcterms:created>
  <dcterms:modified xsi:type="dcterms:W3CDTF">2024-09-18T03:23:03Z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15C0F4DF0D5B4F649028AEF8F0223AE2_12</vt:lpwstr>
  </property>
  <property fmtid="{D5CDD505-2E9C-101B-9397-08002B2CF9AE}" pid="3" name="KSOProductBuildVer">
    <vt:lpwstr>2052-12.1.0.18240</vt:lpwstr>
  </property>
</Properties>
</file>