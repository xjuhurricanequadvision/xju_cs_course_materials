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9"/>
  </p:notesMasterIdLst>
  <p:sldIdLst>
    <p:sldId id="273" r:id="rId3"/>
    <p:sldId id="301" r:id="rId4"/>
    <p:sldId id="395" r:id="rId5"/>
    <p:sldId id="380" r:id="rId6"/>
    <p:sldId id="381" r:id="rId7"/>
    <p:sldId id="382" r:id="rId8"/>
    <p:sldId id="394" r:id="rId9"/>
    <p:sldId id="400" r:id="rId10"/>
    <p:sldId id="383" r:id="rId11"/>
    <p:sldId id="384" r:id="rId12"/>
    <p:sldId id="385" r:id="rId13"/>
    <p:sldId id="386" r:id="rId14"/>
    <p:sldId id="387" r:id="rId15"/>
    <p:sldId id="396" r:id="rId16"/>
    <p:sldId id="323" r:id="rId17"/>
    <p:sldId id="333" r:id="rId18"/>
    <p:sldId id="336" r:id="rId19"/>
    <p:sldId id="339" r:id="rId20"/>
    <p:sldId id="344" r:id="rId21"/>
    <p:sldId id="391" r:id="rId22"/>
    <p:sldId id="392" r:id="rId23"/>
    <p:sldId id="393" r:id="rId24"/>
    <p:sldId id="345" r:id="rId25"/>
    <p:sldId id="356" r:id="rId26"/>
    <p:sldId id="397" r:id="rId27"/>
    <p:sldId id="324" r:id="rId28"/>
    <p:sldId id="401" r:id="rId29"/>
    <p:sldId id="325" r:id="rId30"/>
    <p:sldId id="358" r:id="rId31"/>
    <p:sldId id="359" r:id="rId32"/>
    <p:sldId id="398" r:id="rId33"/>
    <p:sldId id="321" r:id="rId34"/>
    <p:sldId id="402" r:id="rId35"/>
    <p:sldId id="409" r:id="rId36"/>
    <p:sldId id="410" r:id="rId37"/>
    <p:sldId id="411" r:id="rId38"/>
    <p:sldId id="363" r:id="rId39"/>
    <p:sldId id="412" r:id="rId40"/>
    <p:sldId id="452" r:id="rId41"/>
    <p:sldId id="445" r:id="rId42"/>
    <p:sldId id="446" r:id="rId43"/>
    <p:sldId id="447" r:id="rId44"/>
    <p:sldId id="448" r:id="rId45"/>
    <p:sldId id="449" r:id="rId46"/>
    <p:sldId id="450" r:id="rId47"/>
    <p:sldId id="451" r:id="rId48"/>
  </p:sldIdLst>
  <p:sldSz cx="12192000" cy="6858000"/>
  <p:notesSz cx="6858000" cy="9144000"/>
  <p:custDataLst>
    <p:tags r:id="rId5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" initials="l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891" autoAdjust="0"/>
  </p:normalViewPr>
  <p:slideViewPr>
    <p:cSldViewPr snapToGrid="0">
      <p:cViewPr varScale="1">
        <p:scale>
          <a:sx n="64" d="100"/>
          <a:sy n="64" d="100"/>
        </p:scale>
        <p:origin x="8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4" Type="http://schemas.openxmlformats.org/officeDocument/2006/relationships/tags" Target="tags/tag1.xml"/><Relationship Id="rId53" Type="http://schemas.openxmlformats.org/officeDocument/2006/relationships/commentAuthors" Target="commentAuthors.xml"/><Relationship Id="rId52" Type="http://schemas.openxmlformats.org/officeDocument/2006/relationships/tableStyles" Target="tableStyles.xml"/><Relationship Id="rId51" Type="http://schemas.openxmlformats.org/officeDocument/2006/relationships/viewProps" Target="viewProps.xml"/><Relationship Id="rId50" Type="http://schemas.openxmlformats.org/officeDocument/2006/relationships/presProps" Target="presProps.xml"/><Relationship Id="rId5" Type="http://schemas.openxmlformats.org/officeDocument/2006/relationships/slide" Target="slides/slide3.xml"/><Relationship Id="rId49" Type="http://schemas.openxmlformats.org/officeDocument/2006/relationships/notesMaster" Target="notesMasters/notesMaster1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4CAE0C-A047-4C5A-B40C-696D032ACC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937168-D488-4106-9D5B-12AE5643C0F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hyperlink" Target="http://www.1ppt.com/hangye/" TargetMode="Externa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microsoft.com/office/2007/relationships/hdphoto" Target="../media/image5.wdp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7" Type="http://schemas.microsoft.com/office/2007/relationships/hdphoto" Target="../media/image5.wdp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@张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剪去单角 6"/>
          <p:cNvSpPr/>
          <p:nvPr userDrawn="1"/>
        </p:nvSpPr>
        <p:spPr>
          <a:xfrm>
            <a:off x="-133165" y="976931"/>
            <a:ext cx="2263806" cy="1180730"/>
          </a:xfrm>
          <a:prstGeom prst="snip1Rect">
            <a:avLst/>
          </a:prstGeom>
          <a:solidFill>
            <a:srgbClr val="385D8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2827888" y="976931"/>
            <a:ext cx="5650925" cy="4954450"/>
          </a:xfrm>
          <a:prstGeom prst="rect">
            <a:avLst/>
          </a:prstGeom>
        </p:spPr>
        <p:txBody>
          <a:bodyPr/>
          <a:lstStyle>
            <a:lvl1pPr marL="514350" indent="-514350">
              <a:buFont typeface="+mj-lt"/>
              <a:buAutoNum type="arabicPeriod"/>
              <a:defRPr lang="zh-CN" altLang="en-US" sz="3200" b="1" kern="1200" dirty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ea"/>
              </a:defRPr>
            </a:lvl1pPr>
            <a:lvl2pPr marL="914400" indent="-457200">
              <a:buFont typeface="+mj-lt"/>
              <a:buAutoNum type="arabicPeriod"/>
              <a:defRPr sz="3200"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 marL="1371600" indent="-457200">
              <a:buFont typeface="+mj-lt"/>
              <a:buAutoNum type="arabicPeriod"/>
              <a:defRPr sz="2800">
                <a:latin typeface="楷体" panose="02010609060101010101" pitchFamily="49" charset="-122"/>
                <a:ea typeface="楷体" panose="02010609060101010101" pitchFamily="49" charset="-122"/>
              </a:defRPr>
            </a:lvl3pPr>
            <a:lvl4pPr marL="1714500" indent="-342900">
              <a:buFont typeface="+mj-lt"/>
              <a:buAutoNum type="arabicPeriod"/>
              <a:defRPr sz="2400">
                <a:latin typeface="楷体" panose="02010609060101010101" pitchFamily="49" charset="-122"/>
                <a:ea typeface="楷体" panose="02010609060101010101" pitchFamily="49" charset="-122"/>
              </a:defRPr>
            </a:lvl4pPr>
            <a:lvl5pPr marL="2171700" indent="-342900">
              <a:buFont typeface="+mj-lt"/>
              <a:buAutoNum type="arabicPeriod"/>
              <a:defRPr sz="2400">
                <a:latin typeface="楷体" panose="02010609060101010101" pitchFamily="49" charset="-122"/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 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  <p:sp>
        <p:nvSpPr>
          <p:cNvPr id="16" name="WordArt 293"/>
          <p:cNvSpPr>
            <a:spLocks noChangeArrowheads="1" noChangeShapeType="1" noTextEdit="1"/>
          </p:cNvSpPr>
          <p:nvPr userDrawn="1"/>
        </p:nvSpPr>
        <p:spPr bwMode="auto">
          <a:xfrm>
            <a:off x="552994" y="1243444"/>
            <a:ext cx="1143000" cy="533235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b="1" kern="10" dirty="0">
                <a:blipFill dpi="0" rotWithShape="1">
                  <a:blip r:embed="rId2"/>
                  <a:srcRect/>
                  <a:tile tx="0" ty="0" sx="100000" sy="100000" flip="none" algn="tl"/>
                </a:blipFill>
                <a:effectLst>
                  <a:outerShdw dist="35921" dir="2700000" algn="ctr" rotWithShape="0">
                    <a:srgbClr val="000000">
                      <a:alpha val="80000"/>
                    </a:srgbClr>
                  </a:outerShdw>
                </a:effectLst>
                <a:cs typeface="+mn-ea"/>
                <a:sym typeface="+mn-lt"/>
              </a:rPr>
              <a:t>目录</a:t>
            </a:r>
            <a:endParaRPr lang="zh-CN" altLang="en-US" sz="3600" b="1" kern="10" dirty="0">
              <a:blipFill dpi="0" rotWithShape="1">
                <a:blip r:embed="rId2"/>
                <a:srcRect/>
                <a:tile tx="0" ty="0" sx="100000" sy="100000" flip="none" algn="tl"/>
              </a:blipFill>
              <a:effectLst>
                <a:outerShdw dist="35921" dir="2700000" algn="ctr" rotWithShape="0">
                  <a:srgbClr val="000000">
                    <a:alpha val="80000"/>
                  </a:srgb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7" name="WordArt 294"/>
          <p:cNvSpPr>
            <a:spLocks noChangeArrowheads="1" noChangeShapeType="1" noTextEdit="1"/>
          </p:cNvSpPr>
          <p:nvPr userDrawn="1"/>
        </p:nvSpPr>
        <p:spPr bwMode="auto">
          <a:xfrm>
            <a:off x="564082" y="1912157"/>
            <a:ext cx="1143000" cy="152353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altLang="zh-CN" sz="4400" dirty="0">
                <a:solidFill>
                  <a:schemeClr val="bg1"/>
                </a:solidFill>
                <a:cs typeface="+mn-ea"/>
                <a:sym typeface="+mn-lt"/>
              </a:rPr>
              <a:t>CONTENTS</a:t>
            </a:r>
            <a:endParaRPr lang="zh-CN" altLang="en-US" sz="4400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3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2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3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6" presetID="3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8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9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1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animBg="1"/>
      <p:bldP spid="17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节首页@张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6096000" y="675456"/>
            <a:ext cx="6048672" cy="6858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 flipH="1">
            <a:off x="47328" y="675456"/>
            <a:ext cx="6408712" cy="6858000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2928020" y="2348880"/>
            <a:ext cx="2591916" cy="2603502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lang="zh-CN" altLang="en-US" sz="16600" kern="1200" dirty="0">
                <a:solidFill>
                  <a:srgbClr val="385D8A"/>
                </a:solidFill>
                <a:latin typeface="Arial Narrow" panose="020B0606020202030204" pitchFamily="34" charset="0"/>
                <a:ea typeface="+mn-ea"/>
                <a:cs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911424" y="6717034"/>
            <a:ext cx="1440159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4"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4"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4"/>
              </a:rPr>
              <a:t>模板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http://www.1ppt.com/hangye/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5" name="等腰三角形 37"/>
          <p:cNvSpPr>
            <a:spLocks noChangeArrowheads="1"/>
          </p:cNvSpPr>
          <p:nvPr userDrawn="1"/>
        </p:nvSpPr>
        <p:spPr bwMode="auto">
          <a:xfrm>
            <a:off x="1452563" y="4003377"/>
            <a:ext cx="3008312" cy="2593975"/>
          </a:xfrm>
          <a:prstGeom prst="triangle">
            <a:avLst>
              <a:gd name="adj" fmla="val 50000"/>
            </a:avLst>
          </a:prstGeom>
          <a:solidFill>
            <a:srgbClr val="385D8A"/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17" name="组合 16"/>
          <p:cNvGrpSpPr/>
          <p:nvPr userDrawn="1"/>
        </p:nvGrpSpPr>
        <p:grpSpPr>
          <a:xfrm>
            <a:off x="7002463" y="260648"/>
            <a:ext cx="3008312" cy="2603500"/>
            <a:chOff x="7002463" y="-9525"/>
            <a:chExt cx="3008312" cy="2603500"/>
          </a:xfrm>
        </p:grpSpPr>
        <p:sp>
          <p:nvSpPr>
            <p:cNvPr id="18" name="等腰三角形 7"/>
            <p:cNvSpPr>
              <a:spLocks noChangeArrowheads="1"/>
            </p:cNvSpPr>
            <p:nvPr/>
          </p:nvSpPr>
          <p:spPr bwMode="auto">
            <a:xfrm rot="10800000">
              <a:off x="7002463" y="0"/>
              <a:ext cx="3008312" cy="2593975"/>
            </a:xfrm>
            <a:prstGeom prst="triangle">
              <a:avLst>
                <a:gd name="adj" fmla="val 50000"/>
              </a:avLst>
            </a:prstGeom>
            <a:solidFill>
              <a:srgbClr val="385D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直角三角形 13"/>
            <p:cNvSpPr>
              <a:spLocks noChangeArrowheads="1"/>
            </p:cNvSpPr>
            <p:nvPr/>
          </p:nvSpPr>
          <p:spPr bwMode="auto">
            <a:xfrm rot="10800000" flipH="1">
              <a:off x="8499475" y="-9525"/>
              <a:ext cx="1511300" cy="2603500"/>
            </a:xfrm>
            <a:prstGeom prst="rtTriangle">
              <a:avLst/>
            </a:prstGeom>
            <a:solidFill>
              <a:srgbClr val="30302F">
                <a:alpha val="47842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91521" y="3645024"/>
            <a:ext cx="4752951" cy="1191915"/>
          </a:xfrm>
          <a:prstGeom prst="rect">
            <a:avLst/>
          </a:prstGeom>
        </p:spPr>
        <p:txBody>
          <a:bodyPr/>
          <a:lstStyle>
            <a:lvl1pPr>
              <a:defRPr lang="zh-CN" altLang="en-US" sz="3600" b="1" kern="1200" dirty="0">
                <a:solidFill>
                  <a:srgbClr val="385D8A"/>
                </a:solidFill>
                <a:latin typeface="+mn-lt"/>
                <a:ea typeface="+mn-ea"/>
                <a:cs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5638510" y="2879503"/>
            <a:ext cx="1782860" cy="523220"/>
          </a:xfrm>
          <a:prstGeom prst="rect">
            <a:avLst/>
          </a:prstGeom>
          <a:solidFill>
            <a:srgbClr val="385D8A"/>
          </a:solidFill>
        </p:spPr>
        <p:txBody>
          <a:bodyPr wrap="none" rtlCol="0">
            <a:spAutoFit/>
          </a:bodyPr>
          <a:lstStyle/>
          <a:p>
            <a:r>
              <a:rPr kumimoji="0" lang="en-US" altLang="zh-CN" sz="2800" b="0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SUBTITLE</a:t>
            </a:r>
            <a:endParaRPr kumimoji="0" lang="zh-CN" altLang="en-US" sz="2800" b="0" i="0" u="none" strike="noStrike" kern="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animBg="1"/>
      <p:bldP spid="2" grpId="0"/>
      <p:bldP spid="4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@张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30093" y="697517"/>
            <a:ext cx="7993358" cy="457315"/>
          </a:xfrm>
          <a:prstGeom prst="rect">
            <a:avLst/>
          </a:prstGeom>
        </p:spPr>
        <p:txBody>
          <a:bodyPr/>
          <a:lstStyle>
            <a:lvl1pPr>
              <a:defRPr lang="zh-CN" altLang="en-US" sz="2400" b="1" kern="1200" dirty="0">
                <a:solidFill>
                  <a:srgbClr val="385D8A"/>
                </a:solidFill>
                <a:latin typeface="+mn-lt"/>
                <a:ea typeface="+mn-ea"/>
                <a:cs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707232" y="662608"/>
            <a:ext cx="492224" cy="492224"/>
            <a:chOff x="1965186" y="1419622"/>
            <a:chExt cx="302558" cy="314067"/>
          </a:xfrm>
          <a:solidFill>
            <a:srgbClr val="385D8A"/>
          </a:solidFill>
        </p:grpSpPr>
        <p:sp>
          <p:nvSpPr>
            <p:cNvPr id="13" name="矩形 12"/>
            <p:cNvSpPr/>
            <p:nvPr userDrawn="1"/>
          </p:nvSpPr>
          <p:spPr>
            <a:xfrm>
              <a:off x="1965186" y="1419622"/>
              <a:ext cx="252000" cy="25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" name="矩形 13"/>
            <p:cNvSpPr/>
            <p:nvPr userDrawn="1"/>
          </p:nvSpPr>
          <p:spPr>
            <a:xfrm>
              <a:off x="2087744" y="1553689"/>
              <a:ext cx="180000" cy="180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16591" y="555079"/>
            <a:ext cx="10037209" cy="457316"/>
          </a:xfrm>
          <a:prstGeom prst="rect">
            <a:avLst/>
          </a:prstGeom>
        </p:spPr>
        <p:txBody>
          <a:bodyPr/>
          <a:lstStyle>
            <a:lvl1pPr>
              <a:defRPr lang="zh-CN" altLang="en-US" sz="2400" b="1" kern="1200" dirty="0">
                <a:solidFill>
                  <a:srgbClr val="385D8A"/>
                </a:solidFill>
                <a:latin typeface="+mn-lt"/>
                <a:ea typeface="+mn-ea"/>
                <a:cs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222513"/>
            <a:ext cx="10515600" cy="4954450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Ø"/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3pPr>
            <a:lvl4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4pPr>
            <a:lvl5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 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  <p:grpSp>
        <p:nvGrpSpPr>
          <p:cNvPr id="8" name="组合 7"/>
          <p:cNvGrpSpPr/>
          <p:nvPr userDrawn="1"/>
        </p:nvGrpSpPr>
        <p:grpSpPr>
          <a:xfrm>
            <a:off x="707232" y="512854"/>
            <a:ext cx="492224" cy="492224"/>
            <a:chOff x="1965186" y="1419622"/>
            <a:chExt cx="302558" cy="314067"/>
          </a:xfrm>
          <a:solidFill>
            <a:srgbClr val="385D8A"/>
          </a:solidFill>
        </p:grpSpPr>
        <p:sp>
          <p:nvSpPr>
            <p:cNvPr id="9" name="矩形 8"/>
            <p:cNvSpPr/>
            <p:nvPr userDrawn="1"/>
          </p:nvSpPr>
          <p:spPr>
            <a:xfrm>
              <a:off x="1965186" y="1419622"/>
              <a:ext cx="252000" cy="25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" name="矩形 9"/>
            <p:cNvSpPr/>
            <p:nvPr userDrawn="1"/>
          </p:nvSpPr>
          <p:spPr>
            <a:xfrm>
              <a:off x="2087744" y="1553689"/>
              <a:ext cx="180000" cy="180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 flipH="1">
            <a:off x="47328" y="675456"/>
            <a:ext cx="6408712" cy="6858000"/>
          </a:xfrm>
          <a:prstGeom prst="rect">
            <a:avLst/>
          </a:prstGeom>
        </p:spPr>
      </p:pic>
      <p:pic>
        <p:nvPicPr>
          <p:cNvPr id="14" name="Picture 2" descr="https://gimg2.baidu.com/image_search/src=http%3A%2F%2Fupload-images.jianshu.io%2Fupload_images%2F4328762-883f350af13e526d.png&amp;refer=http%3A%2F%2Fupload-images.jianshu.io&amp;app=2002&amp;size=f9999,10000&amp;q=a80&amp;n=0&amp;g=0n&amp;fmt=auto?sec=1667461827&amp;t=4fe55b94f212f72e189c7ea51652be85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804" b="89840" l="4000" r="95500">
                        <a14:foregroundMark x1="4900" y1="33155" x2="4900" y2="33155"/>
                        <a14:foregroundMark x1="84800" y1="62210" x2="84800" y2="62210"/>
                        <a14:foregroundMark x1="72200" y1="83422" x2="72200" y2="83422"/>
                        <a14:foregroundMark x1="93500" y1="83422" x2="93500" y2="83422"/>
                        <a14:foregroundMark x1="81300" y1="51515" x2="81300" y2="51515"/>
                        <a14:foregroundMark x1="76200" y1="60963" x2="76200" y2="60963"/>
                        <a14:foregroundMark x1="76700" y1="72193" x2="77400" y2="74688"/>
                        <a14:foregroundMark x1="81300" y1="81818" x2="81300" y2="81818"/>
                        <a14:foregroundMark x1="85300" y1="29768" x2="85300" y2="29768"/>
                        <a14:foregroundMark x1="62700" y1="39394" x2="62700" y2="39394"/>
                        <a14:foregroundMark x1="52000" y1="44385" x2="52000" y2="44385"/>
                        <a14:foregroundMark x1="37100" y1="45276" x2="37100" y2="45276"/>
                        <a14:foregroundMark x1="19600" y1="45276" x2="19600" y2="45276"/>
                        <a14:foregroundMark x1="20500" y1="23529" x2="20500" y2="23529"/>
                        <a14:foregroundMark x1="84800" y1="67201" x2="84800" y2="67201"/>
                        <a14:foregroundMark x1="80400" y1="65062" x2="80400" y2="65062"/>
                        <a14:foregroundMark x1="79500" y1="48485" x2="79500" y2="48485"/>
                        <a14:foregroundMark x1="95100" y1="68806" x2="95100" y2="68806"/>
                        <a14:foregroundMark x1="80200" y1="59358" x2="80200" y2="59358"/>
                        <a14:foregroundMark x1="85100" y1="50624" x2="85100" y2="50624"/>
                        <a14:foregroundMark x1="79000" y1="56328" x2="79000" y2="56328"/>
                        <a14:foregroundMark x1="78800" y1="69340" x2="78800" y2="69340"/>
                        <a14:foregroundMark x1="84400" y1="77540" x2="84400" y2="77540"/>
                        <a14:foregroundMark x1="77600" y1="78075" x2="77600" y2="78075"/>
                        <a14:foregroundMark x1="74800" y1="66310" x2="74800" y2="66310"/>
                        <a14:foregroundMark x1="74800" y1="66310" x2="74800" y2="66310"/>
                        <a14:foregroundMark x1="76700" y1="53832" x2="76700" y2="53832"/>
                        <a14:foregroundMark x1="77600" y1="45989" x2="77600" y2="45989"/>
                        <a14:foregroundMark x1="78800" y1="41533" x2="78800" y2="41533"/>
                        <a14:foregroundMark x1="78300" y1="30303" x2="78300" y2="30303"/>
                        <a14:foregroundMark x1="79000" y1="43494" x2="79000" y2="43494"/>
                        <a14:foregroundMark x1="87600" y1="45989" x2="87600" y2="45989"/>
                        <a14:foregroundMark x1="88100" y1="60071" x2="88100" y2="60071"/>
                        <a14:foregroundMark x1="88100" y1="69340" x2="88100" y2="69340"/>
                        <a14:foregroundMark x1="85800" y1="74332" x2="85800" y2="74332"/>
                        <a14:foregroundMark x1="27000" y1="67558" x2="27000" y2="67558"/>
                        <a14:foregroundMark x1="11900" y1="67558" x2="11900" y2="67558"/>
                        <a14:foregroundMark x1="45700" y1="60963" x2="46400" y2="61319"/>
                        <a14:foregroundMark x1="65500" y1="61854" x2="65500" y2="61854"/>
                        <a14:foregroundMark x1="81100" y1="49020" x2="81100" y2="49020"/>
                        <a14:foregroundMark x1="95500" y1="58824" x2="95500" y2="58824"/>
                        <a14:foregroundMark x1="33600" y1="65597" x2="33600" y2="65597"/>
                        <a14:foregroundMark x1="4000" y1="76827" x2="4000" y2="76827"/>
                        <a14:backgroundMark x1="40800" y1="14439" x2="40800" y2="14439"/>
                        <a14:backgroundMark x1="40300" y1="82175" x2="40300" y2="821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0988" y="1092373"/>
            <a:ext cx="2659224" cy="1491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  <p:grpSp>
        <p:nvGrpSpPr>
          <p:cNvPr id="8" name="组合 7"/>
          <p:cNvGrpSpPr/>
          <p:nvPr userDrawn="1"/>
        </p:nvGrpSpPr>
        <p:grpSpPr>
          <a:xfrm>
            <a:off x="1055440" y="548680"/>
            <a:ext cx="4024195" cy="5832123"/>
            <a:chOff x="1559496" y="764704"/>
            <a:chExt cx="3849496" cy="5578937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5" cstate="screen"/>
            <a:stretch>
              <a:fillRect/>
            </a:stretch>
          </p:blipFill>
          <p:spPr>
            <a:xfrm>
              <a:off x="1559496" y="764704"/>
              <a:ext cx="3849496" cy="5027851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6" cstate="screen"/>
            <a:stretch>
              <a:fillRect/>
            </a:stretch>
          </p:blipFill>
          <p:spPr>
            <a:xfrm>
              <a:off x="1991544" y="3573016"/>
              <a:ext cx="2839740" cy="2770625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致谢@张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6096000" y="675456"/>
            <a:ext cx="6048672" cy="6858000"/>
          </a:xfrm>
          <a:prstGeom prst="rect">
            <a:avLst/>
          </a:prstGeom>
        </p:spPr>
      </p:pic>
      <p:grpSp>
        <p:nvGrpSpPr>
          <p:cNvPr id="4" name="组合 3"/>
          <p:cNvGrpSpPr/>
          <p:nvPr userDrawn="1"/>
        </p:nvGrpSpPr>
        <p:grpSpPr>
          <a:xfrm>
            <a:off x="1008622" y="620688"/>
            <a:ext cx="3863242" cy="5598859"/>
            <a:chOff x="1559496" y="764704"/>
            <a:chExt cx="3849496" cy="5578937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screen"/>
            <a:stretch>
              <a:fillRect/>
            </a:stretch>
          </p:blipFill>
          <p:spPr>
            <a:xfrm>
              <a:off x="1559496" y="764704"/>
              <a:ext cx="3849496" cy="5027851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4" cstate="screen"/>
            <a:stretch>
              <a:fillRect/>
            </a:stretch>
          </p:blipFill>
          <p:spPr>
            <a:xfrm>
              <a:off x="1991544" y="3573016"/>
              <a:ext cx="2839740" cy="2770625"/>
            </a:xfrm>
            <a:prstGeom prst="rect">
              <a:avLst/>
            </a:prstGeom>
          </p:spPr>
        </p:pic>
      </p:grpSp>
      <p:sp>
        <p:nvSpPr>
          <p:cNvPr id="7" name="矩形 6"/>
          <p:cNvSpPr/>
          <p:nvPr userDrawn="1"/>
        </p:nvSpPr>
        <p:spPr>
          <a:xfrm>
            <a:off x="4673753" y="4127826"/>
            <a:ext cx="704705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  <a:cs typeface="+mn-ea"/>
                <a:sym typeface="+mn-lt"/>
              </a:rPr>
              <a:t>Thanks for your attention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  <a:cs typeface="+mn-ea"/>
                <a:sym typeface="+mn-lt"/>
              </a:rPr>
              <a:t>！</a:t>
            </a:r>
            <a:endParaRPr lang="zh-CN" altLang="en-US" sz="3600" dirty="0">
              <a:solidFill>
                <a:schemeClr val="accent1">
                  <a:lumMod val="50000"/>
                </a:schemeClr>
              </a:solidFill>
              <a:latin typeface="Arial Black" panose="020B0A04020102020204" pitchFamily="34" charset="0"/>
              <a:cs typeface="+mn-ea"/>
              <a:sym typeface="+mn-lt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5" cstate="screen"/>
          <a:stretch>
            <a:fillRect/>
          </a:stretch>
        </p:blipFill>
        <p:spPr>
          <a:xfrm flipH="1">
            <a:off x="47328" y="675456"/>
            <a:ext cx="6408712" cy="6858000"/>
          </a:xfrm>
          <a:prstGeom prst="rect">
            <a:avLst/>
          </a:prstGeom>
        </p:spPr>
      </p:pic>
      <p:pic>
        <p:nvPicPr>
          <p:cNvPr id="9" name="Picture 2" descr="https://gimg2.baidu.com/image_search/src=http%3A%2F%2Fupload-images.jianshu.io%2Fupload_images%2F4328762-883f350af13e526d.png&amp;refer=http%3A%2F%2Fupload-images.jianshu.io&amp;app=2002&amp;size=f9999,10000&amp;q=a80&amp;n=0&amp;g=0n&amp;fmt=auto?sec=1667461827&amp;t=4fe55b94f212f72e189c7ea51652be85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804" b="89840" l="4000" r="95500">
                        <a14:foregroundMark x1="4900" y1="33155" x2="4900" y2="33155"/>
                        <a14:foregroundMark x1="84800" y1="62210" x2="84800" y2="62210"/>
                        <a14:foregroundMark x1="72200" y1="83422" x2="72200" y2="83422"/>
                        <a14:foregroundMark x1="93500" y1="83422" x2="93500" y2="83422"/>
                        <a14:foregroundMark x1="81300" y1="51515" x2="81300" y2="51515"/>
                        <a14:foregroundMark x1="76200" y1="60963" x2="76200" y2="60963"/>
                        <a14:foregroundMark x1="76700" y1="72193" x2="77400" y2="74688"/>
                        <a14:foregroundMark x1="81300" y1="81818" x2="81300" y2="81818"/>
                        <a14:foregroundMark x1="85300" y1="29768" x2="85300" y2="29768"/>
                        <a14:foregroundMark x1="62700" y1="39394" x2="62700" y2="39394"/>
                        <a14:foregroundMark x1="52000" y1="44385" x2="52000" y2="44385"/>
                        <a14:foregroundMark x1="37100" y1="45276" x2="37100" y2="45276"/>
                        <a14:foregroundMark x1="19600" y1="45276" x2="19600" y2="45276"/>
                        <a14:foregroundMark x1="20500" y1="23529" x2="20500" y2="23529"/>
                        <a14:foregroundMark x1="84800" y1="67201" x2="84800" y2="67201"/>
                        <a14:foregroundMark x1="80400" y1="65062" x2="80400" y2="65062"/>
                        <a14:foregroundMark x1="79500" y1="48485" x2="79500" y2="48485"/>
                        <a14:foregroundMark x1="95100" y1="68806" x2="95100" y2="68806"/>
                        <a14:foregroundMark x1="80200" y1="59358" x2="80200" y2="59358"/>
                        <a14:foregroundMark x1="85100" y1="50624" x2="85100" y2="50624"/>
                        <a14:foregroundMark x1="79000" y1="56328" x2="79000" y2="56328"/>
                        <a14:foregroundMark x1="78800" y1="69340" x2="78800" y2="69340"/>
                        <a14:foregroundMark x1="84400" y1="77540" x2="84400" y2="77540"/>
                        <a14:foregroundMark x1="77600" y1="78075" x2="77600" y2="78075"/>
                        <a14:foregroundMark x1="74800" y1="66310" x2="74800" y2="66310"/>
                        <a14:foregroundMark x1="74800" y1="66310" x2="74800" y2="66310"/>
                        <a14:foregroundMark x1="76700" y1="53832" x2="76700" y2="53832"/>
                        <a14:foregroundMark x1="77600" y1="45989" x2="77600" y2="45989"/>
                        <a14:foregroundMark x1="78800" y1="41533" x2="78800" y2="41533"/>
                        <a14:foregroundMark x1="78300" y1="30303" x2="78300" y2="30303"/>
                        <a14:foregroundMark x1="79000" y1="43494" x2="79000" y2="43494"/>
                        <a14:foregroundMark x1="87600" y1="45989" x2="87600" y2="45989"/>
                        <a14:foregroundMark x1="88100" y1="60071" x2="88100" y2="60071"/>
                        <a14:foregroundMark x1="88100" y1="69340" x2="88100" y2="69340"/>
                        <a14:foregroundMark x1="85800" y1="74332" x2="85800" y2="74332"/>
                        <a14:foregroundMark x1="27000" y1="67558" x2="27000" y2="67558"/>
                        <a14:foregroundMark x1="11900" y1="67558" x2="11900" y2="67558"/>
                        <a14:foregroundMark x1="45700" y1="60963" x2="46400" y2="61319"/>
                        <a14:foregroundMark x1="65500" y1="61854" x2="65500" y2="61854"/>
                        <a14:foregroundMark x1="81100" y1="49020" x2="81100" y2="49020"/>
                        <a14:foregroundMark x1="95500" y1="58824" x2="95500" y2="58824"/>
                        <a14:foregroundMark x1="33600" y1="65597" x2="33600" y2="65597"/>
                        <a14:foregroundMark x1="4000" y1="76827" x2="4000" y2="76827"/>
                        <a14:backgroundMark x1="40800" y1="14439" x2="40800" y2="14439"/>
                        <a14:backgroundMark x1="40300" y1="82175" x2="40300" y2="821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4599" y="1331453"/>
            <a:ext cx="3850696" cy="2160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500"/>
                            </p:stCondLst>
                            <p:childTnLst>
                              <p:par>
                                <p:cTn id="19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911424" y="6717034"/>
            <a:ext cx="1440159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模板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http://www.1ppt.com/hangye/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170005-BF01-4CE9-B7C9-81848EC873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4" name="Subtitle 2"/>
          <p:cNvSpPr>
            <a:spLocks noGrp="1"/>
          </p:cNvSpPr>
          <p:nvPr>
            <p:ph type="subTitle" idx="1"/>
          </p:nvPr>
        </p:nvSpPr>
        <p:spPr>
          <a:xfrm>
            <a:off x="1524000" y="3773714"/>
            <a:ext cx="9144000" cy="148408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3200"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ED8E067-0DD2-4B0E-BBA9-A9574EF6B0DC}" type="slidenum">
              <a:rPr lang="zh-CN" altLang="en-US" smtClean="0"/>
            </a:fld>
            <a:endParaRPr lang="zh-CN" altLang="en-US"/>
          </a:p>
        </p:txBody>
      </p:sp>
      <p:cxnSp>
        <p:nvCxnSpPr>
          <p:cNvPr id="22" name="直接连接符 21"/>
          <p:cNvCxnSpPr/>
          <p:nvPr userDrawn="1"/>
        </p:nvCxnSpPr>
        <p:spPr>
          <a:xfrm>
            <a:off x="0" y="647700"/>
            <a:ext cx="1524000" cy="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 userDrawn="1"/>
        </p:nvCxnSpPr>
        <p:spPr>
          <a:xfrm>
            <a:off x="1028700" y="476250"/>
            <a:ext cx="0" cy="34290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 userDrawn="1"/>
        </p:nvCxnSpPr>
        <p:spPr>
          <a:xfrm>
            <a:off x="0" y="647700"/>
            <a:ext cx="1524000" cy="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 userDrawn="1"/>
        </p:nvCxnSpPr>
        <p:spPr>
          <a:xfrm>
            <a:off x="1028700" y="476250"/>
            <a:ext cx="0" cy="34290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 userDrawn="1"/>
        </p:nvCxnSpPr>
        <p:spPr>
          <a:xfrm>
            <a:off x="2108353" y="3547050"/>
            <a:ext cx="7873847" cy="0"/>
          </a:xfrm>
          <a:prstGeom prst="line">
            <a:avLst/>
          </a:prstGeom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图片 2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7831" y="4893382"/>
            <a:ext cx="1256338" cy="1256338"/>
          </a:xfrm>
          <a:prstGeom prst="rect">
            <a:avLst/>
          </a:prstGeom>
        </p:spPr>
      </p:pic>
      <p:cxnSp>
        <p:nvCxnSpPr>
          <p:cNvPr id="28" name="直接连接符 27"/>
          <p:cNvCxnSpPr/>
          <p:nvPr userDrawn="1"/>
        </p:nvCxnSpPr>
        <p:spPr>
          <a:xfrm>
            <a:off x="10335491" y="6356350"/>
            <a:ext cx="1524000" cy="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 userDrawn="1"/>
        </p:nvCxnSpPr>
        <p:spPr>
          <a:xfrm>
            <a:off x="10335491" y="6356350"/>
            <a:ext cx="1524000" cy="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 userDrawn="1"/>
        </p:nvCxnSpPr>
        <p:spPr>
          <a:xfrm>
            <a:off x="10677006" y="6185132"/>
            <a:ext cx="0" cy="34290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>
        <p:random/>
      </p:transition>
    </mc:Choice>
    <mc:Fallback>
      <p:transition spd="slow" advClick="0" advTm="5000">
        <p:random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8625"/>
            <a:ext cx="10515600" cy="7397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idx="1"/>
          </p:nvPr>
        </p:nvSpPr>
        <p:spPr>
          <a:xfrm>
            <a:off x="838200" y="943276"/>
            <a:ext cx="10515600" cy="5297188"/>
          </a:xfrm>
          <a:prstGeom prst="rect">
            <a:avLst/>
          </a:prstGeom>
        </p:spPr>
        <p:txBody>
          <a:bodyPr/>
          <a:lstStyle>
            <a:lvl1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3pPr>
            <a:lvl4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4pPr>
            <a:lvl5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cxnSp>
        <p:nvCxnSpPr>
          <p:cNvPr id="17" name="直接连接符 16"/>
          <p:cNvCxnSpPr/>
          <p:nvPr userDrawn="1"/>
        </p:nvCxnSpPr>
        <p:spPr>
          <a:xfrm>
            <a:off x="0" y="759135"/>
            <a:ext cx="10395430" cy="0"/>
          </a:xfrm>
          <a:prstGeom prst="line">
            <a:avLst/>
          </a:prstGeom>
          <a:ln w="15875">
            <a:solidFill>
              <a:srgbClr val="002060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 userDrawn="1"/>
        </p:nvCxnSpPr>
        <p:spPr>
          <a:xfrm flipV="1">
            <a:off x="711215" y="0"/>
            <a:ext cx="0" cy="943276"/>
          </a:xfrm>
          <a:prstGeom prst="line">
            <a:avLst/>
          </a:prstGeom>
          <a:ln w="15875">
            <a:solidFill>
              <a:srgbClr val="002060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 userDrawn="1"/>
        </p:nvCxnSpPr>
        <p:spPr>
          <a:xfrm>
            <a:off x="0" y="6476400"/>
            <a:ext cx="12192000" cy="0"/>
          </a:xfrm>
          <a:prstGeom prst="line">
            <a:avLst/>
          </a:prstGeom>
          <a:ln w="15875">
            <a:solidFill>
              <a:srgbClr val="002060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 userDrawn="1"/>
        </p:nvCxnSpPr>
        <p:spPr>
          <a:xfrm>
            <a:off x="9583397" y="6476399"/>
            <a:ext cx="0" cy="381601"/>
          </a:xfrm>
          <a:prstGeom prst="line">
            <a:avLst/>
          </a:prstGeom>
          <a:ln w="15875">
            <a:solidFill>
              <a:srgbClr val="002060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8045" y="107386"/>
            <a:ext cx="504000" cy="542252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6578" y="206542"/>
            <a:ext cx="1105186" cy="11051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>
        <p:random/>
      </p:transition>
    </mc:Choice>
    <mc:Fallback>
      <p:transition spd="slow" advClick="0" advTm="5000">
        <p:random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ED8E067-0DD2-4B0E-BBA9-A9574EF6B0DC}" type="slidenum">
              <a:rPr lang="zh-CN" altLang="en-US" smtClean="0"/>
            </a:fld>
            <a:endParaRPr lang="zh-CN" altLang="en-US"/>
          </a:p>
        </p:txBody>
      </p:sp>
      <p:cxnSp>
        <p:nvCxnSpPr>
          <p:cNvPr id="25" name="直接连接符 24"/>
          <p:cNvCxnSpPr/>
          <p:nvPr userDrawn="1"/>
        </p:nvCxnSpPr>
        <p:spPr>
          <a:xfrm>
            <a:off x="2209800" y="3509963"/>
            <a:ext cx="7772400" cy="1563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 userDrawn="1"/>
        </p:nvCxnSpPr>
        <p:spPr>
          <a:xfrm>
            <a:off x="2209800" y="3509963"/>
            <a:ext cx="7772400" cy="15631"/>
          </a:xfrm>
          <a:prstGeom prst="line">
            <a:avLst/>
          </a:prstGeom>
          <a:ln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 userDrawn="1"/>
        </p:nvSpPr>
        <p:spPr>
          <a:xfrm>
            <a:off x="2001868" y="2586633"/>
            <a:ext cx="818826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tx1"/>
                </a:solidFill>
              </a:rPr>
              <a:t>Thanks for your attention</a:t>
            </a:r>
            <a:r>
              <a:rPr lang="zh-CN" altLang="en-US" sz="5400" b="1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tx1"/>
                </a:solidFill>
              </a:rPr>
              <a:t>！</a:t>
            </a:r>
            <a:endParaRPr lang="zh-CN" altLang="en-US" sz="5400" b="1" dirty="0">
              <a:ln w="12700" cmpd="sng">
                <a:solidFill>
                  <a:schemeClr val="accent4"/>
                </a:solidFill>
                <a:prstDash val="solid"/>
              </a:ln>
              <a:solidFill>
                <a:schemeClr val="tx1"/>
              </a:solidFill>
            </a:endParaRPr>
          </a:p>
        </p:txBody>
      </p:sp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3140" y="4119033"/>
            <a:ext cx="1256338" cy="1256338"/>
          </a:xfrm>
          <a:prstGeom prst="rect">
            <a:avLst/>
          </a:prstGeom>
        </p:spPr>
      </p:pic>
      <p:cxnSp>
        <p:nvCxnSpPr>
          <p:cNvPr id="29" name="直接连接符 28"/>
          <p:cNvCxnSpPr/>
          <p:nvPr userDrawn="1"/>
        </p:nvCxnSpPr>
        <p:spPr>
          <a:xfrm>
            <a:off x="10335491" y="6356350"/>
            <a:ext cx="1524000" cy="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 userDrawn="1"/>
        </p:nvCxnSpPr>
        <p:spPr>
          <a:xfrm>
            <a:off x="10335491" y="6356350"/>
            <a:ext cx="1524000" cy="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 userDrawn="1"/>
        </p:nvCxnSpPr>
        <p:spPr>
          <a:xfrm>
            <a:off x="10677006" y="6185132"/>
            <a:ext cx="0" cy="34290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 userDrawn="1"/>
        </p:nvCxnSpPr>
        <p:spPr>
          <a:xfrm>
            <a:off x="0" y="647700"/>
            <a:ext cx="1524000" cy="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 userDrawn="1"/>
        </p:nvCxnSpPr>
        <p:spPr>
          <a:xfrm>
            <a:off x="1028700" y="476250"/>
            <a:ext cx="0" cy="34290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 userDrawn="1"/>
        </p:nvCxnSpPr>
        <p:spPr>
          <a:xfrm>
            <a:off x="0" y="647700"/>
            <a:ext cx="1524000" cy="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 userDrawn="1"/>
        </p:nvCxnSpPr>
        <p:spPr>
          <a:xfrm>
            <a:off x="1028700" y="476250"/>
            <a:ext cx="0" cy="342900"/>
          </a:xfrm>
          <a:prstGeom prst="line">
            <a:avLst/>
          </a:prstGeom>
          <a:ln w="19050">
            <a:solidFill>
              <a:srgbClr val="00206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>
        <p:random/>
      </p:transition>
    </mc:Choice>
    <mc:Fallback>
      <p:transition spd="slow" advClick="0" advTm="5000">
        <p:random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1524000" y="3773714"/>
            <a:ext cx="9144000" cy="148408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3200"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ED8E067-0DD2-4B0E-BBA9-A9574EF6B0DC}" type="slidenum">
              <a:rPr lang="zh-CN" altLang="en-US" smtClean="0"/>
            </a:fld>
            <a:endParaRPr lang="zh-CN" altLang="en-US"/>
          </a:p>
        </p:txBody>
      </p:sp>
      <p:cxnSp>
        <p:nvCxnSpPr>
          <p:cNvPr id="17" name="直接连接符 16"/>
          <p:cNvCxnSpPr/>
          <p:nvPr userDrawn="1"/>
        </p:nvCxnSpPr>
        <p:spPr>
          <a:xfrm>
            <a:off x="0" y="647700"/>
            <a:ext cx="1524000" cy="0"/>
          </a:xfrm>
          <a:prstGeom prst="line">
            <a:avLst/>
          </a:prstGeom>
          <a:ln w="19050">
            <a:solidFill>
              <a:srgbClr val="00B05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 userDrawn="1"/>
        </p:nvCxnSpPr>
        <p:spPr>
          <a:xfrm>
            <a:off x="1028700" y="476250"/>
            <a:ext cx="0" cy="342900"/>
          </a:xfrm>
          <a:prstGeom prst="line">
            <a:avLst/>
          </a:prstGeom>
          <a:ln w="19050">
            <a:solidFill>
              <a:srgbClr val="00B05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 userDrawn="1"/>
        </p:nvCxnSpPr>
        <p:spPr>
          <a:xfrm>
            <a:off x="0" y="647700"/>
            <a:ext cx="1524000" cy="0"/>
          </a:xfrm>
          <a:prstGeom prst="line">
            <a:avLst/>
          </a:prstGeom>
          <a:ln w="19050">
            <a:solidFill>
              <a:srgbClr val="00B05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 userDrawn="1"/>
        </p:nvCxnSpPr>
        <p:spPr>
          <a:xfrm>
            <a:off x="1028700" y="476250"/>
            <a:ext cx="0" cy="342900"/>
          </a:xfrm>
          <a:prstGeom prst="line">
            <a:avLst/>
          </a:prstGeom>
          <a:ln w="19050">
            <a:solidFill>
              <a:srgbClr val="00B05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 userDrawn="1"/>
        </p:nvCxnSpPr>
        <p:spPr>
          <a:xfrm>
            <a:off x="2108353" y="3547050"/>
            <a:ext cx="7873847" cy="0"/>
          </a:xfrm>
          <a:prstGeom prst="line">
            <a:avLst/>
          </a:prstGeom>
          <a:ln w="1905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>
        <p:random/>
      </p:transition>
    </mc:Choice>
    <mc:Fallback>
      <p:transition spd="slow" advClick="0" advTm="5000">
        <p:random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838200" y="8625"/>
            <a:ext cx="10515600" cy="7397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838200" y="943276"/>
            <a:ext cx="10515600" cy="5297188"/>
          </a:xfrm>
          <a:prstGeom prst="rect">
            <a:avLst/>
          </a:prstGeom>
        </p:spPr>
        <p:txBody>
          <a:bodyPr/>
          <a:lstStyle>
            <a:lvl1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>
              <a:defRPr>
                <a:solidFill>
                  <a:srgbClr val="00B050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3pPr>
            <a:lvl4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4pPr>
            <a:lvl5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cxnSp>
        <p:nvCxnSpPr>
          <p:cNvPr id="17" name="直接连接符 16"/>
          <p:cNvCxnSpPr/>
          <p:nvPr userDrawn="1"/>
        </p:nvCxnSpPr>
        <p:spPr>
          <a:xfrm>
            <a:off x="0" y="759135"/>
            <a:ext cx="12192000" cy="0"/>
          </a:xfrm>
          <a:prstGeom prst="line">
            <a:avLst/>
          </a:prstGeom>
          <a:ln w="15875">
            <a:solidFill>
              <a:srgbClr val="00B050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图片 1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8045" y="107386"/>
            <a:ext cx="504000" cy="542252"/>
          </a:xfrm>
          <a:prstGeom prst="rect">
            <a:avLst/>
          </a:prstGeom>
        </p:spPr>
      </p:pic>
      <p:cxnSp>
        <p:nvCxnSpPr>
          <p:cNvPr id="20" name="直接连接符 19"/>
          <p:cNvCxnSpPr/>
          <p:nvPr userDrawn="1"/>
        </p:nvCxnSpPr>
        <p:spPr>
          <a:xfrm flipV="1">
            <a:off x="711215" y="0"/>
            <a:ext cx="0" cy="943276"/>
          </a:xfrm>
          <a:prstGeom prst="line">
            <a:avLst/>
          </a:prstGeom>
          <a:ln w="15875">
            <a:solidFill>
              <a:srgbClr val="00B050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 userDrawn="1"/>
        </p:nvCxnSpPr>
        <p:spPr>
          <a:xfrm>
            <a:off x="0" y="6476400"/>
            <a:ext cx="12192000" cy="0"/>
          </a:xfrm>
          <a:prstGeom prst="line">
            <a:avLst/>
          </a:prstGeom>
          <a:ln w="15875">
            <a:solidFill>
              <a:srgbClr val="00B050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 userDrawn="1"/>
        </p:nvCxnSpPr>
        <p:spPr>
          <a:xfrm>
            <a:off x="6660733" y="6476399"/>
            <a:ext cx="0" cy="381601"/>
          </a:xfrm>
          <a:prstGeom prst="line">
            <a:avLst/>
          </a:prstGeom>
          <a:ln w="15875">
            <a:solidFill>
              <a:srgbClr val="00B050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Date Placeholder 3"/>
          <p:cNvSpPr>
            <a:spLocks noGrp="1"/>
          </p:cNvSpPr>
          <p:nvPr>
            <p:ph type="dt" sz="half" idx="10"/>
          </p:nvPr>
        </p:nvSpPr>
        <p:spPr>
          <a:xfrm>
            <a:off x="370045" y="6480605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>
        <p:random/>
      </p:transition>
    </mc:Choice>
    <mc:Fallback>
      <p:transition spd="slow" advClick="0" advTm="5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5" Type="http://schemas.openxmlformats.org/officeDocument/2006/relationships/theme" Target="../theme/theme1.xml"/><Relationship Id="rId24" Type="http://schemas.openxmlformats.org/officeDocument/2006/relationships/image" Target="../media/image8.jpeg"/><Relationship Id="rId23" Type="http://schemas.openxmlformats.org/officeDocument/2006/relationships/image" Target="../media/image10.png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3"/>
          <p:cNvPicPr>
            <a:picLocks noChangeAspect="1"/>
          </p:cNvPicPr>
          <p:nvPr userDrawn="1"/>
        </p:nvPicPr>
        <p:blipFill>
          <a:blip r:embed="rId23" cstate="screen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 userDrawn="1"/>
        </p:nvSpPr>
        <p:spPr>
          <a:xfrm>
            <a:off x="263352" y="260648"/>
            <a:ext cx="11665296" cy="6336704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2504" y="5330545"/>
            <a:ext cx="1105186" cy="110518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mc:AlternateContent xmlns:mc="http://schemas.openxmlformats.org/markup-compatibility/2006">
    <mc:Choice xmlns:p14="http://schemas.microsoft.com/office/powerpoint/2010/main" Requires="p14">
      <p:transition spd="slow" p14:dur="1500" advClick="0" advTm="5000">
        <p:random/>
      </p:transition>
    </mc:Choice>
    <mc:Fallback>
      <p:transition spd="slow" advClick="0" advTm="500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4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5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6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7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8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 idx="4294967295"/>
          </p:nvPr>
        </p:nvSpPr>
        <p:spPr>
          <a:xfrm>
            <a:off x="5748530" y="2680396"/>
            <a:ext cx="5847122" cy="910888"/>
          </a:xfrm>
          <a:prstGeom prst="rect">
            <a:avLst/>
          </a:prstGeom>
        </p:spPr>
        <p:txBody>
          <a:bodyPr/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5</a:t>
            </a:r>
            <a:r>
              <a:rPr lang="zh-CN" altLang="en-US" b="1" dirty="0"/>
              <a:t>章</a:t>
            </a:r>
            <a:r>
              <a:rPr lang="en-US" altLang="zh-CN" b="1" dirty="0"/>
              <a:t>   </a:t>
            </a:r>
            <a:r>
              <a:rPr lang="zh-CN" altLang="en-US" b="1" dirty="0"/>
              <a:t>用户和组管理</a:t>
            </a:r>
            <a:endParaRPr lang="zh-CN" altLang="en-US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27655" y="976630"/>
            <a:ext cx="7757160" cy="495427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用户账户基础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用户配置文件</a:t>
            </a:r>
            <a:r>
              <a:rPr lang="en-US" altLang="zh-CN" dirty="0" err="1"/>
              <a:t>passwd</a:t>
            </a:r>
            <a:r>
              <a:rPr lang="zh-CN" altLang="en-US" dirty="0"/>
              <a:t>和</a:t>
            </a:r>
            <a:r>
              <a:rPr lang="en-US" altLang="zh-CN" dirty="0"/>
              <a:t>shadow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用户账户管理命令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组账户基础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组账户配置文件</a:t>
            </a:r>
            <a:r>
              <a:rPr lang="en-US" altLang="zh-CN" dirty="0"/>
              <a:t>group</a:t>
            </a:r>
            <a:r>
              <a:rPr lang="zh-CN" altLang="en-US" dirty="0"/>
              <a:t>和</a:t>
            </a:r>
            <a:r>
              <a:rPr lang="en-US" altLang="zh-CN" dirty="0" err="1"/>
              <a:t>gshadow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组账户管理命令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用户账户基础</a:t>
            </a:r>
            <a:br>
              <a:rPr lang="en-US" altLang="zh-CN" dirty="0"/>
            </a:b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5.1.1 Linux</a:t>
            </a:r>
            <a:r>
              <a:rPr lang="zh-CN" altLang="en-US" dirty="0"/>
              <a:t>用户账户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Linux</a:t>
            </a:r>
            <a:r>
              <a:rPr lang="zh-CN" altLang="zh-CN" dirty="0"/>
              <a:t>系统存在</a:t>
            </a:r>
            <a:r>
              <a:rPr lang="en-US" altLang="zh-CN" dirty="0"/>
              <a:t>3</a:t>
            </a:r>
            <a:r>
              <a:rPr lang="zh-CN" altLang="zh-CN" dirty="0"/>
              <a:t>类用户账户，即超级用户（</a:t>
            </a:r>
            <a:r>
              <a:rPr lang="en-US" altLang="zh-CN" dirty="0"/>
              <a:t>super user</a:t>
            </a:r>
            <a:r>
              <a:rPr lang="zh-CN" altLang="zh-CN" dirty="0"/>
              <a:t>）、系统用户（</a:t>
            </a:r>
            <a:r>
              <a:rPr lang="en-US" altLang="zh-CN" dirty="0"/>
              <a:t>system user</a:t>
            </a:r>
            <a:r>
              <a:rPr lang="zh-CN" altLang="zh-CN" dirty="0"/>
              <a:t>）和普通用户（</a:t>
            </a:r>
            <a:r>
              <a:rPr lang="en-US" altLang="zh-CN" dirty="0"/>
              <a:t>regular user</a:t>
            </a:r>
            <a:r>
              <a:rPr lang="zh-CN" altLang="zh-CN" dirty="0"/>
              <a:t>）。系统为每个用户分配一个唯一的用户</a:t>
            </a:r>
            <a:r>
              <a:rPr lang="en-US" altLang="zh-CN" dirty="0"/>
              <a:t>ID</a:t>
            </a:r>
            <a:r>
              <a:rPr lang="zh-CN" altLang="zh-CN" dirty="0"/>
              <a:t>值</a:t>
            </a:r>
            <a:r>
              <a:rPr lang="en-US" altLang="zh-CN" dirty="0"/>
              <a:t>UID</a:t>
            </a:r>
            <a:r>
              <a:rPr lang="zh-CN" altLang="zh-CN" dirty="0"/>
              <a:t>。</a:t>
            </a:r>
            <a:endParaRPr lang="en-US" altLang="zh-CN" dirty="0"/>
          </a:p>
          <a:p>
            <a:r>
              <a:rPr lang="zh-CN" altLang="zh-CN" dirty="0"/>
              <a:t>（</a:t>
            </a:r>
            <a:r>
              <a:rPr lang="en-US" altLang="zh-CN" dirty="0"/>
              <a:t>1</a:t>
            </a:r>
            <a:r>
              <a:rPr lang="zh-CN" altLang="zh-CN" dirty="0"/>
              <a:t>）超级用户（</a:t>
            </a:r>
            <a:r>
              <a:rPr lang="en-US" altLang="zh-CN" dirty="0"/>
              <a:t>super user</a:t>
            </a:r>
            <a:r>
              <a:rPr lang="zh-CN" altLang="zh-CN" dirty="0"/>
              <a:t>）</a:t>
            </a:r>
            <a:endParaRPr lang="zh-CN" altLang="zh-CN" dirty="0"/>
          </a:p>
          <a:p>
            <a:pPr lvl="1"/>
            <a:r>
              <a:rPr lang="zh-CN" altLang="zh-CN" dirty="0"/>
              <a:t>超级用户就是</a:t>
            </a:r>
            <a:r>
              <a:rPr lang="en-US" altLang="zh-CN" dirty="0"/>
              <a:t>root</a:t>
            </a:r>
            <a:r>
              <a:rPr lang="zh-CN" altLang="zh-CN" dirty="0"/>
              <a:t>账户，</a:t>
            </a:r>
            <a:r>
              <a:rPr lang="en-US" altLang="zh-CN" dirty="0"/>
              <a:t>UID</a:t>
            </a:r>
            <a:r>
              <a:rPr lang="zh-CN" altLang="zh-CN" dirty="0"/>
              <a:t>为</a:t>
            </a:r>
            <a:r>
              <a:rPr lang="en-US" altLang="zh-CN" dirty="0"/>
              <a:t>0</a:t>
            </a:r>
            <a:r>
              <a:rPr lang="zh-CN" altLang="zh-CN" dirty="0"/>
              <a:t>。</a:t>
            </a:r>
            <a:endParaRPr lang="en-US" altLang="zh-CN" dirty="0"/>
          </a:p>
          <a:p>
            <a:r>
              <a:rPr lang="zh-CN" altLang="zh-CN" dirty="0"/>
              <a:t>（</a:t>
            </a:r>
            <a:r>
              <a:rPr lang="en-US" altLang="zh-CN" dirty="0"/>
              <a:t>2</a:t>
            </a:r>
            <a:r>
              <a:rPr lang="zh-CN" altLang="zh-CN" dirty="0"/>
              <a:t>）系统用户（</a:t>
            </a:r>
            <a:r>
              <a:rPr lang="en-US" altLang="zh-CN" dirty="0"/>
              <a:t>system user</a:t>
            </a:r>
            <a:r>
              <a:rPr lang="zh-CN" altLang="zh-CN" dirty="0"/>
              <a:t>） </a:t>
            </a:r>
            <a:endParaRPr lang="zh-CN" altLang="zh-CN" dirty="0"/>
          </a:p>
          <a:p>
            <a:pPr lvl="1"/>
            <a:r>
              <a:rPr lang="zh-CN" altLang="zh-CN" dirty="0"/>
              <a:t>系统本身或应用程序使用的专门账户。</a:t>
            </a:r>
            <a:r>
              <a:rPr lang="en-US" altLang="zh-CN" dirty="0"/>
              <a:t>UID</a:t>
            </a:r>
            <a:r>
              <a:rPr lang="zh-CN" altLang="zh-CN" dirty="0"/>
              <a:t>的范围为</a:t>
            </a:r>
            <a:r>
              <a:rPr lang="en-US" altLang="zh-CN" dirty="0"/>
              <a:t>1</a:t>
            </a:r>
            <a:r>
              <a:rPr lang="zh-CN" altLang="zh-CN" dirty="0"/>
              <a:t>～</a:t>
            </a:r>
            <a:r>
              <a:rPr lang="en-US" altLang="zh-CN" dirty="0"/>
              <a:t>499</a:t>
            </a:r>
            <a:r>
              <a:rPr lang="zh-CN" altLang="zh-CN" dirty="0"/>
              <a:t>。</a:t>
            </a:r>
            <a:endParaRPr lang="en-US" altLang="zh-CN" dirty="0"/>
          </a:p>
          <a:p>
            <a:r>
              <a:rPr lang="zh-CN" altLang="zh-CN" dirty="0"/>
              <a:t>（</a:t>
            </a:r>
            <a:r>
              <a:rPr lang="en-US" altLang="zh-CN" dirty="0"/>
              <a:t>3</a:t>
            </a:r>
            <a:r>
              <a:rPr lang="zh-CN" altLang="zh-CN" dirty="0"/>
              <a:t>）普通用户（</a:t>
            </a:r>
            <a:r>
              <a:rPr lang="en-US" altLang="zh-CN" dirty="0"/>
              <a:t>regular user</a:t>
            </a:r>
            <a:r>
              <a:rPr lang="zh-CN" altLang="zh-CN" dirty="0"/>
              <a:t>） </a:t>
            </a:r>
            <a:endParaRPr lang="zh-CN" altLang="zh-CN" dirty="0"/>
          </a:p>
          <a:p>
            <a:pPr lvl="1"/>
            <a:r>
              <a:rPr lang="zh-CN" altLang="zh-CN" dirty="0"/>
              <a:t>用户登录使用的普通用户账户。</a:t>
            </a:r>
            <a:r>
              <a:rPr lang="en-US" altLang="zh-CN" dirty="0"/>
              <a:t>UID</a:t>
            </a:r>
            <a:r>
              <a:rPr lang="zh-CN" altLang="zh-CN" dirty="0"/>
              <a:t>默认从</a:t>
            </a:r>
            <a:r>
              <a:rPr lang="en-US" altLang="zh-CN" dirty="0"/>
              <a:t>1000</a:t>
            </a:r>
            <a:r>
              <a:rPr lang="zh-CN" altLang="zh-CN" dirty="0"/>
              <a:t>开始顺序编号。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5.1.2 Ubuntu</a:t>
            </a:r>
            <a:r>
              <a:rPr lang="zh-CN" altLang="en-US" dirty="0"/>
              <a:t>账户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绝大多数的</a:t>
            </a:r>
            <a:r>
              <a:rPr lang="en-US" altLang="zh-CN" dirty="0"/>
              <a:t>Linux</a:t>
            </a:r>
            <a:r>
              <a:rPr lang="zh-CN" altLang="zh-CN" dirty="0"/>
              <a:t>发行版而言，安装过程会设置两个用户的口令：一个是</a:t>
            </a:r>
            <a:r>
              <a:rPr lang="en-US" altLang="zh-CN" dirty="0"/>
              <a:t>root</a:t>
            </a:r>
            <a:r>
              <a:rPr lang="zh-CN" altLang="zh-CN" dirty="0"/>
              <a:t>用户，另一个是用于登录系统的普通用户。</a:t>
            </a:r>
            <a:endParaRPr lang="en-US" altLang="zh-CN" dirty="0"/>
          </a:p>
          <a:p>
            <a:r>
              <a:rPr lang="en-US" altLang="zh-CN" dirty="0"/>
              <a:t>Ubuntu</a:t>
            </a:r>
            <a:r>
              <a:rPr lang="zh-CN" altLang="zh-CN" dirty="0"/>
              <a:t>默认禁用</a:t>
            </a:r>
            <a:r>
              <a:rPr lang="en-US" altLang="zh-CN" dirty="0"/>
              <a:t>root</a:t>
            </a:r>
            <a:r>
              <a:rPr lang="zh-CN" altLang="zh-CN" dirty="0"/>
              <a:t>账户。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【实例</a:t>
            </a:r>
            <a:r>
              <a:rPr lang="en-US" altLang="zh-CN" dirty="0"/>
              <a:t>5-1</a:t>
            </a:r>
            <a:r>
              <a:rPr lang="zh-CN" altLang="zh-CN" dirty="0"/>
              <a:t>】使用</a:t>
            </a:r>
            <a:r>
              <a:rPr lang="en-US" altLang="zh-CN" dirty="0" err="1"/>
              <a:t>sudo</a:t>
            </a:r>
            <a:r>
              <a:rPr lang="zh-CN" altLang="zh-CN" dirty="0"/>
              <a:t>临时使用</a:t>
            </a:r>
            <a:r>
              <a:rPr lang="en-US" altLang="zh-CN" dirty="0"/>
              <a:t>root</a:t>
            </a:r>
            <a:r>
              <a:rPr lang="zh-CN" altLang="zh-CN" dirty="0"/>
              <a:t>身份运行程序。</a:t>
            </a:r>
            <a:endParaRPr lang="zh-CN" altLang="zh-CN" dirty="0"/>
          </a:p>
          <a:p>
            <a:endParaRPr lang="en-US" altLang="zh-CN" dirty="0"/>
          </a:p>
          <a:p>
            <a:endParaRPr lang="zh-CN" altLang="en-US" dirty="0"/>
          </a:p>
          <a:p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7825" y="1808480"/>
            <a:ext cx="4091305" cy="41154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591810" y="3644900"/>
            <a:ext cx="6391275" cy="1191895"/>
          </a:xfrm>
        </p:spPr>
        <p:txBody>
          <a:bodyPr/>
          <a:lstStyle/>
          <a:p>
            <a:r>
              <a:rPr lang="zh-CN" altLang="en-US" sz="3200" dirty="0"/>
              <a:t>用户配置文件</a:t>
            </a:r>
            <a:r>
              <a:rPr lang="en-US" altLang="zh-CN" sz="3200" dirty="0"/>
              <a:t>passwd</a:t>
            </a:r>
            <a:r>
              <a:rPr lang="zh-CN" altLang="en-US" sz="3200" dirty="0"/>
              <a:t>和</a:t>
            </a:r>
            <a:r>
              <a:rPr lang="en-US" altLang="zh-CN" sz="3200" dirty="0"/>
              <a:t>shadow</a:t>
            </a:r>
            <a:endParaRPr lang="zh-CN" altLang="en-US" sz="3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账户配置文件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695666"/>
            <a:ext cx="10200000" cy="34666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5.2. </a:t>
            </a:r>
            <a:r>
              <a:rPr lang="zh-CN" altLang="en-US" dirty="0"/>
              <a:t>用户配置文件</a:t>
            </a:r>
            <a:r>
              <a:rPr lang="en-US" altLang="zh-CN" dirty="0" err="1"/>
              <a:t>passwd</a:t>
            </a:r>
            <a:r>
              <a:rPr lang="zh-CN" altLang="en-US" dirty="0"/>
              <a:t>和</a:t>
            </a:r>
            <a:r>
              <a:rPr lang="en-US" altLang="zh-CN" dirty="0"/>
              <a:t>shadow	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用户账户文件</a:t>
            </a:r>
            <a:r>
              <a:rPr lang="en-US" altLang="zh-CN" dirty="0"/>
              <a:t>/</a:t>
            </a:r>
            <a:r>
              <a:rPr lang="en-US" altLang="zh-CN" dirty="0" err="1"/>
              <a:t>etc</a:t>
            </a:r>
            <a:r>
              <a:rPr lang="en-US" altLang="zh-CN" dirty="0"/>
              <a:t>/</a:t>
            </a:r>
            <a:r>
              <a:rPr lang="en-US" altLang="zh-CN" dirty="0" err="1"/>
              <a:t>passwd</a:t>
            </a:r>
            <a:r>
              <a:rPr lang="en-US" altLang="zh-CN" dirty="0"/>
              <a:t>	</a:t>
            </a:r>
            <a:endParaRPr lang="en-US" altLang="zh-CN" dirty="0"/>
          </a:p>
          <a:p>
            <a:r>
              <a:rPr lang="zh-CN" altLang="en-US" dirty="0"/>
              <a:t>用户影子文件</a:t>
            </a:r>
            <a:r>
              <a:rPr lang="en-US" altLang="zh-CN" dirty="0"/>
              <a:t>/</a:t>
            </a:r>
            <a:r>
              <a:rPr lang="en-US" altLang="zh-CN" dirty="0" err="1"/>
              <a:t>etc</a:t>
            </a:r>
            <a:r>
              <a:rPr lang="en-US" altLang="zh-CN" dirty="0"/>
              <a:t>/shadow	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5.2.1 </a:t>
            </a:r>
            <a:r>
              <a:rPr lang="zh-CN" altLang="en-US" dirty="0"/>
              <a:t>用户账户文件</a:t>
            </a:r>
            <a:r>
              <a:rPr lang="en-US" altLang="zh-CN" dirty="0"/>
              <a:t>/</a:t>
            </a:r>
            <a:r>
              <a:rPr lang="en-US" altLang="zh-CN" dirty="0" err="1"/>
              <a:t>etc</a:t>
            </a:r>
            <a:r>
              <a:rPr lang="en-US" altLang="zh-CN" dirty="0"/>
              <a:t>/</a:t>
            </a:r>
            <a:r>
              <a:rPr lang="en-US" altLang="zh-CN" dirty="0" err="1"/>
              <a:t>passwd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格式为： </a:t>
            </a:r>
            <a:r>
              <a:rPr lang="en-US" altLang="zh-CN" dirty="0" err="1"/>
              <a:t>username:password:uid:gid:userinfo:home:shell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000429"/>
            <a:ext cx="10272086" cy="38002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【实例</a:t>
            </a:r>
            <a:r>
              <a:rPr lang="en-US" altLang="zh-CN" dirty="0"/>
              <a:t>5-2</a:t>
            </a:r>
            <a:r>
              <a:rPr lang="zh-CN" altLang="zh-CN" dirty="0"/>
              <a:t>】查看</a:t>
            </a:r>
            <a:r>
              <a:rPr lang="en-US" altLang="zh-CN" dirty="0"/>
              <a:t>/</a:t>
            </a:r>
            <a:r>
              <a:rPr lang="en-US" altLang="zh-CN" dirty="0" err="1"/>
              <a:t>etc</a:t>
            </a:r>
            <a:r>
              <a:rPr lang="en-US" altLang="zh-CN" dirty="0"/>
              <a:t>/</a:t>
            </a:r>
            <a:r>
              <a:rPr lang="en-US" altLang="zh-CN" dirty="0" err="1"/>
              <a:t>passwd</a:t>
            </a:r>
            <a:r>
              <a:rPr lang="zh-CN" altLang="zh-CN" dirty="0"/>
              <a:t>的内容。</a:t>
            </a:r>
            <a:endParaRPr lang="zh-CN" altLang="zh-CN" dirty="0"/>
          </a:p>
          <a:p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665" y="1887220"/>
            <a:ext cx="10913110" cy="33159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5.2.2 </a:t>
            </a:r>
            <a:r>
              <a:rPr lang="zh-CN" altLang="en-US" dirty="0"/>
              <a:t>用户影子文件</a:t>
            </a:r>
            <a:r>
              <a:rPr lang="en-US" altLang="zh-CN" dirty="0"/>
              <a:t>/</a:t>
            </a:r>
            <a:r>
              <a:rPr lang="en-US" altLang="zh-CN" dirty="0" err="1"/>
              <a:t>etc</a:t>
            </a:r>
            <a:r>
              <a:rPr lang="en-US" altLang="zh-CN" dirty="0"/>
              <a:t>/shadow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格式：</a:t>
            </a:r>
            <a:r>
              <a:rPr lang="en-US" altLang="zh-CN" sz="2400" dirty="0" err="1"/>
              <a:t>username:password:lastchg:min:max:warn:inactive:expire:flag</a:t>
            </a:r>
            <a:endParaRPr lang="zh-CN" altLang="en-US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6863" y="1642675"/>
            <a:ext cx="8143875" cy="47444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【实例</a:t>
            </a:r>
            <a:r>
              <a:rPr lang="en-US" altLang="zh-CN" dirty="0"/>
              <a:t>5-3</a:t>
            </a:r>
            <a:r>
              <a:rPr lang="zh-CN" altLang="zh-CN" dirty="0"/>
              <a:t>】查看</a:t>
            </a:r>
            <a:r>
              <a:rPr lang="en-US" altLang="zh-CN" dirty="0"/>
              <a:t>/</a:t>
            </a:r>
            <a:r>
              <a:rPr lang="en-US" altLang="zh-CN" dirty="0" err="1"/>
              <a:t>etc</a:t>
            </a:r>
            <a:r>
              <a:rPr lang="en-US" altLang="zh-CN" dirty="0"/>
              <a:t>/shadow</a:t>
            </a:r>
            <a:r>
              <a:rPr lang="zh-CN" altLang="zh-CN" dirty="0"/>
              <a:t>的内容。</a:t>
            </a:r>
            <a:endParaRPr lang="zh-CN" altLang="zh-CN" dirty="0"/>
          </a:p>
          <a:p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2410" y="1808480"/>
            <a:ext cx="4091305" cy="41154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用户账户管理命令</a:t>
            </a:r>
            <a:br>
              <a:rPr lang="en-US" altLang="zh-CN" dirty="0"/>
            </a:b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5.3 </a:t>
            </a:r>
            <a:r>
              <a:rPr lang="zh-CN" altLang="en-US" dirty="0"/>
              <a:t>用户账户管理命令	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新建用户账户命令</a:t>
            </a:r>
            <a:r>
              <a:rPr lang="en-US" altLang="zh-CN" dirty="0" err="1"/>
              <a:t>useradd</a:t>
            </a:r>
            <a:r>
              <a:rPr lang="zh-CN" altLang="en-US" dirty="0"/>
              <a:t>和</a:t>
            </a:r>
            <a:r>
              <a:rPr lang="en-US" altLang="zh-CN" dirty="0" err="1"/>
              <a:t>adduser</a:t>
            </a:r>
            <a:r>
              <a:rPr lang="en-US" altLang="zh-CN" dirty="0"/>
              <a:t>	</a:t>
            </a:r>
            <a:endParaRPr lang="en-US" altLang="zh-CN" dirty="0"/>
          </a:p>
          <a:p>
            <a:r>
              <a:rPr lang="zh-CN" altLang="en-US" dirty="0"/>
              <a:t>修改用户账户命令</a:t>
            </a:r>
            <a:r>
              <a:rPr lang="en-US" altLang="zh-CN" dirty="0" err="1"/>
              <a:t>chage</a:t>
            </a:r>
            <a:r>
              <a:rPr lang="zh-CN" altLang="en-US" dirty="0"/>
              <a:t>、</a:t>
            </a:r>
            <a:r>
              <a:rPr lang="en-US" altLang="zh-CN" dirty="0" err="1"/>
              <a:t>passwd</a:t>
            </a:r>
            <a:r>
              <a:rPr lang="zh-CN" altLang="en-US" dirty="0"/>
              <a:t>、</a:t>
            </a:r>
            <a:r>
              <a:rPr lang="en-US" altLang="zh-CN" dirty="0" err="1"/>
              <a:t>usermod</a:t>
            </a:r>
            <a:r>
              <a:rPr lang="en-US" altLang="zh-CN" dirty="0"/>
              <a:t>	</a:t>
            </a:r>
            <a:endParaRPr lang="en-US" altLang="zh-CN" dirty="0"/>
          </a:p>
          <a:p>
            <a:r>
              <a:rPr lang="zh-CN" altLang="en-US" dirty="0"/>
              <a:t>删除用户账户命令</a:t>
            </a:r>
            <a:r>
              <a:rPr lang="en-US" altLang="zh-CN" dirty="0" err="1"/>
              <a:t>userdel</a:t>
            </a:r>
            <a:r>
              <a:rPr lang="zh-CN" altLang="en-US" dirty="0"/>
              <a:t>和</a:t>
            </a:r>
            <a:r>
              <a:rPr lang="en-US" altLang="zh-CN" dirty="0" err="1"/>
              <a:t>deluser</a:t>
            </a:r>
            <a:r>
              <a:rPr lang="en-US" altLang="zh-CN" dirty="0"/>
              <a:t>	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5.3.1 </a:t>
            </a:r>
            <a:r>
              <a:rPr lang="zh-CN" altLang="en-US" dirty="0"/>
              <a:t>新建用户账户命令</a:t>
            </a:r>
            <a:r>
              <a:rPr lang="en-US" altLang="zh-CN" dirty="0" err="1"/>
              <a:t>useradd</a:t>
            </a:r>
            <a:r>
              <a:rPr lang="zh-CN" altLang="en-US" dirty="0"/>
              <a:t>和</a:t>
            </a:r>
            <a:r>
              <a:rPr lang="en-US" altLang="zh-CN" dirty="0" err="1"/>
              <a:t>adduser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（</a:t>
            </a:r>
            <a:r>
              <a:rPr lang="en-US" altLang="zh-CN" dirty="0"/>
              <a:t>1</a:t>
            </a:r>
            <a:r>
              <a:rPr lang="zh-CN" altLang="zh-CN" dirty="0"/>
              <a:t>）使用</a:t>
            </a:r>
            <a:r>
              <a:rPr lang="en-US" altLang="zh-CN" dirty="0"/>
              <a:t>Linux</a:t>
            </a:r>
            <a:r>
              <a:rPr lang="zh-CN" altLang="zh-CN" dirty="0"/>
              <a:t>通用命令</a:t>
            </a:r>
            <a:r>
              <a:rPr lang="en-US" altLang="zh-CN" dirty="0" err="1"/>
              <a:t>useradd</a:t>
            </a:r>
            <a:endParaRPr lang="zh-CN" altLang="zh-CN" dirty="0"/>
          </a:p>
          <a:p>
            <a:r>
              <a:rPr lang="zh-CN" altLang="zh-CN" dirty="0"/>
              <a:t>（</a:t>
            </a:r>
            <a:r>
              <a:rPr lang="en-US" altLang="zh-CN" dirty="0"/>
              <a:t>2</a:t>
            </a:r>
            <a:r>
              <a:rPr lang="zh-CN" altLang="zh-CN" dirty="0"/>
              <a:t>）使用</a:t>
            </a:r>
            <a:r>
              <a:rPr lang="en-US" altLang="zh-CN" dirty="0"/>
              <a:t>Ubuntu</a:t>
            </a:r>
            <a:r>
              <a:rPr lang="zh-CN" altLang="zh-CN" dirty="0"/>
              <a:t>专用命令</a:t>
            </a:r>
            <a:r>
              <a:rPr lang="en-US" altLang="zh-CN" dirty="0" err="1"/>
              <a:t>adduser</a:t>
            </a:r>
            <a:endParaRPr lang="en-US" altLang="zh-CN" dirty="0"/>
          </a:p>
          <a:p>
            <a:pPr lvl="1"/>
            <a:r>
              <a:rPr lang="en-US" altLang="zh-CN" dirty="0" err="1"/>
              <a:t>adduser</a:t>
            </a:r>
            <a:r>
              <a:rPr lang="zh-CN" altLang="zh-CN" dirty="0"/>
              <a:t>命令比</a:t>
            </a:r>
            <a:r>
              <a:rPr lang="en-US" altLang="zh-CN" dirty="0" err="1"/>
              <a:t>useradd</a:t>
            </a:r>
            <a:r>
              <a:rPr lang="zh-CN" altLang="zh-CN" dirty="0"/>
              <a:t>更方便，功能也更为强大。</a:t>
            </a:r>
            <a:endParaRPr lang="en-US" altLang="zh-CN" dirty="0"/>
          </a:p>
          <a:p>
            <a:pPr lvl="1"/>
            <a:r>
              <a:rPr lang="zh-CN" altLang="zh-CN" dirty="0"/>
              <a:t>建议读者优先考虑使用</a:t>
            </a:r>
            <a:r>
              <a:rPr lang="en-US" altLang="zh-CN" dirty="0" err="1"/>
              <a:t>adduser</a:t>
            </a:r>
            <a:r>
              <a:rPr lang="zh-CN" altLang="zh-CN" dirty="0"/>
              <a:t>命令。</a:t>
            </a:r>
            <a:endParaRPr lang="zh-CN" altLang="zh-CN" dirty="0"/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（</a:t>
            </a:r>
            <a:r>
              <a:rPr lang="en-US" altLang="zh-CN" dirty="0"/>
              <a:t>1</a:t>
            </a:r>
            <a:r>
              <a:rPr lang="zh-CN" altLang="zh-CN" dirty="0"/>
              <a:t>）使用</a:t>
            </a:r>
            <a:r>
              <a:rPr lang="en-US" altLang="zh-CN" dirty="0"/>
              <a:t>Linux</a:t>
            </a:r>
            <a:r>
              <a:rPr lang="zh-CN" altLang="zh-CN" dirty="0"/>
              <a:t>通用命令</a:t>
            </a:r>
            <a:r>
              <a:rPr lang="en-US" altLang="zh-CN" dirty="0" err="1"/>
              <a:t>useradd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3150" y="1730956"/>
            <a:ext cx="7800000" cy="42190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（</a:t>
            </a:r>
            <a:r>
              <a:rPr lang="en-US" altLang="zh-CN" dirty="0"/>
              <a:t>2</a:t>
            </a:r>
            <a:r>
              <a:rPr lang="zh-CN" altLang="zh-CN" dirty="0"/>
              <a:t>）使用</a:t>
            </a:r>
            <a:r>
              <a:rPr lang="en-US" altLang="zh-CN" dirty="0"/>
              <a:t>Ubuntu</a:t>
            </a:r>
            <a:r>
              <a:rPr lang="zh-CN" altLang="zh-CN" dirty="0"/>
              <a:t>专用命令</a:t>
            </a:r>
            <a:r>
              <a:rPr lang="en-US" altLang="zh-CN" dirty="0" err="1"/>
              <a:t>adduser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2634" y="1230940"/>
            <a:ext cx="7752381" cy="50095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5.3.2 </a:t>
            </a:r>
            <a:r>
              <a:rPr lang="zh-CN" altLang="en-US" dirty="0"/>
              <a:t>修改用户账户命令</a:t>
            </a:r>
            <a:r>
              <a:rPr lang="en-US" altLang="zh-CN" dirty="0" err="1"/>
              <a:t>chage</a:t>
            </a:r>
            <a:r>
              <a:rPr lang="zh-CN" altLang="en-US" dirty="0"/>
              <a:t>、</a:t>
            </a:r>
            <a:r>
              <a:rPr lang="en-US" altLang="zh-CN" dirty="0" err="1"/>
              <a:t>passwd</a:t>
            </a:r>
            <a:r>
              <a:rPr lang="zh-CN" altLang="en-US" dirty="0"/>
              <a:t>、</a:t>
            </a:r>
            <a:r>
              <a:rPr lang="en-US" altLang="zh-CN" dirty="0" err="1"/>
              <a:t>usermod</a:t>
            </a:r>
            <a:r>
              <a:rPr lang="en-US" altLang="zh-CN" dirty="0"/>
              <a:t>	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（</a:t>
            </a:r>
            <a:r>
              <a:rPr lang="en-US" altLang="zh-CN" dirty="0"/>
              <a:t>1</a:t>
            </a:r>
            <a:r>
              <a:rPr lang="zh-CN" altLang="zh-CN" dirty="0"/>
              <a:t>）设置用户账户口令命令</a:t>
            </a:r>
            <a:r>
              <a:rPr lang="en-US" altLang="zh-CN" dirty="0" err="1"/>
              <a:t>passwd</a:t>
            </a:r>
            <a:endParaRPr lang="zh-CN" altLang="zh-CN" dirty="0"/>
          </a:p>
          <a:p>
            <a:r>
              <a:rPr lang="zh-CN" altLang="zh-CN" dirty="0"/>
              <a:t>（</a:t>
            </a:r>
            <a:r>
              <a:rPr lang="en-US" altLang="zh-CN" dirty="0"/>
              <a:t>2</a:t>
            </a:r>
            <a:r>
              <a:rPr lang="zh-CN" altLang="zh-CN" dirty="0"/>
              <a:t>）修改用户账户信息命令</a:t>
            </a:r>
            <a:r>
              <a:rPr lang="en-US" altLang="zh-CN" dirty="0" err="1"/>
              <a:t>usermod</a:t>
            </a:r>
            <a:endParaRPr lang="zh-CN" altLang="zh-CN" dirty="0"/>
          </a:p>
          <a:p>
            <a:r>
              <a:rPr lang="zh-CN" altLang="zh-CN" dirty="0"/>
              <a:t>（</a:t>
            </a:r>
            <a:r>
              <a:rPr lang="en-US" altLang="zh-CN" dirty="0"/>
              <a:t>3</a:t>
            </a:r>
            <a:r>
              <a:rPr lang="zh-CN" altLang="zh-CN" dirty="0"/>
              <a:t>）更改用户密码过期信息命令</a:t>
            </a:r>
            <a:r>
              <a:rPr lang="en-US" altLang="zh-CN" dirty="0" err="1"/>
              <a:t>chage</a:t>
            </a:r>
            <a:endParaRPr lang="zh-CN" altLang="zh-CN" dirty="0"/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（</a:t>
            </a:r>
            <a:r>
              <a:rPr lang="en-US" altLang="zh-CN" dirty="0"/>
              <a:t>1</a:t>
            </a:r>
            <a:r>
              <a:rPr lang="zh-CN" altLang="zh-CN" dirty="0"/>
              <a:t>）设置用户账户口令命令</a:t>
            </a:r>
            <a:r>
              <a:rPr lang="en-US" altLang="zh-CN" dirty="0" err="1"/>
              <a:t>passwd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5283" y="1485629"/>
            <a:ext cx="9021434" cy="38867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（</a:t>
            </a:r>
            <a:r>
              <a:rPr lang="en-US" altLang="zh-CN" dirty="0"/>
              <a:t>2</a:t>
            </a:r>
            <a:r>
              <a:rPr lang="zh-CN" altLang="zh-CN" dirty="0"/>
              <a:t>）修改用户账户信息命令</a:t>
            </a:r>
            <a:r>
              <a:rPr lang="en-US" altLang="zh-CN" dirty="0" err="1"/>
              <a:t>usermod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2914" y="1671392"/>
            <a:ext cx="8926171" cy="35152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（</a:t>
            </a:r>
            <a:r>
              <a:rPr lang="en-US" altLang="zh-CN" dirty="0"/>
              <a:t>3</a:t>
            </a:r>
            <a:r>
              <a:rPr lang="zh-CN" altLang="zh-CN" dirty="0"/>
              <a:t>）更改用户密码过期信息命令</a:t>
            </a:r>
            <a:r>
              <a:rPr lang="en-US" altLang="zh-CN" dirty="0" err="1"/>
              <a:t>chage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651" y="1732352"/>
            <a:ext cx="8973802" cy="35152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5.3.3 </a:t>
            </a:r>
            <a:r>
              <a:rPr lang="zh-CN" altLang="en-US" dirty="0"/>
              <a:t>删除用户账户命令</a:t>
            </a:r>
            <a:r>
              <a:rPr lang="en-US" altLang="zh-CN" dirty="0" err="1"/>
              <a:t>userdel</a:t>
            </a:r>
            <a:r>
              <a:rPr lang="zh-CN" altLang="en-US" dirty="0"/>
              <a:t>和</a:t>
            </a:r>
            <a:r>
              <a:rPr lang="en-US" altLang="zh-CN" dirty="0" err="1"/>
              <a:t>deluser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（</a:t>
            </a:r>
            <a:r>
              <a:rPr lang="en-US" altLang="zh-CN" dirty="0"/>
              <a:t>1</a:t>
            </a:r>
            <a:r>
              <a:rPr lang="zh-CN" altLang="zh-CN" dirty="0"/>
              <a:t>）使用</a:t>
            </a:r>
            <a:r>
              <a:rPr lang="en-US" altLang="zh-CN" dirty="0" err="1"/>
              <a:t>userdel</a:t>
            </a:r>
            <a:r>
              <a:rPr lang="zh-CN" altLang="zh-CN" dirty="0"/>
              <a:t>命令删除用户账户</a:t>
            </a:r>
            <a:endParaRPr lang="zh-CN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）使用</a:t>
            </a:r>
            <a:r>
              <a:rPr lang="en-US" altLang="zh-CN" dirty="0" err="1"/>
              <a:t>deluser</a:t>
            </a:r>
            <a:r>
              <a:rPr lang="zh-CN" altLang="en-US" dirty="0"/>
              <a:t>命令删除用户或组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9903" y="2299997"/>
            <a:ext cx="8888065" cy="1428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）使用</a:t>
            </a:r>
            <a:r>
              <a:rPr lang="en-US" altLang="zh-CN" dirty="0" err="1"/>
              <a:t>deluser</a:t>
            </a:r>
            <a:r>
              <a:rPr lang="zh-CN" altLang="en-US" dirty="0"/>
              <a:t>命令删除用户或组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167765"/>
            <a:ext cx="9631045" cy="54559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组账户基础</a:t>
            </a:r>
            <a:br>
              <a:rPr lang="zh-CN" altLang="en-US" dirty="0"/>
            </a:b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5.4 </a:t>
            </a:r>
            <a:r>
              <a:rPr lang="zh-CN" altLang="en-US" dirty="0"/>
              <a:t>组账户基础	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用户与组属于多对多的关系。一个用户可以同时属于多个组。</a:t>
            </a:r>
            <a:endParaRPr lang="en-US" altLang="zh-CN" dirty="0"/>
          </a:p>
          <a:p>
            <a:r>
              <a:rPr lang="zh-CN" altLang="zh-CN" dirty="0"/>
              <a:t>组账户分为超级组（</a:t>
            </a:r>
            <a:r>
              <a:rPr lang="en-US" altLang="zh-CN" dirty="0" err="1"/>
              <a:t>Superuser</a:t>
            </a:r>
            <a:r>
              <a:rPr lang="en-US" altLang="zh-CN" dirty="0"/>
              <a:t> Group</a:t>
            </a:r>
            <a:r>
              <a:rPr lang="zh-CN" altLang="zh-CN" dirty="0"/>
              <a:t>）、系统组（</a:t>
            </a:r>
            <a:r>
              <a:rPr lang="en-US" altLang="zh-CN" dirty="0"/>
              <a:t>System Group</a:t>
            </a:r>
            <a:r>
              <a:rPr lang="zh-CN" altLang="zh-CN" dirty="0"/>
              <a:t>）和自定义组。</a:t>
            </a:r>
            <a:r>
              <a:rPr lang="en-US" altLang="zh-CN" dirty="0"/>
              <a:t>GID</a:t>
            </a:r>
            <a:r>
              <a:rPr lang="zh-CN" altLang="zh-CN" dirty="0"/>
              <a:t>分别为</a:t>
            </a:r>
            <a:r>
              <a:rPr lang="en-US" altLang="zh-CN" dirty="0"/>
              <a:t>0</a:t>
            </a:r>
            <a:r>
              <a:rPr lang="zh-CN" altLang="zh-CN" dirty="0"/>
              <a:t>、</a:t>
            </a:r>
            <a:r>
              <a:rPr lang="en-US" altLang="zh-CN" dirty="0"/>
              <a:t>1</a:t>
            </a:r>
            <a:r>
              <a:rPr lang="zh-CN" altLang="zh-CN" dirty="0"/>
              <a:t>～</a:t>
            </a:r>
            <a:r>
              <a:rPr lang="en-US" altLang="zh-CN" dirty="0"/>
              <a:t>499</a:t>
            </a:r>
            <a:r>
              <a:rPr lang="zh-CN" altLang="zh-CN" dirty="0"/>
              <a:t>、从</a:t>
            </a:r>
            <a:r>
              <a:rPr lang="en-US" altLang="zh-CN" dirty="0"/>
              <a:t>1000</a:t>
            </a:r>
            <a:r>
              <a:rPr lang="zh-CN" altLang="zh-CN" dirty="0"/>
              <a:t>开始。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账户配置文件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695666"/>
            <a:ext cx="10200000" cy="34666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5.5 </a:t>
            </a:r>
            <a:r>
              <a:rPr lang="zh-CN" altLang="en-US" dirty="0"/>
              <a:t>组账户配置文件</a:t>
            </a:r>
            <a:r>
              <a:rPr lang="en-US" altLang="zh-CN" dirty="0"/>
              <a:t>group</a:t>
            </a:r>
            <a:r>
              <a:rPr lang="zh-CN" altLang="en-US" dirty="0"/>
              <a:t>和</a:t>
            </a:r>
            <a:r>
              <a:rPr lang="en-US" altLang="zh-CN" dirty="0" err="1"/>
              <a:t>gshadow</a:t>
            </a:r>
            <a:r>
              <a:rPr lang="en-US" altLang="zh-CN" dirty="0"/>
              <a:t>	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5.5.1 </a:t>
            </a:r>
            <a:r>
              <a:rPr lang="zh-CN" altLang="en-US" dirty="0"/>
              <a:t>组账户文件</a:t>
            </a:r>
            <a:r>
              <a:rPr lang="en-US" altLang="zh-CN" dirty="0"/>
              <a:t>/</a:t>
            </a:r>
            <a:r>
              <a:rPr lang="en-US" altLang="zh-CN" dirty="0" err="1"/>
              <a:t>etc</a:t>
            </a:r>
            <a:r>
              <a:rPr lang="en-US" altLang="zh-CN" dirty="0"/>
              <a:t>/group	</a:t>
            </a:r>
            <a:endParaRPr lang="en-US" altLang="zh-CN" dirty="0"/>
          </a:p>
          <a:p>
            <a:r>
              <a:rPr lang="en-US" altLang="zh-CN" dirty="0"/>
              <a:t>5.5.2 </a:t>
            </a:r>
            <a:r>
              <a:rPr lang="zh-CN" altLang="en-US" dirty="0"/>
              <a:t>组账户影子文件</a:t>
            </a:r>
            <a:r>
              <a:rPr lang="en-US" altLang="zh-CN" dirty="0"/>
              <a:t>/</a:t>
            </a:r>
            <a:r>
              <a:rPr lang="en-US" altLang="zh-CN" dirty="0" err="1"/>
              <a:t>etc</a:t>
            </a:r>
            <a:r>
              <a:rPr lang="en-US" altLang="zh-CN" dirty="0"/>
              <a:t>/</a:t>
            </a:r>
            <a:r>
              <a:rPr lang="en-US" altLang="zh-CN" dirty="0" err="1"/>
              <a:t>gshadow</a:t>
            </a:r>
            <a:r>
              <a:rPr lang="en-US" altLang="zh-CN" dirty="0"/>
              <a:t>	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5.5.1 </a:t>
            </a:r>
            <a:r>
              <a:rPr lang="zh-CN" altLang="en-US" dirty="0"/>
              <a:t>组账户文件</a:t>
            </a:r>
            <a:r>
              <a:rPr lang="en-US" altLang="zh-CN" dirty="0"/>
              <a:t>/</a:t>
            </a:r>
            <a:r>
              <a:rPr lang="en-US" altLang="zh-CN" dirty="0" err="1"/>
              <a:t>etc</a:t>
            </a:r>
            <a:r>
              <a:rPr lang="en-US" altLang="zh-CN" dirty="0"/>
              <a:t>/group 	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格式：</a:t>
            </a:r>
            <a:r>
              <a:rPr lang="en-US" altLang="zh-CN" dirty="0" err="1"/>
              <a:t>group_name:group_password:group_id:group_members</a:t>
            </a:r>
            <a:endParaRPr lang="zh-CN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6394" y="2062333"/>
            <a:ext cx="7704762" cy="27333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5.5.2 </a:t>
            </a:r>
            <a:r>
              <a:rPr lang="zh-CN" altLang="en-US" dirty="0"/>
              <a:t>组账户影子文件</a:t>
            </a:r>
            <a:r>
              <a:rPr lang="en-US" altLang="zh-CN" dirty="0"/>
              <a:t>/</a:t>
            </a:r>
            <a:r>
              <a:rPr lang="en-US" altLang="zh-CN" dirty="0" err="1"/>
              <a:t>etc</a:t>
            </a:r>
            <a:r>
              <a:rPr lang="en-US" altLang="zh-CN" dirty="0"/>
              <a:t>/</a:t>
            </a:r>
            <a:r>
              <a:rPr lang="en-US" altLang="zh-CN" dirty="0" err="1"/>
              <a:t>gshadow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格式</a:t>
            </a:r>
            <a:r>
              <a:rPr lang="en-US" altLang="zh-CN" dirty="0" err="1"/>
              <a:t>group_name</a:t>
            </a:r>
            <a:r>
              <a:rPr lang="zh-CN" altLang="zh-CN" dirty="0"/>
              <a:t>：</a:t>
            </a:r>
            <a:r>
              <a:rPr lang="en-US" altLang="zh-CN" dirty="0" err="1"/>
              <a:t>group_password</a:t>
            </a:r>
            <a:r>
              <a:rPr lang="zh-CN" altLang="zh-CN" dirty="0"/>
              <a:t>：</a:t>
            </a:r>
            <a:r>
              <a:rPr lang="en-US" altLang="zh-CN" dirty="0" err="1"/>
              <a:t>group_id</a:t>
            </a:r>
            <a:r>
              <a:rPr lang="zh-CN" altLang="zh-CN" dirty="0"/>
              <a:t>：</a:t>
            </a:r>
            <a:r>
              <a:rPr lang="en-US" altLang="zh-CN" dirty="0" err="1"/>
              <a:t>group_members</a:t>
            </a:r>
            <a:endParaRPr lang="zh-CN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000" y="2019489"/>
            <a:ext cx="10080000" cy="34968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05</a:t>
            </a:r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组账户管理命令</a:t>
            </a:r>
            <a:br>
              <a:rPr lang="zh-CN" altLang="en-US" dirty="0"/>
            </a:b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5.6 </a:t>
            </a:r>
            <a:r>
              <a:rPr lang="zh-CN" altLang="en-US" dirty="0"/>
              <a:t>组账户管理命令	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创建组账户命令</a:t>
            </a:r>
            <a:r>
              <a:rPr lang="en-US" altLang="zh-CN" dirty="0" err="1"/>
              <a:t>groupadd</a:t>
            </a:r>
            <a:r>
              <a:rPr lang="zh-CN" altLang="en-US" dirty="0"/>
              <a:t>和</a:t>
            </a:r>
            <a:r>
              <a:rPr lang="en-US" altLang="zh-CN" dirty="0" err="1"/>
              <a:t>addgroup</a:t>
            </a:r>
            <a:r>
              <a:rPr lang="en-US" altLang="zh-CN" dirty="0"/>
              <a:t>	</a:t>
            </a:r>
            <a:endParaRPr lang="en-US" altLang="zh-CN" dirty="0"/>
          </a:p>
          <a:p>
            <a:r>
              <a:rPr lang="zh-CN" altLang="en-US" dirty="0"/>
              <a:t>修改组账户属性命令</a:t>
            </a:r>
            <a:r>
              <a:rPr lang="en-US" altLang="zh-CN" dirty="0" err="1"/>
              <a:t>groupmod</a:t>
            </a:r>
            <a:r>
              <a:rPr lang="en-US" altLang="zh-CN" dirty="0"/>
              <a:t>	</a:t>
            </a:r>
            <a:endParaRPr lang="en-US" altLang="zh-CN" dirty="0"/>
          </a:p>
          <a:p>
            <a:r>
              <a:rPr lang="zh-CN" altLang="en-US" dirty="0"/>
              <a:t>删除组账户	</a:t>
            </a:r>
            <a:endParaRPr lang="en-US" altLang="zh-CN" dirty="0"/>
          </a:p>
          <a:p>
            <a:r>
              <a:rPr lang="zh-CN" altLang="en-US" dirty="0"/>
              <a:t>管理组账户命令</a:t>
            </a:r>
            <a:r>
              <a:rPr lang="en-US" altLang="zh-CN" dirty="0" err="1"/>
              <a:t>gpasswd</a:t>
            </a:r>
            <a:r>
              <a:rPr lang="en-US" altLang="zh-CN" dirty="0"/>
              <a:t>	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创建组账户命令</a:t>
            </a:r>
            <a:r>
              <a:rPr lang="en-US" altLang="zh-CN" dirty="0" err="1"/>
              <a:t>groupadd</a:t>
            </a:r>
            <a:r>
              <a:rPr lang="zh-CN" altLang="en-US" dirty="0"/>
              <a:t>和</a:t>
            </a:r>
            <a:r>
              <a:rPr lang="en-US" altLang="zh-CN" dirty="0" err="1"/>
              <a:t>addgroup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使用</a:t>
            </a:r>
            <a:r>
              <a:rPr lang="en-US" altLang="zh-CN" dirty="0"/>
              <a:t>Linux</a:t>
            </a:r>
            <a:r>
              <a:rPr lang="zh-CN" altLang="zh-CN" dirty="0"/>
              <a:t>通用命令</a:t>
            </a:r>
            <a:r>
              <a:rPr lang="en-US" altLang="zh-CN" dirty="0" err="1"/>
              <a:t>groupadd</a:t>
            </a:r>
            <a:endParaRPr lang="zh-CN" altLang="zh-CN" dirty="0"/>
          </a:p>
          <a:p>
            <a:r>
              <a:rPr lang="zh-CN" altLang="zh-CN" dirty="0"/>
              <a:t>使用</a:t>
            </a:r>
            <a:r>
              <a:rPr lang="en-US" altLang="zh-CN" dirty="0"/>
              <a:t>Ubuntu</a:t>
            </a:r>
            <a:r>
              <a:rPr lang="zh-CN" altLang="zh-CN" dirty="0"/>
              <a:t>专用命令</a:t>
            </a:r>
            <a:r>
              <a:rPr lang="en-US" altLang="zh-CN" dirty="0" err="1"/>
              <a:t>addgroup</a:t>
            </a:r>
            <a:endParaRPr lang="zh-CN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6952" y="2546580"/>
            <a:ext cx="6561905" cy="24571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使用</a:t>
            </a:r>
            <a:r>
              <a:rPr lang="en-US" altLang="zh-CN" dirty="0"/>
              <a:t> Ubuntu</a:t>
            </a:r>
            <a:r>
              <a:rPr lang="zh-CN" altLang="zh-CN" dirty="0"/>
              <a:t>专用命令</a:t>
            </a:r>
            <a:r>
              <a:rPr lang="en-US" altLang="zh-CN" dirty="0" err="1"/>
              <a:t>addgroup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8037" y="2194976"/>
            <a:ext cx="5923809" cy="15047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修改组账户属性命令</a:t>
            </a:r>
            <a:r>
              <a:rPr lang="en-US" altLang="zh-CN" dirty="0" err="1"/>
              <a:t>groupmod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9378" y="2283903"/>
            <a:ext cx="6323809" cy="180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删除组账户	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使用</a:t>
            </a:r>
            <a:r>
              <a:rPr lang="en-US" altLang="zh-CN" dirty="0" err="1"/>
              <a:t>groupdel</a:t>
            </a:r>
            <a:r>
              <a:rPr lang="zh-CN" altLang="zh-CN" dirty="0"/>
              <a:t>命令</a:t>
            </a:r>
            <a:endParaRPr lang="en-US" altLang="zh-CN" dirty="0"/>
          </a:p>
          <a:p>
            <a:pPr lvl="1"/>
            <a:r>
              <a:rPr lang="en-US" altLang="zh-CN" dirty="0" err="1"/>
              <a:t>groupdel</a:t>
            </a:r>
            <a:r>
              <a:rPr lang="en-US" altLang="zh-CN" dirty="0"/>
              <a:t> </a:t>
            </a:r>
            <a:r>
              <a:rPr lang="zh-CN" altLang="zh-CN" dirty="0"/>
              <a:t>组名</a:t>
            </a:r>
            <a:endParaRPr lang="zh-CN" altLang="zh-CN" dirty="0"/>
          </a:p>
          <a:p>
            <a:r>
              <a:rPr lang="zh-CN" altLang="zh-CN" dirty="0"/>
              <a:t>使用</a:t>
            </a:r>
            <a:r>
              <a:rPr lang="en-US" altLang="zh-CN" dirty="0" err="1"/>
              <a:t>delgroup</a:t>
            </a:r>
            <a:r>
              <a:rPr lang="zh-CN" altLang="zh-CN" dirty="0"/>
              <a:t>命令或者</a:t>
            </a:r>
            <a:r>
              <a:rPr lang="en-US" altLang="zh-CN" dirty="0" err="1"/>
              <a:t>deluser</a:t>
            </a:r>
            <a:r>
              <a:rPr lang="zh-CN" altLang="zh-CN" dirty="0"/>
              <a:t>命令</a:t>
            </a:r>
            <a:endParaRPr lang="en-US" altLang="zh-CN" dirty="0"/>
          </a:p>
          <a:p>
            <a:pPr lvl="1"/>
            <a:r>
              <a:rPr lang="en-US" altLang="zh-CN" dirty="0" err="1"/>
              <a:t>delgroup</a:t>
            </a:r>
            <a:r>
              <a:rPr lang="zh-CN" altLang="zh-CN" dirty="0"/>
              <a:t>组名</a:t>
            </a:r>
            <a:endParaRPr lang="zh-CN" altLang="zh-CN" dirty="0"/>
          </a:p>
          <a:p>
            <a:pPr lvl="1"/>
            <a:r>
              <a:rPr lang="en-US" altLang="zh-CN" dirty="0" err="1"/>
              <a:t>deluser</a:t>
            </a:r>
            <a:r>
              <a:rPr lang="en-US" altLang="zh-CN" dirty="0"/>
              <a:t> --group </a:t>
            </a:r>
            <a:r>
              <a:rPr lang="zh-CN" altLang="zh-CN" dirty="0"/>
              <a:t>组名</a:t>
            </a:r>
            <a:endParaRPr lang="zh-CN" altLang="zh-CN" dirty="0"/>
          </a:p>
          <a:p>
            <a:pPr lvl="1"/>
            <a:endParaRPr lang="zh-CN" altLang="zh-CN" dirty="0"/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5.6.3 </a:t>
            </a:r>
            <a:r>
              <a:rPr lang="zh-CN" altLang="en-US" dirty="0"/>
              <a:t>删除组账户	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（</a:t>
            </a:r>
            <a:r>
              <a:rPr lang="en-US" altLang="zh-CN" dirty="0"/>
              <a:t>1</a:t>
            </a:r>
            <a:r>
              <a:rPr lang="zh-CN" altLang="zh-CN" dirty="0"/>
              <a:t>）使用</a:t>
            </a:r>
            <a:r>
              <a:rPr lang="en-US" altLang="zh-CN" dirty="0" err="1"/>
              <a:t>groupdel</a:t>
            </a:r>
            <a:r>
              <a:rPr lang="zh-CN" altLang="zh-CN" dirty="0"/>
              <a:t>命令</a:t>
            </a:r>
            <a:endParaRPr lang="zh-CN" altLang="zh-CN" dirty="0"/>
          </a:p>
          <a:p>
            <a:r>
              <a:rPr lang="zh-CN" altLang="zh-CN" dirty="0"/>
              <a:t>（</a:t>
            </a:r>
            <a:r>
              <a:rPr lang="en-US" altLang="zh-CN" dirty="0"/>
              <a:t>2</a:t>
            </a:r>
            <a:r>
              <a:rPr lang="zh-CN" altLang="zh-CN" dirty="0"/>
              <a:t>）使用</a:t>
            </a:r>
            <a:r>
              <a:rPr lang="en-US" altLang="zh-CN" dirty="0" err="1"/>
              <a:t>delgroup</a:t>
            </a:r>
            <a:r>
              <a:rPr lang="zh-CN" altLang="zh-CN" dirty="0"/>
              <a:t>命令或者</a:t>
            </a:r>
            <a:r>
              <a:rPr lang="en-US" altLang="zh-CN" dirty="0" err="1"/>
              <a:t>deluser</a:t>
            </a:r>
            <a:r>
              <a:rPr lang="zh-CN" altLang="zh-CN" dirty="0"/>
              <a:t>命令</a:t>
            </a:r>
            <a:endParaRPr lang="zh-CN" altLang="zh-CN" dirty="0"/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管理组账户命令</a:t>
            </a:r>
            <a:r>
              <a:rPr lang="en-US" altLang="zh-CN" dirty="0" err="1"/>
              <a:t>gpasswd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6476" y="2171857"/>
            <a:ext cx="6819048" cy="25142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05</a:t>
            </a:r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591810" y="3644900"/>
            <a:ext cx="6276975" cy="692150"/>
          </a:xfrm>
        </p:spPr>
        <p:txBody>
          <a:bodyPr/>
          <a:lstStyle/>
          <a:p>
            <a:r>
              <a:rPr smtClean="0">
                <a:sym typeface="+mn-ea"/>
              </a:rPr>
              <a:t>特殊权限</a:t>
            </a:r>
            <a:r>
              <a:rPr lang="en-US" altLang="zh-CN" smtClean="0">
                <a:sym typeface="+mn-ea"/>
              </a:rPr>
              <a:t>SUID SGID SBIT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"/>
          <p:cNvSpPr>
            <a:spLocks noGrp="1"/>
          </p:cNvSpPr>
          <p:nvPr>
            <p:ph type="title"/>
          </p:nvPr>
        </p:nvSpPr>
        <p:spPr>
          <a:xfrm>
            <a:off x="535305" y="443865"/>
            <a:ext cx="8098155" cy="782320"/>
          </a:xfrm>
        </p:spPr>
        <p:txBody>
          <a:bodyPr/>
          <a:lstStyle/>
          <a:p>
            <a:r>
              <a:rPr lang="en-US" altLang="zh-CN" sz="3200" b="1" dirty="0" smtClean="0"/>
              <a:t>Linux</a:t>
            </a:r>
            <a:r>
              <a:rPr lang="zh-CN" altLang="en-US" sz="3200" b="1" dirty="0" smtClean="0"/>
              <a:t>特殊权限</a:t>
            </a:r>
            <a:r>
              <a:rPr lang="en-US" altLang="zh-CN" sz="3200" b="1" dirty="0" smtClean="0"/>
              <a:t>  SUID  SGID  SBIT</a:t>
            </a:r>
            <a:endParaRPr lang="zh-CN" altLang="en-US" sz="3200" b="1" dirty="0" smtClean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7850" y="1917065"/>
            <a:ext cx="8096885" cy="30035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882140" y="1268730"/>
            <a:ext cx="8028940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 dirty="0" smtClean="0">
                <a:sym typeface="+mn-ea"/>
              </a:rPr>
              <a:t>SUID </a:t>
            </a:r>
            <a:endParaRPr lang="en-US" altLang="zh-CN" sz="2800" b="1" dirty="0" smtClean="0">
              <a:sym typeface="+mn-ea"/>
            </a:endParaRPr>
          </a:p>
          <a:p>
            <a:endParaRPr lang="en-US" altLang="zh-CN" sz="2800" b="1" dirty="0" smtClean="0">
              <a:sym typeface="+mn-ea"/>
            </a:endParaRPr>
          </a:p>
          <a:p>
            <a:endParaRPr lang="en-US" altLang="zh-CN" sz="2800" b="1" dirty="0" smtClean="0">
              <a:sym typeface="+mn-ea"/>
            </a:endParaRPr>
          </a:p>
          <a:p>
            <a:r>
              <a:rPr lang="en-US" altLang="zh-CN" sz="2800" b="1" dirty="0" smtClean="0">
                <a:sym typeface="+mn-ea"/>
              </a:rPr>
              <a:t>SGID  </a:t>
            </a:r>
            <a:endParaRPr lang="en-US" altLang="zh-CN" sz="2800" b="1" dirty="0" smtClean="0">
              <a:sym typeface="+mn-ea"/>
            </a:endParaRPr>
          </a:p>
          <a:p>
            <a:endParaRPr lang="en-US" altLang="zh-CN" sz="2800" b="1" dirty="0" smtClean="0">
              <a:sym typeface="+mn-ea"/>
            </a:endParaRPr>
          </a:p>
          <a:p>
            <a:endParaRPr lang="en-US" altLang="zh-CN" sz="2800" b="1" dirty="0" smtClean="0">
              <a:sym typeface="+mn-ea"/>
            </a:endParaRPr>
          </a:p>
          <a:p>
            <a:r>
              <a:rPr lang="en-US" altLang="zh-CN" sz="2800" b="1" dirty="0" smtClean="0">
                <a:sym typeface="+mn-ea"/>
              </a:rPr>
              <a:t>SBIT</a:t>
            </a:r>
            <a:endParaRPr lang="en-US" altLang="zh-CN" sz="2800" b="1" dirty="0" smtClean="0">
              <a:sym typeface="+mn-ea"/>
            </a:endParaRPr>
          </a:p>
          <a:p>
            <a:endParaRPr lang="zh-CN" altLang="en-US" sz="2800"/>
          </a:p>
          <a:p>
            <a:endParaRPr lang="zh-CN" altLang="en-US" sz="2800"/>
          </a:p>
          <a:p>
            <a:endParaRPr lang="zh-CN" altLang="en-US" sz="28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2140" y="4653280"/>
            <a:ext cx="7294880" cy="3206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850" y="3220085"/>
            <a:ext cx="7920355" cy="2686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67535" y="1412875"/>
            <a:ext cx="8213725" cy="4123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>
                <a:srgbClr val="35742A"/>
              </a:buClr>
              <a:buSzTx/>
              <a:buFontTx/>
            </a:pPr>
            <a:r>
              <a:rPr lang="en-US" altLang="zh-CN" sz="2800" b="1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1、字符表示</a:t>
            </a:r>
            <a:endParaRPr lang="en-US" altLang="zh-CN" sz="2800" b="1" dirty="0" smtClean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r>
              <a:rPr lang="en-US" altLang="zh-CN" sz="2400" dirty="0" err="1" smtClean="0"/>
              <a:t>rws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/>
              <a:t>rw</a:t>
            </a:r>
            <a:r>
              <a:rPr lang="en-US" altLang="zh-CN" sz="2400" dirty="0" smtClean="0"/>
              <a:t>- r--   </a:t>
            </a:r>
            <a:r>
              <a:rPr lang="zh-CN" altLang="en-US" sz="2400" dirty="0" smtClean="0"/>
              <a:t>表示有</a:t>
            </a:r>
            <a:r>
              <a:rPr lang="en-US" altLang="zh-CN" sz="2400" dirty="0" smtClean="0"/>
              <a:t>SUID</a:t>
            </a:r>
            <a:endParaRPr lang="en-US" altLang="zh-CN" sz="2400" dirty="0" smtClean="0"/>
          </a:p>
          <a:p>
            <a:r>
              <a:rPr lang="en-US" altLang="zh-CN" sz="2400" dirty="0" err="1" smtClean="0"/>
              <a:t>rwx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/>
              <a:t>rws</a:t>
            </a:r>
            <a:r>
              <a:rPr lang="en-US" altLang="zh-CN" sz="2400" dirty="0" smtClean="0"/>
              <a:t> r--  </a:t>
            </a:r>
            <a:r>
              <a:rPr lang="zh-CN" altLang="en-US" sz="2400" dirty="0" smtClean="0"/>
              <a:t>表示有</a:t>
            </a:r>
            <a:r>
              <a:rPr lang="en-US" altLang="zh-CN" sz="2400" dirty="0" smtClean="0"/>
              <a:t>SGID</a:t>
            </a:r>
            <a:endParaRPr lang="en-US" altLang="zh-CN" sz="2400" dirty="0" smtClean="0"/>
          </a:p>
          <a:p>
            <a:r>
              <a:rPr lang="en-US" altLang="zh-CN" sz="2400" dirty="0" err="1" smtClean="0"/>
              <a:t>rw</a:t>
            </a:r>
            <a:r>
              <a:rPr lang="en-US" altLang="zh-CN" sz="2400" dirty="0" smtClean="0"/>
              <a:t>- </a:t>
            </a:r>
            <a:r>
              <a:rPr lang="en-US" altLang="zh-CN" sz="2400" dirty="0" err="1" smtClean="0"/>
              <a:t>rw</a:t>
            </a:r>
            <a:r>
              <a:rPr lang="en-US" altLang="zh-CN" sz="2400" dirty="0" smtClean="0"/>
              <a:t>- r-t    </a:t>
            </a:r>
            <a:r>
              <a:rPr lang="zh-CN" altLang="en-US" sz="2400" dirty="0" smtClean="0"/>
              <a:t>表示有</a:t>
            </a:r>
            <a:r>
              <a:rPr lang="en-US" altLang="zh-CN" sz="2400" dirty="0" smtClean="0"/>
              <a:t>SBIT</a:t>
            </a:r>
            <a:endParaRPr lang="en-US" altLang="zh-CN" sz="2400" dirty="0" smtClean="0"/>
          </a:p>
          <a:p>
            <a:endParaRPr lang="en-US" altLang="zh-CN" sz="2400" dirty="0" smtClean="0"/>
          </a:p>
          <a:p>
            <a:r>
              <a:rPr lang="zh-CN" altLang="en-US" sz="2400" dirty="0" smtClean="0"/>
              <a:t>表示上会有大小写之分，若同时开启执行权限则为小写：</a:t>
            </a:r>
            <a:endParaRPr lang="en-US" altLang="zh-CN" sz="2400" dirty="0" smtClean="0"/>
          </a:p>
          <a:p>
            <a:r>
              <a:rPr lang="en-US" altLang="zh-CN" sz="2400" b="1" dirty="0" err="1" smtClean="0"/>
              <a:t>rwsr</a:t>
            </a:r>
            <a:r>
              <a:rPr lang="en-US" altLang="zh-CN" sz="2400" b="1" dirty="0" smtClean="0"/>
              <a:t>-</a:t>
            </a:r>
            <a:r>
              <a:rPr lang="en-US" altLang="zh-CN" sz="2400" b="1" dirty="0" err="1" smtClean="0"/>
              <a:t>sr</a:t>
            </a:r>
            <a:r>
              <a:rPr lang="en-US" altLang="zh-CN" sz="2400" b="1" dirty="0" smtClean="0"/>
              <a:t>-t</a:t>
            </a:r>
            <a:endParaRPr lang="en-US" altLang="zh-CN" sz="2400" b="1" dirty="0" smtClean="0"/>
          </a:p>
          <a:p>
            <a:endParaRPr lang="en-US" altLang="zh-CN" sz="2400" dirty="0" smtClean="0"/>
          </a:p>
          <a:p>
            <a:r>
              <a:rPr lang="zh-CN" altLang="en-US" sz="2400" dirty="0" smtClean="0"/>
              <a:t>倘若关闭执行权限，则表示字符会变成大写：</a:t>
            </a:r>
            <a:endParaRPr lang="en-US" altLang="zh-CN" sz="2400" dirty="0" smtClean="0"/>
          </a:p>
          <a:p>
            <a:r>
              <a:rPr lang="en-US" altLang="zh-CN" sz="2400" b="1" dirty="0" err="1" smtClean="0"/>
              <a:t>rwSr</a:t>
            </a:r>
            <a:r>
              <a:rPr lang="en-US" altLang="zh-CN" sz="2400" b="1" dirty="0" smtClean="0"/>
              <a:t>-</a:t>
            </a:r>
            <a:r>
              <a:rPr lang="en-US" altLang="zh-CN" sz="2400" b="1" dirty="0" err="1" smtClean="0"/>
              <a:t>Sr</a:t>
            </a:r>
            <a:r>
              <a:rPr lang="en-US" altLang="zh-CN" sz="2400" b="1" dirty="0" smtClean="0"/>
              <a:t>-T</a:t>
            </a:r>
            <a:endParaRPr lang="en-US" altLang="zh-CN" sz="2400" b="1" dirty="0" smtClean="0"/>
          </a:p>
          <a:p>
            <a:endParaRPr lang="zh-CN" altLang="en-US" b="1" dirty="0"/>
          </a:p>
        </p:txBody>
      </p:sp>
      <p:sp>
        <p:nvSpPr>
          <p:cNvPr id="3" name="标题 1"/>
          <p:cNvSpPr txBox="1"/>
          <p:nvPr/>
        </p:nvSpPr>
        <p:spPr>
          <a:xfrm>
            <a:off x="1105849" y="459780"/>
            <a:ext cx="8001000" cy="76517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 smtClean="0"/>
              <a:t>一、特殊权限</a:t>
            </a:r>
            <a:r>
              <a:rPr lang="en-US" altLang="zh-CN" sz="3200" b="1" dirty="0" smtClean="0"/>
              <a:t>SUID SGID SBIT</a:t>
            </a:r>
            <a:r>
              <a:rPr lang="zh-CN" altLang="en-US" sz="3200" b="1" dirty="0" smtClean="0"/>
              <a:t>的表示</a:t>
            </a:r>
            <a:endParaRPr lang="zh-CN" altLang="en-US" sz="3200" b="1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39869" y="1124284"/>
            <a:ext cx="6048672" cy="4861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>
                <a:srgbClr val="35742A"/>
              </a:buClr>
              <a:buSzTx/>
              <a:buFontTx/>
            </a:pPr>
            <a:r>
              <a:rPr lang="en-US" altLang="zh-CN" sz="2800" b="1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2、八进制字串表示</a:t>
            </a:r>
            <a:endParaRPr lang="en-US" altLang="zh-CN" sz="2800" b="1" dirty="0" smtClean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endParaRPr lang="en-US" altLang="zh-CN" sz="2400" b="1" dirty="0" smtClean="0">
              <a:solidFill>
                <a:schemeClr val="accent6"/>
              </a:solidFill>
            </a:endParaRPr>
          </a:p>
          <a:p>
            <a:r>
              <a:rPr lang="en-US" altLang="zh-CN" sz="2400" dirty="0" smtClean="0"/>
              <a:t>SUID   SGID   SBIT</a:t>
            </a:r>
            <a:endParaRPr lang="en-US" altLang="zh-CN" sz="2400" dirty="0" smtClean="0"/>
          </a:p>
          <a:p>
            <a:r>
              <a:rPr lang="en-US" altLang="zh-CN" sz="2400" dirty="0" smtClean="0"/>
              <a:t>    </a:t>
            </a:r>
            <a:r>
              <a:rPr lang="en-US" altLang="zh-CN" sz="2400" dirty="0" smtClean="0">
                <a:solidFill>
                  <a:srgbClr val="FF0000"/>
                </a:solidFill>
              </a:rPr>
              <a:t>0         0         0              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没有特殊权限</a:t>
            </a:r>
            <a:endParaRPr lang="en-US" altLang="zh-CN" sz="2400" b="1" dirty="0" smtClean="0">
              <a:solidFill>
                <a:srgbClr val="FF0000"/>
              </a:solidFill>
            </a:endParaRPr>
          </a:p>
          <a:p>
            <a:r>
              <a:rPr lang="en-US" altLang="zh-CN" sz="2400" dirty="0" smtClean="0">
                <a:solidFill>
                  <a:srgbClr val="FF0000"/>
                </a:solidFill>
              </a:rPr>
              <a:t>    0         0         1              </a:t>
            </a:r>
            <a:r>
              <a:rPr lang="zh-CN" altLang="en-US" sz="2400" b="1" dirty="0">
                <a:solidFill>
                  <a:srgbClr val="FF0000"/>
                </a:solidFill>
              </a:rPr>
              <a:t>有</a:t>
            </a:r>
            <a:r>
              <a:rPr lang="en-US" altLang="zh-CN" sz="2400" b="1" dirty="0">
                <a:solidFill>
                  <a:srgbClr val="FF0000"/>
                </a:solidFill>
              </a:rPr>
              <a:t>SBIT</a:t>
            </a:r>
            <a:r>
              <a:rPr lang="zh-CN" altLang="en-US" sz="2400" b="1" dirty="0">
                <a:solidFill>
                  <a:srgbClr val="FF0000"/>
                </a:solidFill>
              </a:rPr>
              <a:t>权限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r>
              <a:rPr lang="en-US" altLang="zh-CN" sz="2400" dirty="0" smtClean="0"/>
              <a:t>    </a:t>
            </a:r>
            <a:r>
              <a:rPr lang="en-US" altLang="zh-CN" sz="2400" dirty="0" smtClean="0">
                <a:solidFill>
                  <a:srgbClr val="FF0000"/>
                </a:solidFill>
              </a:rPr>
              <a:t>0         1         0              </a:t>
            </a:r>
            <a:r>
              <a:rPr lang="zh-CN" altLang="en-US" sz="2400" b="1" dirty="0">
                <a:solidFill>
                  <a:srgbClr val="FF0000"/>
                </a:solidFill>
              </a:rPr>
              <a:t>有</a:t>
            </a:r>
            <a:r>
              <a:rPr lang="en-US" altLang="zh-CN" sz="2400" b="1" dirty="0">
                <a:solidFill>
                  <a:srgbClr val="FF0000"/>
                </a:solidFill>
              </a:rPr>
              <a:t>SGID</a:t>
            </a:r>
            <a:r>
              <a:rPr lang="zh-CN" altLang="en-US" sz="2400" b="1" dirty="0">
                <a:solidFill>
                  <a:srgbClr val="FF0000"/>
                </a:solidFill>
              </a:rPr>
              <a:t>权限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r>
              <a:rPr lang="en-US" altLang="zh-CN" sz="2400" dirty="0" smtClean="0"/>
              <a:t>    0         1         1</a:t>
            </a:r>
            <a:endParaRPr lang="en-US" altLang="zh-CN" sz="2400" dirty="0" smtClean="0"/>
          </a:p>
          <a:p>
            <a:r>
              <a:rPr lang="en-US" altLang="zh-CN" sz="2400" dirty="0" smtClean="0"/>
              <a:t>    </a:t>
            </a:r>
            <a:r>
              <a:rPr lang="en-US" altLang="zh-CN" sz="2400" dirty="0" smtClean="0">
                <a:solidFill>
                  <a:srgbClr val="FF0000"/>
                </a:solidFill>
              </a:rPr>
              <a:t>1         0         0              </a:t>
            </a:r>
            <a:r>
              <a:rPr lang="zh-CN" altLang="en-US" sz="2400" b="1" dirty="0">
                <a:solidFill>
                  <a:srgbClr val="FF0000"/>
                </a:solidFill>
              </a:rPr>
              <a:t>有</a:t>
            </a:r>
            <a:r>
              <a:rPr lang="en-US" altLang="zh-CN" sz="2400" b="1" dirty="0">
                <a:solidFill>
                  <a:srgbClr val="FF0000"/>
                </a:solidFill>
              </a:rPr>
              <a:t>SUID</a:t>
            </a:r>
            <a:r>
              <a:rPr lang="zh-CN" altLang="en-US" sz="2400" b="1" dirty="0">
                <a:solidFill>
                  <a:srgbClr val="FF0000"/>
                </a:solidFill>
              </a:rPr>
              <a:t>权限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r>
              <a:rPr lang="en-US" altLang="zh-CN" sz="2400" dirty="0" smtClean="0"/>
              <a:t>    1         0         1</a:t>
            </a:r>
            <a:endParaRPr lang="en-US" altLang="zh-CN" sz="2400" dirty="0" smtClean="0"/>
          </a:p>
          <a:p>
            <a:r>
              <a:rPr lang="en-US" altLang="zh-CN" sz="2400" dirty="0" smtClean="0"/>
              <a:t>    1         1         0</a:t>
            </a:r>
            <a:endParaRPr lang="en-US" altLang="zh-CN" sz="2400" dirty="0" smtClean="0"/>
          </a:p>
          <a:p>
            <a:r>
              <a:rPr lang="en-US" altLang="zh-CN" sz="2400" dirty="0" smtClean="0"/>
              <a:t>    1         1         1</a:t>
            </a:r>
            <a:endParaRPr lang="en-US" altLang="zh-CN" sz="2400" dirty="0" smtClean="0"/>
          </a:p>
          <a:p>
            <a:endParaRPr lang="en-US" altLang="zh-CN" sz="2400" dirty="0" smtClean="0"/>
          </a:p>
          <a:p>
            <a:endParaRPr lang="zh-CN" altLang="en-US" dirty="0"/>
          </a:p>
        </p:txBody>
      </p:sp>
      <p:sp>
        <p:nvSpPr>
          <p:cNvPr id="4" name="右箭头 3"/>
          <p:cNvSpPr/>
          <p:nvPr/>
        </p:nvSpPr>
        <p:spPr>
          <a:xfrm>
            <a:off x="5375791" y="2421265"/>
            <a:ext cx="720080" cy="72008"/>
          </a:xfrm>
          <a:prstGeom prst="right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92D050"/>
              </a:solidFill>
            </a:endParaRPr>
          </a:p>
        </p:txBody>
      </p:sp>
      <p:sp>
        <p:nvSpPr>
          <p:cNvPr id="5" name="右箭头 4"/>
          <p:cNvSpPr/>
          <p:nvPr/>
        </p:nvSpPr>
        <p:spPr>
          <a:xfrm>
            <a:off x="5375791" y="2780670"/>
            <a:ext cx="720080" cy="72008"/>
          </a:xfrm>
          <a:prstGeom prst="right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92D050"/>
              </a:solidFill>
            </a:endParaRPr>
          </a:p>
        </p:txBody>
      </p:sp>
      <p:sp>
        <p:nvSpPr>
          <p:cNvPr id="6" name="右箭头 5"/>
          <p:cNvSpPr/>
          <p:nvPr/>
        </p:nvSpPr>
        <p:spPr>
          <a:xfrm>
            <a:off x="5375791" y="3140963"/>
            <a:ext cx="720080" cy="72008"/>
          </a:xfrm>
          <a:prstGeom prst="right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92D050"/>
              </a:solidFill>
            </a:endParaRPr>
          </a:p>
        </p:txBody>
      </p:sp>
      <p:sp>
        <p:nvSpPr>
          <p:cNvPr id="7" name="右箭头 6"/>
          <p:cNvSpPr/>
          <p:nvPr/>
        </p:nvSpPr>
        <p:spPr>
          <a:xfrm>
            <a:off x="5375791" y="3860636"/>
            <a:ext cx="720080" cy="72008"/>
          </a:xfrm>
          <a:prstGeom prst="right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92D05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3334" y="1521356"/>
            <a:ext cx="6048672" cy="39382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>
                <a:srgbClr val="35742A"/>
              </a:buClr>
              <a:buSzTx/>
              <a:buFontTx/>
            </a:pPr>
            <a:r>
              <a:rPr lang="en-US" altLang="zh-CN" sz="2800" b="1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1、权限SUID说明</a:t>
            </a:r>
            <a:endParaRPr lang="en-US" altLang="zh-CN" sz="2800" b="1" dirty="0" smtClean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marL="342900" indent="-342900">
              <a:buClr>
                <a:srgbClr val="3B812F"/>
              </a:buClr>
              <a:buFont typeface="Wingdings" panose="05000000000000000000" charset="0"/>
              <a:buChar char="Ø"/>
            </a:pPr>
            <a:r>
              <a:rPr lang="en-US" altLang="zh-CN" sz="2000" b="1" dirty="0" smtClean="0"/>
              <a:t>SUID</a:t>
            </a:r>
            <a:r>
              <a:rPr lang="zh-CN" altLang="en-US" sz="2000" b="1" dirty="0" smtClean="0"/>
              <a:t>权限仅对二进制程序有效</a:t>
            </a:r>
            <a:endParaRPr lang="en-US" altLang="zh-CN" sz="2000" b="1" dirty="0" smtClean="0"/>
          </a:p>
          <a:p>
            <a:pPr marL="342900" indent="-342900">
              <a:buClr>
                <a:srgbClr val="3B812F"/>
              </a:buClr>
              <a:buFont typeface="Wingdings" panose="05000000000000000000" charset="0"/>
              <a:buChar char="Ø"/>
            </a:pPr>
            <a:r>
              <a:rPr lang="zh-CN" altLang="en-US" sz="2000" b="1" dirty="0" smtClean="0"/>
              <a:t>执行者对于该程序需要具有</a:t>
            </a:r>
            <a:r>
              <a:rPr lang="en-US" altLang="zh-CN" sz="2000" b="1" dirty="0" smtClean="0"/>
              <a:t>x</a:t>
            </a:r>
            <a:r>
              <a:rPr lang="zh-CN" altLang="en-US" sz="2000" b="1" dirty="0" smtClean="0"/>
              <a:t>的可执行权限</a:t>
            </a:r>
            <a:endParaRPr lang="en-US" altLang="zh-CN" sz="2000" b="1" dirty="0" smtClean="0"/>
          </a:p>
          <a:p>
            <a:pPr marL="342900" indent="-342900">
              <a:buClr>
                <a:srgbClr val="3B812F"/>
              </a:buClr>
              <a:buFont typeface="Wingdings" panose="05000000000000000000" charset="0"/>
              <a:buChar char="Ø"/>
            </a:pPr>
            <a:r>
              <a:rPr lang="zh-CN" altLang="en-US" sz="2000" b="1" dirty="0" smtClean="0"/>
              <a:t>本权限仅在执行该程序的过程中有效</a:t>
            </a:r>
            <a:endParaRPr lang="en-US" altLang="zh-CN" sz="2000" b="1" dirty="0" smtClean="0"/>
          </a:p>
          <a:p>
            <a:pPr marL="342900" indent="-342900">
              <a:buClr>
                <a:srgbClr val="3B812F"/>
              </a:buClr>
              <a:buFont typeface="Wingdings" panose="05000000000000000000" charset="0"/>
              <a:buChar char="Ø"/>
            </a:pPr>
            <a:r>
              <a:rPr lang="zh-CN" altLang="en-US" sz="2000" b="1" dirty="0" smtClean="0"/>
              <a:t>执行者将具有该程序所有者的权限</a:t>
            </a:r>
            <a:endParaRPr lang="en-US" altLang="zh-CN" sz="2000" b="1" dirty="0" smtClean="0"/>
          </a:p>
          <a:p>
            <a:pPr marL="285750" indent="-285750">
              <a:buNone/>
            </a:pPr>
            <a:endParaRPr lang="en-US" altLang="zh-CN" dirty="0" smtClean="0"/>
          </a:p>
          <a:p>
            <a:r>
              <a:rPr lang="zh-CN" altLang="en-US" b="1" dirty="0" smtClean="0">
                <a:solidFill>
                  <a:srgbClr val="002060"/>
                </a:solidFill>
              </a:rPr>
              <a:t>简单的说，就是</a:t>
            </a:r>
            <a:r>
              <a:rPr lang="en-US" altLang="zh-CN" b="1" dirty="0" smtClean="0">
                <a:solidFill>
                  <a:srgbClr val="002060"/>
                </a:solidFill>
              </a:rPr>
              <a:t>SUID</a:t>
            </a:r>
            <a:r>
              <a:rPr lang="zh-CN" altLang="en-US" b="1" dirty="0" smtClean="0">
                <a:solidFill>
                  <a:srgbClr val="002060"/>
                </a:solidFill>
              </a:rPr>
              <a:t>位被设置时，进程继承了命令拥有者的权限。</a:t>
            </a:r>
            <a:endParaRPr lang="en-US" altLang="zh-CN" b="1" dirty="0" smtClean="0">
              <a:solidFill>
                <a:srgbClr val="002060"/>
              </a:solidFill>
            </a:endParaRPr>
          </a:p>
          <a:p>
            <a:r>
              <a:rPr lang="zh-CN" altLang="en-US" b="1" dirty="0" smtClean="0">
                <a:solidFill>
                  <a:srgbClr val="002060"/>
                </a:solidFill>
              </a:rPr>
              <a:t>注：该权限对目录无效。</a:t>
            </a:r>
            <a:endParaRPr lang="en-US" altLang="zh-CN" b="1" dirty="0" smtClean="0">
              <a:solidFill>
                <a:srgbClr val="002060"/>
              </a:solidFill>
            </a:endParaRPr>
          </a:p>
          <a:p>
            <a:endParaRPr lang="en-US" altLang="zh-CN" b="1" dirty="0">
              <a:solidFill>
                <a:srgbClr val="002060"/>
              </a:solidFill>
            </a:endParaRPr>
          </a:p>
          <a:p>
            <a:pPr algn="l">
              <a:buClr>
                <a:srgbClr val="35742A"/>
              </a:buClr>
              <a:buSzTx/>
              <a:buFontTx/>
            </a:pPr>
            <a:r>
              <a:rPr lang="en-US" altLang="zh-CN" sz="2800" b="1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2、举例</a:t>
            </a:r>
            <a:endParaRPr lang="en-US" altLang="zh-CN" sz="2800" b="1" dirty="0" smtClean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r>
              <a:rPr lang="zh-CN" altLang="en-US" sz="2400" b="1" dirty="0"/>
              <a:t>命令</a:t>
            </a:r>
            <a:r>
              <a:rPr lang="en-US" altLang="zh-CN" sz="2400" b="1" dirty="0" err="1"/>
              <a:t>passwd</a:t>
            </a:r>
            <a:endParaRPr lang="zh-CN" altLang="en-US" sz="2400" b="1" dirty="0"/>
          </a:p>
        </p:txBody>
      </p:sp>
      <p:sp>
        <p:nvSpPr>
          <p:cNvPr id="3" name="标题 1"/>
          <p:cNvSpPr txBox="1"/>
          <p:nvPr/>
        </p:nvSpPr>
        <p:spPr>
          <a:xfrm>
            <a:off x="2080574" y="548680"/>
            <a:ext cx="8001000" cy="76517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 smtClean="0"/>
              <a:t>二、</a:t>
            </a:r>
            <a:r>
              <a:rPr lang="en-US" altLang="zh-CN" sz="3200" b="1" dirty="0" smtClean="0"/>
              <a:t>SUID</a:t>
            </a:r>
            <a:r>
              <a:rPr lang="zh-CN" altLang="en-US" sz="3200" b="1" dirty="0" smtClean="0"/>
              <a:t>（</a:t>
            </a:r>
            <a:r>
              <a:rPr lang="en-US" altLang="zh-CN" sz="3200" b="1" dirty="0" smtClean="0"/>
              <a:t>Set UID</a:t>
            </a:r>
            <a:r>
              <a:rPr lang="zh-CN" altLang="en-US" sz="3200" b="1" dirty="0" smtClean="0"/>
              <a:t>）用户置位</a:t>
            </a:r>
            <a:r>
              <a:rPr lang="en-US" altLang="zh-CN" sz="3200" b="1" dirty="0" smtClean="0"/>
              <a:t>S</a:t>
            </a:r>
            <a:endParaRPr lang="zh-CN" altLang="en-US" sz="3200" b="1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07260" y="1557020"/>
            <a:ext cx="9491345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1、权限SGID说明</a:t>
            </a:r>
            <a:endParaRPr lang="en-US" altLang="zh-CN" sz="2800" b="1" dirty="0" smtClean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r>
              <a:rPr lang="zh-CN" altLang="en-US" sz="2400" b="1" dirty="0" smtClean="0"/>
              <a:t>与</a:t>
            </a:r>
            <a:r>
              <a:rPr lang="en-US" altLang="zh-CN" sz="2400" b="1" dirty="0" smtClean="0"/>
              <a:t>SUID</a:t>
            </a:r>
            <a:r>
              <a:rPr lang="zh-CN" altLang="en-US" sz="2400" b="1" dirty="0" smtClean="0"/>
              <a:t>不同的是，</a:t>
            </a:r>
            <a:r>
              <a:rPr lang="en-US" altLang="zh-CN" sz="2400" b="1" dirty="0" smtClean="0"/>
              <a:t>SGID</a:t>
            </a:r>
            <a:r>
              <a:rPr lang="zh-CN" altLang="en-US" sz="2400" b="1" dirty="0" smtClean="0"/>
              <a:t>可以针对文件或目录来设置。</a:t>
            </a:r>
            <a:endParaRPr lang="en-US" altLang="zh-CN" sz="2400" b="1" dirty="0" smtClean="0"/>
          </a:p>
          <a:p>
            <a:r>
              <a:rPr lang="zh-CN" altLang="en-US" sz="2400" b="1" dirty="0" smtClean="0">
                <a:sym typeface="+mn-ea"/>
              </a:rPr>
              <a:t>（</a:t>
            </a:r>
            <a:r>
              <a:rPr lang="en-US" altLang="zh-CN" sz="2400" b="1" dirty="0" smtClean="0">
                <a:sym typeface="+mn-ea"/>
              </a:rPr>
              <a:t>1</a:t>
            </a:r>
            <a:r>
              <a:rPr lang="zh-CN" altLang="en-US" sz="2400" b="1" dirty="0" smtClean="0">
                <a:sym typeface="+mn-ea"/>
              </a:rPr>
              <a:t>）</a:t>
            </a:r>
            <a:r>
              <a:rPr lang="zh-CN" altLang="en-US" sz="2400" b="1" dirty="0" smtClean="0"/>
              <a:t>对文件来说，</a:t>
            </a:r>
            <a:r>
              <a:rPr lang="en-US" altLang="zh-CN" sz="2400" b="1" dirty="0" smtClean="0"/>
              <a:t>SGID</a:t>
            </a:r>
            <a:r>
              <a:rPr lang="zh-CN" altLang="en-US" sz="2400" b="1" dirty="0" smtClean="0"/>
              <a:t>有如下功能：</a:t>
            </a:r>
            <a:endParaRPr lang="en-US" altLang="zh-CN" sz="2400" b="1" dirty="0" smtClean="0"/>
          </a:p>
          <a:p>
            <a:pPr marL="342900" indent="-342900">
              <a:buClr>
                <a:srgbClr val="35742A"/>
              </a:buClr>
              <a:buFont typeface="Wingdings" panose="05000000000000000000" charset="0"/>
              <a:buChar char="Ø"/>
            </a:pPr>
            <a:r>
              <a:rPr lang="en-US" altLang="zh-CN" sz="2000" b="1" dirty="0" smtClean="0"/>
              <a:t>S</a:t>
            </a:r>
            <a:r>
              <a:rPr lang="en-US" altLang="zh-CN" sz="2000" dirty="0" smtClean="0"/>
              <a:t>G</a:t>
            </a:r>
            <a:r>
              <a:rPr lang="en-US" altLang="zh-CN" sz="2000" b="1" dirty="0" smtClean="0"/>
              <a:t>ID</a:t>
            </a:r>
            <a:r>
              <a:rPr lang="zh-CN" altLang="en-US" sz="2000" b="1" dirty="0" smtClean="0"/>
              <a:t>权限仅对二进制程序有效</a:t>
            </a:r>
            <a:endParaRPr lang="en-US" altLang="zh-CN" sz="2000" b="1" dirty="0" smtClean="0"/>
          </a:p>
          <a:p>
            <a:pPr marL="342900" indent="-342900">
              <a:buClr>
                <a:srgbClr val="35742A"/>
              </a:buClr>
              <a:buFont typeface="Wingdings" panose="05000000000000000000" charset="0"/>
              <a:buChar char="Ø"/>
            </a:pPr>
            <a:r>
              <a:rPr lang="zh-CN" altLang="en-US" sz="2000" b="1" dirty="0"/>
              <a:t>程序</a:t>
            </a:r>
            <a:r>
              <a:rPr lang="zh-CN" altLang="en-US" sz="2000" b="1" dirty="0" smtClean="0"/>
              <a:t>执行者对于该程序来说，需要具有</a:t>
            </a:r>
            <a:r>
              <a:rPr lang="en-US" altLang="zh-CN" sz="2000" b="1" dirty="0" smtClean="0"/>
              <a:t>x</a:t>
            </a:r>
            <a:r>
              <a:rPr lang="zh-CN" altLang="en-US" sz="2000" b="1" dirty="0" smtClean="0"/>
              <a:t>权限</a:t>
            </a:r>
            <a:endParaRPr lang="en-US" altLang="zh-CN" sz="2000" b="1" dirty="0" smtClean="0"/>
          </a:p>
          <a:p>
            <a:pPr marL="342900" indent="-342900">
              <a:buClr>
                <a:srgbClr val="35742A"/>
              </a:buClr>
              <a:buFont typeface="Wingdings" panose="05000000000000000000" charset="0"/>
              <a:buChar char="Ø"/>
            </a:pPr>
            <a:r>
              <a:rPr lang="zh-CN" altLang="en-US" sz="2000" b="1" dirty="0" smtClean="0"/>
              <a:t>执行者在执行过程中将会获得该程序用户组的支持</a:t>
            </a:r>
            <a:endParaRPr lang="en-US" altLang="zh-CN" dirty="0" smtClean="0"/>
          </a:p>
          <a:p>
            <a:r>
              <a:rPr lang="zh-CN" altLang="en-US" sz="2000" b="1" dirty="0" smtClean="0">
                <a:solidFill>
                  <a:schemeClr val="accent6">
                    <a:lumMod val="75000"/>
                  </a:schemeClr>
                </a:solidFill>
              </a:rPr>
              <a:t>例如：</a:t>
            </a:r>
            <a:r>
              <a:rPr lang="zh-CN" altLang="en-US" sz="2000" b="1" dirty="0" smtClean="0">
                <a:solidFill>
                  <a:schemeClr val="accent6">
                    <a:lumMod val="75000"/>
                  </a:schemeClr>
                </a:solidFill>
                <a:sym typeface="+mn-ea"/>
              </a:rPr>
              <a:t>locate</a:t>
            </a:r>
            <a:r>
              <a:rPr lang="zh-CN" altLang="en-US" sz="2000" b="1" dirty="0" smtClean="0">
                <a:solidFill>
                  <a:schemeClr val="accent6">
                    <a:lumMod val="75000"/>
                  </a:schemeClr>
                </a:solidFill>
              </a:rPr>
              <a:t>定位文件的逻辑位置（利用</a:t>
            </a:r>
            <a:r>
              <a:rPr lang="zh-CN" altLang="en-US" sz="2000" b="1" dirty="0" smtClean="0">
                <a:solidFill>
                  <a:schemeClr val="accent6">
                    <a:lumMod val="75000"/>
                  </a:schemeClr>
                </a:solidFill>
                <a:sym typeface="+mn-ea"/>
              </a:rPr>
              <a:t>数据库/var/lib/plocate/plocate.db，更新数据库使用updatedb命令）</a:t>
            </a:r>
            <a:endParaRPr lang="zh-CN" altLang="en-US" sz="2400" b="1" dirty="0" smtClean="0"/>
          </a:p>
          <a:p>
            <a:r>
              <a:rPr lang="zh-CN" altLang="en-US" sz="2400" b="1" dirty="0" smtClean="0"/>
              <a:t>（</a:t>
            </a:r>
            <a:r>
              <a:rPr lang="en-US" altLang="zh-CN" sz="2400" b="1" dirty="0" smtClean="0"/>
              <a:t>2</a:t>
            </a:r>
            <a:r>
              <a:rPr lang="zh-CN" altLang="en-US" sz="2400" b="1" dirty="0" smtClean="0"/>
              <a:t>）对目录来说</a:t>
            </a:r>
            <a:r>
              <a:rPr lang="zh-CN" altLang="en-US" sz="2400" b="1" dirty="0"/>
              <a:t>，</a:t>
            </a:r>
            <a:r>
              <a:rPr lang="en-US" altLang="zh-CN" sz="2400" b="1" dirty="0"/>
              <a:t>SGID</a:t>
            </a:r>
            <a:r>
              <a:rPr lang="zh-CN" altLang="en-US" sz="2400" b="1" dirty="0"/>
              <a:t>有如下功能：</a:t>
            </a:r>
            <a:endParaRPr lang="en-US" altLang="zh-CN" sz="2400" b="1" dirty="0"/>
          </a:p>
          <a:p>
            <a:pPr marL="342900" indent="-342900">
              <a:buClr>
                <a:srgbClr val="3B812F"/>
              </a:buClr>
              <a:buFont typeface="Wingdings" panose="05000000000000000000" charset="0"/>
              <a:buChar char="Ø"/>
            </a:pPr>
            <a:r>
              <a:rPr lang="zh-CN" altLang="en-US" sz="2000" b="1" dirty="0" smtClean="0"/>
              <a:t>用户若对此目录具有</a:t>
            </a:r>
            <a:r>
              <a:rPr lang="en-US" altLang="zh-CN" sz="2000" b="1" dirty="0"/>
              <a:t>	</a:t>
            </a:r>
            <a:r>
              <a:rPr lang="en-US" altLang="zh-CN" sz="2000" b="1" dirty="0" smtClean="0"/>
              <a:t>r</a:t>
            </a:r>
            <a:r>
              <a:rPr lang="zh-CN" altLang="en-US" sz="2000" b="1" dirty="0" smtClean="0"/>
              <a:t>与</a:t>
            </a:r>
            <a:r>
              <a:rPr lang="en-US" altLang="zh-CN" sz="2000" b="1" dirty="0" smtClean="0"/>
              <a:t>x</a:t>
            </a:r>
            <a:r>
              <a:rPr lang="zh-CN" altLang="en-US" sz="2000" b="1" dirty="0" smtClean="0"/>
              <a:t>的权限，该用户能够进入此目录</a:t>
            </a:r>
            <a:endParaRPr lang="en-US" altLang="zh-CN" sz="2000" b="1" dirty="0" smtClean="0"/>
          </a:p>
          <a:p>
            <a:pPr marL="342900" indent="-342900">
              <a:buClr>
                <a:srgbClr val="3B812F"/>
              </a:buClr>
              <a:buFont typeface="Wingdings" panose="05000000000000000000" charset="0"/>
              <a:buChar char="Ø"/>
            </a:pPr>
            <a:r>
              <a:rPr lang="zh-CN" altLang="en-US" sz="2000" b="1" dirty="0" smtClean="0"/>
              <a:t>用户在此目录下的有效用户组将会变成该目录的用户组</a:t>
            </a:r>
            <a:endParaRPr lang="en-US" altLang="zh-CN" sz="2000" b="1" dirty="0" smtClean="0"/>
          </a:p>
          <a:p>
            <a:pPr marL="342900" indent="-342900">
              <a:buClr>
                <a:srgbClr val="3B812F"/>
              </a:buClr>
              <a:buFont typeface="Wingdings" panose="05000000000000000000" charset="0"/>
              <a:buChar char="Ø"/>
            </a:pPr>
            <a:r>
              <a:rPr lang="zh-CN" altLang="en-US" sz="2000" b="1" dirty="0" smtClean="0"/>
              <a:t>若用户在此目录下具有</a:t>
            </a:r>
            <a:r>
              <a:rPr lang="en-US" altLang="zh-CN" sz="2000" b="1" dirty="0" smtClean="0"/>
              <a:t>w</a:t>
            </a:r>
            <a:r>
              <a:rPr lang="zh-CN" altLang="en-US" sz="2000" b="1" dirty="0" smtClean="0"/>
              <a:t>的权限，则用户所创建的新文件的用户组与此目录的用户组相同</a:t>
            </a:r>
            <a:r>
              <a:rPr lang="zh-CN" altLang="en-US" sz="2000" b="1" dirty="0" smtClean="0">
                <a:solidFill>
                  <a:schemeClr val="accent6">
                    <a:lumMod val="75000"/>
                  </a:schemeClr>
                </a:solidFill>
              </a:rPr>
              <a:t>（项目开发有用）</a:t>
            </a:r>
            <a:endParaRPr lang="zh-CN" altLang="en-US" sz="2000" b="1" dirty="0" smtClean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标题 1"/>
          <p:cNvSpPr txBox="1"/>
          <p:nvPr/>
        </p:nvSpPr>
        <p:spPr>
          <a:xfrm>
            <a:off x="2080574" y="548680"/>
            <a:ext cx="8001000" cy="76517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 smtClean="0"/>
              <a:t>三、</a:t>
            </a:r>
            <a:r>
              <a:rPr lang="en-US" altLang="zh-CN" sz="3200" b="1" dirty="0" smtClean="0"/>
              <a:t>SGID</a:t>
            </a:r>
            <a:r>
              <a:rPr lang="zh-CN" altLang="en-US" sz="3200" b="1" dirty="0" smtClean="0"/>
              <a:t>（</a:t>
            </a:r>
            <a:r>
              <a:rPr lang="en-US" altLang="zh-CN" sz="3200" b="1" dirty="0" smtClean="0"/>
              <a:t>Set GID</a:t>
            </a:r>
            <a:r>
              <a:rPr lang="zh-CN" altLang="en-US" sz="3200" b="1" dirty="0" smtClean="0"/>
              <a:t>）组置位</a:t>
            </a:r>
            <a:r>
              <a:rPr lang="en-US" altLang="zh-CN" sz="3200" b="1" dirty="0" smtClean="0"/>
              <a:t>S</a:t>
            </a:r>
            <a:endParaRPr lang="zh-CN" altLang="en-US" sz="3200" b="1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83207" y="836968"/>
            <a:ext cx="7224370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2、举例</a:t>
            </a:r>
            <a:endParaRPr lang="en-US" altLang="zh-CN" sz="2800" b="1" dirty="0" smtClean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r>
              <a:rPr lang="zh-CN" altLang="en-US" sz="2000" b="1" dirty="0" smtClean="0"/>
              <a:t>假设系统中有两个帐号</a:t>
            </a:r>
            <a:r>
              <a:rPr lang="en-US" altLang="zh-CN" sz="2000" b="1" dirty="0" smtClean="0"/>
              <a:t>tuser1</a:t>
            </a:r>
            <a:r>
              <a:rPr lang="zh-CN" altLang="en-US" sz="2000" b="1" dirty="0" smtClean="0"/>
              <a:t>，</a:t>
            </a:r>
            <a:r>
              <a:rPr lang="en-US" altLang="zh-CN" sz="2000" b="1" dirty="0" smtClean="0"/>
              <a:t>tuser2</a:t>
            </a:r>
            <a:r>
              <a:rPr lang="zh-CN" altLang="en-US" sz="2000" b="1" dirty="0" smtClean="0"/>
              <a:t>，这两个用户除了自己用户组外还支持一个名为</a:t>
            </a:r>
            <a:r>
              <a:rPr lang="en-US" altLang="zh-CN" sz="2000" b="1" dirty="0" err="1" smtClean="0"/>
              <a:t>tgroup</a:t>
            </a:r>
            <a:r>
              <a:rPr lang="zh-CN" altLang="en-US" sz="2000" b="1" dirty="0" smtClean="0"/>
              <a:t>的用户组，假设这两个用户需要共同拥有</a:t>
            </a:r>
            <a:r>
              <a:rPr lang="en-US" altLang="zh-CN" sz="2000" b="1" dirty="0" smtClean="0"/>
              <a:t>/project</a:t>
            </a:r>
            <a:r>
              <a:rPr lang="zh-CN" altLang="en-US" sz="2000" b="1" dirty="0" smtClean="0"/>
              <a:t>目录的开发权，该目录不允许其他用户进入查看，请问该目录的权限怎么设置。</a:t>
            </a:r>
            <a:endParaRPr lang="zh-CN" altLang="en-US" sz="2000" b="1" dirty="0" smtClean="0"/>
          </a:p>
          <a:p>
            <a:endParaRPr lang="zh-CN" altLang="en-US" sz="2000" b="1" dirty="0" smtClean="0"/>
          </a:p>
          <a:p>
            <a:endParaRPr lang="zh-CN" altLang="en-US" sz="2000" b="1" dirty="0"/>
          </a:p>
          <a:p>
            <a:endParaRPr lang="zh-CN" altLang="en-US" sz="20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29709" y="1671851"/>
            <a:ext cx="7056784" cy="4092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1、权限SBIT说明</a:t>
            </a:r>
            <a:endParaRPr lang="en-US" altLang="zh-CN" sz="2800" b="1" dirty="0" smtClean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r>
              <a:rPr lang="zh-CN" altLang="en-US" sz="2400" b="1" dirty="0" smtClean="0"/>
              <a:t>该权限对目录有效，</a:t>
            </a:r>
            <a:r>
              <a:rPr lang="en-US" altLang="zh-CN" sz="2400" b="1" dirty="0" smtClean="0"/>
              <a:t>SBIT</a:t>
            </a:r>
            <a:r>
              <a:rPr lang="zh-CN" altLang="en-US" sz="2400" b="1" dirty="0" smtClean="0"/>
              <a:t>对目录的作用是：</a:t>
            </a:r>
            <a:endParaRPr lang="en-US" altLang="zh-CN" sz="2400" b="1" dirty="0" smtClean="0"/>
          </a:p>
          <a:p>
            <a:pPr marL="342900" indent="-342900">
              <a:buClr>
                <a:srgbClr val="35742A"/>
              </a:buClr>
              <a:buFont typeface="Wingdings" panose="05000000000000000000" charset="0"/>
              <a:buChar char="Ø"/>
            </a:pPr>
            <a:r>
              <a:rPr lang="zh-CN" altLang="en-US" sz="2000" b="1" dirty="0" smtClean="0"/>
              <a:t>当用户对此目录具有</a:t>
            </a:r>
            <a:r>
              <a:rPr lang="en-US" altLang="zh-CN" sz="2000" b="1" dirty="0" smtClean="0"/>
              <a:t>w</a:t>
            </a:r>
            <a:r>
              <a:rPr lang="zh-CN" altLang="en-US" sz="2000" b="1" dirty="0" smtClean="0"/>
              <a:t>，</a:t>
            </a:r>
            <a:r>
              <a:rPr lang="en-US" altLang="zh-CN" sz="2000" b="1" dirty="0" smtClean="0"/>
              <a:t>x</a:t>
            </a:r>
            <a:r>
              <a:rPr lang="zh-CN" altLang="en-US" sz="2000" b="1" dirty="0" smtClean="0"/>
              <a:t>权限，即具有写入的权限时；</a:t>
            </a:r>
            <a:endParaRPr lang="en-US" altLang="zh-CN" sz="2000" b="1" dirty="0" smtClean="0"/>
          </a:p>
          <a:p>
            <a:pPr marL="342900" indent="-342900">
              <a:buClr>
                <a:srgbClr val="35742A"/>
              </a:buClr>
              <a:buFont typeface="Wingdings" panose="05000000000000000000" charset="0"/>
              <a:buChar char="Ø"/>
            </a:pPr>
            <a:r>
              <a:rPr lang="zh-CN" altLang="en-US" sz="2000" b="1" dirty="0" smtClean="0"/>
              <a:t>当用户在该目录下创建文件或目录时，仅有自己与</a:t>
            </a:r>
            <a:r>
              <a:rPr lang="en-US" altLang="zh-CN" sz="2000" b="1" dirty="0" smtClean="0"/>
              <a:t>root</a:t>
            </a:r>
            <a:r>
              <a:rPr lang="zh-CN" altLang="en-US" sz="2000" b="1" dirty="0" smtClean="0"/>
              <a:t>才有权利删除该文件</a:t>
            </a:r>
            <a:endParaRPr lang="zh-CN" altLang="en-US" sz="2000" b="1" dirty="0" smtClean="0"/>
          </a:p>
          <a:p>
            <a:pPr marL="342900" indent="-342900">
              <a:buClr>
                <a:srgbClr val="35742A"/>
              </a:buClr>
              <a:buFont typeface="Wingdings" panose="05000000000000000000" charset="0"/>
              <a:buChar char="Ø"/>
            </a:pPr>
            <a:endParaRPr lang="en-US" altLang="zh-CN" sz="2000" b="1" dirty="0">
              <a:solidFill>
                <a:schemeClr val="accent2"/>
              </a:solidFill>
            </a:endParaRPr>
          </a:p>
          <a:p>
            <a:pPr marL="342900" indent="-342900">
              <a:buClr>
                <a:srgbClr val="35742A"/>
              </a:buClr>
              <a:buFont typeface="Wingdings" panose="05000000000000000000" charset="0"/>
              <a:buChar char="Ø"/>
            </a:pPr>
            <a:endParaRPr lang="en-US" altLang="zh-CN" sz="2000" b="1" dirty="0">
              <a:solidFill>
                <a:schemeClr val="accent2"/>
              </a:solidFill>
            </a:endParaRPr>
          </a:p>
          <a:p>
            <a:pPr marL="0" indent="0">
              <a:buClr>
                <a:srgbClr val="35742A"/>
              </a:buClr>
              <a:buNone/>
            </a:pPr>
            <a:r>
              <a:rPr lang="en-US" altLang="zh-CN" sz="2800" b="1" dirty="0" smtClean="0">
                <a:solidFill>
                  <a:schemeClr val="tx2"/>
                </a:solidFill>
                <a:latin typeface="+mj-lt"/>
                <a:ea typeface="+mj-ea"/>
                <a:cs typeface="+mj-cs"/>
                <a:sym typeface="+mn-ea"/>
              </a:rPr>
              <a:t>2、举例</a:t>
            </a:r>
            <a:endParaRPr lang="en-US" altLang="zh-CN" sz="2800" b="1" dirty="0" smtClean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marL="0" indent="0">
              <a:buClr>
                <a:srgbClr val="35742A"/>
              </a:buClr>
              <a:buNone/>
            </a:pPr>
            <a:r>
              <a:rPr lang="en-US" altLang="zh-CN" sz="2000" b="1" dirty="0">
                <a:solidFill>
                  <a:schemeClr val="accent4"/>
                </a:solidFill>
              </a:rPr>
              <a:t>       </a:t>
            </a:r>
            <a:r>
              <a:rPr lang="zh-CN" altLang="en-US" sz="2000" b="1" dirty="0">
                <a:solidFill>
                  <a:schemeClr val="tx1"/>
                </a:solidFill>
              </a:rPr>
              <a:t>目录</a:t>
            </a:r>
            <a:r>
              <a:rPr lang="en-US" altLang="zh-CN" sz="2000" b="1" dirty="0">
                <a:solidFill>
                  <a:schemeClr val="tx1"/>
                </a:solidFill>
              </a:rPr>
              <a:t>/tmp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 marL="0" indent="0">
              <a:buClr>
                <a:srgbClr val="35742A"/>
              </a:buClr>
              <a:buNone/>
            </a:pPr>
            <a:endParaRPr lang="en-US" altLang="zh-CN" sz="2000" b="1" dirty="0">
              <a:solidFill>
                <a:schemeClr val="accent4"/>
              </a:solidFill>
            </a:endParaRPr>
          </a:p>
          <a:p>
            <a:pPr marL="0" indent="0">
              <a:buClr>
                <a:srgbClr val="35742A"/>
              </a:buClr>
              <a:buNone/>
            </a:pPr>
            <a:endParaRPr lang="en-US" altLang="zh-CN" sz="2000" b="1" dirty="0">
              <a:solidFill>
                <a:schemeClr val="accent4"/>
              </a:solidFill>
            </a:endParaRPr>
          </a:p>
          <a:p>
            <a:pPr marL="0" indent="0">
              <a:buClr>
                <a:srgbClr val="35742A"/>
              </a:buClr>
              <a:buNone/>
            </a:pPr>
            <a:endParaRPr lang="en-US" altLang="zh-CN" sz="2000" b="1" dirty="0">
              <a:solidFill>
                <a:schemeClr val="accent4"/>
              </a:solidFill>
            </a:endParaRPr>
          </a:p>
        </p:txBody>
      </p:sp>
      <p:sp>
        <p:nvSpPr>
          <p:cNvPr id="3" name="标题 1"/>
          <p:cNvSpPr txBox="1"/>
          <p:nvPr/>
        </p:nvSpPr>
        <p:spPr>
          <a:xfrm>
            <a:off x="2095814" y="534710"/>
            <a:ext cx="8001000" cy="76517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 smtClean="0"/>
              <a:t>四、</a:t>
            </a:r>
            <a:r>
              <a:rPr lang="en-US" altLang="zh-CN" sz="3200" b="1" dirty="0" smtClean="0"/>
              <a:t>SBIT</a:t>
            </a:r>
            <a:r>
              <a:rPr lang="zh-CN" altLang="en-US" sz="3200" b="1" dirty="0" smtClean="0"/>
              <a:t>（</a:t>
            </a:r>
            <a:r>
              <a:rPr lang="en-US" altLang="zh-CN" sz="3200" b="1" dirty="0" smtClean="0"/>
              <a:t>Set BIT</a:t>
            </a:r>
            <a:r>
              <a:rPr lang="zh-CN" altLang="en-US" sz="3200" b="1" dirty="0" smtClean="0"/>
              <a:t>）</a:t>
            </a:r>
            <a:endParaRPr lang="zh-CN" altLang="en-US" sz="3200" b="1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oZGlkIjoiMGVmMzkzNmEzMmU3NTFiMTgyMGNkZWM4ZjkxMTJhNTAifQ=="/>
</p:tagLst>
</file>

<file path=ppt/theme/theme1.xml><?xml version="1.0" encoding="utf-8"?>
<a:theme xmlns:a="http://schemas.openxmlformats.org/drawingml/2006/main" name="Linux@张平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0fs4aqcf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3165</Words>
  <Application>WPS 演示</Application>
  <PresentationFormat>宽屏</PresentationFormat>
  <Paragraphs>262</Paragraphs>
  <Slides>46</Slides>
  <Notes>0</Notes>
  <HiddenSlides>1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58" baseType="lpstr">
      <vt:lpstr>Arial</vt:lpstr>
      <vt:lpstr>宋体</vt:lpstr>
      <vt:lpstr>Wingdings</vt:lpstr>
      <vt:lpstr>楷体</vt:lpstr>
      <vt:lpstr>Arial Narrow</vt:lpstr>
      <vt:lpstr>Calibri</vt:lpstr>
      <vt:lpstr>Arial Black</vt:lpstr>
      <vt:lpstr>微软雅黑</vt:lpstr>
      <vt:lpstr>Arial Unicode MS</vt:lpstr>
      <vt:lpstr>Verdana</vt:lpstr>
      <vt:lpstr>Wingdings</vt:lpstr>
      <vt:lpstr>Linux@张平</vt:lpstr>
      <vt:lpstr>第5章   用户和组管理</vt:lpstr>
      <vt:lpstr>PowerPoint 演示文稿</vt:lpstr>
      <vt:lpstr>用户账户基础 </vt:lpstr>
      <vt:lpstr>5.1.1 Linux用户账户</vt:lpstr>
      <vt:lpstr>5.1.2 Ubuntu账户</vt:lpstr>
      <vt:lpstr>PowerPoint 演示文稿</vt:lpstr>
      <vt:lpstr>用户配置文件passwd和shadow</vt:lpstr>
      <vt:lpstr>账户配置文件</vt:lpstr>
      <vt:lpstr>5.2. 用户配置文件passwd和shadow	</vt:lpstr>
      <vt:lpstr>5.2.1 用户账户文件/etc/passwd</vt:lpstr>
      <vt:lpstr>PowerPoint 演示文稿</vt:lpstr>
      <vt:lpstr>5.2.2 用户影子文件/etc/shadow</vt:lpstr>
      <vt:lpstr>PowerPoint 演示文稿</vt:lpstr>
      <vt:lpstr>用户账户管理命令 </vt:lpstr>
      <vt:lpstr>5.3 用户账户管理命令	</vt:lpstr>
      <vt:lpstr>5.3.1 新建用户账户命令useradd和adduser</vt:lpstr>
      <vt:lpstr>（1）使用Linux通用命令useradd</vt:lpstr>
      <vt:lpstr>（2）使用Ubuntu专用命令adduser</vt:lpstr>
      <vt:lpstr>5.3.2 修改用户账户命令chage、passwd、usermod	</vt:lpstr>
      <vt:lpstr>（1）设置用户账户口令命令passwd</vt:lpstr>
      <vt:lpstr>（2）修改用户账户信息命令usermod</vt:lpstr>
      <vt:lpstr>（3）更改用户密码过期信息命令chage</vt:lpstr>
      <vt:lpstr>5.3.3 删除用户账户命令userdel和deluser</vt:lpstr>
      <vt:lpstr>（2）使用deluser命令删除用户或组</vt:lpstr>
      <vt:lpstr>组账户基础 </vt:lpstr>
      <vt:lpstr>5.4 组账户基础	</vt:lpstr>
      <vt:lpstr>账户配置文件</vt:lpstr>
      <vt:lpstr>5.5 组账户配置文件group和gshadow	</vt:lpstr>
      <vt:lpstr>5.5.1 组账户文件/etc/group 	</vt:lpstr>
      <vt:lpstr>5.5.2 组账户影子文件/etc/gshadow</vt:lpstr>
      <vt:lpstr>组账户管理命令 </vt:lpstr>
      <vt:lpstr>5.6 组账户管理命令	</vt:lpstr>
      <vt:lpstr>创建组账户命令groupadd和addgroup</vt:lpstr>
      <vt:lpstr>使用 Ubuntu专用命令addgroup</vt:lpstr>
      <vt:lpstr>修改组账户属性命令groupmod</vt:lpstr>
      <vt:lpstr>删除组账户	</vt:lpstr>
      <vt:lpstr>5.6.3 删除组账户	</vt:lpstr>
      <vt:lpstr>管理组账户命令gpasswd</vt:lpstr>
      <vt:lpstr>访问权限管理 </vt:lpstr>
      <vt:lpstr>Linux特殊权限  SUID  SGID  SBIT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Linux发行版</dc:title>
  <dc:creator>John</dc:creator>
  <cp:lastModifiedBy>李莉</cp:lastModifiedBy>
  <cp:revision>94</cp:revision>
  <dcterms:created xsi:type="dcterms:W3CDTF">2019-07-09T12:44:00Z</dcterms:created>
  <dcterms:modified xsi:type="dcterms:W3CDTF">2024-11-03T12:33:47Z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714111AAAEC342B4A9644C43CAA8E262_12</vt:lpwstr>
  </property>
  <property fmtid="{D5CDD505-2E9C-101B-9397-08002B2CF9AE}" pid="3" name="KSOProductBuildVer">
    <vt:lpwstr>2052-12.1.0.18608</vt:lpwstr>
  </property>
</Properties>
</file>