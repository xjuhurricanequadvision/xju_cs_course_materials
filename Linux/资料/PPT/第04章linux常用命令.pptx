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5"/>
  </p:notesMasterIdLst>
  <p:sldIdLst>
    <p:sldId id="622" r:id="rId3"/>
    <p:sldId id="857" r:id="rId4"/>
    <p:sldId id="497" r:id="rId5"/>
    <p:sldId id="498" r:id="rId6"/>
    <p:sldId id="499" r:id="rId7"/>
    <p:sldId id="500" r:id="rId8"/>
    <p:sldId id="779" r:id="rId9"/>
    <p:sldId id="502" r:id="rId10"/>
    <p:sldId id="503" r:id="rId11"/>
    <p:sldId id="685" r:id="rId12"/>
    <p:sldId id="686" r:id="rId13"/>
    <p:sldId id="504" r:id="rId14"/>
    <p:sldId id="505" r:id="rId15"/>
    <p:sldId id="507" r:id="rId16"/>
    <p:sldId id="508" r:id="rId17"/>
    <p:sldId id="509" r:id="rId18"/>
    <p:sldId id="687" r:id="rId19"/>
    <p:sldId id="510" r:id="rId20"/>
    <p:sldId id="511" r:id="rId21"/>
    <p:sldId id="513" r:id="rId22"/>
    <p:sldId id="514" r:id="rId23"/>
    <p:sldId id="515" r:id="rId24"/>
    <p:sldId id="825" r:id="rId25"/>
    <p:sldId id="826" r:id="rId26"/>
    <p:sldId id="521" r:id="rId27"/>
    <p:sldId id="522" r:id="rId28"/>
    <p:sldId id="523" r:id="rId29"/>
    <p:sldId id="688" r:id="rId30"/>
    <p:sldId id="623" r:id="rId31"/>
    <p:sldId id="524" r:id="rId32"/>
    <p:sldId id="525" r:id="rId33"/>
    <p:sldId id="689" r:id="rId34"/>
    <p:sldId id="526" r:id="rId35"/>
    <p:sldId id="527" r:id="rId36"/>
    <p:sldId id="528" r:id="rId37"/>
    <p:sldId id="529" r:id="rId38"/>
    <p:sldId id="530" r:id="rId39"/>
    <p:sldId id="531" r:id="rId40"/>
    <p:sldId id="533" r:id="rId41"/>
    <p:sldId id="534" r:id="rId42"/>
    <p:sldId id="690" r:id="rId43"/>
    <p:sldId id="535" r:id="rId44"/>
    <p:sldId id="536" r:id="rId45"/>
    <p:sldId id="691" r:id="rId46"/>
    <p:sldId id="537" r:id="rId47"/>
    <p:sldId id="538" r:id="rId48"/>
    <p:sldId id="539" r:id="rId49"/>
    <p:sldId id="540" r:id="rId50"/>
    <p:sldId id="541" r:id="rId51"/>
    <p:sldId id="542" r:id="rId52"/>
    <p:sldId id="543" r:id="rId53"/>
    <p:sldId id="544" r:id="rId54"/>
  </p:sldIdLst>
  <p:sldSz cx="9144000" cy="6858000" type="screen4x3"/>
  <p:notesSz cx="6858000" cy="9144000"/>
  <p:custDataLst>
    <p:tags r:id="rId5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7" userDrawn="1">
          <p15:clr>
            <a:srgbClr val="A4A3A4"/>
          </p15:clr>
        </p15:guide>
        <p15:guide id="2" pos="2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8468" autoAdjust="0"/>
  </p:normalViewPr>
  <p:slideViewPr>
    <p:cSldViewPr showGuides="1">
      <p:cViewPr varScale="1">
        <p:scale>
          <a:sx n="78" d="100"/>
          <a:sy n="78" d="100"/>
        </p:scale>
        <p:origin x="-1541" y="-62"/>
      </p:cViewPr>
      <p:guideLst>
        <p:guide orient="horz" pos="2257"/>
        <p:guide pos="29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3009"/>
        <p:guide pos="21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gs" Target="tags/tag4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6E94F61-7344-47AC-9404-8B8611873CD5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D3C6AC7-C646-4D7E-AD4D-0486F939BF0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32099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6633"/>
              </a:buClr>
              <a:buFont typeface="Wingdings" panose="05000000000000000000" charset="0"/>
              <a:buChar char="Ø"/>
              <a:defRPr/>
            </a:lvl1pPr>
            <a:lvl2pPr>
              <a:buClr>
                <a:srgbClr val="006633"/>
              </a:buClr>
              <a:buFont typeface="Wingdings" panose="05000000000000000000" charset="0"/>
              <a:buChar char="Ø"/>
              <a:defRPr/>
            </a:lvl2pPr>
            <a:lvl3pPr>
              <a:buClr>
                <a:srgbClr val="006633"/>
              </a:buClr>
              <a:buFont typeface="Wingdings" panose="05000000000000000000" charset="0"/>
              <a:buChar char="Ø"/>
              <a:defRPr/>
            </a:lvl3pPr>
            <a:lvl4pPr>
              <a:buClr>
                <a:srgbClr val="006633"/>
              </a:buClr>
              <a:buFont typeface="Wingdings" panose="05000000000000000000" charset="0"/>
              <a:buChar char="Ø"/>
              <a:defRPr/>
            </a:lvl4pPr>
            <a:lvl5pPr>
              <a:buClr>
                <a:srgbClr val="006633"/>
              </a:buClr>
              <a:buFont typeface="Wingdings" panose="05000000000000000000" charset="0"/>
              <a:buChar char="Ø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8078470" y="70675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/>
          <a:p>
            <a:pPr lvl="0" fontAlgn="base"/>
            <a:endParaRPr 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/>
          <a:p>
            <a:pPr lvl="0" fontAlgn="base"/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3" name="Picture 10" descr="C:\Users\osmond\Desktop\centos5-fig\centos-logo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3337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5000"/>
        <a:buFont typeface="Wingdings" panose="05000000000000000000" charset="0"/>
        <a:buChar char="Ø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0000"/>
        <a:buFont typeface="Wingdings" panose="05000000000000000000" charset="0"/>
        <a:buChar char="Ø"/>
        <a:defRPr sz="2600">
          <a:solidFill>
            <a:schemeClr val="tx1"/>
          </a:solidFill>
          <a:latin typeface="+mn-lt"/>
          <a:ea typeface="+mn-ea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5000"/>
        <a:buFont typeface="Wingdings" panose="05000000000000000000" charset="0"/>
        <a:buChar char="Ø"/>
        <a:defRPr sz="2200">
          <a:solidFill>
            <a:schemeClr val="tx1"/>
          </a:solidFill>
          <a:latin typeface="+mn-lt"/>
          <a:ea typeface="+mn-ea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70000"/>
        <a:buFont typeface="Wingdings" panose="05000000000000000000" charset="0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75000"/>
        <a:buFont typeface="Wingdings" panose="05000000000000000000" charset="0"/>
        <a:buChar char="Ø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tags" Target="../tags/tag3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audio" Target="../media/audio1.wav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7772400" cy="78359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第</a:t>
            </a:r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章</a:t>
            </a:r>
            <a:r>
              <a:rPr lang="en-US" altLang="zh-CN" dirty="0">
                <a:sym typeface="+mn-ea"/>
              </a:rPr>
              <a:t>   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LINUX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常用命令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  </a:t>
            </a:r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6938010" cy="78359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一、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LINUX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文件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目录管理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文本占位符 35841"/>
          <p:cNvSpPr>
            <a:spLocks noGrp="1"/>
          </p:cNvSpPr>
          <p:nvPr>
            <p:ph idx="1"/>
          </p:nvPr>
        </p:nvSpPr>
        <p:spPr>
          <a:xfrm>
            <a:off x="251460" y="908685"/>
            <a:ext cx="8686800" cy="4447540"/>
          </a:xfrm>
        </p:spPr>
        <p:txBody>
          <a:bodyPr anchor="t"/>
          <a:lstStyle/>
          <a:p>
            <a:pPr marL="986155" indent="-986155" algn="just">
              <a:lnSpc>
                <a:spcPct val="80000"/>
              </a:lnSpc>
              <a:buNone/>
            </a:pPr>
            <a:endParaRPr lang="en-US" altLang="zh-CN" b="1" dirty="0"/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1．ls命令</a:t>
            </a:r>
            <a:endParaRPr lang="en-US" altLang="zh-CN" sz="3600" b="1" kern="1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86155" indent="-986155" algn="just">
              <a:lnSpc>
                <a:spcPct val="80000"/>
              </a:lnSpc>
              <a:buNone/>
            </a:pPr>
            <a:endParaRPr lang="zh-CN" altLang="en-US" b="1" dirty="0"/>
          </a:p>
          <a:p>
            <a:pPr marL="986155" indent="-986155">
              <a:lnSpc>
                <a:spcPct val="80000"/>
              </a:lnSpc>
              <a:buNone/>
            </a:pPr>
            <a:r>
              <a:rPr lang="zh-CN" altLang="en-US" sz="2600" dirty="0"/>
              <a:t>一般格式：</a:t>
            </a:r>
            <a:r>
              <a:rPr lang="en-US" altLang="zh-CN" sz="2600" err="1"/>
              <a:t>ls</a:t>
            </a:r>
            <a:r>
              <a:rPr lang="en-US" altLang="zh-CN" sz="2600" dirty="0"/>
              <a:t>  [</a:t>
            </a:r>
            <a:r>
              <a:rPr lang="zh-CN" altLang="en-US" sz="2600" dirty="0"/>
              <a:t>选项</a:t>
            </a:r>
            <a:r>
              <a:rPr lang="en-US" altLang="zh-CN" sz="2600" dirty="0"/>
              <a:t>]  [</a:t>
            </a:r>
            <a:r>
              <a:rPr lang="zh-CN" altLang="en-US" sz="2600" dirty="0"/>
              <a:t>目录或文件</a:t>
            </a:r>
            <a:r>
              <a:rPr lang="en-US" altLang="zh-CN" sz="2600"/>
              <a:t>]</a:t>
            </a:r>
            <a:endParaRPr lang="en-US" altLang="zh-CN" sz="2600"/>
          </a:p>
          <a:p>
            <a:pPr marL="986155" indent="-986155">
              <a:lnSpc>
                <a:spcPct val="80000"/>
              </a:lnSpc>
              <a:buNone/>
            </a:pPr>
            <a:endParaRPr lang="en-US" altLang="zh-CN" sz="2600"/>
          </a:p>
          <a:p>
            <a:pPr marL="986155" indent="-986155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uFillTx/>
              </a:rPr>
              <a:t>说明：如果给出的参数是目录，该命令将列出其中所有子目录与文件的信息；如果给出的参数是文件，将列出有关该文件属性的一些信息。 </a:t>
            </a:r>
            <a:endParaRPr lang="zh-CN" altLang="en-US" sz="2400" dirty="0">
              <a:solidFill>
                <a:schemeClr val="tx1"/>
              </a:solidFill>
              <a:uFillTx/>
            </a:endParaRPr>
          </a:p>
          <a:p>
            <a:pPr marL="986155" indent="-986155">
              <a:lnSpc>
                <a:spcPct val="80000"/>
              </a:lnSpc>
              <a:buNone/>
            </a:pPr>
            <a:endParaRPr lang="zh-CN" altLang="en-US" sz="2600" dirty="0"/>
          </a:p>
          <a:p>
            <a:pPr marL="986155" indent="-986155">
              <a:lnSpc>
                <a:spcPct val="80000"/>
              </a:lnSpc>
              <a:buNone/>
            </a:pPr>
            <a:r>
              <a:rPr lang="zh-CN" altLang="en-US" sz="2600"/>
              <a:t>    </a:t>
            </a:r>
            <a:endParaRPr lang="zh-CN" altLang="en-US"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文本框 36865"/>
          <p:cNvSpPr txBox="1"/>
          <p:nvPr/>
        </p:nvSpPr>
        <p:spPr>
          <a:xfrm>
            <a:off x="0" y="908050"/>
            <a:ext cx="9144000" cy="3538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常用选项：</a:t>
            </a:r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-a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显示指定目录下所有子目录和文件，包括以“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.”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开头的隐藏文件（如 </a:t>
            </a:r>
            <a:r>
              <a:rPr lang="en-US" altLang="zh-CN" sz="2400" b="1" err="1">
                <a:latin typeface="Times New Roman" panose="02020603050405020304" pitchFamily="18" charset="0"/>
                <a:ea typeface="宋体" panose="02010600030101010101" pitchFamily="2" charset="-122"/>
              </a:rPr>
              <a:t>.cshrc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-F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在列出的文件名后面加上不同的符号，以区分不同类型的文件。可以附加的符号有：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/   *   @   |   = 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-i 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输出的第一列显示文件的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节点号。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-l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以长格式显示文件的详细信息。输出的信息依次是：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文件类型与权限 链接数 文件主 文件组 文件大小 建立或最近修改的时间 文件名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4944110"/>
            <a:ext cx="8143875" cy="13131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4587240"/>
            <a:ext cx="3855085" cy="356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37889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879475"/>
          </a:xfrm>
        </p:spPr>
        <p:txBody>
          <a:bodyPr anchor="b"/>
          <a:lstStyle/>
          <a:p>
            <a:r>
              <a:rPr lang="en-US" altLang="zh-CN" sz="2300" dirty="0">
                <a:solidFill>
                  <a:schemeClr val="bg1"/>
                </a:solidFill>
              </a:rPr>
              <a:t>2.5.3  </a:t>
            </a:r>
            <a:r>
              <a:rPr lang="zh-CN" altLang="en-US" sz="2300" dirty="0">
                <a:solidFill>
                  <a:schemeClr val="bg1"/>
                </a:solidFill>
              </a:rPr>
              <a:t>改变工作目录和显示目录内容的命令</a:t>
            </a:r>
            <a:endParaRPr lang="zh-CN" altLang="en-US" sz="2300" dirty="0"/>
          </a:p>
        </p:txBody>
      </p:sp>
      <p:sp>
        <p:nvSpPr>
          <p:cNvPr id="19458" name="文本占位符 37890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72000"/>
          </a:xfrm>
        </p:spPr>
        <p:txBody>
          <a:bodyPr anchor="t"/>
          <a:lstStyle/>
          <a:p>
            <a:pPr marL="0" algn="l">
              <a:buClrTx/>
              <a:buSzTx/>
              <a:buFontTx/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2．cd命令</a:t>
            </a:r>
            <a:endParaRPr lang="en-US" altLang="zh-CN" sz="3600" b="1" kern="1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86155" indent="-986155" algn="just">
              <a:buNone/>
            </a:pPr>
            <a:endParaRPr lang="zh-CN" altLang="en-US" sz="2600" b="1" dirty="0"/>
          </a:p>
          <a:p>
            <a:pPr marL="986155" indent="-986155">
              <a:buNone/>
            </a:pPr>
            <a:r>
              <a:rPr lang="zh-CN" altLang="en-US" sz="2600" b="1" dirty="0"/>
              <a:t>一般格式：</a:t>
            </a:r>
            <a:r>
              <a:rPr lang="en-US" altLang="zh-CN" sz="2600" b="1" err="1"/>
              <a:t>cd  [dirname</a:t>
            </a:r>
            <a:r>
              <a:rPr lang="en-US" altLang="zh-CN" sz="2600" b="1"/>
              <a:t>]</a:t>
            </a:r>
            <a:endParaRPr lang="en-US" altLang="zh-CN" sz="2600" b="1"/>
          </a:p>
          <a:p>
            <a:pPr marL="986155" indent="-986155">
              <a:buNone/>
            </a:pPr>
            <a:endParaRPr lang="en-US" altLang="zh-CN" sz="2600" b="1"/>
          </a:p>
          <a:p>
            <a:pPr marL="986155" indent="-986155">
              <a:buNone/>
            </a:pPr>
            <a:r>
              <a:rPr lang="zh-CN" altLang="en-US" sz="2600" b="1" dirty="0"/>
              <a:t>说明：改变当前工作目录 </a:t>
            </a:r>
            <a:endParaRPr lang="zh-CN" altLang="en-US" sz="2600" b="1" dirty="0"/>
          </a:p>
          <a:p>
            <a:pPr marL="986155" indent="-986155">
              <a:buNone/>
            </a:pPr>
            <a:r>
              <a:rPr lang="zh-CN" altLang="en-US" sz="2600" b="1" dirty="0"/>
              <a:t>         它带有唯一的一个参数，即表示目标目录的路径名（相对路径名或绝对路径名）</a:t>
            </a:r>
            <a:endParaRPr lang="zh-CN" altLang="en-US" sz="2600" b="1" dirty="0"/>
          </a:p>
          <a:p>
            <a:pPr marL="986155" indent="-986155">
              <a:buNone/>
            </a:pPr>
            <a:r>
              <a:rPr lang="zh-CN" altLang="en-US" sz="2600" b="1"/>
              <a:t>   </a:t>
            </a:r>
            <a:endParaRPr lang="zh-CN" altLang="en-US" sz="2600" b="1"/>
          </a:p>
          <a:p>
            <a:pPr marL="986155" indent="-986155">
              <a:buNone/>
            </a:pPr>
            <a:r>
              <a:rPr lang="zh-CN" altLang="en-US" sz="2600" b="1" dirty="0"/>
              <a:t>  </a:t>
            </a:r>
            <a:endParaRPr lang="zh-CN" altLang="en-US" sz="2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文本占位符 88066"/>
          <p:cNvSpPr>
            <a:spLocks noGrp="1"/>
          </p:cNvSpPr>
          <p:nvPr>
            <p:ph type="body" idx="1"/>
          </p:nvPr>
        </p:nvSpPr>
        <p:spPr>
          <a:xfrm>
            <a:off x="381000" y="762000"/>
            <a:ext cx="8229600" cy="4302125"/>
          </a:xfrm>
        </p:spPr>
        <p:txBody>
          <a:bodyPr/>
          <a:p>
            <a:pPr>
              <a:buNone/>
            </a:pPr>
            <a:r>
              <a:rPr lang="zh-CN" altLang="en-US" sz="3600" dirty="0">
                <a:solidFill>
                  <a:schemeClr val="tx2"/>
                </a:solidFill>
              </a:rPr>
              <a:t>示例：</a:t>
            </a:r>
            <a:endParaRPr lang="zh-CN" altLang="en-US" b="1" dirty="0">
              <a:solidFill>
                <a:srgbClr val="000099"/>
              </a:solidFill>
            </a:endParaRPr>
          </a:p>
          <a:p>
            <a:pPr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772920"/>
            <a:ext cx="6185535" cy="1987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1550" y="1412875"/>
            <a:ext cx="7520305" cy="33635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占位符 30722"/>
          <p:cNvSpPr>
            <a:spLocks noGrp="1"/>
          </p:cNvSpPr>
          <p:nvPr>
            <p:ph idx="1"/>
          </p:nvPr>
        </p:nvSpPr>
        <p:spPr>
          <a:xfrm>
            <a:off x="323533" y="1124585"/>
            <a:ext cx="8229600" cy="3962400"/>
          </a:xfrm>
        </p:spPr>
        <p:txBody>
          <a:bodyPr anchor="t"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3． cat   查看文本文件内容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一般格式：       </a:t>
            </a:r>
            <a:r>
              <a:rPr lang="en-US" altLang="zh-CN" dirty="0"/>
              <a:t>cat   [</a:t>
            </a:r>
            <a:r>
              <a:rPr lang="zh-CN" altLang="en-US" dirty="0"/>
              <a:t>选项</a:t>
            </a:r>
            <a:r>
              <a:rPr lang="en-US" altLang="zh-CN" dirty="0"/>
              <a:t>]   </a:t>
            </a:r>
            <a:r>
              <a:rPr lang="zh-CN" altLang="en-US" dirty="0"/>
              <a:t>文件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endParaRPr lang="zh-CN" altLang="en-US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dirty="0"/>
              <a:t>常用选项：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/>
              <a:t>-b</a:t>
            </a:r>
            <a:r>
              <a:rPr lang="zh-CN" altLang="en-US" dirty="0"/>
              <a:t>，</a:t>
            </a:r>
            <a:r>
              <a:rPr lang="en-US" altLang="zh-CN" err="1"/>
              <a:t>--number-noblank</a:t>
            </a:r>
            <a:r>
              <a:rPr lang="en-US" altLang="zh-CN" dirty="0"/>
              <a:t>  </a:t>
            </a:r>
            <a:r>
              <a:rPr lang="zh-CN" altLang="en-US" dirty="0"/>
              <a:t>从</a:t>
            </a:r>
            <a:r>
              <a:rPr lang="en-US" altLang="zh-CN" dirty="0"/>
              <a:t>1</a:t>
            </a:r>
            <a:r>
              <a:rPr lang="zh-CN" altLang="en-US" dirty="0"/>
              <a:t>开始对所有非空输出行进行编号。</a:t>
            </a:r>
            <a:endParaRPr lang="zh-CN" altLang="en-US" dirty="0"/>
          </a:p>
          <a:p>
            <a:pPr>
              <a:lnSpc>
                <a:spcPct val="90000"/>
              </a:lnSpc>
              <a:buNone/>
            </a:pPr>
            <a:r>
              <a:rPr lang="zh-CN" altLang="en-US" dirty="0"/>
              <a:t>    </a:t>
            </a:r>
            <a:r>
              <a:rPr lang="en-US" altLang="zh-CN" dirty="0"/>
              <a:t>-n</a:t>
            </a:r>
            <a:r>
              <a:rPr lang="zh-CN" altLang="en-US" dirty="0"/>
              <a:t>，</a:t>
            </a:r>
            <a:r>
              <a:rPr lang="en-US" altLang="zh-CN" dirty="0"/>
              <a:t>--number  </a:t>
            </a:r>
            <a:r>
              <a:rPr lang="zh-CN" altLang="en-US" dirty="0"/>
              <a:t>从</a:t>
            </a:r>
            <a:r>
              <a:rPr lang="en-US" altLang="zh-CN" dirty="0"/>
              <a:t>1</a:t>
            </a:r>
            <a:r>
              <a:rPr lang="zh-CN" altLang="en-US" dirty="0"/>
              <a:t>开始对所有输出行编号。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文本占位符 31745"/>
          <p:cNvSpPr>
            <a:spLocks noGrp="1"/>
          </p:cNvSpPr>
          <p:nvPr>
            <p:ph idx="1"/>
          </p:nvPr>
        </p:nvSpPr>
        <p:spPr>
          <a:xfrm>
            <a:off x="323850" y="764540"/>
            <a:ext cx="8229600" cy="5561330"/>
          </a:xfrm>
        </p:spPr>
        <p:txBody>
          <a:bodyPr anchor="t"/>
          <a:lstStyle/>
          <a:p>
            <a:pPr>
              <a:buNone/>
            </a:pPr>
            <a:r>
              <a:rPr lang="en-US" altLang="zh-CN" dirty="0"/>
              <a:t>1</a:t>
            </a:r>
            <a:r>
              <a:rPr lang="zh-CN" altLang="en-US" dirty="0"/>
              <a:t>）显示文件信息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</a:t>
            </a:r>
            <a:r>
              <a:rPr lang="en-US" altLang="zh-CN" dirty="0"/>
              <a:t>cat   [</a:t>
            </a:r>
            <a:r>
              <a:rPr lang="zh-CN" altLang="en-US" dirty="0"/>
              <a:t>选项</a:t>
            </a:r>
            <a:r>
              <a:rPr lang="en-US" altLang="zh-CN" dirty="0"/>
              <a:t>]   </a:t>
            </a:r>
            <a:r>
              <a:rPr lang="zh-CN" altLang="en-US" dirty="0"/>
              <a:t>文件名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</a:t>
            </a:r>
            <a:endParaRPr lang="zh-CN" altLang="en-US" sz="3400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1917065"/>
            <a:ext cx="5093970" cy="2336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4509135"/>
            <a:ext cx="5750560" cy="2243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文本占位符 31745"/>
          <p:cNvSpPr>
            <a:spLocks noGrp="1"/>
          </p:cNvSpPr>
          <p:nvPr>
            <p:ph idx="1"/>
          </p:nvPr>
        </p:nvSpPr>
        <p:spPr>
          <a:xfrm>
            <a:off x="323215" y="1163320"/>
            <a:ext cx="8229600" cy="4100195"/>
          </a:xfrm>
        </p:spPr>
        <p:txBody>
          <a:bodyPr anchor="t"/>
          <a:lstStyle/>
          <a:p>
            <a:pPr>
              <a:buNone/>
            </a:pPr>
            <a:r>
              <a:rPr lang="en-US" altLang="zh-CN" dirty="0"/>
              <a:t>2</a:t>
            </a:r>
            <a:r>
              <a:rPr lang="zh-CN" altLang="en-US" dirty="0"/>
              <a:t>）建立小型文件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</a:t>
            </a:r>
            <a:r>
              <a:rPr lang="en-US" altLang="zh-CN" dirty="0"/>
              <a:t>cat  &gt;</a:t>
            </a:r>
            <a:r>
              <a:rPr lang="zh-CN" altLang="en-US" dirty="0"/>
              <a:t>命名的新文件名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dirty="0"/>
              <a:t>    </a:t>
            </a:r>
            <a:endParaRPr lang="zh-CN" altLang="en-US" sz="3400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420620"/>
            <a:ext cx="6354445" cy="26136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2135" y="5730875"/>
            <a:ext cx="47910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文本内容写完后</a:t>
            </a:r>
            <a:r>
              <a:rPr lang="en-US" altLang="zh-CN" sz="2800"/>
              <a:t>Ctrl+d</a:t>
            </a:r>
            <a:r>
              <a:rPr lang="zh-CN" altLang="en-US" sz="2800"/>
              <a:t>结束。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文本占位符 31745"/>
          <p:cNvSpPr>
            <a:spLocks noGrp="1"/>
          </p:cNvSpPr>
          <p:nvPr>
            <p:ph idx="1"/>
          </p:nvPr>
        </p:nvSpPr>
        <p:spPr>
          <a:xfrm>
            <a:off x="323215" y="1163320"/>
            <a:ext cx="8229600" cy="4530725"/>
          </a:xfrm>
        </p:spPr>
        <p:txBody>
          <a:bodyPr anchor="t"/>
          <a:lstStyle/>
          <a:p>
            <a:pPr>
              <a:buNone/>
            </a:pPr>
            <a:r>
              <a:rPr lang="en-US" altLang="zh-CN" dirty="0"/>
              <a:t>3</a:t>
            </a:r>
            <a:r>
              <a:rPr lang="zh-CN" altLang="en-US" dirty="0"/>
              <a:t>）合并文件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</a:t>
            </a:r>
            <a:r>
              <a:rPr lang="en-US" altLang="zh-CN" dirty="0"/>
              <a:t>cat  </a:t>
            </a:r>
            <a:r>
              <a:rPr lang="zh-CN" altLang="en-US" dirty="0"/>
              <a:t>文件</a:t>
            </a:r>
            <a:r>
              <a:rPr lang="en-US" altLang="zh-CN" dirty="0"/>
              <a:t>1  </a:t>
            </a:r>
            <a:r>
              <a:rPr lang="zh-CN" altLang="en-US" dirty="0"/>
              <a:t>文件</a:t>
            </a:r>
            <a:r>
              <a:rPr lang="en-US" altLang="zh-CN" dirty="0"/>
              <a:t>2&gt;</a:t>
            </a:r>
            <a:r>
              <a:rPr lang="zh-CN" altLang="en-US" dirty="0"/>
              <a:t>新文件名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</a:t>
            </a:r>
            <a:endParaRPr lang="zh-CN" altLang="en-US" sz="3400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2348865"/>
            <a:ext cx="5283200" cy="4004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文本占位符 32769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 anchor="t"/>
          <a:lstStyle/>
          <a:p>
            <a:pPr marL="1171575" indent="-1171575"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4．more逐屏显示文件内容</a:t>
            </a:r>
            <a:r>
              <a:rPr lang="zh-CN" altLang="en-US" b="1" dirty="0"/>
              <a:t> </a:t>
            </a:r>
            <a:endParaRPr lang="zh-CN" altLang="en-US" b="1" dirty="0"/>
          </a:p>
          <a:p>
            <a:pPr marL="1171575" indent="-1171575">
              <a:buNone/>
            </a:pPr>
            <a:endParaRPr lang="zh-CN" altLang="en-US" b="1" dirty="0"/>
          </a:p>
          <a:p>
            <a:pPr marL="1171575" indent="-1171575">
              <a:buNone/>
            </a:pPr>
            <a:r>
              <a:rPr lang="zh-CN" altLang="en-US" dirty="0"/>
              <a:t>一般格式：   </a:t>
            </a:r>
            <a:r>
              <a:rPr lang="en-US" altLang="zh-CN" dirty="0"/>
              <a:t>more   [</a:t>
            </a:r>
            <a:r>
              <a:rPr lang="zh-CN" altLang="en-US" dirty="0"/>
              <a:t>选项</a:t>
            </a:r>
            <a:r>
              <a:rPr lang="en-US" altLang="zh-CN" dirty="0"/>
              <a:t>]   </a:t>
            </a:r>
            <a:r>
              <a:rPr lang="zh-CN" altLang="en-US" dirty="0"/>
              <a:t>文件</a:t>
            </a:r>
            <a:endParaRPr lang="zh-CN" altLang="en-US" dirty="0"/>
          </a:p>
          <a:p>
            <a:pPr marL="1171575" indent="-1171575"/>
            <a:endParaRPr lang="zh-CN" altLang="en-US" dirty="0">
              <a:latin typeface="宋体" panose="02010600030101010101" pitchFamily="2" charset="-122"/>
            </a:endParaRPr>
          </a:p>
          <a:p>
            <a:pPr marL="1171575" indent="-1171575">
              <a:buNone/>
            </a:pPr>
            <a:r>
              <a:rPr lang="zh-CN" altLang="en-US" dirty="0">
                <a:latin typeface="宋体" panose="02010600030101010101" pitchFamily="2" charset="-122"/>
              </a:rPr>
              <a:t>说明：该命令一次显示一屏文本，满屏后停下来，并且在屏幕的底部出现一个提示信息，给出至今已显示的该文件的百分比：</a:t>
            </a:r>
            <a:r>
              <a:rPr lang="en-US" altLang="zh-CN" dirty="0">
                <a:latin typeface="宋体" panose="02010600030101010101" pitchFamily="2" charset="-122"/>
              </a:rPr>
              <a:t>--More--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XX%</a:t>
            </a:r>
            <a:r>
              <a:rPr lang="zh-CN" altLang="en-US" dirty="0">
                <a:latin typeface="宋体" panose="02010600030101010101" pitchFamily="2" charset="-122"/>
              </a:rPr>
              <a:t>）。</a:t>
            </a:r>
            <a:endParaRPr lang="zh-CN" altLang="en-US" dirty="0">
              <a:latin typeface="宋体" panose="02010600030101010101" pitchFamily="2" charset="-122"/>
            </a:endParaRPr>
          </a:p>
          <a:p>
            <a:pPr marL="1171575" indent="-1171575">
              <a:buNone/>
            </a:pPr>
            <a:r>
              <a:rPr lang="zh-CN" altLang="en-US" dirty="0"/>
              <a:t>  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文本占位符 33793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791200"/>
          </a:xfrm>
        </p:spPr>
        <p:txBody>
          <a:bodyPr anchor="t"/>
          <a:lstStyle/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常用选项：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latin typeface="宋体" panose="02010600030101010101" pitchFamily="2" charset="-122"/>
              </a:rPr>
              <a:t>-num  </a:t>
            </a:r>
            <a:r>
              <a:rPr lang="zh-CN" altLang="en-US" sz="2400" b="1" dirty="0">
                <a:latin typeface="宋体" panose="02010600030101010101" pitchFamily="2" charset="-122"/>
              </a:rPr>
              <a:t>这个选项指定一个整数，表示一屏显示多少行。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latin typeface="宋体" panose="02010600030101010101" pitchFamily="2" charset="-122"/>
              </a:rPr>
              <a:t>-d    </a:t>
            </a:r>
            <a:r>
              <a:rPr lang="zh-CN" altLang="en-US" sz="2400" b="1" dirty="0">
                <a:latin typeface="宋体" panose="02010600030101010101" pitchFamily="2" charset="-122"/>
              </a:rPr>
              <a:t>在每屏的底部显示以下更友好的提示信息：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latin typeface="宋体" panose="02010600030101010101" pitchFamily="2" charset="-122"/>
              </a:rPr>
              <a:t>--More--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XX%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宋体" panose="02010600030101010101" pitchFamily="2" charset="-122"/>
              </a:rPr>
              <a:t>[Press space to continue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>
                <a:latin typeface="宋体" panose="02010600030101010101" pitchFamily="2" charset="-122"/>
              </a:rPr>
              <a:t>'q' to quit.]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400" b="1">
                <a:latin typeface="宋体" panose="02010600030101010101" pitchFamily="2" charset="-122"/>
              </a:rPr>
              <a:t>   </a:t>
            </a:r>
            <a:endParaRPr lang="en-US" altLang="zh-CN" sz="2400" b="1"/>
          </a:p>
          <a:p>
            <a:pPr>
              <a:lnSpc>
                <a:spcPct val="80000"/>
              </a:lnSpc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more </a:t>
            </a:r>
            <a:r>
              <a:rPr lang="zh-CN" altLang="en-US" sz="2400" b="1" dirty="0"/>
              <a:t>文本文件</a:t>
            </a:r>
            <a:endParaRPr lang="zh-CN" altLang="en-US" sz="2400" b="1" dirty="0"/>
          </a:p>
          <a:p>
            <a:pPr>
              <a:lnSpc>
                <a:spcPct val="80000"/>
              </a:lnSpc>
              <a:buNone/>
            </a:pPr>
            <a:endParaRPr lang="zh-CN" altLang="en-US" sz="2400" b="1" dirty="0"/>
          </a:p>
          <a:p>
            <a:pPr>
              <a:lnSpc>
                <a:spcPct val="80000"/>
              </a:lnSpc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）命令</a:t>
            </a:r>
            <a:r>
              <a:rPr lang="en-US" altLang="zh-CN" sz="2400" b="1"/>
              <a:t>|more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文本框 41986"/>
          <p:cNvSpPr txBox="1"/>
          <p:nvPr/>
        </p:nvSpPr>
        <p:spPr>
          <a:xfrm>
            <a:off x="647700" y="1268413"/>
            <a:ext cx="7848600" cy="572389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en-US" altLang="zh-CN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  cp</a:t>
            </a:r>
            <a:r>
              <a:rPr lang="zh-CN" altLang="en-US" sz="36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命令</a:t>
            </a:r>
            <a:endParaRPr lang="zh-CN" altLang="en-US" sz="3600" b="1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一般格式：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cp  [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选项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]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源文件或目录  目标文件或目录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说明：将源文件或目录复制到目标文件或目录中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选项：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b="1">
                <a:latin typeface="Verdana" panose="020B060403050404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-f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为强制（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force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）的意思，若目标文件已存在且无法开启，则删除后再尝试一次。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-r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递归复制目录，即将源目录下的所有文件及其各级子目录都复制到目标位置。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400" dirty="0">
                <a:sym typeface="+mn-ea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  <a:sym typeface="+mn-ea"/>
              </a:rPr>
              <a:t> -p </a:t>
            </a:r>
            <a:r>
              <a:rPr lang="en-US" altLang="zh-CN" sz="2400" b="1" dirty="0">
                <a:latin typeface="Times New Roman" panose="02020603050405020304" pitchFamily="18" charset="0"/>
                <a:sym typeface="+mn-ea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sym typeface="+mn-ea"/>
              </a:rPr>
              <a:t> 除复制文件内容外，还会把修改时间和访问权限也复制到新文件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内容占位符 44033"/>
          <p:cNvSpPr>
            <a:spLocks noGrp="1"/>
          </p:cNvSpPr>
          <p:nvPr>
            <p:ph idx="4294967295"/>
          </p:nvPr>
        </p:nvSpPr>
        <p:spPr>
          <a:xfrm>
            <a:off x="251460" y="764540"/>
            <a:ext cx="8288655" cy="4764405"/>
          </a:xfrm>
        </p:spPr>
        <p:txBody>
          <a:bodyPr anchor="t"/>
          <a:lstStyle/>
          <a:p>
            <a:pPr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示例：</a:t>
            </a:r>
            <a:endParaRPr lang="zh-CN" altLang="en-US" b="1" dirty="0">
              <a:solidFill>
                <a:schemeClr val="tx2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rgbClr val="000099"/>
              </a:solidFill>
            </a:endParaRPr>
          </a:p>
          <a:p>
            <a:pPr>
              <a:buNone/>
            </a:pPr>
            <a:endParaRPr lang="en-US" altLang="zh-CN" b="1">
              <a:solidFill>
                <a:srgbClr val="000099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1484630"/>
            <a:ext cx="8087995" cy="19951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3573145"/>
            <a:ext cx="8336280" cy="22434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文本占位符 45057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257800"/>
          </a:xfrm>
        </p:spPr>
        <p:txBody>
          <a:bodyPr anchor="t"/>
          <a:lstStyle/>
          <a:p>
            <a:pPr marL="0" algn="l">
              <a:buClrTx/>
              <a:buSzTx/>
              <a:buFontTx/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 mv命令</a:t>
            </a:r>
            <a:endParaRPr lang="en-US" altLang="zh-CN" sz="3600" b="1" kern="1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86155" indent="-986155" algn="just">
              <a:buNone/>
            </a:pPr>
            <a:endParaRPr lang="zh-CN" altLang="en-US" sz="2600" dirty="0"/>
          </a:p>
          <a:p>
            <a:pPr marL="986155" indent="-986155">
              <a:buNone/>
            </a:pPr>
            <a:r>
              <a:rPr lang="zh-CN" altLang="en-US" sz="2600" b="1" dirty="0"/>
              <a:t>一般格式： </a:t>
            </a:r>
            <a:r>
              <a:rPr lang="en-US" altLang="zh-CN" sz="2600" b="1" err="1"/>
              <a:t>mv</a:t>
            </a:r>
            <a:r>
              <a:rPr lang="en-US" altLang="zh-CN" sz="2600" b="1" dirty="0"/>
              <a:t>  [</a:t>
            </a:r>
            <a:r>
              <a:rPr lang="zh-CN" altLang="en-US" sz="2600" b="1" dirty="0"/>
              <a:t>选项</a:t>
            </a:r>
            <a:r>
              <a:rPr lang="en-US" altLang="zh-CN" sz="2600" b="1"/>
              <a:t>]  source  target</a:t>
            </a:r>
            <a:endParaRPr lang="en-US" altLang="zh-CN" sz="2600" b="1"/>
          </a:p>
          <a:p>
            <a:pPr marL="986155" indent="-986155">
              <a:buNone/>
            </a:pPr>
            <a:r>
              <a:rPr lang="zh-CN" altLang="en-US" sz="2600" b="1" dirty="0"/>
              <a:t>说明：对文件或目录重新命名，或者将文件从一个目录移到另一个目录中 </a:t>
            </a:r>
            <a:endParaRPr lang="zh-CN" altLang="en-US" sz="2600" b="1" dirty="0"/>
          </a:p>
          <a:p>
            <a:pPr marL="986155" indent="-986155">
              <a:buNone/>
            </a:pPr>
            <a:r>
              <a:rPr lang="zh-CN" altLang="en-US" sz="2100" b="1" dirty="0"/>
              <a:t>选项：</a:t>
            </a:r>
            <a:endParaRPr lang="zh-CN" altLang="en-US" sz="2100" b="1" dirty="0"/>
          </a:p>
          <a:p>
            <a:pPr marL="986155" indent="-986155">
              <a:buNone/>
            </a:pPr>
            <a:r>
              <a:rPr lang="zh-CN" altLang="en-US" sz="2100"/>
              <a:t>    </a:t>
            </a:r>
            <a:r>
              <a:rPr lang="en-US" altLang="zh-CN" sz="2100" b="1" dirty="0"/>
              <a:t>-i    </a:t>
            </a:r>
            <a:r>
              <a:rPr lang="zh-CN" altLang="en-US" sz="2100" b="1" dirty="0"/>
              <a:t>交互式操作。如果源文件与目标文件或目标目录中的文件同名，则询问用户是否覆盖目标文件。用户输入“</a:t>
            </a:r>
            <a:r>
              <a:rPr lang="en-US" altLang="zh-CN" sz="2100" b="1" dirty="0"/>
              <a:t>y”</a:t>
            </a:r>
            <a:r>
              <a:rPr lang="zh-CN" altLang="en-US" sz="2100" b="1" dirty="0"/>
              <a:t>，表示将覆盖目标文件；输入“</a:t>
            </a:r>
            <a:r>
              <a:rPr lang="en-US" altLang="zh-CN" sz="2100" b="1" dirty="0"/>
              <a:t>n”</a:t>
            </a:r>
            <a:r>
              <a:rPr lang="zh-CN" altLang="en-US" sz="2100" b="1" dirty="0"/>
              <a:t>，表示取消对源文件的移动。这样可以避免误将文件覆盖。</a:t>
            </a:r>
            <a:endParaRPr lang="zh-CN" altLang="en-US" sz="2100" b="1" dirty="0"/>
          </a:p>
          <a:p>
            <a:pPr marL="986155" indent="-986155">
              <a:buNone/>
            </a:pPr>
            <a:r>
              <a:rPr lang="zh-CN" altLang="en-US" sz="2100" b="1" dirty="0"/>
              <a:t>    </a:t>
            </a:r>
            <a:r>
              <a:rPr lang="en-US" altLang="zh-CN" sz="2100" b="1" dirty="0"/>
              <a:t>-f    </a:t>
            </a:r>
            <a:r>
              <a:rPr lang="zh-CN" altLang="en-US" sz="2100" b="1" dirty="0"/>
              <a:t>与“</a:t>
            </a:r>
            <a:r>
              <a:rPr lang="en-US" altLang="zh-CN" sz="2100" b="1" dirty="0"/>
              <a:t>-i”</a:t>
            </a:r>
            <a:r>
              <a:rPr lang="zh-CN" altLang="en-US" sz="2100" b="1" dirty="0"/>
              <a:t>相反，它禁止交互式操作。在覆盖已有的目标文件时，不给任何提示。</a:t>
            </a:r>
            <a:endParaRPr lang="zh-CN" altLang="en-US" sz="21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内容占位符 44033"/>
          <p:cNvSpPr>
            <a:spLocks noGrp="1"/>
          </p:cNvSpPr>
          <p:nvPr>
            <p:ph idx="4294967295"/>
          </p:nvPr>
        </p:nvSpPr>
        <p:spPr>
          <a:xfrm>
            <a:off x="251460" y="764540"/>
            <a:ext cx="8288655" cy="4764405"/>
          </a:xfrm>
        </p:spPr>
        <p:txBody>
          <a:bodyPr anchor="t"/>
          <a:lstStyle/>
          <a:p>
            <a:pPr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示例：</a:t>
            </a:r>
            <a:endParaRPr lang="zh-CN" altLang="en-US" b="1" dirty="0">
              <a:solidFill>
                <a:schemeClr val="tx2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rgbClr val="000099"/>
              </a:solidFill>
            </a:endParaRPr>
          </a:p>
          <a:p>
            <a:pPr>
              <a:buNone/>
            </a:pPr>
            <a:endParaRPr lang="en-US" altLang="zh-CN" b="1">
              <a:solidFill>
                <a:srgbClr val="000099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700530"/>
            <a:ext cx="6791325" cy="29552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文本占位符 46081"/>
          <p:cNvSpPr>
            <a:spLocks noGrp="1"/>
          </p:cNvSpPr>
          <p:nvPr>
            <p:ph idx="1"/>
          </p:nvPr>
        </p:nvSpPr>
        <p:spPr>
          <a:xfrm>
            <a:off x="395605" y="548640"/>
            <a:ext cx="8229600" cy="5085715"/>
          </a:xfrm>
        </p:spPr>
        <p:txBody>
          <a:bodyPr anchor="t"/>
          <a:lstStyle/>
          <a:p>
            <a:pPr algn="just">
              <a:buNone/>
            </a:pPr>
            <a:endParaRPr lang="en-US" altLang="zh-CN" sz="2600"/>
          </a:p>
          <a:p>
            <a:pPr marL="0" algn="l">
              <a:buClrTx/>
              <a:buSzTx/>
              <a:buFontTx/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7．rm  命令</a:t>
            </a:r>
            <a:endParaRPr lang="en-US" altLang="zh-CN" sz="3600" b="1" kern="1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buNone/>
            </a:pPr>
            <a:endParaRPr lang="zh-CN" altLang="en-US" sz="2600" dirty="0"/>
          </a:p>
          <a:p>
            <a:pPr>
              <a:buNone/>
            </a:pPr>
            <a:r>
              <a:rPr lang="zh-CN" altLang="en-US" sz="2600" b="1" dirty="0"/>
              <a:t>一般格式： </a:t>
            </a:r>
            <a:r>
              <a:rPr lang="en-US" altLang="zh-CN" sz="2600" b="1" err="1"/>
              <a:t>rm</a:t>
            </a:r>
            <a:r>
              <a:rPr lang="en-US" altLang="zh-CN" sz="2600" b="1" dirty="0"/>
              <a:t>  [</a:t>
            </a:r>
            <a:r>
              <a:rPr lang="zh-CN" altLang="en-US" sz="2600" b="1" dirty="0"/>
              <a:t>选项</a:t>
            </a:r>
            <a:r>
              <a:rPr lang="en-US" altLang="zh-CN" sz="2600" b="1" dirty="0"/>
              <a:t>]  </a:t>
            </a:r>
            <a:r>
              <a:rPr lang="zh-CN" altLang="en-US" sz="2600" b="1" dirty="0"/>
              <a:t>文件列表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说明：删除文件和目录 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选项：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/>
              <a:t>    </a:t>
            </a:r>
            <a:r>
              <a:rPr lang="en-US" altLang="zh-CN" sz="2600" b="1" dirty="0"/>
              <a:t>-f  </a:t>
            </a:r>
            <a:r>
              <a:rPr lang="zh-CN" altLang="en-US" sz="2600" b="1" dirty="0"/>
              <a:t>删除文件并且不给出提示信息。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    </a:t>
            </a:r>
            <a:r>
              <a:rPr lang="en-US" altLang="zh-CN" sz="2600" b="1" dirty="0"/>
              <a:t>-r  </a:t>
            </a:r>
            <a:r>
              <a:rPr lang="zh-CN" altLang="en-US" sz="2600" b="1" dirty="0"/>
              <a:t>递归地删除指定目录及其下属的各级子目录和相应的文件。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    </a:t>
            </a:r>
            <a:r>
              <a:rPr lang="en-US" altLang="zh-CN" sz="2600" b="1" dirty="0"/>
              <a:t>-i  </a:t>
            </a:r>
            <a:r>
              <a:rPr lang="zh-CN" altLang="en-US" sz="2600" b="1" dirty="0"/>
              <a:t>交互式地删除文件。</a:t>
            </a:r>
            <a:endParaRPr lang="zh-CN" alt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矩形 47105"/>
          <p:cNvSpPr/>
          <p:nvPr/>
        </p:nvSpPr>
        <p:spPr>
          <a:xfrm>
            <a:off x="683895" y="1052830"/>
            <a:ext cx="7689215" cy="471741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示例</a:t>
            </a:r>
            <a:endParaRPr lang="zh-CN" altLang="en-US" sz="3200" b="1" dirty="0">
              <a:solidFill>
                <a:schemeClr val="accent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endParaRPr lang="zh-CN" altLang="en-US" sz="3200" b="1" dirty="0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None/>
            </a:pPr>
            <a:endParaRPr lang="en-US" altLang="zh-CN" sz="3200" b="1">
              <a:solidFill>
                <a:srgbClr val="0000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996565"/>
            <a:ext cx="5680710" cy="2997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8040" y="1917065"/>
            <a:ext cx="7202805" cy="937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4710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5120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947738"/>
          </a:xfrm>
        </p:spPr>
        <p:txBody>
          <a:bodyPr anchor="b"/>
          <a:lstStyle/>
          <a:p>
            <a:r>
              <a:rPr lang="en-US" altLang="zh-CN" sz="2500" dirty="0">
                <a:solidFill>
                  <a:schemeClr val="bg1"/>
                </a:solidFill>
              </a:rPr>
              <a:t>2.4.2  </a:t>
            </a:r>
            <a:r>
              <a:rPr lang="zh-CN" altLang="en-US" sz="2500" dirty="0">
                <a:solidFill>
                  <a:schemeClr val="bg1"/>
                </a:solidFill>
              </a:rPr>
              <a:t>匹配、排序及显示指定内容的命令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33794" name="文本占位符 5120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867400"/>
          </a:xfrm>
        </p:spPr>
        <p:txBody>
          <a:bodyPr anchor="t"/>
          <a:lstStyle/>
          <a:p>
            <a:pPr algn="just"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8．grep命令</a:t>
            </a:r>
            <a:endParaRPr lang="zh-CN" altLang="en-US" b="1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sz="2800" b="1" dirty="0"/>
              <a:t>一般格式：</a:t>
            </a:r>
            <a:endParaRPr lang="zh-CN" altLang="en-US" sz="2800" b="1" dirty="0"/>
          </a:p>
          <a:p>
            <a:pPr>
              <a:buNone/>
            </a:pPr>
            <a:r>
              <a:rPr lang="zh-CN" altLang="en-US" sz="2800" b="1" err="1"/>
              <a:t>    </a:t>
            </a:r>
            <a:r>
              <a:rPr lang="en-US" altLang="zh-CN" sz="2800" b="1" err="1"/>
              <a:t>grep</a:t>
            </a:r>
            <a:r>
              <a:rPr lang="en-US" altLang="zh-CN" sz="2800" b="1" dirty="0"/>
              <a:t>  [</a:t>
            </a:r>
            <a:r>
              <a:rPr lang="zh-CN" altLang="en-US" sz="2800" b="1" dirty="0"/>
              <a:t>选项</a:t>
            </a:r>
            <a:r>
              <a:rPr lang="en-US" altLang="zh-CN" sz="2800" b="1" dirty="0"/>
              <a:t>]    ‘</a:t>
            </a:r>
            <a:r>
              <a:rPr lang="zh-CN" altLang="en-US" sz="2800" b="1" dirty="0"/>
              <a:t>查找字串</a:t>
            </a:r>
            <a:r>
              <a:rPr lang="en-US" altLang="zh-CN" sz="2800" b="1" dirty="0"/>
              <a:t>‘</a:t>
            </a:r>
            <a:r>
              <a:rPr lang="zh-CN" altLang="en-US" sz="2800" b="1"/>
              <a:t>    </a:t>
            </a:r>
            <a:r>
              <a:rPr lang="en-US" altLang="zh-CN" sz="2800" b="1"/>
              <a:t>filename</a:t>
            </a:r>
            <a:endParaRPr lang="en-US" altLang="zh-CN" sz="2800" b="1"/>
          </a:p>
          <a:p>
            <a:pPr>
              <a:buNone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说明：</a:t>
            </a:r>
            <a:endParaRPr lang="zh-CN" altLang="en-US" sz="2800" b="1" dirty="0"/>
          </a:p>
          <a:p>
            <a:pPr>
              <a:buNone/>
            </a:pPr>
            <a:r>
              <a:rPr lang="zh-CN" altLang="en-US" sz="2800" b="1" dirty="0"/>
              <a:t>    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、该命令用来在文本文件中检索出匹配关键字的信息内容。</a:t>
            </a:r>
            <a:endParaRPr lang="zh-CN" altLang="en-US" sz="2800" b="1" dirty="0"/>
          </a:p>
          <a:p>
            <a:pPr>
              <a:buNone/>
            </a:pPr>
            <a:r>
              <a:rPr lang="zh-CN" altLang="en-US" sz="2800" b="1" dirty="0"/>
              <a:t>    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、在指定的文件中检索关键字，不用打开文件。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文本占位符 52225"/>
          <p:cNvSpPr>
            <a:spLocks noGrp="1"/>
          </p:cNvSpPr>
          <p:nvPr>
            <p:ph idx="1"/>
          </p:nvPr>
        </p:nvSpPr>
        <p:spPr>
          <a:xfrm>
            <a:off x="457200" y="1292860"/>
            <a:ext cx="8229600" cy="4838065"/>
          </a:xfrm>
        </p:spPr>
        <p:txBody>
          <a:bodyPr anchor="t"/>
          <a:lstStyle/>
          <a:p>
            <a:pPr marL="0" indent="0">
              <a:lnSpc>
                <a:spcPct val="80000"/>
              </a:lnSpc>
              <a:buNone/>
            </a:pPr>
            <a:endParaRPr lang="zh-CN" altLang="en-US" sz="2400" b="1" dirty="0">
              <a:solidFill>
                <a:schemeClr val="accent6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solidFill>
                  <a:schemeClr val="accent6"/>
                </a:solidFill>
              </a:rPr>
              <a:t>常用选项：</a:t>
            </a:r>
            <a:endParaRPr lang="zh-CN" altLang="en-US" sz="2400" b="1" dirty="0">
              <a:solidFill>
                <a:schemeClr val="accent6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100" dirty="0"/>
              <a:t>    </a:t>
            </a:r>
            <a:r>
              <a:rPr lang="en-US" altLang="zh-CN" sz="2100" dirty="0"/>
              <a:t>-a </a:t>
            </a:r>
            <a:r>
              <a:rPr lang="zh-CN" altLang="en-US" sz="2100" dirty="0"/>
              <a:t>将</a:t>
            </a:r>
            <a:r>
              <a:rPr lang="en-US" altLang="zh-CN" sz="2100" dirty="0"/>
              <a:t>binary</a:t>
            </a:r>
            <a:r>
              <a:rPr lang="zh-CN" altLang="en-US" sz="2100" dirty="0"/>
              <a:t>文件以</a:t>
            </a:r>
            <a:r>
              <a:rPr lang="en-US" altLang="zh-CN" sz="2100" dirty="0"/>
              <a:t>text</a:t>
            </a:r>
            <a:r>
              <a:rPr lang="zh-CN" altLang="en-US" sz="2100" dirty="0"/>
              <a:t>文件的方式查找数据。</a:t>
            </a:r>
            <a:endParaRPr lang="zh-CN" altLang="en-US" sz="2100" dirty="0"/>
          </a:p>
          <a:p>
            <a:pPr>
              <a:lnSpc>
                <a:spcPct val="80000"/>
              </a:lnSpc>
              <a:buNone/>
            </a:pPr>
            <a:r>
              <a:rPr lang="zh-CN" altLang="en-US" sz="2100" dirty="0"/>
              <a:t>    </a:t>
            </a:r>
            <a:r>
              <a:rPr lang="en-US" altLang="zh-CN" sz="2100" dirty="0"/>
              <a:t>-c</a:t>
            </a:r>
            <a:r>
              <a:rPr lang="zh-CN" altLang="en-US" sz="2100" dirty="0"/>
              <a:t>，</a:t>
            </a:r>
            <a:r>
              <a:rPr lang="en-US" altLang="zh-CN" sz="2100" dirty="0"/>
              <a:t>--count  </a:t>
            </a:r>
            <a:r>
              <a:rPr lang="zh-CN" altLang="en-US" sz="2100" dirty="0"/>
              <a:t>只显示文件中包含匹配字符串的行的总数。</a:t>
            </a:r>
            <a:endParaRPr lang="zh-CN" altLang="en-US" sz="2100" dirty="0"/>
          </a:p>
          <a:p>
            <a:pPr>
              <a:lnSpc>
                <a:spcPct val="80000"/>
              </a:lnSpc>
              <a:buNone/>
            </a:pPr>
            <a:r>
              <a:rPr lang="zh-CN" altLang="en-US" sz="2100" dirty="0"/>
              <a:t>    </a:t>
            </a:r>
            <a:r>
              <a:rPr lang="en-US" altLang="zh-CN" sz="2100" dirty="0"/>
              <a:t>-i  </a:t>
            </a:r>
            <a:r>
              <a:rPr lang="zh-CN" altLang="en-US" sz="2100" dirty="0"/>
              <a:t>匹配比较时不区分字母的大小写。</a:t>
            </a:r>
            <a:endParaRPr lang="zh-CN" altLang="en-US" sz="2100" dirty="0"/>
          </a:p>
          <a:p>
            <a:pPr>
              <a:lnSpc>
                <a:spcPct val="80000"/>
              </a:lnSpc>
              <a:buNone/>
            </a:pPr>
            <a:r>
              <a:rPr lang="zh-CN" altLang="en-US" sz="2100" dirty="0"/>
              <a:t>    </a:t>
            </a:r>
            <a:r>
              <a:rPr lang="en-US" altLang="zh-CN" sz="2100" dirty="0"/>
              <a:t>-r  </a:t>
            </a:r>
            <a:r>
              <a:rPr lang="zh-CN" altLang="en-US" sz="2100" dirty="0"/>
              <a:t>以递归方式查询目录下的所有子目录中的文件。</a:t>
            </a:r>
            <a:endParaRPr lang="zh-CN" altLang="en-US" sz="2100" dirty="0"/>
          </a:p>
          <a:p>
            <a:pPr>
              <a:lnSpc>
                <a:spcPct val="80000"/>
              </a:lnSpc>
              <a:buNone/>
            </a:pPr>
            <a:r>
              <a:rPr lang="zh-CN" altLang="en-US" sz="2100" dirty="0"/>
              <a:t>    </a:t>
            </a:r>
            <a:r>
              <a:rPr lang="en-US" altLang="zh-CN" sz="2100" dirty="0"/>
              <a:t>-n  </a:t>
            </a:r>
            <a:r>
              <a:rPr lang="zh-CN" altLang="en-US" sz="2100" dirty="0"/>
              <a:t>在输出包含匹配模式的行之前，加上该行的行号（文件首行的行号为</a:t>
            </a:r>
            <a:r>
              <a:rPr lang="en-US" altLang="zh-CN" sz="2100" dirty="0"/>
              <a:t>1</a:t>
            </a:r>
            <a:r>
              <a:rPr lang="zh-CN" altLang="en-US" sz="2100" dirty="0"/>
              <a:t>）。</a:t>
            </a:r>
            <a:endParaRPr lang="zh-CN" altLang="en-US" sz="2100" dirty="0"/>
          </a:p>
          <a:p>
            <a:pPr>
              <a:lnSpc>
                <a:spcPct val="80000"/>
              </a:lnSpc>
              <a:buNone/>
            </a:pPr>
            <a:r>
              <a:rPr lang="zh-CN" altLang="en-US" sz="2100" dirty="0"/>
              <a:t>    </a:t>
            </a:r>
            <a:r>
              <a:rPr lang="en-US" altLang="zh-CN" sz="2100" dirty="0"/>
              <a:t>-v  </a:t>
            </a:r>
            <a:r>
              <a:rPr lang="zh-CN" altLang="en-US" sz="2100" dirty="0"/>
              <a:t>只显示不包含匹配字符串的文本行。</a:t>
            </a:r>
            <a:endParaRPr lang="zh-CN" altLang="en-US" sz="2100" dirty="0"/>
          </a:p>
          <a:p>
            <a:pPr>
              <a:lnSpc>
                <a:spcPct val="80000"/>
              </a:lnSpc>
              <a:buNone/>
            </a:pPr>
            <a:r>
              <a:rPr lang="zh-CN" altLang="en-US" sz="2100" dirty="0"/>
              <a:t>    </a:t>
            </a:r>
            <a:r>
              <a:rPr lang="en-US" altLang="zh-CN" sz="2100" dirty="0"/>
              <a:t>--color=auto:  </a:t>
            </a:r>
            <a:r>
              <a:rPr lang="zh-CN" altLang="en-US" sz="2100" dirty="0"/>
              <a:t>可以将找到的关键字部分加上颜色显示。 </a:t>
            </a:r>
            <a:endParaRPr lang="zh-CN" altLang="en-US" sz="2100" dirty="0"/>
          </a:p>
          <a:p>
            <a:pPr marL="0" indent="0">
              <a:lnSpc>
                <a:spcPct val="80000"/>
              </a:lnSpc>
              <a:buNone/>
            </a:pPr>
            <a:endParaRPr lang="zh-CN" alt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文本框 53249"/>
          <p:cNvSpPr txBox="1"/>
          <p:nvPr/>
        </p:nvSpPr>
        <p:spPr>
          <a:xfrm>
            <a:off x="251460" y="548640"/>
            <a:ext cx="8554720" cy="62471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示例：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$ cat  /etc/passwd|grep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root  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在文件</a:t>
            </a:r>
            <a:r>
              <a:rPr lang="en-US" altLang="zh-CN" sz="2400" b="1" err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/etc/passwd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中搜索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root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的字符串所在行。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2132965"/>
            <a:ext cx="8399780" cy="10947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429000"/>
            <a:ext cx="8092440" cy="10191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4649470"/>
            <a:ext cx="6963410" cy="8655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文本占位符 54273"/>
          <p:cNvSpPr>
            <a:spLocks noGrp="1"/>
          </p:cNvSpPr>
          <p:nvPr>
            <p:ph idx="1"/>
          </p:nvPr>
        </p:nvSpPr>
        <p:spPr>
          <a:xfrm>
            <a:off x="251460" y="548640"/>
            <a:ext cx="8229600" cy="5867400"/>
          </a:xfrm>
        </p:spPr>
        <p:txBody>
          <a:bodyPr anchor="t"/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9．touch 命令</a:t>
            </a:r>
            <a:endParaRPr lang="zh-CN" altLang="en-US" sz="2800" b="1" dirty="0"/>
          </a:p>
          <a:p>
            <a:pPr>
              <a:lnSpc>
                <a:spcPct val="90000"/>
              </a:lnSpc>
            </a:pPr>
            <a:endParaRPr lang="zh-CN" altLang="en-US" sz="2800" b="1" dirty="0"/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/>
              <a:t>一般格式：  </a:t>
            </a:r>
            <a:r>
              <a:rPr lang="en-US" altLang="zh-CN" sz="2800" b="1" dirty="0"/>
              <a:t>touch</a:t>
            </a:r>
            <a:r>
              <a:rPr lang="en-US" altLang="zh-CN" sz="2800" b="1" dirty="0"/>
              <a:t>   [</a:t>
            </a:r>
            <a:r>
              <a:rPr lang="zh-CN" altLang="en-US" sz="2800" b="1" dirty="0"/>
              <a:t>选项</a:t>
            </a:r>
            <a:r>
              <a:rPr lang="en-US" altLang="zh-CN" sz="2800" b="1" dirty="0"/>
              <a:t>]  </a:t>
            </a:r>
            <a:r>
              <a:rPr lang="zh-CN" altLang="en-US" sz="2800" b="1" dirty="0"/>
              <a:t>文件</a:t>
            </a:r>
            <a:endParaRPr lang="zh-CN" altLang="en-US" sz="2800" b="1" dirty="0"/>
          </a:p>
          <a:p>
            <a:pPr>
              <a:lnSpc>
                <a:spcPct val="90000"/>
              </a:lnSpc>
              <a:buNone/>
            </a:pPr>
            <a:endParaRPr lang="zh-CN" altLang="en-US" sz="28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678" y="2421218"/>
            <a:ext cx="6942857" cy="2190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548640"/>
            <a:ext cx="7959090" cy="2498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3357245"/>
            <a:ext cx="7877175" cy="25292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文本占位符 48130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just"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10．mkdir命令</a:t>
            </a:r>
            <a:endParaRPr lang="zh-CN" altLang="en-US" sz="2600" b="1" dirty="0"/>
          </a:p>
          <a:p>
            <a:pPr algn="just">
              <a:buNone/>
            </a:pPr>
            <a:r>
              <a:rPr lang="zh-CN" altLang="en-US" sz="2600" b="1" dirty="0"/>
              <a:t>一般格式： </a:t>
            </a:r>
            <a:r>
              <a:rPr lang="en-US" altLang="zh-CN" sz="2600" b="1" err="1"/>
              <a:t>mkdir</a:t>
            </a:r>
            <a:r>
              <a:rPr lang="en-US" altLang="zh-CN" sz="2600" b="1" dirty="0"/>
              <a:t>  [</a:t>
            </a:r>
            <a:r>
              <a:rPr lang="zh-CN" altLang="en-US" sz="2600" b="1" dirty="0"/>
              <a:t>选项</a:t>
            </a:r>
            <a:r>
              <a:rPr lang="en-US" altLang="zh-CN" sz="2600" b="1" err="1"/>
              <a:t>]  dirname</a:t>
            </a:r>
            <a:endParaRPr lang="en-US" altLang="zh-CN" sz="2600" b="1"/>
          </a:p>
          <a:p>
            <a:pPr marL="0" indent="0">
              <a:buNone/>
            </a:pPr>
            <a:r>
              <a:rPr lang="zh-CN" altLang="en-US" sz="2600" b="1" dirty="0"/>
              <a:t>说明：该命令创建由</a:t>
            </a:r>
            <a:r>
              <a:rPr lang="en-US" altLang="zh-CN" sz="2600" b="1" err="1"/>
              <a:t>dirname</a:t>
            </a:r>
            <a:r>
              <a:rPr lang="zh-CN" altLang="en-US" sz="2600" b="1" dirty="0"/>
              <a:t>命名的目录。 </a:t>
            </a: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选项：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/>
              <a:t>    </a:t>
            </a:r>
            <a:r>
              <a:rPr lang="en-US" altLang="zh-CN" sz="2600" b="1"/>
              <a:t>-m </a:t>
            </a:r>
            <a:r>
              <a:rPr lang="zh-CN" altLang="en-US" sz="2600" b="1" u="sng" dirty="0"/>
              <a:t>数字</a:t>
            </a:r>
            <a:r>
              <a:rPr lang="zh-CN" altLang="en-US" sz="2600" b="1" dirty="0"/>
              <a:t>    对新建目录设置存取权限，存取权限用给定的八进制数字表示。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    </a:t>
            </a:r>
            <a:r>
              <a:rPr lang="en-US" altLang="zh-CN" sz="2600" b="1" dirty="0"/>
              <a:t>-p    </a:t>
            </a:r>
            <a:r>
              <a:rPr lang="zh-CN" altLang="en-US" sz="2600" b="1" dirty="0"/>
              <a:t>可一次建立多个目录，即如果为新建目录所指定的路径中有些父目录尚不存在，此选项可以自动建立它们。</a:t>
            </a:r>
            <a:endParaRPr lang="zh-CN" altLang="en-US" sz="26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文本框 49153"/>
          <p:cNvSpPr txBox="1"/>
          <p:nvPr/>
        </p:nvSpPr>
        <p:spPr>
          <a:xfrm>
            <a:off x="755650" y="836930"/>
            <a:ext cx="7193280" cy="55079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示例</a:t>
            </a:r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1412875"/>
            <a:ext cx="6578600" cy="14281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2924810"/>
            <a:ext cx="6578600" cy="16306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4509135"/>
            <a:ext cx="7095490" cy="19837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文本占位符 50177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334000"/>
          </a:xfrm>
        </p:spPr>
        <p:txBody>
          <a:bodyPr anchor="t"/>
          <a:lstStyle/>
          <a:p>
            <a:pPr algn="just">
              <a:buNone/>
            </a:pP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11．</a:t>
            </a: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rmdir </a:t>
            </a:r>
            <a:r>
              <a:rPr lang="en-US" altLang="zh-CN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删除目录</a:t>
            </a:r>
            <a:endParaRPr lang="en-US" altLang="zh-CN" sz="3600" b="1" kern="12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buNone/>
            </a:pP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一般格式：</a:t>
            </a:r>
            <a:r>
              <a:rPr lang="en-US" altLang="zh-CN" sz="2600" b="1" err="1"/>
              <a:t>rmdir</a:t>
            </a:r>
            <a:r>
              <a:rPr lang="en-US" altLang="zh-CN" sz="2600" b="1" dirty="0"/>
              <a:t>  [</a:t>
            </a:r>
            <a:r>
              <a:rPr lang="zh-CN" altLang="en-US" sz="2600" b="1" dirty="0"/>
              <a:t>选项</a:t>
            </a:r>
            <a:r>
              <a:rPr lang="en-US" altLang="zh-CN" sz="2600" b="1" err="1"/>
              <a:t>]  dirname</a:t>
            </a:r>
            <a:endParaRPr lang="en-US" altLang="zh-CN" sz="2600" b="1"/>
          </a:p>
          <a:p>
            <a:pPr marL="0" indent="0">
              <a:buNone/>
            </a:pPr>
            <a:r>
              <a:rPr lang="zh-CN" altLang="en-US" sz="2600" b="1" dirty="0"/>
              <a:t>说明：该命令从一个目录中删除一个或多个子目录 </a:t>
            </a: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选项：</a:t>
            </a: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    </a:t>
            </a:r>
            <a:r>
              <a:rPr lang="en-US" altLang="zh-CN" sz="2600" b="1" dirty="0"/>
              <a:t>-p    </a:t>
            </a:r>
            <a:r>
              <a:rPr lang="zh-CN" altLang="en-US" sz="2600" b="1" dirty="0"/>
              <a:t>递归删除目录</a:t>
            </a:r>
            <a:r>
              <a:rPr lang="en-US" altLang="zh-CN" sz="2600" b="1" err="1"/>
              <a:t>dirname</a:t>
            </a:r>
            <a:r>
              <a:rPr lang="zh-CN" altLang="en-US" sz="2600" b="1" dirty="0"/>
              <a:t>，当子目录删除后其父目录为空时，也一同被删除。如果有非空的目录，则该目录保留下来。</a:t>
            </a:r>
            <a:endParaRPr lang="zh-CN" altLang="en-US" sz="2600" b="1" dirty="0"/>
          </a:p>
          <a:p>
            <a:pPr marL="0" indent="0">
              <a:buNone/>
            </a:pPr>
            <a:endParaRPr lang="zh-CN" altLang="en-US" sz="2600" b="1" dirty="0"/>
          </a:p>
          <a:p>
            <a:pPr>
              <a:buNone/>
            </a:pPr>
            <a:r>
              <a:rPr lang="zh-CN" altLang="en-US" sz="2600" b="1" dirty="0">
                <a:latin typeface="楷体_GB2312" pitchFamily="49" charset="-122"/>
                <a:ea typeface="楷体_GB2312" pitchFamily="49" charset="-122"/>
              </a:rPr>
              <a:t>注意：子目录被删除之前应该是空目录。</a:t>
            </a:r>
            <a:r>
              <a:rPr lang="zh-CN" altLang="en-US" sz="1900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190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文本框 49153"/>
          <p:cNvSpPr txBox="1"/>
          <p:nvPr/>
        </p:nvSpPr>
        <p:spPr>
          <a:xfrm>
            <a:off x="755650" y="836930"/>
            <a:ext cx="818134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示例</a:t>
            </a:r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484630"/>
            <a:ext cx="8185785" cy="18776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6938010" cy="78359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二、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LINUX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基本权限管理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文本占位符 8194"/>
          <p:cNvSpPr>
            <a:spLocks noGrp="1"/>
          </p:cNvSpPr>
          <p:nvPr>
            <p:ph idx="1"/>
          </p:nvPr>
        </p:nvSpPr>
        <p:spPr>
          <a:xfrm>
            <a:off x="457200" y="1600200"/>
            <a:ext cx="7721600" cy="3026410"/>
          </a:xfrm>
        </p:spPr>
        <p:txBody>
          <a:bodyPr anchor="t"/>
          <a:lstStyle/>
          <a:p>
            <a:pPr>
              <a:buNone/>
            </a:pPr>
            <a:r>
              <a:rPr lang="zh-CN" altLang="en-US" sz="3200" b="1" dirty="0">
                <a:solidFill>
                  <a:schemeClr val="accent6"/>
                </a:solidFill>
              </a:rPr>
              <a:t>一、文件的属主与属组</a:t>
            </a:r>
            <a:r>
              <a:rPr lang="zh-CN" altLang="en-US" sz="3200" dirty="0">
                <a:solidFill>
                  <a:schemeClr val="accent6"/>
                </a:solidFill>
              </a:rPr>
              <a:t> </a:t>
            </a:r>
            <a:endParaRPr lang="zh-CN" altLang="en-US" sz="3200" dirty="0">
              <a:solidFill>
                <a:schemeClr val="accent6"/>
              </a:solidFill>
            </a:endParaRPr>
          </a:p>
          <a:p>
            <a:pPr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每个文件或目录都有它的所有者，即属主。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	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 err="1">
                <a:solidFill>
                  <a:schemeClr val="tx1"/>
                </a:solidFill>
              </a:rPr>
              <a:t>chown</a:t>
            </a:r>
            <a:r>
              <a:rPr lang="zh-CN" altLang="en-US" sz="2800" b="1" dirty="0">
                <a:solidFill>
                  <a:schemeClr val="tx1"/>
                </a:solidFill>
              </a:rPr>
              <a:t>命令可以改变文件的属主，格式如下：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 err="1">
                <a:solidFill>
                  <a:schemeClr val="tx1"/>
                </a:solidFill>
              </a:rPr>
              <a:t>chown</a:t>
            </a:r>
            <a:r>
              <a:rPr lang="en-US" altLang="zh-CN" sz="2800" b="1" dirty="0">
                <a:solidFill>
                  <a:schemeClr val="tx1"/>
                </a:solidFill>
              </a:rPr>
              <a:t>  [</a:t>
            </a:r>
            <a:r>
              <a:rPr lang="zh-CN" altLang="en-US" sz="2800" b="1" dirty="0">
                <a:solidFill>
                  <a:schemeClr val="tx1"/>
                </a:solidFill>
              </a:rPr>
              <a:t>选项</a:t>
            </a:r>
            <a:r>
              <a:rPr lang="en-US" altLang="zh-CN" sz="2800" b="1" dirty="0">
                <a:solidFill>
                  <a:schemeClr val="tx1"/>
                </a:solidFill>
              </a:rPr>
              <a:t>]  [</a:t>
            </a:r>
            <a:r>
              <a:rPr lang="zh-CN" altLang="en-US" sz="2800" b="1" dirty="0">
                <a:solidFill>
                  <a:schemeClr val="tx1"/>
                </a:solidFill>
              </a:rPr>
              <a:t>所有者</a:t>
            </a:r>
            <a:r>
              <a:rPr lang="en-US" altLang="zh-CN" sz="2800" b="1" dirty="0">
                <a:solidFill>
                  <a:schemeClr val="tx1"/>
                </a:solidFill>
              </a:rPr>
              <a:t>][:[</a:t>
            </a:r>
            <a:r>
              <a:rPr lang="zh-CN" altLang="en-US" sz="2800" b="1" dirty="0">
                <a:solidFill>
                  <a:schemeClr val="tx1"/>
                </a:solidFill>
              </a:rPr>
              <a:t>组</a:t>
            </a:r>
            <a:r>
              <a:rPr lang="en-US" altLang="zh-CN" sz="2800" b="1" dirty="0">
                <a:solidFill>
                  <a:schemeClr val="tx1"/>
                </a:solidFill>
              </a:rPr>
              <a:t>]]  </a:t>
            </a:r>
            <a:r>
              <a:rPr lang="zh-CN" altLang="en-US" sz="2800" b="1" dirty="0">
                <a:solidFill>
                  <a:schemeClr val="tx1"/>
                </a:solidFill>
              </a:rPr>
              <a:t>文件列表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文本占位符 73730"/>
          <p:cNvSpPr>
            <a:spLocks noGrp="1"/>
          </p:cNvSpPr>
          <p:nvPr>
            <p:ph idx="1"/>
          </p:nvPr>
        </p:nvSpPr>
        <p:spPr>
          <a:xfrm>
            <a:off x="457200" y="687705"/>
            <a:ext cx="8229600" cy="5784850"/>
          </a:xfrm>
        </p:spPr>
        <p:txBody>
          <a:bodyPr anchor="t"/>
          <a:lstStyle/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1</a:t>
            </a:r>
            <a:r>
              <a:rPr lang="zh-CN" altLang="en-US" sz="2600" b="1" dirty="0">
                <a:solidFill>
                  <a:schemeClr val="tx1"/>
                </a:solidFill>
              </a:rPr>
              <a:t>、更改文件的属主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err="1">
                <a:solidFill>
                  <a:schemeClr val="tx1"/>
                </a:solidFill>
              </a:rPr>
              <a:t>       </a:t>
            </a:r>
            <a:endParaRPr lang="zh-CN" altLang="en-US" sz="2600" b="1" err="1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altLang="zh-CN" sz="2600" b="1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2</a:t>
            </a:r>
            <a:r>
              <a:rPr lang="zh-CN" altLang="en-US" sz="2600" b="1" dirty="0">
                <a:solidFill>
                  <a:schemeClr val="tx1"/>
                </a:solidFill>
              </a:rPr>
              <a:t>、更改文件的属组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文件同时属于某个特定的组，该组称为文件的属组。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altLang="zh-CN" sz="2600" b="1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altLang="zh-CN" sz="2600" b="1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400" b="1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400" b="1">
                <a:solidFill>
                  <a:srgbClr val="C00000"/>
                </a:solidFill>
              </a:rPr>
              <a:t>注意</a:t>
            </a:r>
            <a:r>
              <a:rPr lang="en-US" altLang="zh-CN" sz="2400" b="1">
                <a:solidFill>
                  <a:srgbClr val="C00000"/>
                </a:solidFill>
              </a:rPr>
              <a:t> </a:t>
            </a:r>
            <a:r>
              <a:rPr lang="zh-CN" altLang="en-US" sz="2400" b="1">
                <a:solidFill>
                  <a:srgbClr val="C00000"/>
                </a:solidFill>
              </a:rPr>
              <a:t>：</a:t>
            </a:r>
            <a:r>
              <a:rPr lang="zh-CN" altLang="en-US" sz="2400" b="1">
                <a:solidFill>
                  <a:schemeClr val="accent6"/>
                </a:solidFill>
              </a:rPr>
              <a:t>用户名和组名必须是已经存在的合法用户和组。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20" y="1268730"/>
            <a:ext cx="6787515" cy="22332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" y="4725035"/>
            <a:ext cx="8035925" cy="10204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文本框 60417"/>
          <p:cNvSpPr txBox="1"/>
          <p:nvPr/>
        </p:nvSpPr>
        <p:spPr>
          <a:xfrm>
            <a:off x="539750" y="980440"/>
            <a:ext cx="8229600" cy="3476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将属主和属组改回</a:t>
            </a:r>
            <a:r>
              <a:rPr lang="en-US" altLang="zh-CN" sz="2800" b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root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3200" b="1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205" y="1628775"/>
            <a:ext cx="7895590" cy="25584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文本占位符 56322"/>
          <p:cNvSpPr>
            <a:spLocks noGrp="1"/>
          </p:cNvSpPr>
          <p:nvPr>
            <p:ph idx="1"/>
          </p:nvPr>
        </p:nvSpPr>
        <p:spPr>
          <a:xfrm>
            <a:off x="533400" y="1905000"/>
            <a:ext cx="8229600" cy="3294380"/>
          </a:xfrm>
        </p:spPr>
        <p:txBody>
          <a:bodyPr anchor="t"/>
          <a:lstStyle/>
          <a:p>
            <a:pPr algn="just">
              <a:buNone/>
            </a:pPr>
            <a:r>
              <a:rPr lang="en-US" altLang="zh-CN" sz="2600" b="1" dirty="0"/>
              <a:t>1</a:t>
            </a:r>
            <a:r>
              <a:rPr lang="zh-CN" altLang="en-US" sz="2600" b="1" dirty="0"/>
              <a:t>．用户和权限</a:t>
            </a:r>
            <a:endParaRPr lang="zh-CN" altLang="en-US" sz="2600" b="1" dirty="0"/>
          </a:p>
          <a:p>
            <a:pPr algn="just">
              <a:buNone/>
            </a:pPr>
            <a:r>
              <a:rPr lang="zh-CN" altLang="en-US" sz="2600" b="1" dirty="0"/>
              <a:t>    </a:t>
            </a:r>
            <a:r>
              <a:rPr lang="en-US" altLang="zh-CN" sz="2600" b="1" dirty="0"/>
              <a:t>Linux</a:t>
            </a:r>
            <a:r>
              <a:rPr lang="zh-CN" altLang="en-US" sz="2600" b="1" dirty="0"/>
              <a:t>系统中规定了</a:t>
            </a:r>
            <a:r>
              <a:rPr lang="en-US" altLang="zh-CN" sz="2600" b="1" dirty="0"/>
              <a:t>4</a:t>
            </a:r>
            <a:r>
              <a:rPr lang="zh-CN" altLang="en-US" sz="2600" b="1" dirty="0"/>
              <a:t>种不同类型的用户：</a:t>
            </a:r>
            <a:endParaRPr lang="zh-CN" altLang="en-US" sz="2600" b="1" dirty="0"/>
          </a:p>
          <a:p>
            <a:pPr marL="0" indent="0">
              <a:buNone/>
            </a:pPr>
            <a:r>
              <a:rPr lang="en-US" altLang="zh-CN" sz="2600" b="1" dirty="0"/>
              <a:t>① </a:t>
            </a:r>
            <a:r>
              <a:rPr lang="zh-CN" altLang="en-US" sz="2600" b="1" dirty="0"/>
              <a:t>文件主（</a:t>
            </a:r>
            <a:r>
              <a:rPr lang="en-US" altLang="zh-CN" sz="2600" b="1" dirty="0"/>
              <a:t>owner</a:t>
            </a:r>
            <a:r>
              <a:rPr lang="zh-CN" altLang="en-US" sz="2600" b="1" dirty="0"/>
              <a:t>）；</a:t>
            </a:r>
            <a:endParaRPr lang="zh-CN" altLang="en-US" sz="2600" b="1" dirty="0"/>
          </a:p>
          <a:p>
            <a:pPr marL="0" indent="0">
              <a:buNone/>
            </a:pPr>
            <a:r>
              <a:rPr lang="en-US" altLang="zh-CN" sz="2600" b="1" dirty="0"/>
              <a:t>② </a:t>
            </a:r>
            <a:r>
              <a:rPr lang="zh-CN" altLang="en-US" sz="2600" b="1" dirty="0"/>
              <a:t>同组用户（</a:t>
            </a:r>
            <a:r>
              <a:rPr lang="en-US" altLang="zh-CN" sz="2600" b="1" dirty="0"/>
              <a:t>group</a:t>
            </a:r>
            <a:r>
              <a:rPr lang="zh-CN" altLang="en-US" sz="2600" b="1" dirty="0"/>
              <a:t>）；</a:t>
            </a:r>
            <a:endParaRPr lang="zh-CN" altLang="en-US" sz="2600" b="1" dirty="0"/>
          </a:p>
          <a:p>
            <a:pPr marL="0" indent="0">
              <a:buNone/>
            </a:pPr>
            <a:r>
              <a:rPr lang="en-US" altLang="zh-CN" sz="2600" b="1" dirty="0"/>
              <a:t>③ </a:t>
            </a:r>
            <a:r>
              <a:rPr lang="zh-CN" altLang="en-US" sz="2600" b="1" dirty="0"/>
              <a:t>可以访问系统的其他用户（</a:t>
            </a:r>
            <a:r>
              <a:rPr lang="en-US" altLang="zh-CN" sz="2600" b="1" dirty="0"/>
              <a:t>others</a:t>
            </a:r>
            <a:r>
              <a:rPr lang="zh-CN" altLang="en-US" sz="2600" b="1" dirty="0"/>
              <a:t>）；</a:t>
            </a:r>
            <a:endParaRPr lang="zh-CN" altLang="en-US" sz="2600" b="1" dirty="0"/>
          </a:p>
          <a:p>
            <a:pPr marL="0" indent="0">
              <a:buNone/>
            </a:pPr>
            <a:r>
              <a:rPr lang="en-US" altLang="zh-CN" sz="2600" b="1" dirty="0"/>
              <a:t>④ </a:t>
            </a:r>
            <a:r>
              <a:rPr lang="zh-CN" altLang="en-US" sz="2600" b="1" dirty="0"/>
              <a:t>超级用户（</a:t>
            </a:r>
            <a:r>
              <a:rPr lang="en-US" altLang="zh-CN" sz="2600" b="1" dirty="0"/>
              <a:t>root</a:t>
            </a:r>
            <a:r>
              <a:rPr lang="zh-CN" altLang="en-US" sz="2600" b="1" dirty="0"/>
              <a:t>），具有管理系统的特权。</a:t>
            </a:r>
            <a:r>
              <a:rPr lang="zh-CN" altLang="en-US" sz="1900" dirty="0"/>
              <a:t> </a:t>
            </a:r>
            <a:endParaRPr lang="zh-CN" altLang="en-US" sz="1900" dirty="0"/>
          </a:p>
        </p:txBody>
      </p:sp>
      <p:sp>
        <p:nvSpPr>
          <p:cNvPr id="47106" name="标题 56324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>
                <a:solidFill>
                  <a:schemeClr val="tx2"/>
                </a:solidFill>
              </a:rPr>
              <a:t>二、文件的访问权限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文本框 57345"/>
          <p:cNvSpPr txBox="1"/>
          <p:nvPr/>
        </p:nvSpPr>
        <p:spPr>
          <a:xfrm>
            <a:off x="457200" y="1143000"/>
            <a:ext cx="8001000" cy="22272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存取权限规定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种访问文件或目录的方式：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①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读（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）；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②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写（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）；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③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可执行或查找（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）。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8130" name="图片 57346" descr="t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444875"/>
            <a:ext cx="6477000" cy="3413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文本占位符 58369"/>
          <p:cNvSpPr>
            <a:spLocks noGrp="1"/>
          </p:cNvSpPr>
          <p:nvPr>
            <p:ph idx="1"/>
          </p:nvPr>
        </p:nvSpPr>
        <p:spPr>
          <a:xfrm>
            <a:off x="381000" y="533400"/>
            <a:ext cx="8229600" cy="6019800"/>
          </a:xfrm>
        </p:spPr>
        <p:txBody>
          <a:bodyPr anchor="t"/>
          <a:lstStyle/>
          <a:p>
            <a:pPr algn="just">
              <a:buNone/>
            </a:pPr>
            <a:r>
              <a:rPr lang="en-US" altLang="zh-CN" sz="2600" b="1" dirty="0"/>
              <a:t>2</a:t>
            </a:r>
            <a:r>
              <a:rPr lang="zh-CN" altLang="en-US" sz="2600" b="1" dirty="0"/>
              <a:t>．</a:t>
            </a:r>
            <a:r>
              <a:rPr lang="en-US" altLang="zh-CN" sz="2600" b="1" err="1"/>
              <a:t>chmod</a:t>
            </a:r>
            <a:r>
              <a:rPr lang="zh-CN" altLang="en-US" sz="2600" b="1" dirty="0"/>
              <a:t>命令</a:t>
            </a:r>
            <a:r>
              <a:rPr lang="en-US" altLang="zh-CN" sz="2600" b="1" dirty="0"/>
              <a:t>——</a:t>
            </a:r>
            <a:r>
              <a:rPr lang="zh-CN" altLang="en-US" sz="2600" b="1" dirty="0"/>
              <a:t>用于改变或设置文件或目录的存取权限 </a:t>
            </a:r>
            <a:endParaRPr lang="zh-CN" altLang="en-US" sz="2600" b="1"/>
          </a:p>
          <a:p>
            <a:pPr>
              <a:buNone/>
            </a:pP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（</a:t>
            </a:r>
            <a:r>
              <a:rPr lang="en-US" altLang="zh-CN" sz="2600" b="1" dirty="0"/>
              <a:t>1</a:t>
            </a:r>
            <a:r>
              <a:rPr lang="zh-CN" altLang="en-US" sz="2600" b="1" dirty="0"/>
              <a:t>）以符号模式改变权限 </a:t>
            </a:r>
            <a:endParaRPr lang="zh-CN" altLang="en-US" sz="2600" b="1" dirty="0"/>
          </a:p>
          <a:p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一般格式： </a:t>
            </a:r>
            <a:r>
              <a:rPr lang="en-US" altLang="zh-CN" sz="2600" b="1" err="1"/>
              <a:t>chmod</a:t>
            </a:r>
            <a:r>
              <a:rPr lang="en-US" altLang="zh-CN" sz="2600" b="1" dirty="0"/>
              <a:t>  key  </a:t>
            </a:r>
            <a:r>
              <a:rPr lang="zh-CN" altLang="en-US" sz="2600" b="1" dirty="0"/>
              <a:t>文件名</a:t>
            </a:r>
            <a:endParaRPr lang="zh-CN" altLang="en-US" sz="2600" b="1" dirty="0"/>
          </a:p>
          <a:p>
            <a:pPr marL="0" indent="0">
              <a:buNone/>
            </a:pP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说明： </a:t>
            </a:r>
            <a:r>
              <a:rPr lang="en-US" altLang="zh-CN" sz="2600" b="1" dirty="0"/>
              <a:t>key </a:t>
            </a:r>
            <a:r>
              <a:rPr lang="zh-CN" altLang="en-US" sz="2600" b="1" dirty="0"/>
              <a:t>由以下各项组成：</a:t>
            </a:r>
            <a:r>
              <a:rPr lang="en-US" altLang="zh-CN" sz="2600" b="1" dirty="0"/>
              <a:t>[who]   [</a:t>
            </a:r>
            <a:r>
              <a:rPr lang="zh-CN" altLang="en-US" sz="2600" b="1" dirty="0"/>
              <a:t>操作符号</a:t>
            </a:r>
            <a:r>
              <a:rPr lang="en-US" altLang="zh-CN" sz="2600" b="1"/>
              <a:t>]  [mode]</a:t>
            </a:r>
            <a:endParaRPr lang="en-US" altLang="zh-CN" sz="2600" b="1"/>
          </a:p>
          <a:p>
            <a:pPr marL="0" indent="0">
              <a:buNone/>
            </a:pPr>
            <a:endParaRPr lang="en-US" altLang="zh-CN" sz="26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文本框 59393"/>
          <p:cNvSpPr txBox="1"/>
          <p:nvPr/>
        </p:nvSpPr>
        <p:spPr>
          <a:xfrm>
            <a:off x="457200" y="685800"/>
            <a:ext cx="8153400" cy="47894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操作对象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who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可以是下述字母中的任一个或者它们的组合：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u       g      o       a</a:t>
            </a:r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操作符号可以是：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+      -        =</a:t>
            </a:r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mode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所表示的权限可用下述字母的任意组合：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r     w     x   </a:t>
            </a:r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      t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（文件的特殊权限）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文本框 60417"/>
          <p:cNvSpPr txBox="1"/>
          <p:nvPr/>
        </p:nvSpPr>
        <p:spPr>
          <a:xfrm>
            <a:off x="539750" y="980440"/>
            <a:ext cx="8229600" cy="50158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示例</a:t>
            </a:r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3200" b="1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557020"/>
            <a:ext cx="6569075" cy="401447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文本框 61441"/>
          <p:cNvSpPr txBox="1"/>
          <p:nvPr/>
        </p:nvSpPr>
        <p:spPr>
          <a:xfrm>
            <a:off x="457200" y="1143000"/>
            <a:ext cx="8077200" cy="37226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）以绝对方式改变权限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一般格式： </a:t>
            </a:r>
            <a:r>
              <a:rPr lang="en-US" altLang="zh-CN" sz="2800" b="1" err="1">
                <a:latin typeface="Times New Roman" panose="02020603050405020304" pitchFamily="18" charset="0"/>
                <a:ea typeface="宋体" panose="02010600030101010101" pitchFamily="2" charset="-122"/>
              </a:rPr>
              <a:t>chmod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mode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文件名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mode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是以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位八进制数字出现的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第一位表示文件主权限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第二位表示组用户权限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第三位表示其他用户权限 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内容占位符 63489"/>
          <p:cNvSpPr>
            <a:spLocks noGrp="1"/>
          </p:cNvSpPr>
          <p:nvPr>
            <p:ph idx="4294967295"/>
          </p:nvPr>
        </p:nvSpPr>
        <p:spPr>
          <a:xfrm>
            <a:off x="566738" y="304800"/>
            <a:ext cx="8008937" cy="5715000"/>
          </a:xfrm>
        </p:spPr>
        <p:txBody>
          <a:bodyPr anchor="t"/>
          <a:lstStyle/>
          <a:p>
            <a:pPr algn="just">
              <a:spcBef>
                <a:spcPct val="0"/>
              </a:spcBef>
              <a:buClrTx/>
              <a:buNone/>
            </a:pPr>
            <a:r>
              <a:rPr lang="zh-CN" altLang="en-US" sz="3400" b="1" dirty="0">
                <a:solidFill>
                  <a:srgbClr val="000099"/>
                </a:solidFill>
              </a:rPr>
              <a:t>说明：</a:t>
            </a:r>
            <a:endParaRPr lang="zh-CN" altLang="en-US" sz="3400" b="1" dirty="0">
              <a:solidFill>
                <a:srgbClr val="000099"/>
              </a:solidFill>
            </a:endParaRPr>
          </a:p>
          <a:p>
            <a:pPr algn="just">
              <a:spcBef>
                <a:spcPct val="0"/>
              </a:spcBef>
              <a:buClrTx/>
              <a:buNone/>
            </a:pPr>
            <a:endParaRPr lang="zh-CN" altLang="en-US" sz="3400" b="1" dirty="0">
              <a:solidFill>
                <a:srgbClr val="000099"/>
              </a:solidFill>
            </a:endParaRPr>
          </a:p>
          <a:p>
            <a:pPr algn="just">
              <a:spcBef>
                <a:spcPct val="0"/>
              </a:spcBef>
              <a:buClrTx/>
              <a:buNone/>
            </a:pPr>
            <a:r>
              <a:rPr lang="zh-CN" altLang="en-US" sz="3900" b="1" dirty="0">
                <a:solidFill>
                  <a:srgbClr val="000099"/>
                </a:solidFill>
              </a:rPr>
              <a:t>      </a:t>
            </a:r>
            <a:r>
              <a:rPr lang="en-US" altLang="zh-CN" sz="5800" b="1" u="sng">
                <a:solidFill>
                  <a:srgbClr val="000099"/>
                </a:solidFill>
              </a:rPr>
              <a:t>-</a:t>
            </a:r>
            <a:r>
              <a:rPr lang="en-US" altLang="zh-CN" sz="5800" b="1">
                <a:solidFill>
                  <a:srgbClr val="000099"/>
                </a:solidFill>
              </a:rPr>
              <a:t>  </a:t>
            </a:r>
            <a:r>
              <a:rPr lang="en-US" altLang="zh-CN" sz="5800" b="1" u="sng" err="1">
                <a:solidFill>
                  <a:srgbClr val="000099"/>
                </a:solidFill>
              </a:rPr>
              <a:t>rw</a:t>
            </a:r>
            <a:r>
              <a:rPr lang="en-US" altLang="zh-CN" sz="5800" b="1" u="sng">
                <a:solidFill>
                  <a:srgbClr val="000099"/>
                </a:solidFill>
              </a:rPr>
              <a:t>-</a:t>
            </a:r>
            <a:r>
              <a:rPr lang="en-US" altLang="zh-CN" sz="5800" b="1">
                <a:solidFill>
                  <a:srgbClr val="000099"/>
                </a:solidFill>
              </a:rPr>
              <a:t>   </a:t>
            </a:r>
            <a:r>
              <a:rPr lang="en-US" altLang="zh-CN" sz="5800" b="1" u="sng">
                <a:solidFill>
                  <a:srgbClr val="000099"/>
                </a:solidFill>
              </a:rPr>
              <a:t>r-- </a:t>
            </a:r>
            <a:r>
              <a:rPr lang="en-US" altLang="zh-CN" sz="5800" b="1">
                <a:solidFill>
                  <a:srgbClr val="000099"/>
                </a:solidFill>
              </a:rPr>
              <a:t>  </a:t>
            </a:r>
            <a:r>
              <a:rPr lang="en-US" altLang="zh-CN" sz="5800" b="1" u="sng">
                <a:solidFill>
                  <a:srgbClr val="000099"/>
                </a:solidFill>
              </a:rPr>
              <a:t>r--</a:t>
            </a:r>
            <a:endParaRPr lang="en-US" altLang="zh-CN" sz="5800" b="1" u="sng">
              <a:solidFill>
                <a:srgbClr val="000099"/>
              </a:solidFill>
            </a:endParaRPr>
          </a:p>
          <a:p>
            <a:pPr algn="just">
              <a:spcBef>
                <a:spcPct val="0"/>
              </a:spcBef>
              <a:buClrTx/>
              <a:buNone/>
            </a:pPr>
            <a:r>
              <a:rPr lang="en-US" altLang="zh-CN" sz="3400" b="1">
                <a:solidFill>
                  <a:schemeClr val="hlink"/>
                </a:solidFill>
              </a:rPr>
              <a:t>	        1  1  0      1 0 0    1 0 0</a:t>
            </a:r>
            <a:endParaRPr lang="en-US" altLang="zh-CN" sz="3400" b="1">
              <a:solidFill>
                <a:schemeClr val="hlink"/>
              </a:solidFill>
            </a:endParaRPr>
          </a:p>
          <a:p>
            <a:pPr algn="just">
              <a:spcBef>
                <a:spcPct val="0"/>
              </a:spcBef>
              <a:buClrTx/>
              <a:buNone/>
            </a:pPr>
            <a:endParaRPr lang="en-US" altLang="zh-CN" sz="3400" b="1">
              <a:solidFill>
                <a:schemeClr val="hlink"/>
              </a:solidFill>
            </a:endParaRPr>
          </a:p>
          <a:p>
            <a:pPr algn="just">
              <a:spcBef>
                <a:spcPct val="0"/>
              </a:spcBef>
              <a:buClrTx/>
              <a:buNone/>
            </a:pPr>
            <a:endParaRPr lang="en-US" altLang="zh-CN" sz="3400" b="1">
              <a:solidFill>
                <a:schemeClr val="hlink"/>
              </a:solidFill>
            </a:endParaRPr>
          </a:p>
          <a:p>
            <a:pPr algn="just">
              <a:spcBef>
                <a:spcPct val="0"/>
              </a:spcBef>
              <a:buClrTx/>
              <a:buNone/>
            </a:pPr>
            <a:r>
              <a:rPr lang="en-US" altLang="zh-CN" sz="3400" b="1">
                <a:solidFill>
                  <a:schemeClr val="hlink"/>
                </a:solidFill>
              </a:rPr>
              <a:t>              </a:t>
            </a:r>
            <a:r>
              <a:rPr lang="en-US" altLang="zh-CN" sz="4300" b="1">
                <a:solidFill>
                  <a:schemeClr val="hlink"/>
                </a:solidFill>
              </a:rPr>
              <a:t>6         4         4</a:t>
            </a:r>
            <a:endParaRPr lang="en-US" altLang="zh-CN" sz="4300" b="1">
              <a:solidFill>
                <a:schemeClr val="hlink"/>
              </a:solidFill>
            </a:endParaRPr>
          </a:p>
          <a:p>
            <a:pPr algn="just">
              <a:spcBef>
                <a:spcPct val="0"/>
              </a:spcBef>
              <a:buClrTx/>
              <a:buNone/>
            </a:pPr>
            <a:r>
              <a:rPr lang="en-US" altLang="zh-CN"/>
              <a:t>                 </a:t>
            </a:r>
            <a:endParaRPr lang="en-US" altLang="zh-CN"/>
          </a:p>
        </p:txBody>
      </p:sp>
      <p:sp>
        <p:nvSpPr>
          <p:cNvPr id="54274" name="直接连接符 63490"/>
          <p:cNvSpPr/>
          <p:nvPr/>
        </p:nvSpPr>
        <p:spPr>
          <a:xfrm>
            <a:off x="5724525" y="270891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4275" name="直接连接符 63491"/>
          <p:cNvSpPr/>
          <p:nvPr/>
        </p:nvSpPr>
        <p:spPr>
          <a:xfrm>
            <a:off x="4284028" y="2705100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4276" name="直接连接符 63492"/>
          <p:cNvSpPr/>
          <p:nvPr/>
        </p:nvSpPr>
        <p:spPr>
          <a:xfrm>
            <a:off x="2555558" y="2708593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内容占位符 64513"/>
          <p:cNvSpPr>
            <a:spLocks noGrp="1"/>
          </p:cNvSpPr>
          <p:nvPr>
            <p:ph idx="4294967295"/>
          </p:nvPr>
        </p:nvSpPr>
        <p:spPr>
          <a:xfrm>
            <a:off x="566738" y="304800"/>
            <a:ext cx="8008937" cy="5715000"/>
          </a:xfrm>
        </p:spPr>
        <p:txBody>
          <a:bodyPr anchor="t"/>
          <a:lstStyle/>
          <a:p>
            <a:pPr>
              <a:buNone/>
            </a:pPr>
            <a:r>
              <a:rPr lang="zh-CN" altLang="en-US" b="1" dirty="0">
                <a:solidFill>
                  <a:srgbClr val="000099"/>
                </a:solidFill>
              </a:rPr>
              <a:t>练习：</a:t>
            </a:r>
            <a:endParaRPr lang="zh-CN" altLang="en-US" b="1" dirty="0">
              <a:solidFill>
                <a:srgbClr val="000099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rgbClr val="000099"/>
                </a:solidFill>
              </a:rPr>
              <a:t>下列权限字符串分别对应的</a:t>
            </a:r>
            <a:r>
              <a:rPr lang="en-US" altLang="zh-CN" b="1" dirty="0">
                <a:solidFill>
                  <a:srgbClr val="000099"/>
                </a:solidFill>
              </a:rPr>
              <a:t>8</a:t>
            </a:r>
            <a:r>
              <a:rPr lang="zh-CN" altLang="en-US" b="1" dirty="0">
                <a:solidFill>
                  <a:srgbClr val="000099"/>
                </a:solidFill>
              </a:rPr>
              <a:t>进制数是：</a:t>
            </a:r>
            <a:endParaRPr lang="zh-CN" altLang="en-US" b="1" dirty="0">
              <a:solidFill>
                <a:srgbClr val="000099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rgbClr val="000099"/>
              </a:solidFill>
            </a:endParaRPr>
          </a:p>
          <a:p>
            <a:pPr>
              <a:buNone/>
            </a:pPr>
            <a:r>
              <a:rPr lang="en-US" altLang="zh-CN" sz="3400" b="1" err="1">
                <a:solidFill>
                  <a:srgbClr val="000099"/>
                </a:solidFill>
              </a:rPr>
              <a:t>rwxr-xr-x</a:t>
            </a:r>
            <a:endParaRPr lang="en-US" altLang="zh-CN" sz="3400" b="1">
              <a:solidFill>
                <a:srgbClr val="000099"/>
              </a:solidFill>
            </a:endParaRPr>
          </a:p>
          <a:p>
            <a:pPr>
              <a:buNone/>
            </a:pPr>
            <a:r>
              <a:rPr lang="en-US" altLang="zh-CN" sz="3400" b="1" err="1">
                <a:solidFill>
                  <a:srgbClr val="000099"/>
                </a:solidFill>
              </a:rPr>
              <a:t>rwxr-xr</a:t>
            </a:r>
            <a:r>
              <a:rPr lang="en-US" altLang="zh-CN" sz="3400" b="1">
                <a:solidFill>
                  <a:srgbClr val="000099"/>
                </a:solidFill>
              </a:rPr>
              <a:t>--</a:t>
            </a:r>
            <a:endParaRPr lang="en-US" altLang="zh-CN" sz="3400" b="1">
              <a:solidFill>
                <a:srgbClr val="000099"/>
              </a:solidFill>
            </a:endParaRPr>
          </a:p>
          <a:p>
            <a:pPr>
              <a:buNone/>
            </a:pPr>
            <a:r>
              <a:rPr lang="en-US" altLang="zh-CN" sz="3400" b="1" err="1">
                <a:solidFill>
                  <a:srgbClr val="000099"/>
                </a:solidFill>
              </a:rPr>
              <a:t>rw-rw-r</a:t>
            </a:r>
            <a:r>
              <a:rPr lang="en-US" altLang="zh-CN" sz="3400" b="1">
                <a:solidFill>
                  <a:srgbClr val="000099"/>
                </a:solidFill>
              </a:rPr>
              <a:t>--</a:t>
            </a:r>
            <a:endParaRPr lang="en-US" altLang="zh-CN" sz="3400" b="1">
              <a:solidFill>
                <a:srgbClr val="000099"/>
              </a:solidFill>
            </a:endParaRPr>
          </a:p>
          <a:p>
            <a:pPr>
              <a:buNone/>
            </a:pPr>
            <a:endParaRPr lang="en-US" altLang="zh-CN" sz="3400" b="1">
              <a:solidFill>
                <a:srgbClr val="000099"/>
              </a:solidFill>
            </a:endParaRPr>
          </a:p>
        </p:txBody>
      </p:sp>
      <p:sp>
        <p:nvSpPr>
          <p:cNvPr id="64515" name="矩形 64514"/>
          <p:cNvSpPr/>
          <p:nvPr/>
        </p:nvSpPr>
        <p:spPr>
          <a:xfrm>
            <a:off x="3492500" y="1989138"/>
            <a:ext cx="1143000" cy="579437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eaLnBrk="0" hangingPunct="0">
              <a:buClrTx/>
            </a:pPr>
            <a:r>
              <a:rPr lang="en-US" altLang="zh-CN" sz="3200" b="1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755</a:t>
            </a:r>
            <a:endParaRPr lang="en-US" altLang="zh-CN" sz="3200" b="1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6" name="矩形 64515"/>
          <p:cNvSpPr/>
          <p:nvPr/>
        </p:nvSpPr>
        <p:spPr>
          <a:xfrm>
            <a:off x="3492500" y="2708275"/>
            <a:ext cx="1143000" cy="579438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eaLnBrk="0" hangingPunct="0">
              <a:buClrTx/>
            </a:pPr>
            <a:r>
              <a:rPr lang="en-US" altLang="zh-CN" sz="3200" b="1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754</a:t>
            </a:r>
            <a:endParaRPr lang="en-US" altLang="zh-CN" sz="3200" b="1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7" name="矩形 64516"/>
          <p:cNvSpPr/>
          <p:nvPr/>
        </p:nvSpPr>
        <p:spPr>
          <a:xfrm>
            <a:off x="3492500" y="3357563"/>
            <a:ext cx="1143000" cy="579437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 eaLnBrk="0" hangingPunct="0">
              <a:buClrTx/>
            </a:pPr>
            <a:r>
              <a:rPr lang="en-US" altLang="zh-CN" sz="3200" b="1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664</a:t>
            </a:r>
            <a:endParaRPr lang="en-US" altLang="zh-CN" sz="3200" b="1">
              <a:solidFill>
                <a:schemeClr val="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  <p:bldP spid="64516" grpId="0" build="p"/>
      <p:bldP spid="6451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文本框 60417"/>
          <p:cNvSpPr txBox="1"/>
          <p:nvPr/>
        </p:nvSpPr>
        <p:spPr>
          <a:xfrm>
            <a:off x="539750" y="980440"/>
            <a:ext cx="822960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示例</a:t>
            </a:r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 dirty="0">
              <a:solidFill>
                <a:schemeClr val="accent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3200" b="1">
              <a:solidFill>
                <a:srgbClr val="00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700530"/>
            <a:ext cx="7422515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1024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>
                <a:solidFill>
                  <a:schemeClr val="tx2"/>
                </a:solidFill>
              </a:rPr>
              <a:t>三、文件的特殊权限 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56322" name="文本占位符 1024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11220"/>
          </a:xfrm>
        </p:spPr>
        <p:txBody>
          <a:bodyPr anchor="t"/>
          <a:lstStyle/>
          <a:p>
            <a:pPr marL="0" indent="0">
              <a:buClr>
                <a:schemeClr val="folHlink"/>
              </a:buClr>
              <a:buNone/>
            </a:pPr>
            <a:r>
              <a:rPr lang="zh-CN" altLang="en-US" sz="2800" b="1" dirty="0">
                <a:solidFill>
                  <a:schemeClr val="accent6"/>
                </a:solidFill>
              </a:rPr>
              <a:t>文件的特殊权限有：</a:t>
            </a:r>
            <a:r>
              <a:rPr lang="en-US" altLang="zh-CN" sz="2800" b="1" dirty="0">
                <a:solidFill>
                  <a:schemeClr val="accent6"/>
                </a:solidFill>
              </a:rPr>
              <a:t>SUID</a:t>
            </a:r>
            <a:r>
              <a:rPr lang="zh-CN" altLang="en-US" sz="2800" b="1" dirty="0">
                <a:solidFill>
                  <a:schemeClr val="accent6"/>
                </a:solidFill>
              </a:rPr>
              <a:t>、</a:t>
            </a:r>
            <a:r>
              <a:rPr lang="en-US" altLang="zh-CN" sz="2800" b="1" dirty="0">
                <a:solidFill>
                  <a:schemeClr val="accent6"/>
                </a:solidFill>
              </a:rPr>
              <a:t>SGID</a:t>
            </a:r>
            <a:r>
              <a:rPr lang="zh-CN" altLang="en-US" sz="2800" b="1" dirty="0">
                <a:solidFill>
                  <a:schemeClr val="accent6"/>
                </a:solidFill>
              </a:rPr>
              <a:t>和</a:t>
            </a:r>
            <a:r>
              <a:rPr lang="en-US" altLang="zh-CN" sz="2800" b="1" dirty="0">
                <a:solidFill>
                  <a:schemeClr val="accent6"/>
                </a:solidFill>
              </a:rPr>
              <a:t>Sticky</a:t>
            </a:r>
            <a:endParaRPr lang="zh-CN" altLang="en-US" sz="2800" b="1" dirty="0">
              <a:solidFill>
                <a:schemeClr val="accent6"/>
              </a:solidFill>
            </a:endParaRPr>
          </a:p>
          <a:p>
            <a:pPr marL="0" indent="0">
              <a:buClr>
                <a:schemeClr val="folHlink"/>
              </a:buClr>
              <a:buNone/>
            </a:pPr>
            <a:r>
              <a:rPr lang="zh-CN" altLang="en-US" sz="2800" b="1" err="1">
                <a:solidFill>
                  <a:schemeClr val="accent6"/>
                </a:solidFill>
              </a:rPr>
              <a:t>作用范围：</a:t>
            </a:r>
            <a:endParaRPr lang="en-US" altLang="zh-CN" sz="2800" b="1" err="1">
              <a:solidFill>
                <a:schemeClr val="tx1"/>
              </a:solidFill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en-US" altLang="zh-CN" sz="2800" b="1" err="1">
                <a:solidFill>
                  <a:schemeClr val="tx1"/>
                </a:solidFill>
              </a:rPr>
              <a:t>suid/sgid</a:t>
            </a:r>
            <a:r>
              <a:rPr lang="zh-CN" altLang="en-US" sz="2800" b="1" dirty="0">
                <a:solidFill>
                  <a:schemeClr val="tx1"/>
                </a:solidFill>
              </a:rPr>
              <a:t>程序 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目录的</a:t>
            </a:r>
            <a:r>
              <a:rPr lang="en-US" altLang="zh-CN" sz="2800" b="1" dirty="0">
                <a:solidFill>
                  <a:schemeClr val="tx1"/>
                </a:solidFill>
              </a:rPr>
              <a:t>s</a:t>
            </a:r>
            <a:r>
              <a:rPr lang="zh-CN" altLang="en-US" sz="2800" b="1" dirty="0">
                <a:solidFill>
                  <a:schemeClr val="tx1"/>
                </a:solidFill>
              </a:rPr>
              <a:t>属性 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>
              <a:buClr>
                <a:srgbClr val="006633"/>
              </a:buClr>
              <a:buFont typeface="Wingdings" panose="05000000000000000000" charset="0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目录的</a:t>
            </a:r>
            <a:r>
              <a:rPr lang="en-US" altLang="zh-CN" sz="2800" b="1" dirty="0">
                <a:solidFill>
                  <a:schemeClr val="tx1"/>
                </a:solidFill>
              </a:rPr>
              <a:t>t</a:t>
            </a:r>
            <a:r>
              <a:rPr lang="zh-CN" altLang="en-US" sz="2800" b="1" dirty="0">
                <a:solidFill>
                  <a:schemeClr val="tx1"/>
                </a:solidFill>
              </a:rPr>
              <a:t>属性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  <a:endParaRPr lang="zh-CN" alt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800" b="1" dirty="0">
                <a:solidFill>
                  <a:schemeClr val="accent6"/>
                </a:solidFill>
              </a:rPr>
              <a:t>特殊权限的具体内容会放在多用户管理中详细介绍</a:t>
            </a:r>
            <a:endParaRPr lang="zh-CN" altLang="en-US" b="1" dirty="0">
              <a:solidFill>
                <a:schemeClr val="hlink"/>
              </a:solidFill>
            </a:endParaRPr>
          </a:p>
          <a:p>
            <a:pPr marL="571500" indent="-57150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文本占位符 72706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zh-CN" altLang="en-US" sz="2800" b="1" dirty="0">
                <a:solidFill>
                  <a:schemeClr val="accent6"/>
                </a:solidFill>
              </a:rPr>
              <a:t>文件的默认权限是指新创建的文件所拥有的权限，系统规定：</a:t>
            </a:r>
            <a:endParaRPr lang="zh-CN" altLang="en-US" sz="2800" b="1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文件创建时的默认权限</a:t>
            </a:r>
            <a:r>
              <a:rPr lang="zh-CN" altLang="en-US" sz="2800" b="1">
                <a:solidFill>
                  <a:schemeClr val="tx1"/>
                </a:solidFill>
              </a:rPr>
              <a:t>是</a:t>
            </a:r>
            <a:endParaRPr lang="zh-CN" altLang="en-US" sz="28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                (rw-  rw-  rw-)-umask</a:t>
            </a:r>
            <a:endParaRPr lang="en-US" altLang="zh-CN" sz="28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目录创建时的默认权限是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                    </a:t>
            </a:r>
            <a:r>
              <a:rPr lang="en-US" altLang="zh-CN" sz="2800" b="1">
                <a:solidFill>
                  <a:schemeClr val="tx1"/>
                </a:solidFill>
                <a:sym typeface="+mn-ea"/>
              </a:rPr>
              <a:t> (rwx  rwx  rwx)</a:t>
            </a:r>
            <a:r>
              <a:rPr lang="en-US" altLang="zh-CN" sz="2800" b="1">
                <a:solidFill>
                  <a:schemeClr val="tx1"/>
                </a:solidFill>
              </a:rPr>
              <a:t>-umask</a:t>
            </a:r>
            <a:endParaRPr lang="en-US" altLang="zh-CN" sz="2800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系统默认</a:t>
            </a:r>
            <a:r>
              <a:rPr lang="en-US" altLang="zh-CN" sz="2800" b="1" dirty="0">
                <a:solidFill>
                  <a:schemeClr val="tx1"/>
                </a:solidFill>
              </a:rPr>
              <a:t>umask</a:t>
            </a:r>
            <a:r>
              <a:rPr lang="zh-CN" altLang="en-US" sz="2800" b="1" dirty="0">
                <a:solidFill>
                  <a:schemeClr val="tx1"/>
                </a:solidFill>
              </a:rPr>
              <a:t>掩码是</a:t>
            </a:r>
            <a:r>
              <a:rPr lang="en-US" altLang="zh-CN" sz="2800" b="1" dirty="0">
                <a:solidFill>
                  <a:schemeClr val="tx1"/>
                </a:solidFill>
              </a:rPr>
              <a:t>0022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57346" name="标题 72708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四、文件默认权限umask掩码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5156835"/>
            <a:ext cx="4990465" cy="8350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7772400" cy="78359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三、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LINUX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链接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文件</a:t>
            </a:r>
            <a:endParaRPr lang="zh-CN" altLang="en-US" dirty="0">
              <a:latin typeface="Verdana" panose="020B060403050404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1126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/>
            <a:r>
              <a:rPr lang="zh-CN" altLang="en-US" dirty="0"/>
              <a:t>文件的链接</a:t>
            </a:r>
            <a:endParaRPr lang="zh-CN" altLang="en-US" dirty="0"/>
          </a:p>
        </p:txBody>
      </p:sp>
      <p:sp>
        <p:nvSpPr>
          <p:cNvPr id="58370" name="文本占位符 1126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93820"/>
          </a:xfrm>
        </p:spPr>
        <p:txBody>
          <a:bodyPr anchor="t"/>
          <a:lstStyle/>
          <a:p>
            <a:pPr>
              <a:buFont typeface="Wingdings" panose="05000000000000000000" charset="0"/>
              <a:buChar char="Ø"/>
            </a:pPr>
            <a:r>
              <a:rPr lang="zh-CN" altLang="en-US" dirty="0"/>
              <a:t>硬链接 </a:t>
            </a:r>
            <a:endParaRPr lang="zh-CN" altLang="en-US" dirty="0"/>
          </a:p>
          <a:p>
            <a:pPr marL="344170" lvl="1" indent="0">
              <a:buNone/>
            </a:pPr>
            <a:r>
              <a:rPr lang="zh-CN" altLang="en-US" dirty="0"/>
              <a:t>不带选项，</a:t>
            </a:r>
            <a:r>
              <a:rPr lang="en-US" altLang="zh-CN" err="1"/>
              <a:t>ln</a:t>
            </a:r>
            <a:r>
              <a:rPr lang="zh-CN" altLang="en-US" dirty="0"/>
              <a:t>命令创建硬链接。在另外的目录或本目录中增加目标文件的一个目录项，一个文件就登记在多个目录中。</a:t>
            </a:r>
            <a:endParaRPr lang="zh-CN" altLang="en-US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dirty="0">
                <a:sym typeface="+mn-ea"/>
              </a:rPr>
              <a:t>符号链接</a:t>
            </a:r>
            <a:r>
              <a:rPr lang="en-US" altLang="zh-CN" dirty="0"/>
              <a:t>(</a:t>
            </a:r>
            <a:r>
              <a:rPr lang="zh-CN" altLang="en-US" dirty="0">
                <a:sym typeface="+mn-ea"/>
              </a:rPr>
              <a:t>软链接</a:t>
            </a:r>
            <a:r>
              <a:rPr lang="zh-CN" altLang="en-US" dirty="0"/>
              <a:t> </a:t>
            </a:r>
            <a:r>
              <a:rPr lang="en-US" altLang="zh-CN"/>
              <a:t>) </a:t>
            </a:r>
            <a:endParaRPr lang="en-US" altLang="zh-CN"/>
          </a:p>
          <a:p>
            <a:pPr marL="344170" lvl="1" indent="0">
              <a:buNone/>
            </a:pPr>
            <a:r>
              <a:rPr lang="zh-CN" altLang="en-US" dirty="0"/>
              <a:t>用“</a:t>
            </a:r>
            <a:r>
              <a:rPr lang="en-US" altLang="zh-CN" err="1"/>
              <a:t>ln</a:t>
            </a:r>
            <a:r>
              <a:rPr lang="en-US" altLang="zh-CN" dirty="0"/>
              <a:t> -s”</a:t>
            </a:r>
            <a:r>
              <a:rPr lang="zh-CN" altLang="en-US" dirty="0"/>
              <a:t>命令建立符号链接时，最好源文件用绝对路径名，这样可以在任何工作目录下进行符号链接。类似于</a:t>
            </a:r>
            <a:r>
              <a:rPr lang="en-US" altLang="zh-CN" dirty="0"/>
              <a:t>Windows</a:t>
            </a:r>
            <a:r>
              <a:rPr lang="zh-CN" altLang="en-US" dirty="0"/>
              <a:t>系统中的快捷方式。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文本占位符 65538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2343150"/>
          </a:xfrm>
        </p:spPr>
        <p:txBody>
          <a:bodyPr wrap="square" lIns="91440" tIns="45720" rIns="91440" bIns="45720" anchor="t"/>
          <a:lstStyle/>
          <a:p>
            <a:pPr>
              <a:buNone/>
            </a:pPr>
            <a:r>
              <a:rPr lang="en-US" altLang="zh-CN" sz="2600" b="1" dirty="0">
                <a:solidFill>
                  <a:schemeClr val="accent6"/>
                </a:solidFill>
              </a:rPr>
              <a:t>1</a:t>
            </a:r>
            <a:r>
              <a:rPr lang="zh-CN" altLang="en-US" sz="2600" b="1" dirty="0">
                <a:solidFill>
                  <a:schemeClr val="accent6"/>
                </a:solidFill>
              </a:rPr>
              <a:t>．硬链接：在另外的目录或本目录中增加目标文件的一个目录项。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    有如下限制：</a:t>
            </a:r>
            <a:r>
              <a:rPr lang="zh-CN" altLang="en-US" sz="2600" b="1" dirty="0">
                <a:ea typeface="楷体_GB2312" pitchFamily="49" charset="-122"/>
              </a:rPr>
              <a:t>不能对目录文件做硬链接；不能在不同的文件系统之间做硬链接，不能跨分区建立硬链接。</a:t>
            </a:r>
            <a:r>
              <a:rPr lang="zh-CN" altLang="en-US" sz="2600" dirty="0"/>
              <a:t>   </a:t>
            </a:r>
            <a:endParaRPr lang="zh-CN" altLang="en-US" sz="2600" dirty="0"/>
          </a:p>
          <a:p>
            <a:pPr>
              <a:buNone/>
            </a:pPr>
            <a:r>
              <a:rPr lang="zh-CN" altLang="en-US" dirty="0"/>
              <a:t>  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</a:t>
            </a:r>
            <a:r>
              <a:rPr lang="zh-CN" altLang="en-US"/>
              <a:t> 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7" name="图片 66561" descr="t34"/>
          <p:cNvPicPr>
            <a:picLocks noChangeAspect="1"/>
          </p:cNvPicPr>
          <p:nvPr/>
        </p:nvPicPr>
        <p:blipFill>
          <a:blip r:embed="rId1"/>
          <a:srcRect t="1489" b="1489"/>
          <a:stretch>
            <a:fillRect/>
          </a:stretch>
        </p:blipFill>
        <p:spPr>
          <a:xfrm>
            <a:off x="609600" y="1524000"/>
            <a:ext cx="8077200" cy="4786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文本占位符 67585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3846195"/>
          </a:xfrm>
        </p:spPr>
        <p:txBody>
          <a:bodyPr anchor="t"/>
          <a:lstStyle/>
          <a:p>
            <a:pPr>
              <a:buNone/>
            </a:pPr>
            <a:r>
              <a:rPr lang="en-US" altLang="zh-CN" sz="2600" b="1" dirty="0">
                <a:solidFill>
                  <a:schemeClr val="accent6"/>
                </a:solidFill>
              </a:rPr>
              <a:t>2</a:t>
            </a:r>
            <a:r>
              <a:rPr lang="zh-CN" altLang="en-US" sz="2600" b="1" dirty="0">
                <a:solidFill>
                  <a:schemeClr val="accent6"/>
                </a:solidFill>
              </a:rPr>
              <a:t>．符号链接也称为软链接，是将一个路径名链接到一个文件（一种特别类型的文件）。</a:t>
            </a:r>
            <a:r>
              <a:rPr lang="zh-CN" altLang="en-US" sz="2600" b="1" dirty="0"/>
              <a:t>    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    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与硬链接的不同：         </a:t>
            </a:r>
            <a:endParaRPr lang="zh-CN" altLang="en-US" sz="2600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sz="2600" b="1" dirty="0"/>
              <a:t>符号链接确实是一个新文件，它有不同的</a:t>
            </a:r>
            <a:r>
              <a:rPr lang="en-US" altLang="zh-CN" sz="2600" b="1" dirty="0"/>
              <a:t>i</a:t>
            </a:r>
            <a:r>
              <a:rPr lang="zh-CN" altLang="en-US" sz="2600" b="1" dirty="0"/>
              <a:t>节点号；而硬链接并没有建立新文件。 </a:t>
            </a:r>
            <a:endParaRPr lang="zh-CN" altLang="en-US" sz="2600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sz="2600" b="1" dirty="0"/>
              <a:t>符号链接没有硬链接的限制，可以对目录文件做符号链接，也可以在不同文件系统之间做符号链接。</a:t>
            </a:r>
            <a:endParaRPr lang="zh-CN" altLang="en-US" sz="260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文本占位符 68609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57800"/>
          </a:xfrm>
        </p:spPr>
        <p:txBody>
          <a:bodyPr anchor="t"/>
          <a:lstStyle/>
          <a:p>
            <a:pPr algn="just">
              <a:buNone/>
            </a:pPr>
            <a:r>
              <a:rPr lang="en-US" altLang="zh-CN" sz="2600" b="1" dirty="0"/>
              <a:t>3</a:t>
            </a:r>
            <a:r>
              <a:rPr lang="zh-CN" altLang="en-US" sz="2600" b="1" dirty="0"/>
              <a:t>．</a:t>
            </a:r>
            <a:r>
              <a:rPr lang="en-US" altLang="zh-CN" sz="2600" b="1" err="1"/>
              <a:t>ln</a:t>
            </a:r>
            <a:r>
              <a:rPr lang="zh-CN" altLang="en-US" sz="2600" b="1" dirty="0"/>
              <a:t>命令</a:t>
            </a:r>
            <a:endParaRPr lang="zh-CN" altLang="en-US" sz="2600" b="1" dirty="0"/>
          </a:p>
          <a:p>
            <a:pPr algn="just">
              <a:buNone/>
            </a:pP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一般格式：</a:t>
            </a:r>
            <a:r>
              <a:rPr lang="en-US" altLang="zh-CN" sz="2600" b="1" err="1"/>
              <a:t>ln</a:t>
            </a:r>
            <a:r>
              <a:rPr lang="en-US" altLang="zh-CN" sz="2600" b="1" dirty="0"/>
              <a:t>  [</a:t>
            </a:r>
            <a:r>
              <a:rPr lang="zh-CN" altLang="en-US" sz="2600" b="1" dirty="0"/>
              <a:t>选项</a:t>
            </a:r>
            <a:r>
              <a:rPr lang="en-US" altLang="zh-CN" sz="2600" b="1" dirty="0"/>
              <a:t>]  </a:t>
            </a:r>
            <a:r>
              <a:rPr lang="zh-CN" altLang="en-US" sz="2600" b="1" dirty="0"/>
              <a:t>源文件  </a:t>
            </a:r>
            <a:r>
              <a:rPr lang="en-US" altLang="zh-CN" sz="2600" b="1" dirty="0"/>
              <a:t>[</a:t>
            </a:r>
            <a:r>
              <a:rPr lang="zh-CN" altLang="en-US" sz="2600" b="1" dirty="0"/>
              <a:t>目标文件</a:t>
            </a:r>
            <a:r>
              <a:rPr lang="en-US" altLang="zh-CN" sz="2600" b="1"/>
              <a:t>]</a:t>
            </a:r>
            <a:endParaRPr lang="en-US" altLang="zh-CN" sz="2600" b="1"/>
          </a:p>
          <a:p>
            <a:pPr marL="0" indent="0">
              <a:buNone/>
            </a:pPr>
            <a:r>
              <a:rPr lang="zh-CN" altLang="en-US" sz="2600" b="1" dirty="0"/>
              <a:t>说明：用来创建链接 </a:t>
            </a: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选项：</a:t>
            </a:r>
            <a:endParaRPr lang="zh-CN" altLang="en-US" sz="2600" b="1" dirty="0"/>
          </a:p>
          <a:p>
            <a:pPr>
              <a:buNone/>
            </a:pPr>
            <a:r>
              <a:rPr lang="zh-CN" altLang="en-US" sz="2600" b="1" dirty="0"/>
              <a:t>    </a:t>
            </a:r>
            <a:r>
              <a:rPr lang="en-US" altLang="zh-CN" sz="2600" b="1" dirty="0"/>
              <a:t>-s    </a:t>
            </a:r>
            <a:r>
              <a:rPr lang="zh-CN" altLang="en-US" sz="2600" b="1" dirty="0"/>
              <a:t>建立符号链接，而不是硬链接。</a:t>
            </a:r>
            <a:endParaRPr lang="zh-CN" altLang="en-US" sz="2600" b="1" dirty="0"/>
          </a:p>
          <a:p>
            <a:pPr>
              <a:buNone/>
            </a:pP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注意：符号链接文件不是一个独立的文件，它的许多属性依赖于源文件，给符号链接文件设置存取权限是没有意义的，</a:t>
            </a:r>
            <a:r>
              <a:rPr lang="zh-CN" altLang="en-US" sz="2600" b="1" dirty="0">
                <a:sym typeface="+mn-ea"/>
              </a:rPr>
              <a:t>符号链接的权限是</a:t>
            </a:r>
            <a:r>
              <a:rPr lang="en-US" altLang="zh-CN" sz="2600" b="1" dirty="0">
                <a:sym typeface="+mn-ea"/>
              </a:rPr>
              <a:t>rwxrwxrwx</a:t>
            </a:r>
            <a:r>
              <a:rPr lang="zh-CN" altLang="en-US" sz="2600" b="1" dirty="0"/>
              <a:t>。 </a:t>
            </a:r>
            <a:endParaRPr lang="zh-CN" altLang="en-US" sz="2600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矩形 69634"/>
          <p:cNvSpPr/>
          <p:nvPr/>
        </p:nvSpPr>
        <p:spPr>
          <a:xfrm>
            <a:off x="533400" y="5044440"/>
            <a:ext cx="7620000" cy="1198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buClrTx/>
            </a:pPr>
            <a:r>
              <a:rPr lang="zh-CN" altLang="en-US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假设当前目录为</a:t>
            </a:r>
            <a:r>
              <a:rPr lang="en-US" altLang="zh-CN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liu</a:t>
            </a:r>
            <a:r>
              <a:rPr lang="zh-CN" altLang="en-US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，建立</a:t>
            </a:r>
            <a:r>
              <a:rPr lang="en-US" altLang="zh-CN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mub1</a:t>
            </a:r>
            <a:r>
              <a:rPr lang="zh-CN" altLang="en-US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的符号链接文件</a:t>
            </a:r>
            <a:r>
              <a:rPr lang="en-US" altLang="zh-CN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abc</a:t>
            </a:r>
            <a:endParaRPr lang="en-US" altLang="zh-CN" sz="2400" b="1" err="1">
              <a:solidFill>
                <a:schemeClr val="accent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</a:pPr>
            <a:r>
              <a:rPr lang="en-US" altLang="zh-CN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ln    -s    /usr/mengqc/mub1   abc</a:t>
            </a:r>
            <a:endParaRPr lang="en-US" altLang="zh-CN" sz="2400" b="1" err="1">
              <a:solidFill>
                <a:schemeClr val="accent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</a:pPr>
            <a:r>
              <a:rPr lang="zh-CN" altLang="en-US" sz="2400" b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或 </a:t>
            </a:r>
            <a:r>
              <a:rPr lang="en-US" altLang="zh-CN" sz="2400" b="1" err="1">
                <a:solidFill>
                  <a:schemeClr val="accent6"/>
                </a:solidFill>
                <a:sym typeface="+mn-ea"/>
              </a:rPr>
              <a:t>ln    -s    ../mengqc/mub1   abc</a:t>
            </a:r>
            <a:endParaRPr lang="en-US" altLang="zh-CN" sz="2400" b="1" err="1">
              <a:solidFill>
                <a:schemeClr val="accent6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0417" name="图片 66561" descr="t34"/>
          <p:cNvPicPr>
            <a:picLocks noChangeAspect="1"/>
          </p:cNvPicPr>
          <p:nvPr/>
        </p:nvPicPr>
        <p:blipFill>
          <a:blip r:embed="rId1"/>
          <a:srcRect t="1489" b="1489"/>
          <a:stretch>
            <a:fillRect/>
          </a:stretch>
        </p:blipFill>
        <p:spPr>
          <a:xfrm>
            <a:off x="533400" y="149225"/>
            <a:ext cx="8077200" cy="4786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69635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矩形 69634"/>
          <p:cNvSpPr/>
          <p:nvPr/>
        </p:nvSpPr>
        <p:spPr>
          <a:xfrm>
            <a:off x="533400" y="5059680"/>
            <a:ext cx="7620000" cy="1198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p>
            <a:pPr eaLnBrk="0" hangingPunct="0">
              <a:buClrTx/>
            </a:pPr>
            <a:r>
              <a:rPr lang="zh-CN" altLang="en-US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假设当前目录为</a:t>
            </a:r>
            <a:r>
              <a:rPr lang="en-US" altLang="zh-CN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liu</a:t>
            </a:r>
            <a:r>
              <a:rPr lang="zh-CN" altLang="en-US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，建立</a:t>
            </a:r>
            <a:r>
              <a:rPr lang="en-US" altLang="zh-CN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m2.c</a:t>
            </a:r>
            <a:r>
              <a:rPr lang="zh-CN" altLang="en-US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的硬链接文件</a:t>
            </a:r>
            <a:endParaRPr lang="en-US" altLang="zh-CN" sz="2400" b="1" err="1">
              <a:solidFill>
                <a:schemeClr val="accent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</a:pPr>
            <a:r>
              <a:rPr lang="en-US" altLang="zh-CN" sz="2400" b="1" err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ln        /usr/mengqc/mub1/m2.c    m2.c</a:t>
            </a:r>
            <a:endParaRPr lang="en-US" altLang="zh-CN" sz="2400" b="1" err="1">
              <a:solidFill>
                <a:schemeClr val="accent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ClrTx/>
            </a:pPr>
            <a:r>
              <a:rPr lang="zh-CN" altLang="en-US" sz="2400" b="1">
                <a:solidFill>
                  <a:schemeClr val="accent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或 </a:t>
            </a:r>
            <a:r>
              <a:rPr lang="en-US" altLang="zh-CN" sz="2400" b="1" err="1">
                <a:solidFill>
                  <a:schemeClr val="accent6"/>
                </a:solidFill>
                <a:sym typeface="+mn-ea"/>
              </a:rPr>
              <a:t>ln        ../mengqc/mub1/m2.c    m2.c</a:t>
            </a:r>
            <a:endParaRPr lang="en-US" altLang="zh-CN" sz="2400" b="1" err="1">
              <a:solidFill>
                <a:schemeClr val="accent6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66561" descr="t34"/>
          <p:cNvPicPr>
            <a:picLocks noChangeAspect="1"/>
          </p:cNvPicPr>
          <p:nvPr/>
        </p:nvPicPr>
        <p:blipFill>
          <a:blip r:embed="rId1"/>
          <a:srcRect t="1489" b="1489"/>
          <a:stretch>
            <a:fillRect/>
          </a:stretch>
        </p:blipFill>
        <p:spPr>
          <a:xfrm>
            <a:off x="533400" y="149225"/>
            <a:ext cx="8077200" cy="4786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标题 74753"/>
          <p:cNvSpPr>
            <a:spLocks noGrp="1"/>
          </p:cNvSpPr>
          <p:nvPr>
            <p:ph type="title"/>
          </p:nvPr>
        </p:nvSpPr>
        <p:spPr>
          <a:xfrm>
            <a:off x="395605" y="817880"/>
            <a:ext cx="8229600" cy="643255"/>
          </a:xfrm>
        </p:spPr>
        <p:txBody>
          <a:bodyPr anchor="b"/>
          <a:lstStyle/>
          <a:p>
            <a:r>
              <a:rPr lang="zh-CN" altLang="en-US" sz="4000" b="1" dirty="0">
                <a:solidFill>
                  <a:schemeClr val="accent6"/>
                </a:solidFill>
              </a:rPr>
              <a:t>补充</a:t>
            </a:r>
            <a:r>
              <a:rPr lang="en-US" altLang="zh-CN" sz="4000" b="1" dirty="0">
                <a:solidFill>
                  <a:schemeClr val="accent6"/>
                </a:solidFill>
              </a:rPr>
              <a:t>cp</a:t>
            </a:r>
            <a:r>
              <a:rPr lang="zh-CN" altLang="en-US" sz="4000" b="1" dirty="0">
                <a:solidFill>
                  <a:schemeClr val="accent6"/>
                </a:solidFill>
              </a:rPr>
              <a:t>命令</a:t>
            </a:r>
            <a:endParaRPr lang="zh-CN" altLang="en-US" sz="4000" b="1" dirty="0">
              <a:solidFill>
                <a:schemeClr val="accent6"/>
              </a:solidFill>
            </a:endParaRPr>
          </a:p>
        </p:txBody>
      </p:sp>
      <p:sp>
        <p:nvSpPr>
          <p:cNvPr id="66562" name="文本占位符 7475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17035"/>
          </a:xfrm>
        </p:spPr>
        <p:txBody>
          <a:bodyPr anchor="t"/>
          <a:lstStyle/>
          <a:p>
            <a:pPr>
              <a:buNone/>
            </a:pPr>
            <a:r>
              <a:rPr lang="zh-CN" altLang="en-US" sz="2400" b="1" dirty="0"/>
              <a:t>一般格式：</a:t>
            </a:r>
            <a:r>
              <a:rPr lang="en-US" altLang="zh-CN" sz="2400" b="1" dirty="0"/>
              <a:t>cp  [</a:t>
            </a:r>
            <a:r>
              <a:rPr lang="zh-CN" altLang="en-US" sz="2400" b="1" dirty="0"/>
              <a:t>选项</a:t>
            </a:r>
            <a:r>
              <a:rPr lang="en-US" altLang="zh-CN" sz="2400" b="1" dirty="0"/>
              <a:t>]  </a:t>
            </a:r>
            <a:r>
              <a:rPr lang="zh-CN" altLang="en-US" sz="2400" b="1" dirty="0"/>
              <a:t>源文件或目录  目标文件或目录</a:t>
            </a:r>
            <a:endParaRPr lang="zh-CN" altLang="en-US" sz="2400" b="1" dirty="0"/>
          </a:p>
          <a:p>
            <a:pPr>
              <a:buNone/>
            </a:pPr>
            <a:r>
              <a:rPr lang="zh-CN" altLang="en-US" sz="2400" b="1" dirty="0"/>
              <a:t>说明：将源文件或目录复制到目标文件或目录中</a:t>
            </a:r>
            <a:r>
              <a:rPr lang="zh-CN" altLang="en-US" sz="2400" dirty="0"/>
              <a:t> 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选项：</a:t>
            </a:r>
            <a:endParaRPr lang="zh-CN" altLang="en-US" sz="2400" dirty="0"/>
          </a:p>
          <a:p>
            <a:pPr>
              <a:buNone/>
            </a:pPr>
            <a:r>
              <a:rPr lang="en-US" altLang="zh-CN" sz="2200" dirty="0"/>
              <a:t>l    </a:t>
            </a:r>
            <a:r>
              <a:rPr lang="zh-CN" altLang="en-US" sz="2200" dirty="0"/>
              <a:t>进行硬链接的链接文件创建，而非复制文件本身。</a:t>
            </a:r>
            <a:endParaRPr lang="zh-CN" altLang="en-US" sz="2200" dirty="0"/>
          </a:p>
          <a:p>
            <a:pPr>
              <a:buNone/>
            </a:pPr>
            <a:r>
              <a:rPr lang="en-US" altLang="zh-CN" sz="2200" dirty="0"/>
              <a:t>s   </a:t>
            </a:r>
            <a:r>
              <a:rPr lang="zh-CN" altLang="en-US" sz="2200" dirty="0"/>
              <a:t>复制成为符号链接文件。</a:t>
            </a:r>
            <a:endParaRPr lang="zh-CN" altLang="en-US" sz="2200" dirty="0"/>
          </a:p>
          <a:p>
            <a:pPr>
              <a:buNone/>
            </a:pPr>
            <a:r>
              <a:rPr lang="en-US" altLang="zh-CN" sz="2200" dirty="0">
                <a:sym typeface="+mn-ea"/>
              </a:rPr>
              <a:t>u   </a:t>
            </a:r>
            <a:r>
              <a:rPr lang="zh-CN" altLang="en-US" sz="2200" dirty="0">
                <a:sym typeface="+mn-ea"/>
              </a:rPr>
              <a:t>若目标文件比源文件旧才更新目标文件。</a:t>
            </a:r>
            <a:endParaRPr lang="zh-CN" altLang="en-US" sz="2200" dirty="0"/>
          </a:p>
          <a:p>
            <a:pPr>
              <a:buNone/>
            </a:pPr>
            <a:r>
              <a:rPr lang="en-US" altLang="zh-CN" sz="2200" dirty="0">
                <a:sym typeface="+mn-ea"/>
              </a:rPr>
              <a:t>d   </a:t>
            </a:r>
            <a:r>
              <a:rPr lang="zh-CN" altLang="en-US" sz="2200" dirty="0">
                <a:sym typeface="+mn-ea"/>
              </a:rPr>
              <a:t>若源文件为链接文件的属性，则复制链接文件属性而非文件本身。</a:t>
            </a:r>
            <a:endParaRPr lang="zh-CN" altLang="en-US" sz="2200" dirty="0"/>
          </a:p>
          <a:p>
            <a:pPr>
              <a:buNone/>
            </a:pP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a   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相当于</a:t>
            </a:r>
            <a:r>
              <a:rPr lang="en-US" altLang="zh-CN" sz="22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-dr --preserve=all ,</a:t>
            </a:r>
            <a:r>
              <a:rPr lang="zh-CN" altLang="en-US" sz="22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递归地将源目录下的所有子目录及其文件都复制到目标目录中，并且保留文件链接和文件属性不变。</a:t>
            </a:r>
            <a:endParaRPr lang="zh-CN" altLang="en-US" sz="2200" dirty="0"/>
          </a:p>
          <a:p>
            <a:pPr>
              <a:buNone/>
            </a:pPr>
            <a:endParaRPr lang="zh-CN" altLang="en-US" sz="2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515,&quot;width&quot;:10095}"/>
</p:tagLst>
</file>

<file path=ppt/tags/tag2.xml><?xml version="1.0" encoding="utf-8"?>
<p:tagLst xmlns:p="http://schemas.openxmlformats.org/presentationml/2006/main">
  <p:tag name="KSO_WM_UNIT_PLACING_PICTURE_USER_VIEWPORT" val="{&quot;height&quot;:3000,&quot;width&quot;:6540}"/>
</p:tagLst>
</file>

<file path=ppt/tags/tag3.xml><?xml version="1.0" encoding="utf-8"?>
<p:tagLst xmlns:p="http://schemas.openxmlformats.org/presentationml/2006/main">
  <p:tag name="KSO_WM_UNIT_PLACING_PICTURE_USER_VIEWPORT" val="{&quot;height&quot;:1476,&quot;width&quot;:11343}"/>
</p:tagLst>
</file>

<file path=ppt/tags/tag4.xml><?xml version="1.0" encoding="utf-8"?>
<p:tagLst xmlns:p="http://schemas.openxmlformats.org/presentationml/2006/main">
  <p:tag name="COMMONDATA" val="eyJoZGlkIjoiODNjOTJjMmExMDY4OTczYjU5NDUyOGE5MzdlYWQ3MGIifQ=="/>
  <p:tag name="KSO_WPP_MARK_KEY" val="2d6e4c28-60c5-4ad0-8336-57f8fb93b255"/>
  <p:tag name="commondata" val="eyJoZGlkIjoiMGVmMzkzNmEzMmU3NTFiMTgyMGNkZWM4ZjkxMTJhNTAifQ=="/>
</p:tagLst>
</file>

<file path=ppt/theme/theme1.xml><?xml version="1.0" encoding="utf-8"?>
<a:theme xmlns:a="http://schemas.openxmlformats.org/drawingml/2006/main" name="CentOS-CH-PPT">
  <a:themeElements>
    <a:clrScheme name="介绍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介绍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介绍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介绍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介绍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CentOS-CH-PPT</Template>
  <TotalTime>0</TotalTime>
  <Words>4293</Words>
  <Application>WPS 演示</Application>
  <PresentationFormat>全屏显示(4:3)</PresentationFormat>
  <Paragraphs>395</Paragraphs>
  <Slides>52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5" baseType="lpstr">
      <vt:lpstr>Arial</vt:lpstr>
      <vt:lpstr>宋体</vt:lpstr>
      <vt:lpstr>Wingdings</vt:lpstr>
      <vt:lpstr>Garamond</vt:lpstr>
      <vt:lpstr>Wingdings</vt:lpstr>
      <vt:lpstr>Verdana</vt:lpstr>
      <vt:lpstr>Times New Roman</vt:lpstr>
      <vt:lpstr>微软雅黑</vt:lpstr>
      <vt:lpstr>Arial Unicode MS</vt:lpstr>
      <vt:lpstr>Calibri</vt:lpstr>
      <vt:lpstr>楷体_GB2312</vt:lpstr>
      <vt:lpstr>新宋体</vt:lpstr>
      <vt:lpstr>CentOS-CH-PPT</vt:lpstr>
      <vt:lpstr> 第4章    LINUX 常用命令  </vt:lpstr>
      <vt:lpstr>二、 LINUX 基本权限管理</vt:lpstr>
      <vt:lpstr>PowerPoint 演示文稿</vt:lpstr>
      <vt:lpstr>PowerPoint 演示文稿</vt:lpstr>
      <vt:lpstr>2.5.3  改变工作目录和显示目录内容的命令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2.4.2  匹配、排序及显示指定内容的命令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 LINUX 基本权限管理</vt:lpstr>
      <vt:lpstr>PowerPoint 演示文稿</vt:lpstr>
      <vt:lpstr>PowerPoint 演示文稿</vt:lpstr>
      <vt:lpstr>PowerPoint 演示文稿</vt:lpstr>
      <vt:lpstr>二、文件的访问权限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三、文件的特殊权限 </vt:lpstr>
      <vt:lpstr>四、文件默认权限umask掩码</vt:lpstr>
      <vt:lpstr>三、 LINUX 链接文件</vt:lpstr>
      <vt:lpstr>文件的链接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补充cp命令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                  Linux简介与安装</dc:title>
  <dc:creator>osmond</dc:creator>
  <cp:lastModifiedBy>李莉</cp:lastModifiedBy>
  <cp:revision>156</cp:revision>
  <dcterms:created xsi:type="dcterms:W3CDTF">2011-05-25T10:42:00Z</dcterms:created>
  <dcterms:modified xsi:type="dcterms:W3CDTF">2024-10-20T11:22:51Z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2052-12.1.0.18240</vt:lpwstr>
  </property>
  <property fmtid="{D5CDD505-2E9C-101B-9397-08002B2CF9AE}" pid="3" name="ICV">
    <vt:lpwstr>4E7325B4768C4B9A90C5893B74AADD20</vt:lpwstr>
  </property>
</Properties>
</file>