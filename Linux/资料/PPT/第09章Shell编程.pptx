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41"/>
  </p:notesMasterIdLst>
  <p:sldIdLst>
    <p:sldId id="273" r:id="rId3"/>
    <p:sldId id="272" r:id="rId4"/>
    <p:sldId id="381" r:id="rId5"/>
    <p:sldId id="352" r:id="rId6"/>
    <p:sldId id="355" r:id="rId7"/>
    <p:sldId id="356" r:id="rId8"/>
    <p:sldId id="357" r:id="rId9"/>
    <p:sldId id="382" r:id="rId10"/>
    <p:sldId id="417" r:id="rId11"/>
    <p:sldId id="358" r:id="rId12"/>
    <p:sldId id="354" r:id="rId13"/>
    <p:sldId id="359" r:id="rId14"/>
    <p:sldId id="418" r:id="rId15"/>
    <p:sldId id="419" r:id="rId16"/>
    <p:sldId id="420" r:id="rId17"/>
    <p:sldId id="363" r:id="rId18"/>
    <p:sldId id="364" r:id="rId19"/>
    <p:sldId id="365" r:id="rId20"/>
    <p:sldId id="366" r:id="rId21"/>
    <p:sldId id="383" r:id="rId22"/>
    <p:sldId id="368" r:id="rId23"/>
    <p:sldId id="369" r:id="rId24"/>
    <p:sldId id="384" r:id="rId25"/>
    <p:sldId id="370" r:id="rId26"/>
    <p:sldId id="371" r:id="rId27"/>
    <p:sldId id="421" r:id="rId28"/>
    <p:sldId id="372" r:id="rId29"/>
    <p:sldId id="385" r:id="rId30"/>
    <p:sldId id="373" r:id="rId31"/>
    <p:sldId id="374" r:id="rId32"/>
    <p:sldId id="375" r:id="rId33"/>
    <p:sldId id="386" r:id="rId34"/>
    <p:sldId id="376" r:id="rId35"/>
    <p:sldId id="377" r:id="rId36"/>
    <p:sldId id="378" r:id="rId37"/>
    <p:sldId id="379" r:id="rId38"/>
    <p:sldId id="380" r:id="rId39"/>
    <p:sldId id="387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51" autoAdjust="0"/>
  </p:normalViewPr>
  <p:slideViewPr>
    <p:cSldViewPr snapToGrid="0">
      <p:cViewPr varScale="1">
        <p:scale>
          <a:sx n="64" d="100"/>
          <a:sy n="64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CAE0C-A047-4C5A-B40C-696D032ACC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www.1ppt.com/hangye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剪去单角 6"/>
          <p:cNvSpPr/>
          <p:nvPr userDrawn="1"/>
        </p:nvSpPr>
        <p:spPr>
          <a:xfrm>
            <a:off x="-133165" y="976931"/>
            <a:ext cx="2263806" cy="1180730"/>
          </a:xfrm>
          <a:prstGeom prst="snip1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827888" y="976931"/>
            <a:ext cx="5650925" cy="4954450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lang="zh-CN" altLang="en-US" sz="3200" b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914400" indent="-457200">
              <a:buFont typeface="+mj-lt"/>
              <a:buAutoNum type="arabicPeriod"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371600" indent="-457200">
              <a:buFont typeface="+mj-lt"/>
              <a:buAutoNum type="arabicPeriod"/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7145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1717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6" name="WordArt 293"/>
          <p:cNvSpPr>
            <a:spLocks noChangeArrowheads="1" noChangeShapeType="1" noTextEdit="1"/>
          </p:cNvSpPr>
          <p:nvPr userDrawn="1"/>
        </p:nvSpPr>
        <p:spPr bwMode="auto">
          <a:xfrm>
            <a:off x="552994" y="1243444"/>
            <a:ext cx="1143000" cy="5332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000000">
                      <a:alpha val="80000"/>
                    </a:srgbClr>
                  </a:outerShdw>
                </a:effectLst>
                <a:cs typeface="+mn-ea"/>
                <a:sym typeface="+mn-lt"/>
              </a:rPr>
              <a:t>目录</a:t>
            </a:r>
            <a:endParaRPr lang="zh-CN" altLang="en-US" sz="3600" b="1" kern="1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outerShdw dist="35921" dir="2700000" algn="ctr" rotWithShape="0">
                  <a:srgbClr val="000000">
                    <a:alpha val="8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WordArt 294"/>
          <p:cNvSpPr>
            <a:spLocks noChangeArrowheads="1" noChangeShapeType="1" noTextEdit="1"/>
          </p:cNvSpPr>
          <p:nvPr userDrawn="1"/>
        </p:nvSpPr>
        <p:spPr bwMode="auto">
          <a:xfrm>
            <a:off x="564082" y="1912157"/>
            <a:ext cx="1143000" cy="1523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首页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28020" y="2348880"/>
            <a:ext cx="2591916" cy="26035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lang="zh-CN" altLang="en-US" sz="16600" kern="1200" dirty="0">
                <a:solidFill>
                  <a:srgbClr val="385D8A"/>
                </a:solidFill>
                <a:latin typeface="Arial Narrow" panose="020B0606020202030204" pitchFamily="34" charset="0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等腰三角形 37"/>
          <p:cNvSpPr>
            <a:spLocks noChangeArrowheads="1"/>
          </p:cNvSpPr>
          <p:nvPr userDrawn="1"/>
        </p:nvSpPr>
        <p:spPr bwMode="auto">
          <a:xfrm>
            <a:off x="1452563" y="4003377"/>
            <a:ext cx="3008312" cy="2593975"/>
          </a:xfrm>
          <a:prstGeom prst="triangle">
            <a:avLst>
              <a:gd name="adj" fmla="val 50000"/>
            </a:avLst>
          </a:prstGeom>
          <a:solidFill>
            <a:srgbClr val="385D8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002463" y="260648"/>
            <a:ext cx="3008312" cy="2603500"/>
            <a:chOff x="7002463" y="-9525"/>
            <a:chExt cx="3008312" cy="2603500"/>
          </a:xfrm>
        </p:grpSpPr>
        <p:sp>
          <p:nvSpPr>
            <p:cNvPr id="18" name="等腰三角形 7"/>
            <p:cNvSpPr>
              <a:spLocks noChangeArrowheads="1"/>
            </p:cNvSpPr>
            <p:nvPr/>
          </p:nvSpPr>
          <p:spPr bwMode="auto">
            <a:xfrm rot="10800000">
              <a:off x="7002463" y="0"/>
              <a:ext cx="3008312" cy="2593975"/>
            </a:xfrm>
            <a:prstGeom prst="triangle">
              <a:avLst>
                <a:gd name="adj" fmla="val 50000"/>
              </a:avLst>
            </a:prstGeom>
            <a:solidFill>
              <a:srgbClr val="385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直角三角形 13"/>
            <p:cNvSpPr>
              <a:spLocks noChangeArrowheads="1"/>
            </p:cNvSpPr>
            <p:nvPr/>
          </p:nvSpPr>
          <p:spPr bwMode="auto">
            <a:xfrm rot="10800000" flipH="1">
              <a:off x="8499475" y="-9525"/>
              <a:ext cx="1511300" cy="2603500"/>
            </a:xfrm>
            <a:prstGeom prst="rtTriangle">
              <a:avLst/>
            </a:prstGeom>
            <a:solidFill>
              <a:srgbClr val="30302F">
                <a:alpha val="4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521" y="3645024"/>
            <a:ext cx="4752951" cy="1191915"/>
          </a:xfrm>
          <a:prstGeom prst="rect">
            <a:avLst/>
          </a:prstGeom>
        </p:spPr>
        <p:txBody>
          <a:bodyPr/>
          <a:lstStyle>
            <a:lvl1pPr>
              <a:defRPr lang="zh-CN" altLang="en-US" sz="36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638510" y="2879503"/>
            <a:ext cx="1782860" cy="523220"/>
          </a:xfrm>
          <a:prstGeom prst="rect">
            <a:avLst/>
          </a:prstGeom>
          <a:solidFill>
            <a:srgbClr val="385D8A"/>
          </a:solidFill>
        </p:spPr>
        <p:txBody>
          <a:bodyPr wrap="none" rtlCol="0">
            <a:spAutoFit/>
          </a:bodyPr>
          <a:lstStyle/>
          <a:p>
            <a:r>
              <a:rPr kumimoji="0" lang="en-US" altLang="zh-CN" sz="2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SUBTITLE</a:t>
            </a:r>
            <a:endParaRPr kumimoji="0" lang="zh-CN" altLang="en-US" sz="2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0093" y="697517"/>
            <a:ext cx="7993358" cy="457315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07232" y="662608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13" name="矩形 1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6591" y="555079"/>
            <a:ext cx="10037209" cy="457316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22513"/>
            <a:ext cx="10515600" cy="49544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07232" y="512854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9" name="矩形 8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14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88" y="1092373"/>
            <a:ext cx="2659224" cy="14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 anchor="b"/>
          <a:lstStyle>
            <a:lvl1pPr algn="ctr">
              <a:defRPr lang="zh-CN" altLang="en-US" sz="48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55441" y="548681"/>
            <a:ext cx="4021088" cy="5436484"/>
            <a:chOff x="1559496" y="764704"/>
            <a:chExt cx="3849496" cy="55789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08622" y="620688"/>
            <a:ext cx="3863242" cy="5598859"/>
            <a:chOff x="1559496" y="764704"/>
            <a:chExt cx="3849496" cy="55789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 userDrawn="1"/>
        </p:nvSpPr>
        <p:spPr>
          <a:xfrm>
            <a:off x="4673753" y="4127826"/>
            <a:ext cx="704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Thanks for your attention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！</a:t>
            </a:r>
            <a:endParaRPr lang="zh-CN" altLang="en-US" sz="36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9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99" y="1331453"/>
            <a:ext cx="385069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831" y="4893382"/>
            <a:ext cx="1256338" cy="1256338"/>
          </a:xfrm>
          <a:prstGeom prst="rect">
            <a:avLst/>
          </a:prstGeom>
        </p:spPr>
      </p:pic>
      <p:cxnSp>
        <p:nvCxnSpPr>
          <p:cNvPr id="28" name="直接连接符 27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039543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 userDrawn="1"/>
        </p:nvSpPr>
        <p:spPr>
          <a:xfrm>
            <a:off x="9608509" y="6488668"/>
            <a:ext cx="250088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操作系统</a:t>
            </a:r>
            <a:r>
              <a:rPr lang="en-US" altLang="zh-CN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b="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张平</a:t>
            </a:r>
            <a:endParaRPr lang="zh-CN" altLang="en-US" b="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9583397" y="6476399"/>
            <a:ext cx="0" cy="381601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78" y="206542"/>
            <a:ext cx="1105186" cy="1105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2001868" y="2586633"/>
            <a:ext cx="8188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Thanks for your attention</a:t>
            </a:r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！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0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/>
        </p:nvPicPr>
        <p:blipFill>
          <a:blip r:embed="rId21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263352" y="260648"/>
            <a:ext cx="11665296" cy="63367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章 </a:t>
            </a:r>
            <a:r>
              <a:rPr lang="en-US" altLang="zh-CN" dirty="0"/>
              <a:t>Shell</a:t>
            </a:r>
            <a:r>
              <a:rPr lang="zh-CN" altLang="en-US" dirty="0"/>
              <a:t>编程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27655" y="976630"/>
            <a:ext cx="5650865" cy="361124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Shell</a:t>
            </a:r>
            <a:r>
              <a:rPr lang="zh-CN" altLang="en-US" dirty="0"/>
              <a:t>编程概述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Shell</a:t>
            </a:r>
            <a:r>
              <a:rPr lang="zh-CN" altLang="zh-CN" dirty="0"/>
              <a:t>变量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表达式与运算符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Shell</a:t>
            </a:r>
            <a:r>
              <a:rPr lang="zh-CN" altLang="zh-CN" dirty="0"/>
              <a:t>控制结构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Shell</a:t>
            </a:r>
            <a:r>
              <a:rPr lang="zh-CN" altLang="zh-CN" dirty="0"/>
              <a:t>函数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Shell</a:t>
            </a:r>
            <a:r>
              <a:rPr lang="zh-CN" altLang="zh-CN" dirty="0"/>
              <a:t>进阶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编程概述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编程概述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/>
              <a:t>脚本（</a:t>
            </a:r>
            <a:r>
              <a:rPr lang="en-US" altLang="zh-CN" dirty="0"/>
              <a:t>Shell script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zh-CN" dirty="0"/>
              <a:t>基于</a:t>
            </a:r>
            <a:r>
              <a:rPr lang="en-US" altLang="zh-CN" dirty="0"/>
              <a:t>Shell</a:t>
            </a:r>
            <a:r>
              <a:rPr lang="zh-CN" altLang="zh-CN" dirty="0"/>
              <a:t>语言的语法规则编写而成，支持</a:t>
            </a:r>
            <a:r>
              <a:rPr lang="en-US" altLang="zh-CN" dirty="0"/>
              <a:t>Linux/UNIX</a:t>
            </a:r>
            <a:r>
              <a:rPr lang="zh-CN" altLang="zh-CN" dirty="0"/>
              <a:t>下的命令的调用。</a:t>
            </a:r>
            <a:endParaRPr lang="en-US" altLang="zh-CN" dirty="0"/>
          </a:p>
          <a:p>
            <a:r>
              <a:rPr lang="en-US" altLang="zh-CN" dirty="0"/>
              <a:t>Shell</a:t>
            </a:r>
            <a:r>
              <a:rPr lang="zh-CN" altLang="zh-CN" dirty="0"/>
              <a:t>语言是一种解释型语言</a:t>
            </a:r>
            <a:endParaRPr lang="en-US" altLang="zh-CN" dirty="0"/>
          </a:p>
          <a:p>
            <a:pPr lvl="1"/>
            <a:r>
              <a:rPr lang="zh-CN" altLang="zh-CN" dirty="0"/>
              <a:t>不需要经过编译、汇编等过程。</a:t>
            </a:r>
            <a:endParaRPr lang="en-US" altLang="zh-CN" dirty="0"/>
          </a:p>
          <a:p>
            <a:r>
              <a:rPr lang="en-US" altLang="zh-CN" dirty="0"/>
              <a:t>Shell</a:t>
            </a:r>
            <a:r>
              <a:rPr lang="zh-CN" altLang="zh-CN" dirty="0"/>
              <a:t>脚本扩展名为“</a:t>
            </a:r>
            <a:r>
              <a:rPr lang="en-US" altLang="zh-CN" dirty="0"/>
              <a:t>*.</a:t>
            </a:r>
            <a:r>
              <a:rPr lang="en-US" altLang="zh-CN" dirty="0" err="1"/>
              <a:t>sh</a:t>
            </a:r>
            <a:r>
              <a:rPr lang="zh-CN" altLang="zh-CN" dirty="0"/>
              <a:t>”。</a:t>
            </a:r>
            <a:endParaRPr lang="en-US" altLang="zh-CN" dirty="0"/>
          </a:p>
          <a:p>
            <a:pPr lvl="1"/>
            <a:r>
              <a:rPr lang="zh-CN" altLang="zh-CN" dirty="0"/>
              <a:t>本身是一个文本文件</a:t>
            </a:r>
            <a:endParaRPr lang="en-US" altLang="zh-CN" dirty="0"/>
          </a:p>
          <a:p>
            <a:r>
              <a:rPr lang="en-US" altLang="zh-CN" dirty="0"/>
              <a:t>Bash</a:t>
            </a:r>
            <a:r>
              <a:rPr lang="zh-CN" altLang="zh-CN" dirty="0"/>
              <a:t>是</a:t>
            </a:r>
            <a:r>
              <a:rPr lang="en-US" altLang="zh-CN" dirty="0"/>
              <a:t>Ubuntu</a:t>
            </a:r>
            <a:r>
              <a:rPr lang="zh-CN" altLang="zh-CN" dirty="0"/>
              <a:t>下默认的</a:t>
            </a:r>
            <a:r>
              <a:rPr lang="en-US" altLang="zh-CN" dirty="0"/>
              <a:t>Shell</a:t>
            </a:r>
            <a:r>
              <a:rPr lang="zh-CN" altLang="zh-CN" dirty="0"/>
              <a:t>解释程序。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运行</a:t>
            </a:r>
            <a:r>
              <a:rPr lang="en-US" altLang="zh-CN" dirty="0"/>
              <a:t>Shell</a:t>
            </a:r>
            <a:r>
              <a:rPr lang="zh-CN" altLang="zh-CN" dirty="0"/>
              <a:t>脚本的几种方法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4910"/>
            <a:ext cx="10515600" cy="3860165"/>
          </a:xfrm>
        </p:spPr>
        <p:txBody>
          <a:bodyPr/>
          <a:lstStyle/>
          <a:p>
            <a:r>
              <a:rPr lang="zh-CN" altLang="zh-CN" dirty="0"/>
              <a:t>方法</a:t>
            </a:r>
            <a:r>
              <a:rPr lang="en-US" altLang="zh-CN" dirty="0"/>
              <a:t>1</a:t>
            </a:r>
            <a:r>
              <a:rPr lang="zh-CN" altLang="zh-CN" dirty="0"/>
              <a:t>：为</a:t>
            </a:r>
            <a:r>
              <a:rPr lang="en-US" altLang="zh-CN" dirty="0"/>
              <a:t>Shell</a:t>
            </a:r>
            <a:r>
              <a:rPr lang="zh-CN" altLang="zh-CN" dirty="0"/>
              <a:t>脚本添加可执行权限</a:t>
            </a:r>
            <a:endParaRPr lang="zh-CN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zh-CN" b="1" dirty="0"/>
              <a:t>举例：</a:t>
            </a:r>
            <a:endParaRPr lang="zh-CN" altLang="en-US" dirty="0"/>
          </a:p>
          <a:p>
            <a:pPr>
              <a:buNone/>
            </a:pPr>
            <a:r>
              <a:rPr lang="en-US" altLang="zh-CN" b="1" err="1">
                <a:sym typeface="+mn-ea"/>
              </a:rPr>
              <a:t>chmod  a+x</a:t>
            </a:r>
            <a:r>
              <a:rPr lang="en-US" altLang="zh-CN" b="1">
                <a:sym typeface="+mn-ea"/>
              </a:rPr>
              <a:t> test001.sh</a:t>
            </a:r>
            <a:endParaRPr lang="en-US" altLang="zh-CN" b="1"/>
          </a:p>
          <a:p>
            <a:pPr>
              <a:buNone/>
            </a:pPr>
            <a:r>
              <a:rPr lang="en-US" altLang="zh-CN" b="1">
                <a:sym typeface="+mn-ea"/>
              </a:rPr>
              <a:t>./test001.sh</a:t>
            </a:r>
            <a:endParaRPr lang="zh-CN" altLang="en-US" b="1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469" y="1818725"/>
            <a:ext cx="7200000" cy="866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方法</a:t>
            </a:r>
            <a:r>
              <a:rPr lang="en-US" altLang="zh-CN" dirty="0"/>
              <a:t>2</a:t>
            </a:r>
            <a:r>
              <a:rPr lang="zh-CN" altLang="zh-CN" dirty="0"/>
              <a:t>：直接使用</a:t>
            </a:r>
            <a:r>
              <a:rPr lang="en-US" altLang="zh-CN" dirty="0"/>
              <a:t>bash</a:t>
            </a:r>
            <a:r>
              <a:rPr lang="zh-CN" altLang="zh-CN" dirty="0"/>
              <a:t>或</a:t>
            </a:r>
            <a:r>
              <a:rPr lang="en-US" altLang="zh-CN" dirty="0" err="1"/>
              <a:t>sh</a:t>
            </a:r>
            <a:r>
              <a:rPr lang="zh-CN" altLang="zh-CN" dirty="0"/>
              <a:t>来执行</a:t>
            </a:r>
            <a:r>
              <a:rPr lang="en-US" altLang="zh-CN" dirty="0"/>
              <a:t>Shell</a:t>
            </a:r>
            <a:r>
              <a:rPr lang="zh-CN" altLang="zh-CN" dirty="0"/>
              <a:t>脚本。</a:t>
            </a:r>
            <a:endParaRPr lang="zh-CN" altLang="zh-CN" dirty="0"/>
          </a:p>
          <a:p>
            <a:pPr lvl="1">
              <a:buNone/>
            </a:pPr>
            <a:r>
              <a:rPr lang="zh-CN" altLang="en-US" sz="2800" b="1" dirty="0">
                <a:sym typeface="+mn-ea"/>
              </a:rPr>
              <a:t>格式：</a:t>
            </a:r>
            <a:r>
              <a:rPr lang="en-US" altLang="zh-CN" sz="2800" b="1" dirty="0">
                <a:sym typeface="+mn-ea"/>
              </a:rPr>
              <a:t>bash  </a:t>
            </a:r>
            <a:r>
              <a:rPr lang="zh-CN" altLang="en-US" sz="2800" b="1" dirty="0">
                <a:sym typeface="+mn-ea"/>
              </a:rPr>
              <a:t>脚本名 </a:t>
            </a:r>
            <a:r>
              <a:rPr lang="en-US" altLang="zh-CN" sz="2800" b="1" dirty="0">
                <a:sym typeface="+mn-ea"/>
              </a:rPr>
              <a:t>[</a:t>
            </a:r>
            <a:r>
              <a:rPr lang="zh-CN" altLang="en-US" sz="2800" b="1" dirty="0">
                <a:sym typeface="+mn-ea"/>
              </a:rPr>
              <a:t>参数</a:t>
            </a:r>
            <a:r>
              <a:rPr lang="en-US" altLang="zh-CN" sz="2800" b="1">
                <a:sym typeface="+mn-ea"/>
              </a:rPr>
              <a:t>]</a:t>
            </a:r>
            <a:endParaRPr lang="en-US" altLang="zh-CN" sz="2800" b="1"/>
          </a:p>
          <a:p>
            <a:pPr lvl="1">
              <a:buNone/>
            </a:pPr>
            <a:endParaRPr lang="zh-CN" altLang="zh-CN" sz="2800" b="1" dirty="0">
              <a:sym typeface="+mn-ea"/>
            </a:endParaRPr>
          </a:p>
          <a:p>
            <a:pPr lvl="1">
              <a:buNone/>
            </a:pPr>
            <a:r>
              <a:rPr lang="zh-CN" altLang="zh-CN" sz="2800" b="1" dirty="0">
                <a:sym typeface="+mn-ea"/>
              </a:rPr>
              <a:t>举例：</a:t>
            </a:r>
            <a:endParaRPr lang="en-US" altLang="zh-CN" sz="2800" b="1">
              <a:sym typeface="+mn-ea"/>
            </a:endParaRPr>
          </a:p>
          <a:p>
            <a:pPr lvl="1">
              <a:buNone/>
            </a:pPr>
            <a:r>
              <a:rPr lang="en-US" altLang="zh-CN" sz="2800" b="1">
                <a:sym typeface="+mn-ea"/>
              </a:rPr>
              <a:t>bash  test001.sh </a:t>
            </a:r>
            <a:endParaRPr lang="en-US" altLang="zh-CN" sz="2800" b="1">
              <a:sym typeface="+mn-ea"/>
            </a:endParaRPr>
          </a:p>
          <a:p>
            <a:pPr lvl="1">
              <a:buNone/>
            </a:pPr>
            <a:r>
              <a:rPr lang="zh-CN" altLang="zh-CN" sz="2800" dirty="0"/>
              <a:t>或者</a:t>
            </a:r>
            <a:endParaRPr lang="zh-CN" altLang="zh-CN" sz="2800" dirty="0"/>
          </a:p>
          <a:p>
            <a:pPr lvl="1">
              <a:buNone/>
            </a:pPr>
            <a:r>
              <a:rPr lang="en-US" altLang="zh-CN" sz="2800" b="1"/>
              <a:t>sh  </a:t>
            </a:r>
            <a:r>
              <a:rPr lang="en-US" altLang="zh-CN" sz="2800" b="1">
                <a:sym typeface="+mn-ea"/>
              </a:rPr>
              <a:t>test001.sh</a:t>
            </a:r>
            <a:endParaRPr lang="en-US" altLang="zh-CN" sz="2800" b="1">
              <a:sym typeface="+mn-ea"/>
            </a:endParaRPr>
          </a:p>
          <a:p>
            <a:pPr lvl="1">
              <a:buNone/>
            </a:pPr>
            <a:endParaRPr lang="en-US" altLang="zh-CN" sz="2800" b="1"/>
          </a:p>
          <a:p>
            <a:pPr lvl="1">
              <a:buNone/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说明：方法</a:t>
            </a:r>
            <a:r>
              <a:rPr lang="en-US" altLang="zh-CN" sz="28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和方法</a:t>
            </a:r>
            <a:r>
              <a:rPr lang="en-US" altLang="zh-CN" sz="2800" b="1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的执行方式是在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子shell中运行</a:t>
            </a:r>
            <a:endParaRPr lang="en-US" altLang="zh-CN" sz="2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方法</a:t>
            </a:r>
            <a:r>
              <a:rPr lang="en-US" altLang="zh-CN" dirty="0"/>
              <a:t>3</a:t>
            </a:r>
            <a:r>
              <a:rPr lang="zh-CN" altLang="zh-CN" dirty="0"/>
              <a:t>：使用</a:t>
            </a:r>
            <a:r>
              <a:rPr lang="en-US" altLang="zh-CN" dirty="0"/>
              <a:t>source </a:t>
            </a:r>
            <a:r>
              <a:rPr lang="zh-CN" altLang="zh-CN" dirty="0"/>
              <a:t>命令执行</a:t>
            </a:r>
            <a:r>
              <a:rPr lang="en-US" altLang="zh-CN" dirty="0"/>
              <a:t>Shell</a:t>
            </a:r>
            <a:r>
              <a:rPr lang="zh-CN" altLang="zh-CN" dirty="0"/>
              <a:t>脚本。</a:t>
            </a:r>
            <a:endParaRPr lang="zh-CN" altLang="zh-CN" dirty="0"/>
          </a:p>
          <a:p>
            <a:pPr algn="l">
              <a:buNone/>
            </a:pPr>
            <a:r>
              <a:rPr lang="zh-CN" altLang="en-US" b="1">
                <a:sym typeface="+mn-ea"/>
              </a:rPr>
              <a:t>   </a:t>
            </a:r>
            <a:endParaRPr lang="zh-CN" altLang="en-US" b="1">
              <a:sym typeface="+mn-ea"/>
            </a:endParaRPr>
          </a:p>
          <a:p>
            <a:pPr>
              <a:buNone/>
            </a:pPr>
            <a:r>
              <a:rPr lang="zh-CN" altLang="zh-CN" b="1" dirty="0">
                <a:sym typeface="+mn-ea"/>
              </a:rPr>
              <a:t>举例：</a:t>
            </a:r>
            <a:endParaRPr lang="zh-CN" altLang="en-US" b="1">
              <a:sym typeface="+mn-ea"/>
            </a:endParaRPr>
          </a:p>
          <a:p>
            <a:pPr>
              <a:buNone/>
            </a:pPr>
            <a:r>
              <a:rPr lang="en-US" altLang="zh-CN" b="1">
                <a:sym typeface="+mn-ea"/>
              </a:rPr>
              <a:t> . </a:t>
            </a:r>
            <a:r>
              <a:rPr lang="en-US" altLang="zh-CN" b="1">
                <a:sym typeface="+mn-ea"/>
              </a:rPr>
              <a:t>test001.sh</a:t>
            </a:r>
            <a:r>
              <a:rPr lang="zh-CN" altLang="en-US" b="1">
                <a:sym typeface="+mn-ea"/>
              </a:rPr>
              <a:t>       </a:t>
            </a:r>
            <a:endParaRPr lang="zh-CN" altLang="en-US" b="1">
              <a:sym typeface="+mn-ea"/>
            </a:endParaRPr>
          </a:p>
          <a:p>
            <a:pPr>
              <a:buNone/>
            </a:pPr>
            <a:r>
              <a:rPr lang="zh-CN" altLang="en-US" b="1">
                <a:sym typeface="+mn-ea"/>
              </a:rPr>
              <a:t>或    </a:t>
            </a:r>
            <a:endParaRPr lang="zh-CN" altLang="en-US" b="1">
              <a:sym typeface="+mn-ea"/>
            </a:endParaRPr>
          </a:p>
          <a:p>
            <a:pPr>
              <a:buNone/>
            </a:pPr>
            <a:r>
              <a:rPr lang="en-US" altLang="zh-CN" b="1">
                <a:sym typeface="+mn-ea"/>
              </a:rPr>
              <a:t> source  </a:t>
            </a:r>
            <a:r>
              <a:rPr lang="en-US" altLang="zh-CN" b="1">
                <a:sym typeface="+mn-ea"/>
              </a:rPr>
              <a:t>test001.sh</a:t>
            </a:r>
            <a:endParaRPr lang="en-US" altLang="zh-CN" b="1">
              <a:sym typeface="+mn-ea"/>
            </a:endParaRP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  <a:sym typeface="+mn-ea"/>
              </a:rPr>
              <a:t>说明：这种执行方式是在当前shell中运行</a:t>
            </a:r>
            <a:endParaRPr lang="zh-CN" altLang="en-US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zh-CN" dirty="0"/>
              <a:t>变量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634980" cy="2321560"/>
          </a:xfrm>
        </p:spPr>
        <p:txBody>
          <a:bodyPr/>
          <a:lstStyle/>
          <a:p>
            <a:r>
              <a:rPr lang="zh-CN" altLang="zh-CN" dirty="0"/>
              <a:t>用户变量</a:t>
            </a:r>
            <a:endParaRPr lang="en-US" altLang="zh-CN" dirty="0"/>
          </a:p>
          <a:p>
            <a:r>
              <a:rPr lang="zh-CN" altLang="zh-CN" dirty="0"/>
              <a:t>环境变量</a:t>
            </a:r>
            <a:endParaRPr lang="en-US" altLang="zh-CN" dirty="0"/>
          </a:p>
          <a:p>
            <a:r>
              <a:rPr lang="zh-CN" altLang="zh-CN" dirty="0"/>
              <a:t>内置变量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变量</a:t>
            </a:r>
            <a:r>
              <a:rPr lang="zh-CN" altLang="zh-CN" dirty="0">
                <a:solidFill>
                  <a:srgbClr val="FF0000"/>
                </a:solidFill>
              </a:rPr>
              <a:t>（</a:t>
            </a:r>
            <a:r>
              <a:rPr altLang="zh-CN">
                <a:solidFill>
                  <a:srgbClr val="FF0000"/>
                </a:solidFill>
                <a:sym typeface="+mn-ea"/>
              </a:rPr>
              <a:t>用户变量</a:t>
            </a:r>
            <a:r>
              <a:rPr lang="zh-CN" altLang="zh-CN" dirty="0">
                <a:solidFill>
                  <a:srgbClr val="FF0000"/>
                </a:solidFill>
              </a:rPr>
              <a:t>）</a:t>
            </a:r>
            <a:r>
              <a:rPr lang="zh-CN" altLang="zh-CN" dirty="0"/>
              <a:t>定义和访问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zh-CN" dirty="0"/>
              <a:t>变量的定义</a:t>
            </a:r>
            <a:endParaRPr lang="en-US" altLang="zh-CN" dirty="0"/>
          </a:p>
          <a:p>
            <a:pPr lvl="1"/>
            <a:r>
              <a:rPr lang="zh-CN" altLang="zh-CN" dirty="0"/>
              <a:t>变量名</a:t>
            </a:r>
            <a:r>
              <a:rPr lang="en-US" altLang="zh-CN" dirty="0"/>
              <a:t>=</a:t>
            </a:r>
            <a:r>
              <a:rPr lang="zh-CN" altLang="zh-CN" dirty="0"/>
              <a:t>变量值</a:t>
            </a:r>
            <a:endParaRPr lang="zh-CN" altLang="zh-CN" dirty="0"/>
          </a:p>
          <a:p>
            <a:pPr lvl="1"/>
            <a:r>
              <a:rPr lang="zh-CN" altLang="zh-CN" dirty="0"/>
              <a:t>注意，等号两边不能有空格。</a:t>
            </a:r>
            <a:endParaRPr lang="en-US" altLang="zh-CN" dirty="0"/>
          </a:p>
          <a:p>
            <a:r>
              <a:rPr lang="zh-CN" altLang="zh-CN" dirty="0"/>
              <a:t>三种定义变量的方式</a:t>
            </a:r>
            <a:endParaRPr lang="en-US" altLang="zh-CN" dirty="0"/>
          </a:p>
          <a:p>
            <a:pPr lvl="1"/>
            <a:r>
              <a:rPr lang="en-US" altLang="zh-CN" dirty="0" err="1"/>
              <a:t>VariableName</a:t>
            </a:r>
            <a:r>
              <a:rPr lang="en-US" altLang="zh-CN" dirty="0"/>
              <a:t>=</a:t>
            </a:r>
            <a:r>
              <a:rPr lang="en-US" altLang="zh-CN" dirty="0" err="1"/>
              <a:t>VariableValue</a:t>
            </a:r>
            <a:endParaRPr lang="en-US" altLang="zh-CN" dirty="0"/>
          </a:p>
          <a:p>
            <a:pPr lvl="1"/>
            <a:r>
              <a:rPr lang="en-US" altLang="zh-CN" dirty="0" err="1"/>
              <a:t>VariableName</a:t>
            </a:r>
            <a:r>
              <a:rPr lang="en-US" altLang="zh-CN" dirty="0"/>
              <a:t>='</a:t>
            </a:r>
            <a:r>
              <a:rPr lang="en-US" altLang="zh-CN" dirty="0" err="1"/>
              <a:t>VariableValue</a:t>
            </a:r>
            <a:r>
              <a:rPr lang="en-US" altLang="zh-CN" dirty="0"/>
              <a:t>'</a:t>
            </a:r>
            <a:endParaRPr lang="en-US" altLang="zh-CN" dirty="0"/>
          </a:p>
          <a:p>
            <a:pPr lvl="1"/>
            <a:r>
              <a:rPr lang="en-US" altLang="zh-CN" dirty="0" err="1"/>
              <a:t>VariableName</a:t>
            </a:r>
            <a:r>
              <a:rPr lang="en-US" altLang="zh-CN" dirty="0"/>
              <a:t>="</a:t>
            </a:r>
            <a:r>
              <a:rPr lang="en-US" altLang="zh-CN" dirty="0" err="1"/>
              <a:t>VariableValue</a:t>
            </a:r>
            <a:r>
              <a:rPr lang="en-US" altLang="zh-CN" dirty="0"/>
              <a:t>"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zh-CN" dirty="0"/>
              <a:t>如果</a:t>
            </a:r>
            <a:r>
              <a:rPr lang="en-US" altLang="zh-CN" dirty="0" err="1"/>
              <a:t>VariableValue</a:t>
            </a:r>
            <a:r>
              <a:rPr lang="zh-CN" altLang="zh-CN" dirty="0"/>
              <a:t>不包含任何空白符（例如空格、</a:t>
            </a:r>
            <a:r>
              <a:rPr lang="en-US" altLang="zh-CN" dirty="0"/>
              <a:t>Tab</a:t>
            </a:r>
            <a:r>
              <a:rPr lang="zh-CN" altLang="zh-CN" dirty="0"/>
              <a:t>缩进等），那么可以不使用引号；</a:t>
            </a:r>
            <a:endParaRPr lang="en-US" altLang="zh-CN" dirty="0"/>
          </a:p>
          <a:p>
            <a:pPr lvl="1"/>
            <a:r>
              <a:rPr lang="zh-CN" altLang="zh-CN" dirty="0"/>
              <a:t>如果 </a:t>
            </a:r>
            <a:r>
              <a:rPr lang="en-US" altLang="zh-CN" dirty="0" err="1"/>
              <a:t>VariableValue</a:t>
            </a:r>
            <a:r>
              <a:rPr lang="zh-CN" altLang="zh-CN" dirty="0"/>
              <a:t>包含了空白符，那么就必须使用引号包围起来。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变量</a:t>
            </a:r>
            <a:r>
              <a:rPr altLang="zh-CN">
                <a:solidFill>
                  <a:srgbClr val="FF0000"/>
                </a:solidFill>
                <a:sym typeface="+mn-ea"/>
              </a:rPr>
              <a:t>（</a:t>
            </a:r>
            <a:r>
              <a:rPr altLang="zh-CN">
                <a:solidFill>
                  <a:srgbClr val="FF0000"/>
                </a:solidFill>
                <a:sym typeface="+mn-ea"/>
              </a:rPr>
              <a:t>用户变量</a:t>
            </a:r>
            <a:r>
              <a:rPr altLang="zh-CN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zh-CN" dirty="0"/>
              <a:t>定义和访问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zh-CN" dirty="0"/>
              <a:t>变量的访问</a:t>
            </a:r>
            <a:endParaRPr lang="en-US" altLang="zh-CN" dirty="0"/>
          </a:p>
          <a:p>
            <a:pPr lvl="1"/>
            <a:r>
              <a:rPr lang="zh-CN" altLang="en-US" dirty="0"/>
              <a:t>要获取一个变量的值，只需在变量名前面加一个</a:t>
            </a:r>
            <a:r>
              <a:rPr lang="en-US" altLang="zh-CN" dirty="0"/>
              <a:t>$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已定义的变量，可以被重新赋值。</a:t>
            </a:r>
            <a:endParaRPr lang="en-US" altLang="zh-CN" dirty="0"/>
          </a:p>
          <a:p>
            <a:pPr lvl="1"/>
            <a:r>
              <a:rPr lang="zh-CN" altLang="en-US" dirty="0"/>
              <a:t>注意，对变量重新赋值时，不能在变量名前加</a:t>
            </a:r>
            <a:r>
              <a:rPr lang="en-US" altLang="zh-CN" dirty="0"/>
              <a:t>$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</a:t>
            </a:r>
            <a:r>
              <a:rPr altLang="zh-CN">
                <a:solidFill>
                  <a:srgbClr val="FF0000"/>
                </a:solidFill>
                <a:sym typeface="+mn-ea"/>
              </a:rPr>
              <a:t>（</a:t>
            </a:r>
            <a:r>
              <a:rPr altLang="zh-CN">
                <a:solidFill>
                  <a:srgbClr val="FF0000"/>
                </a:solidFill>
                <a:sym typeface="+mn-ea"/>
              </a:rPr>
              <a:t>用户变量</a:t>
            </a:r>
            <a:r>
              <a:rPr altLang="zh-CN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zh-CN" dirty="0"/>
              <a:t>定义和访问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zh-CN" dirty="0"/>
              <a:t>引号的使用</a:t>
            </a:r>
            <a:endParaRPr lang="en-US" altLang="zh-CN" dirty="0"/>
          </a:p>
          <a:p>
            <a:r>
              <a:rPr lang="zh-CN" altLang="en-US" dirty="0"/>
              <a:t>单引号：</a:t>
            </a:r>
            <a:endParaRPr lang="en-US" altLang="zh-CN" dirty="0"/>
          </a:p>
          <a:p>
            <a:pPr lvl="1"/>
            <a:r>
              <a:rPr lang="zh-CN" altLang="en-US" dirty="0"/>
              <a:t>即使单引号里面有变量和命令也会把它们原样输出。</a:t>
            </a:r>
            <a:endParaRPr lang="en-US" altLang="zh-CN" dirty="0"/>
          </a:p>
          <a:p>
            <a:r>
              <a:rPr lang="zh-CN" altLang="en-US" dirty="0"/>
              <a:t>双引号：</a:t>
            </a:r>
            <a:endParaRPr lang="en-US" altLang="zh-CN" dirty="0"/>
          </a:p>
          <a:p>
            <a:pPr lvl="1"/>
            <a:r>
              <a:rPr lang="zh-CN" altLang="en-US" dirty="0"/>
              <a:t>先解析里面的变量和命令。</a:t>
            </a:r>
            <a:endParaRPr lang="en-US" altLang="zh-CN" dirty="0"/>
          </a:p>
          <a:p>
            <a:r>
              <a:rPr lang="zh-CN" altLang="en-US" dirty="0"/>
              <a:t>反引号：</a:t>
            </a:r>
            <a:endParaRPr lang="en-US" altLang="zh-CN" dirty="0"/>
          </a:p>
          <a:p>
            <a:pPr lvl="1"/>
            <a:r>
              <a:rPr lang="zh-CN" altLang="en-US" dirty="0"/>
              <a:t>反引号（</a:t>
            </a:r>
            <a:r>
              <a:rPr lang="en-US" altLang="zh-CN" dirty="0"/>
              <a:t>``</a:t>
            </a:r>
            <a:r>
              <a:rPr lang="zh-CN" altLang="en-US" dirty="0"/>
              <a:t>）位于 </a:t>
            </a:r>
            <a:r>
              <a:rPr lang="en-US" altLang="zh-CN" dirty="0"/>
              <a:t>Esc </a:t>
            </a:r>
            <a:r>
              <a:rPr lang="zh-CN" altLang="en-US" dirty="0"/>
              <a:t>键的下方。</a:t>
            </a:r>
            <a:endParaRPr lang="en-US" altLang="zh-CN" dirty="0"/>
          </a:p>
          <a:p>
            <a:pPr lvl="1"/>
            <a:r>
              <a:rPr lang="zh-CN" altLang="en-US" dirty="0"/>
              <a:t>反引号主要用于命令替换。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zh-CN" dirty="0"/>
              <a:t>命令替换</a:t>
            </a:r>
            <a:endParaRPr lang="zh-CN" altLang="zh-CN" dirty="0"/>
          </a:p>
          <a:p>
            <a:pPr lvl="1"/>
            <a:r>
              <a:rPr lang="zh-CN" altLang="zh-CN" dirty="0"/>
              <a:t>第一种方式是把命令用反引号</a:t>
            </a:r>
            <a:endParaRPr lang="en-US" altLang="zh-CN" dirty="0"/>
          </a:p>
          <a:p>
            <a:pPr lvl="1"/>
            <a:r>
              <a:rPr lang="zh-CN" altLang="en-US" dirty="0"/>
              <a:t>第二种方式把命令用</a:t>
            </a:r>
            <a:r>
              <a:rPr lang="en-US" altLang="zh-CN" dirty="0"/>
              <a:t>$()</a:t>
            </a:r>
            <a:r>
              <a:rPr lang="zh-CN" altLang="en-US" dirty="0"/>
              <a:t>包围起来。</a:t>
            </a:r>
            <a:r>
              <a:rPr lang="en-US" altLang="zh-CN" dirty="0"/>
              <a:t>(</a:t>
            </a:r>
            <a:r>
              <a:rPr lang="zh-CN" altLang="en-US" dirty="0"/>
              <a:t>并不是每一种</a:t>
            </a:r>
            <a:r>
              <a:rPr lang="en-US" altLang="zh-CN" dirty="0"/>
              <a:t>Shell</a:t>
            </a:r>
            <a:r>
              <a:rPr lang="zh-CN" altLang="en-US" dirty="0"/>
              <a:t>解释器都支持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环境变量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975" y="1012190"/>
            <a:ext cx="11679555" cy="5895975"/>
          </a:xfrm>
        </p:spPr>
        <p:txBody>
          <a:bodyPr/>
          <a:lstStyle/>
          <a:p>
            <a:pPr marL="457200" lvl="1" indent="0">
              <a:buNone/>
            </a:pPr>
            <a:r>
              <a:rPr lang="zh-CN" altLang="en-US"/>
              <a:t>环境变量定义</a:t>
            </a:r>
            <a:r>
              <a:rPr lang="en-US" altLang="zh-CN"/>
              <a:t> Shell </a:t>
            </a:r>
            <a:r>
              <a:rPr lang="zh-CN" altLang="en-US"/>
              <a:t>的运行环境，用环境变量来确定查找路径、注册目录、终端类型、终端名称、用户名等。所有环境变量都是全局变量</a:t>
            </a:r>
            <a:r>
              <a:rPr lang="en-US" altLang="zh-CN"/>
              <a:t>(</a:t>
            </a:r>
            <a:r>
              <a:rPr lang="zh-CN" altLang="en-US"/>
              <a:t>即可以传递给子</a:t>
            </a:r>
            <a:r>
              <a:rPr lang="en-US" altLang="zh-CN"/>
              <a:t> Shell)</a:t>
            </a:r>
            <a:r>
              <a:rPr lang="zh-CN" altLang="en-US"/>
              <a:t>，并可以由用户重新设置。下表列出了常用的环境变量。</a:t>
            </a:r>
            <a:endParaRPr lang="zh-CN" altLang="en-US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举例：查看指定环境变量</a:t>
            </a:r>
            <a:r>
              <a:rPr lang="en-US" altLang="zh-CN" dirty="0"/>
              <a:t>  echo $PATH</a:t>
            </a:r>
            <a:endParaRPr lang="en-US" altLang="zh-CN" dirty="0"/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190" y="2433955"/>
            <a:ext cx="9024620" cy="322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内置变量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634980" cy="5636260"/>
          </a:xfr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85" y="1222375"/>
            <a:ext cx="11215370" cy="4672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内置变量（又称</a:t>
            </a:r>
            <a:r>
              <a:rPr>
                <a:sym typeface="+mn-ea"/>
              </a:rPr>
              <a:t>特殊变量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634980" cy="563626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包括如下两类：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(1)</a:t>
            </a:r>
            <a:r>
              <a:rPr lang="zh-CN" altLang="en-US"/>
              <a:t>位置参数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通过命令行给命令或脚本传递执行参数。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在调用</a:t>
            </a:r>
            <a:r>
              <a:rPr lang="en-US" altLang="zh-CN"/>
              <a:t>shell </a:t>
            </a:r>
            <a:r>
              <a:rPr lang="zh-CN" altLang="en-US"/>
              <a:t>函数时为其传递参数。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可用</a:t>
            </a:r>
            <a:r>
              <a:rPr lang="en-US" altLang="zh-CN"/>
              <a:t>shit</a:t>
            </a:r>
            <a:r>
              <a:rPr lang="zh-CN" altLang="en-US"/>
              <a:t>命令实现位置参数的迁移。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(2)</a:t>
            </a:r>
            <a:r>
              <a:rPr lang="zh-CN" altLang="en-US"/>
              <a:t>专用参数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bash </a:t>
            </a:r>
            <a:r>
              <a:rPr lang="zh-CN" altLang="en-US"/>
              <a:t>预定义的与进程状态相关的特殊变量。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用户不能修改其值。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变量值输出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515600" cy="3359785"/>
          </a:xfrm>
        </p:spPr>
        <p:txBody>
          <a:bodyPr/>
          <a:lstStyle/>
          <a:p>
            <a:r>
              <a:rPr lang="en-US" altLang="zh-CN" dirty="0"/>
              <a:t>1. echo</a:t>
            </a:r>
            <a:r>
              <a:rPr lang="zh-CN" altLang="zh-CN" dirty="0"/>
              <a:t>输出</a:t>
            </a:r>
            <a:endParaRPr lang="en-US" altLang="zh-CN" dirty="0"/>
          </a:p>
          <a:p>
            <a:pPr lvl="1"/>
            <a:r>
              <a:rPr lang="en-US" altLang="zh-CN" dirty="0"/>
              <a:t>-e</a:t>
            </a:r>
            <a:r>
              <a:rPr lang="zh-CN" altLang="zh-CN" dirty="0"/>
              <a:t>：识别输出内容里面的转义字符；</a:t>
            </a:r>
            <a:endParaRPr lang="en-US" altLang="zh-CN" dirty="0"/>
          </a:p>
          <a:p>
            <a:pPr lvl="1"/>
            <a:r>
              <a:rPr lang="en-US" altLang="zh-CN" dirty="0"/>
              <a:t>-n</a:t>
            </a:r>
            <a:r>
              <a:rPr lang="zh-CN" altLang="zh-CN" dirty="0"/>
              <a:t>：忽略结尾的换行。（</a:t>
            </a:r>
            <a:r>
              <a:rPr lang="en-US" altLang="zh-CN" sz="2800" dirty="0">
                <a:sym typeface="+mn-ea"/>
              </a:rPr>
              <a:t>echo</a:t>
            </a:r>
            <a:r>
              <a:rPr lang="zh-CN" altLang="en-US" sz="2800" dirty="0">
                <a:sym typeface="+mn-ea"/>
              </a:rPr>
              <a:t>输出默认换行）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en-US" altLang="zh-CN" dirty="0" err="1"/>
              <a:t>printf</a:t>
            </a:r>
            <a:r>
              <a:rPr lang="zh-CN" altLang="zh-CN" dirty="0"/>
              <a:t>输出</a:t>
            </a:r>
            <a:endParaRPr lang="zh-CN" altLang="zh-CN" dirty="0"/>
          </a:p>
          <a:p>
            <a:pPr lvl="1"/>
            <a:r>
              <a:rPr lang="zh-CN" altLang="zh-CN" dirty="0"/>
              <a:t>支持格式化</a:t>
            </a:r>
            <a:r>
              <a:rPr lang="zh-CN" altLang="zh-CN" dirty="0"/>
              <a:t>输出</a:t>
            </a:r>
            <a:endParaRPr lang="zh-CN" altLang="zh-CN" dirty="0"/>
          </a:p>
          <a:p>
            <a:pPr lvl="1"/>
            <a:r>
              <a:rPr lang="zh-CN" altLang="zh-CN" dirty="0"/>
              <a:t>换行需要自己加</a:t>
            </a:r>
            <a:r>
              <a:rPr lang="en-US" altLang="zh-CN" dirty="0"/>
              <a:t>“\n”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变量值输入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2375"/>
            <a:ext cx="10515600" cy="422719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read [</a:t>
            </a:r>
            <a:r>
              <a:rPr lang="zh-CN" altLang="zh-CN" dirty="0"/>
              <a:t>选项</a:t>
            </a:r>
            <a:r>
              <a:rPr lang="en-US" altLang="zh-CN" dirty="0"/>
              <a:t>] [</a:t>
            </a:r>
            <a:r>
              <a:rPr lang="zh-CN" altLang="zh-CN" dirty="0"/>
              <a:t>变量名</a:t>
            </a:r>
            <a:r>
              <a:rPr lang="en-US" altLang="zh-CN" dirty="0"/>
              <a:t>]</a:t>
            </a:r>
            <a:endParaRPr lang="zh-CN" altLang="zh-CN" dirty="0"/>
          </a:p>
          <a:p>
            <a:pPr marL="0" indent="0">
              <a:buNone/>
            </a:pPr>
            <a:r>
              <a:rPr lang="zh-CN" altLang="en-US" dirty="0"/>
              <a:t>常用的选项：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p  </a:t>
            </a:r>
            <a:r>
              <a:rPr lang="zh-CN" altLang="en-US" dirty="0"/>
              <a:t>可以跟提示语句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n  </a:t>
            </a:r>
            <a:r>
              <a:rPr lang="zh-CN" altLang="en-US" dirty="0">
                <a:sym typeface="+mn-ea"/>
              </a:rPr>
              <a:t>限制</a:t>
            </a:r>
            <a:r>
              <a:rPr lang="zh-CN" altLang="en-US" dirty="0"/>
              <a:t>输入字符个数，通常</a:t>
            </a:r>
            <a:r>
              <a:rPr lang="zh-CN" altLang="en-US" dirty="0"/>
              <a:t>用于限制密码长度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  </a:t>
            </a:r>
            <a:r>
              <a:rPr lang="zh-CN" altLang="en-US" dirty="0"/>
              <a:t>屏幕上不显示输入内容，通常用于密码输入。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lvl="1" indent="0" fontAlgn="auto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分析这行命令的含义：</a:t>
            </a:r>
            <a:endParaRPr lang="en-US" altLang="zh-CN" sz="2800" dirty="0"/>
          </a:p>
          <a:p>
            <a:pPr marL="0" lvl="1" indent="0" fontAlgn="auto">
              <a:buNone/>
            </a:pPr>
            <a:r>
              <a:rPr lang="en-US" altLang="zh-CN" sz="2800" dirty="0"/>
              <a:t>read –n8 -t10 -r -s -d $ -p "Enter Password:" password</a:t>
            </a:r>
            <a:endParaRPr lang="en-US" altLang="zh-CN" sz="2800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zh-CN" dirty="0"/>
              <a:t>数组定义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645" y="1873235"/>
            <a:ext cx="8361905" cy="2761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zh-CN" dirty="0"/>
              <a:t>读取数组元素值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61" y="1701611"/>
            <a:ext cx="4647619" cy="2390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表达式与运算符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算术表达式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bash</a:t>
            </a:r>
            <a:r>
              <a:rPr lang="zh-CN" altLang="zh-CN" dirty="0"/>
              <a:t>本身并不支持数</a:t>
            </a:r>
            <a:r>
              <a:rPr lang="en-US" altLang="zh-CN" dirty="0" err="1"/>
              <a:t>学运</a:t>
            </a:r>
            <a:r>
              <a:rPr lang="zh-CN" altLang="zh-CN" dirty="0"/>
              <a:t>算。</a:t>
            </a:r>
            <a:endParaRPr lang="en-US" altLang="zh-CN" dirty="0"/>
          </a:p>
          <a:p>
            <a:r>
              <a:rPr lang="zh-CN" altLang="zh-CN" dirty="0"/>
              <a:t>通过</a:t>
            </a:r>
            <a:r>
              <a:rPr lang="en-US" altLang="zh-CN" dirty="0" err="1"/>
              <a:t>expr</a:t>
            </a:r>
            <a:r>
              <a:rPr lang="zh-CN" altLang="zh-CN" dirty="0"/>
              <a:t>命令</a:t>
            </a:r>
            <a:endParaRPr lang="en-US" altLang="zh-CN" dirty="0"/>
          </a:p>
          <a:p>
            <a:pPr lvl="1"/>
            <a:r>
              <a:rPr lang="zh-CN" altLang="zh-CN" dirty="0"/>
              <a:t>操作数（用于计算的数）和运算符之间一定要有空格</a:t>
            </a:r>
            <a:endParaRPr lang="en-US" altLang="zh-CN" dirty="0"/>
          </a:p>
          <a:p>
            <a:pPr lvl="1"/>
            <a:r>
              <a:rPr lang="en-US" altLang="zh-CN" dirty="0" err="1"/>
              <a:t>val</a:t>
            </a:r>
            <a:r>
              <a:rPr lang="en-US" altLang="zh-CN" dirty="0"/>
              <a:t>=`</a:t>
            </a:r>
            <a:r>
              <a:rPr lang="en-US" altLang="zh-CN" dirty="0" err="1"/>
              <a:t>expr</a:t>
            </a:r>
            <a:r>
              <a:rPr lang="en-US" altLang="zh-CN" dirty="0"/>
              <a:t> 100 / 2`</a:t>
            </a:r>
            <a:endParaRPr lang="en-US" altLang="zh-CN" dirty="0"/>
          </a:p>
          <a:p>
            <a:pPr lvl="1"/>
            <a:r>
              <a:rPr lang="en-US" altLang="zh-CN" dirty="0" err="1"/>
              <a:t>val</a:t>
            </a:r>
            <a:r>
              <a:rPr lang="en-US" altLang="zh-CN" dirty="0"/>
              <a:t>=`</a:t>
            </a:r>
            <a:r>
              <a:rPr lang="en-US" altLang="zh-CN" dirty="0" err="1"/>
              <a:t>expr</a:t>
            </a:r>
            <a:r>
              <a:rPr lang="en-US" altLang="zh-CN" dirty="0"/>
              <a:t> 100/2` #</a:t>
            </a:r>
            <a:r>
              <a:rPr lang="zh-CN" altLang="zh-CN" dirty="0"/>
              <a:t>此时输出的并不是运算结果。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$[]</a:t>
            </a:r>
            <a:r>
              <a:rPr lang="zh-CN" altLang="zh-CN" dirty="0"/>
              <a:t>表达式</a:t>
            </a:r>
            <a:endParaRPr lang="en-US" altLang="zh-CN" dirty="0"/>
          </a:p>
          <a:p>
            <a:pPr lvl="1"/>
            <a:r>
              <a:rPr lang="en-US" altLang="zh-CN" dirty="0"/>
              <a:t>echo $[100/2]</a:t>
            </a:r>
            <a:endParaRPr lang="en-US" altLang="zh-CN" dirty="0"/>
          </a:p>
          <a:p>
            <a:pPr lvl="1"/>
            <a:r>
              <a:rPr lang="zh-CN" altLang="en-US" dirty="0"/>
              <a:t>不要求</a:t>
            </a:r>
            <a:r>
              <a:rPr lang="zh-CN" altLang="zh-CN" dirty="0"/>
              <a:t>有空格</a:t>
            </a:r>
            <a:endParaRPr lang="zh-CN" altLang="zh-CN" dirty="0"/>
          </a:p>
          <a:p>
            <a:pPr lvl="0"/>
            <a:r>
              <a:rPr lang="en-US" altLang="zh-CN"/>
              <a:t>C</a:t>
            </a:r>
            <a:r>
              <a:rPr lang="zh-CN" altLang="en-US"/>
              <a:t>语言风格</a:t>
            </a:r>
            <a:endParaRPr lang="zh-CN" altLang="en-US"/>
          </a:p>
          <a:p>
            <a:pPr lvl="1"/>
            <a:r>
              <a:rPr lang="en-US" altLang="zh-CN"/>
              <a:t>((</a:t>
            </a:r>
            <a:r>
              <a:rPr lang="zh-CN" altLang="en-US"/>
              <a:t>算术表达式</a:t>
            </a:r>
            <a:r>
              <a:rPr lang="en-US" altLang="zh-CN"/>
              <a:t>))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逻辑表达式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test</a:t>
            </a:r>
            <a:r>
              <a:rPr lang="zh-CN" altLang="zh-CN" dirty="0"/>
              <a:t>命令</a:t>
            </a:r>
            <a:endParaRPr lang="en-US" altLang="zh-CN" dirty="0"/>
          </a:p>
          <a:p>
            <a:pPr lvl="1"/>
            <a:r>
              <a:rPr lang="en-US" altLang="zh-CN" dirty="0"/>
              <a:t>test </a:t>
            </a:r>
            <a:r>
              <a:rPr lang="zh-CN" altLang="zh-CN" dirty="0"/>
              <a:t>逻辑表达式</a:t>
            </a:r>
            <a:endParaRPr lang="zh-CN" altLang="zh-CN" dirty="0"/>
          </a:p>
          <a:p>
            <a:pPr lvl="1"/>
            <a:endParaRPr lang="en-US" altLang="zh-CN" dirty="0"/>
          </a:p>
          <a:p>
            <a:r>
              <a:rPr lang="zh-CN" altLang="zh-CN" dirty="0"/>
              <a:t>方括号</a:t>
            </a:r>
            <a:endParaRPr lang="en-US" altLang="zh-CN" dirty="0"/>
          </a:p>
          <a:p>
            <a:pPr lvl="1"/>
            <a:r>
              <a:rPr lang="en-US" altLang="zh-CN" dirty="0"/>
              <a:t>[ </a:t>
            </a:r>
            <a:r>
              <a:rPr lang="zh-CN" altLang="zh-CN" dirty="0"/>
              <a:t>逻辑表达式</a:t>
            </a:r>
            <a:r>
              <a:rPr lang="en-US" altLang="zh-CN" dirty="0"/>
              <a:t> ]</a:t>
            </a:r>
            <a:endParaRPr lang="zh-CN" altLang="zh-CN" dirty="0"/>
          </a:p>
          <a:p>
            <a:pPr lvl="1"/>
            <a:r>
              <a:rPr lang="zh-CN" altLang="zh-CN" dirty="0">
                <a:solidFill>
                  <a:srgbClr val="FF0000"/>
                </a:solidFill>
              </a:rPr>
              <a:t>逻辑表达式两边必须有空格</a:t>
            </a: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zh-CN" dirty="0"/>
              <a:t>控制结构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分支结构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Condition</a:t>
            </a:r>
            <a:r>
              <a:rPr lang="zh-CN" altLang="zh-CN" dirty="0"/>
              <a:t>中需要包含的逻辑表达式指定运算命令。实践中，一般可以使用“</a:t>
            </a:r>
            <a:r>
              <a:rPr lang="en-US" altLang="zh-CN" dirty="0"/>
              <a:t>(())</a:t>
            </a:r>
            <a:r>
              <a:rPr lang="zh-CN" altLang="zh-CN" dirty="0"/>
              <a:t>”或者“</a:t>
            </a:r>
            <a:r>
              <a:rPr lang="en-US" altLang="zh-CN" dirty="0"/>
              <a:t>[]</a:t>
            </a:r>
            <a:r>
              <a:rPr lang="zh-CN" altLang="zh-CN" dirty="0"/>
              <a:t>”来计算逻辑表达式的值。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85" y="2174735"/>
            <a:ext cx="1771429" cy="14571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711" y="2174737"/>
            <a:ext cx="1771429" cy="215238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420" y="2231885"/>
            <a:ext cx="2200000" cy="10571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901" y="2174735"/>
            <a:ext cx="1609524" cy="43047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3188" y="2231885"/>
            <a:ext cx="1926872" cy="440427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35575" y="5062164"/>
            <a:ext cx="5202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 (($X == $Y));then echo "</a:t>
            </a:r>
            <a:r>
              <a:rPr lang="en-US" altLang="zh-CN" kern="1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equal";else</a:t>
            </a:r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echo "</a:t>
            </a:r>
            <a:r>
              <a:rPr lang="en-US" altLang="zh-CN" kern="1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no";fi</a:t>
            </a:r>
            <a:endParaRPr lang="zh-CN" altLang="zh-CN" kern="1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循环结构：</a:t>
            </a:r>
            <a:r>
              <a:rPr lang="en-US" altLang="zh-CN" dirty="0"/>
              <a:t>for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C</a:t>
            </a:r>
            <a:r>
              <a:rPr lang="zh-CN" altLang="zh-CN" dirty="0"/>
              <a:t>语言风格的</a:t>
            </a:r>
            <a:r>
              <a:rPr lang="en-US" altLang="zh-CN" dirty="0"/>
              <a:t>for</a:t>
            </a:r>
            <a:r>
              <a:rPr lang="zh-CN" altLang="zh-CN" dirty="0"/>
              <a:t>循环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481" y="2198221"/>
            <a:ext cx="3061224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循环结构：</a:t>
            </a:r>
            <a:r>
              <a:rPr lang="en-US" altLang="zh-CN" dirty="0"/>
              <a:t>for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89798"/>
            <a:ext cx="10515600" cy="4954450"/>
          </a:xfrm>
        </p:spPr>
        <p:txBody>
          <a:bodyPr/>
          <a:lstStyle/>
          <a:p>
            <a:r>
              <a:rPr lang="en-US" altLang="zh-CN" dirty="0"/>
              <a:t>2. Python</a:t>
            </a:r>
            <a:r>
              <a:rPr lang="zh-CN" altLang="zh-CN" dirty="0"/>
              <a:t>语言风格的</a:t>
            </a:r>
            <a:r>
              <a:rPr lang="en-US" altLang="zh-CN" dirty="0"/>
              <a:t>for</a:t>
            </a:r>
            <a:r>
              <a:rPr lang="zh-CN" altLang="zh-CN" dirty="0"/>
              <a:t>循环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54735" y="1654175"/>
            <a:ext cx="7956550" cy="4927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65125" indent="-365125">
              <a:buNone/>
            </a:pPr>
            <a:r>
              <a:rPr lang="zh-CN" altLang="en-US" b="1" dirty="0">
                <a:sym typeface="+mn-ea"/>
              </a:rPr>
              <a:t>格式：</a:t>
            </a:r>
            <a:endParaRPr lang="zh-CN" altLang="en-US" b="1" dirty="0"/>
          </a:p>
          <a:p>
            <a:pPr lvl="1" indent="-363220">
              <a:buNone/>
            </a:pPr>
            <a:r>
              <a:rPr lang="en-US" altLang="zh-CN" b="1">
                <a:solidFill>
                  <a:srgbClr val="A50021"/>
                </a:solidFill>
                <a:sym typeface="+mn-ea"/>
              </a:rPr>
              <a:t>for  variable  [in argument-list]</a:t>
            </a:r>
            <a:endParaRPr lang="en-US" altLang="zh-CN" b="1">
              <a:solidFill>
                <a:srgbClr val="A50021"/>
              </a:solidFill>
            </a:endParaRPr>
          </a:p>
          <a:p>
            <a:pPr lvl="1" indent="-363220">
              <a:buNone/>
            </a:pPr>
            <a:r>
              <a:rPr lang="en-US" altLang="zh-CN" b="1">
                <a:solidFill>
                  <a:srgbClr val="A50021"/>
                </a:solidFill>
                <a:sym typeface="+mn-ea"/>
              </a:rPr>
              <a:t>do</a:t>
            </a:r>
            <a:endParaRPr lang="en-US" altLang="zh-CN" b="1">
              <a:solidFill>
                <a:srgbClr val="A50021"/>
              </a:solidFill>
            </a:endParaRPr>
          </a:p>
          <a:p>
            <a:pPr lvl="1" indent="-363220">
              <a:buNone/>
            </a:pPr>
            <a:r>
              <a:rPr lang="en-US" altLang="zh-CN" b="1">
                <a:solidFill>
                  <a:srgbClr val="A50021"/>
                </a:solidFill>
                <a:sym typeface="+mn-ea"/>
              </a:rPr>
              <a:t>   command-list</a:t>
            </a:r>
            <a:endParaRPr lang="en-US" altLang="zh-CN" b="1">
              <a:solidFill>
                <a:srgbClr val="A50021"/>
              </a:solidFill>
            </a:endParaRPr>
          </a:p>
          <a:p>
            <a:pPr lvl="1" indent="-363220">
              <a:buNone/>
            </a:pPr>
            <a:r>
              <a:rPr lang="en-US" altLang="zh-CN" b="1">
                <a:solidFill>
                  <a:srgbClr val="A50021"/>
                </a:solidFill>
                <a:sym typeface="+mn-ea"/>
              </a:rPr>
              <a:t>done</a:t>
            </a:r>
            <a:endParaRPr lang="en-US" altLang="zh-CN" b="1">
              <a:solidFill>
                <a:srgbClr val="A50021"/>
              </a:solidFill>
            </a:endParaRPr>
          </a:p>
          <a:p>
            <a:pPr indent="-365125" fontAlgn="auto">
              <a:buNone/>
            </a:pPr>
            <a:r>
              <a:rPr lang="en-US" altLang="zh-CN" b="1" dirty="0">
                <a:sym typeface="+mn-ea"/>
              </a:rPr>
              <a:t> </a:t>
            </a:r>
            <a:r>
              <a:rPr lang="zh-CN" altLang="en-US" b="1" dirty="0">
                <a:sym typeface="+mn-ea"/>
              </a:rPr>
              <a:t>其中的</a:t>
            </a:r>
            <a:r>
              <a:rPr lang="en-US" altLang="zh-CN" b="1" dirty="0">
                <a:sym typeface="+mn-ea"/>
              </a:rPr>
              <a:t>[in argument-list]</a:t>
            </a:r>
            <a:r>
              <a:rPr lang="zh-CN" altLang="en-US" b="1" dirty="0">
                <a:sym typeface="+mn-ea"/>
              </a:rPr>
              <a:t>部分为可选项，由于它的不同又可有三种形式。</a:t>
            </a:r>
            <a:endParaRPr lang="zh-CN" altLang="en-US" b="1" dirty="0">
              <a:sym typeface="+mn-ea"/>
            </a:endParaRPr>
          </a:p>
          <a:p>
            <a:pPr indent="-365125" fontAlgn="auto">
              <a:buNone/>
            </a:pPr>
            <a:endParaRPr lang="zh-CN" altLang="en-US" b="1" dirty="0">
              <a:sym typeface="+mn-ea"/>
            </a:endParaRPr>
          </a:p>
          <a:p>
            <a:pPr indent="-365125" fontAlgn="auto">
              <a:buNone/>
            </a:pPr>
            <a:r>
              <a:rPr lang="en-US" altLang="zh-CN" b="1" dirty="0">
                <a:sym typeface="+mn-ea"/>
              </a:rPr>
              <a:t>1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[argument-list]</a:t>
            </a:r>
            <a:r>
              <a:rPr lang="zh-CN" altLang="en-US" b="1" dirty="0">
                <a:sym typeface="+mn-ea"/>
              </a:rPr>
              <a:t>为变量</a:t>
            </a:r>
            <a:r>
              <a:rPr lang="zh-CN" altLang="en-US" b="1" dirty="0">
                <a:sym typeface="+mn-ea"/>
              </a:rPr>
              <a:t>列表</a:t>
            </a:r>
            <a:endParaRPr lang="zh-CN" altLang="en-US" b="1" dirty="0">
              <a:sym typeface="+mn-ea"/>
            </a:endParaRPr>
          </a:p>
          <a:p>
            <a:pPr indent="-365125" fontAlgn="auto">
              <a:buNone/>
            </a:pPr>
            <a:r>
              <a:rPr lang="zh-CN" altLang="en-US" b="1" dirty="0">
                <a:sym typeface="+mn-ea"/>
              </a:rPr>
              <a:t> </a:t>
            </a:r>
            <a:r>
              <a:rPr lang="en-US" altLang="zh-CN" b="1" dirty="0">
                <a:sym typeface="+mn-ea"/>
              </a:rPr>
              <a:t>     </a:t>
            </a:r>
            <a:r>
              <a:rPr lang="zh-CN" altLang="en-US" b="1" dirty="0">
                <a:sym typeface="+mn-ea"/>
              </a:rPr>
              <a:t>变量</a:t>
            </a:r>
            <a:r>
              <a:rPr lang="en-US" altLang="zh-CN" b="1" dirty="0">
                <a:sym typeface="+mn-ea"/>
              </a:rPr>
              <a:t>variable</a:t>
            </a:r>
            <a:r>
              <a:rPr lang="zh-CN" altLang="en-US" b="1" dirty="0">
                <a:sym typeface="+mn-ea"/>
              </a:rPr>
              <a:t>依次取</a:t>
            </a:r>
            <a:r>
              <a:rPr lang="zh-CN" altLang="en-US" b="1" dirty="0">
                <a:sym typeface="+mn-ea"/>
              </a:rPr>
              <a:t>列表中各字符串</a:t>
            </a:r>
            <a:endParaRPr lang="zh-CN" altLang="en-US" b="1" dirty="0">
              <a:sym typeface="+mn-ea"/>
            </a:endParaRPr>
          </a:p>
          <a:p>
            <a:pPr indent="-365125" fontAlgn="auto">
              <a:buNone/>
            </a:pPr>
            <a:endParaRPr lang="zh-CN" altLang="en-US" b="1" dirty="0">
              <a:sym typeface="+mn-ea"/>
            </a:endParaRPr>
          </a:p>
          <a:p>
            <a:pPr indent="-365125" fontAlgn="auto">
              <a:buNone/>
            </a:pPr>
            <a:r>
              <a:rPr lang="en-US" altLang="zh-CN" b="1" dirty="0">
                <a:sym typeface="+mn-ea"/>
              </a:rPr>
              <a:t>2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[argument-list]</a:t>
            </a:r>
            <a:r>
              <a:rPr lang="zh-CN" altLang="en-US" b="1" dirty="0">
                <a:sym typeface="+mn-ea"/>
              </a:rPr>
              <a:t>为文件的表达式 </a:t>
            </a:r>
            <a:endParaRPr lang="zh-CN" altLang="en-US" b="1" dirty="0"/>
          </a:p>
          <a:p>
            <a:pPr marL="360045" lvl="1" indent="0" fontAlgn="auto">
              <a:buNone/>
            </a:pPr>
            <a:r>
              <a:rPr lang="zh-CN" altLang="en-US" b="1" dirty="0">
                <a:sym typeface="+mn-ea"/>
              </a:rPr>
              <a:t>变量的值依次取当前目录（或指定目录）下与文件表达式相匹配的文件名，每取值一次，就进入循环体执行命令表，直到所有匹配的文件名取完为止。 </a:t>
            </a:r>
            <a:endParaRPr lang="zh-CN" altLang="en-US" b="1" dirty="0"/>
          </a:p>
          <a:p>
            <a:pPr marL="457200" lvl="1" indent="0" fontAlgn="auto">
              <a:buNone/>
            </a:pPr>
            <a:endParaRPr lang="zh-CN" altLang="en-US" b="1" dirty="0">
              <a:sym typeface="+mn-ea"/>
            </a:endParaRPr>
          </a:p>
          <a:p>
            <a:pPr indent="-365125" fontAlgn="auto">
              <a:buNone/>
            </a:pPr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[argument-list]</a:t>
            </a:r>
            <a:r>
              <a:rPr lang="zh-CN" altLang="en-US" b="1" dirty="0">
                <a:sym typeface="+mn-ea"/>
              </a:rPr>
              <a:t>为空</a:t>
            </a:r>
            <a:endParaRPr lang="zh-CN" altLang="en-US" b="1" dirty="0">
              <a:sym typeface="+mn-ea"/>
            </a:endParaRPr>
          </a:p>
          <a:p>
            <a:pPr marL="360045" indent="0" fontAlgn="auto">
              <a:buNone/>
            </a:pPr>
            <a:r>
              <a:rPr lang="zh-CN" altLang="en-US" b="1" dirty="0">
                <a:sym typeface="+mn-ea"/>
              </a:rPr>
              <a:t>变量依次取位置参数的值，然后执行循环体中的命令表，直至所有位置参数取完为止。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循环结构：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while </a:t>
            </a:r>
            <a:r>
              <a:rPr lang="zh-CN" altLang="zh-CN" dirty="0"/>
              <a:t>语句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until </a:t>
            </a:r>
            <a:r>
              <a:rPr lang="zh-CN" altLang="zh-CN" dirty="0"/>
              <a:t>语句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108" y="1412643"/>
            <a:ext cx="2517482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646" y="4206009"/>
            <a:ext cx="2008164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zh-CN" dirty="0"/>
              <a:t>函数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函数的定义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定义及变体</a:t>
            </a:r>
            <a:endParaRPr lang="en-US" altLang="zh-CN" dirty="0"/>
          </a:p>
          <a:p>
            <a:pPr lvl="1"/>
            <a:r>
              <a:rPr lang="en-US" altLang="zh-CN" dirty="0"/>
              <a:t>return</a:t>
            </a:r>
            <a:r>
              <a:rPr lang="zh-CN" altLang="en-US" dirty="0"/>
              <a:t>与其他语言中的用法不一样，详见“</a:t>
            </a:r>
            <a:r>
              <a:rPr lang="en-US" altLang="zh-CN" dirty="0"/>
              <a:t>9.5.3</a:t>
            </a:r>
            <a:r>
              <a:rPr lang="zh-CN" altLang="zh-CN" dirty="0"/>
              <a:t>函数的返回值</a:t>
            </a:r>
            <a:r>
              <a:rPr lang="zh-CN" altLang="en-US" dirty="0"/>
              <a:t>”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724" y="2302274"/>
            <a:ext cx="3178724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877" y="2302274"/>
            <a:ext cx="2983216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522" y="2302274"/>
            <a:ext cx="347324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函数调用与参数传递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其一，不传递参数：</a:t>
            </a:r>
            <a:endParaRPr lang="zh-CN" altLang="zh-CN" dirty="0"/>
          </a:p>
          <a:p>
            <a:pPr lvl="1"/>
            <a:r>
              <a:rPr lang="zh-CN" altLang="zh-CN" dirty="0"/>
              <a:t>函数名</a:t>
            </a:r>
            <a:endParaRPr lang="zh-CN" altLang="zh-CN" dirty="0"/>
          </a:p>
          <a:p>
            <a:r>
              <a:rPr lang="zh-CN" altLang="zh-CN" dirty="0"/>
              <a:t>其二，传递参数。函数名字后接参数列表，参数之间以空格分隔。</a:t>
            </a:r>
            <a:endParaRPr lang="en-US" altLang="zh-CN" dirty="0"/>
          </a:p>
          <a:p>
            <a:pPr lvl="1"/>
            <a:r>
              <a:rPr lang="zh-CN" altLang="zh-CN" dirty="0"/>
              <a:t>函数名 参数</a:t>
            </a:r>
            <a:r>
              <a:rPr lang="en-US" altLang="zh-CN" dirty="0"/>
              <a:t>1 </a:t>
            </a:r>
            <a:r>
              <a:rPr lang="zh-CN" altLang="zh-CN" dirty="0"/>
              <a:t>参数</a:t>
            </a:r>
            <a:r>
              <a:rPr lang="en-US" altLang="zh-CN" dirty="0"/>
              <a:t>2 …… </a:t>
            </a:r>
            <a:r>
              <a:rPr lang="zh-CN" altLang="zh-CN" dirty="0"/>
              <a:t>参数</a:t>
            </a:r>
            <a:r>
              <a:rPr lang="en-US" altLang="zh-CN" dirty="0"/>
              <a:t>n</a:t>
            </a:r>
            <a:endParaRPr lang="en-US" altLang="zh-CN" dirty="0"/>
          </a:p>
          <a:p>
            <a:pPr lvl="1"/>
            <a:r>
              <a:rPr lang="en-US" altLang="zh-CN" dirty="0"/>
              <a:t>$1 </a:t>
            </a:r>
            <a:r>
              <a:rPr lang="zh-CN" altLang="zh-CN" dirty="0"/>
              <a:t>表示第一个参数，</a:t>
            </a:r>
            <a:r>
              <a:rPr lang="en-US" altLang="zh-CN" dirty="0"/>
              <a:t>$2 </a:t>
            </a:r>
            <a:r>
              <a:rPr lang="zh-CN" altLang="zh-CN" dirty="0"/>
              <a:t>表示第二个参数</a:t>
            </a:r>
            <a:endParaRPr lang="en-US" altLang="zh-CN" dirty="0"/>
          </a:p>
          <a:p>
            <a:pPr lvl="1"/>
            <a:r>
              <a:rPr lang="en-US" altLang="zh-CN" dirty="0"/>
              <a:t>$#</a:t>
            </a:r>
            <a:r>
              <a:rPr lang="zh-CN" altLang="zh-CN" dirty="0"/>
              <a:t>获取传递的参数的个数；</a:t>
            </a:r>
            <a:endParaRPr lang="en-US" altLang="zh-CN" dirty="0"/>
          </a:p>
          <a:p>
            <a:pPr lvl="1"/>
            <a:r>
              <a:rPr lang="zh-CN" altLang="zh-CN" dirty="0"/>
              <a:t>通过</a:t>
            </a:r>
            <a:r>
              <a:rPr lang="en-US" altLang="zh-CN" dirty="0"/>
              <a:t>$@</a:t>
            </a:r>
            <a:r>
              <a:rPr lang="zh-CN" altLang="zh-CN" dirty="0"/>
              <a:t>或者</a:t>
            </a:r>
            <a:r>
              <a:rPr lang="en-US" altLang="zh-CN" dirty="0"/>
              <a:t>$*</a:t>
            </a:r>
            <a:r>
              <a:rPr lang="zh-CN" altLang="zh-CN" dirty="0"/>
              <a:t>一次性获取所有的参数。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获取</a:t>
            </a:r>
            <a:r>
              <a:rPr lang="en-US" altLang="zh-CN" dirty="0"/>
              <a:t>Shell</a:t>
            </a:r>
            <a:r>
              <a:rPr lang="zh-CN" altLang="zh-CN" dirty="0"/>
              <a:t>函数返回结果的方法一般有如下三种。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其一，直接从函数内部输出数据。</a:t>
            </a:r>
            <a:endParaRPr lang="en-US" altLang="zh-CN" dirty="0"/>
          </a:p>
          <a:p>
            <a:pPr lvl="1"/>
            <a:r>
              <a:rPr lang="zh-CN" altLang="zh-CN" dirty="0"/>
              <a:t>例如，前两节的例子中，我们都是使用</a:t>
            </a:r>
            <a:r>
              <a:rPr lang="en-US" altLang="zh-CN" dirty="0"/>
              <a:t>echo</a:t>
            </a:r>
            <a:r>
              <a:rPr lang="zh-CN" altLang="zh-CN" dirty="0"/>
              <a:t>命令直接从函数内部输出结果。</a:t>
            </a:r>
            <a:endParaRPr lang="zh-CN" altLang="zh-CN" dirty="0"/>
          </a:p>
          <a:p>
            <a:r>
              <a:rPr lang="zh-CN" altLang="zh-CN" dirty="0"/>
              <a:t>其二，使用全局变量。</a:t>
            </a:r>
            <a:endParaRPr lang="en-US" altLang="zh-CN" dirty="0"/>
          </a:p>
          <a:p>
            <a:pPr lvl="1"/>
            <a:r>
              <a:rPr lang="zh-CN" altLang="zh-CN" dirty="0"/>
              <a:t>首先定义全局变量，在函数中将计算结果赋给全局变量，然后脚本中其他位置，通过访问全局变量，可以获得相应的计算结果。</a:t>
            </a:r>
            <a:r>
              <a:rPr lang="en-US" altLang="zh-CN" dirty="0"/>
              <a:t>Shell</a:t>
            </a:r>
            <a:r>
              <a:rPr lang="zh-CN" altLang="zh-CN" dirty="0"/>
              <a:t>函数中定义的变量默认是全局变量，函数与其所在脚本共享该全局变量。可使用</a:t>
            </a:r>
            <a:r>
              <a:rPr lang="en-US" altLang="zh-CN" dirty="0"/>
              <a:t>local</a:t>
            </a:r>
            <a:r>
              <a:rPr lang="zh-CN" altLang="zh-CN" dirty="0"/>
              <a:t>关键词定义局部变量。</a:t>
            </a:r>
            <a:endParaRPr lang="zh-CN" altLang="zh-CN" dirty="0"/>
          </a:p>
          <a:p>
            <a:r>
              <a:rPr lang="zh-CN" altLang="zh-CN" dirty="0"/>
              <a:t>其三，使用内置变量。</a:t>
            </a:r>
            <a:endParaRPr lang="en-US" altLang="zh-CN" dirty="0"/>
          </a:p>
          <a:p>
            <a:pPr lvl="1"/>
            <a:r>
              <a:rPr lang="zh-CN" altLang="zh-CN" dirty="0"/>
              <a:t>通过</a:t>
            </a:r>
            <a:r>
              <a:rPr lang="en-US" altLang="zh-CN" dirty="0"/>
              <a:t>$?</a:t>
            </a:r>
            <a:r>
              <a:rPr lang="zh-CN" altLang="zh-CN" dirty="0"/>
              <a:t>这一个特殊的内置变量，可用于获取上一个命令执行后的返回结果。因而在函数调用后，可以使用</a:t>
            </a:r>
            <a:r>
              <a:rPr lang="en-US" altLang="zh-CN" dirty="0"/>
              <a:t>$?</a:t>
            </a:r>
            <a:r>
              <a:rPr lang="zh-CN" altLang="zh-CN" dirty="0"/>
              <a:t>来接收函数函数返回结果。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zh-CN" dirty="0"/>
              <a:t>进阶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</a:t>
            </a:r>
            <a:r>
              <a:rPr lang="zh-CN" altLang="zh-CN" dirty="0"/>
              <a:t>进阶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12" y="1763919"/>
            <a:ext cx="9000000" cy="1224416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62" y="3598471"/>
            <a:ext cx="9000000" cy="1835541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数值比较运算符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286" y="1995666"/>
            <a:ext cx="8771428" cy="2866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逻辑运算符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2795" y="2356704"/>
            <a:ext cx="8780952" cy="1714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字符串检测和比较运算符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619" y="2195666"/>
            <a:ext cx="9304762" cy="2466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文件测试运算符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952" y="833762"/>
            <a:ext cx="7638095" cy="5190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Linux@张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fs4aqc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2651</Words>
  <Application>WPS 演示</Application>
  <PresentationFormat>宽屏</PresentationFormat>
  <Paragraphs>278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Arial</vt:lpstr>
      <vt:lpstr>宋体</vt:lpstr>
      <vt:lpstr>Wingdings</vt:lpstr>
      <vt:lpstr>楷体</vt:lpstr>
      <vt:lpstr>Arial Narrow</vt:lpstr>
      <vt:lpstr>Calibri</vt:lpstr>
      <vt:lpstr>Arial Black</vt:lpstr>
      <vt:lpstr>Times New Roman</vt:lpstr>
      <vt:lpstr>微软雅黑</vt:lpstr>
      <vt:lpstr>Arial Unicode MS</vt:lpstr>
      <vt:lpstr>Linux@张平</vt:lpstr>
      <vt:lpstr>第9章 Shell编程</vt:lpstr>
      <vt:lpstr>PowerPoint 演示文稿</vt:lpstr>
      <vt:lpstr>Shell编程概述 </vt:lpstr>
      <vt:lpstr>Shell编程概述</vt:lpstr>
      <vt:lpstr>运行Shell脚本的几种方法</vt:lpstr>
      <vt:lpstr>PowerPoint 演示文稿</vt:lpstr>
      <vt:lpstr>PowerPoint 演示文稿</vt:lpstr>
      <vt:lpstr>Shell变量 </vt:lpstr>
      <vt:lpstr>变量类型</vt:lpstr>
      <vt:lpstr>变量（用户变量）定义和访问</vt:lpstr>
      <vt:lpstr>变量定义和访问</vt:lpstr>
      <vt:lpstr>变量定义和访问</vt:lpstr>
      <vt:lpstr>环境变量</vt:lpstr>
      <vt:lpstr>内置变量</vt:lpstr>
      <vt:lpstr>内置变量（又称特殊变量）</vt:lpstr>
      <vt:lpstr>变量值输出</vt:lpstr>
      <vt:lpstr>变量值输入</vt:lpstr>
      <vt:lpstr>数组</vt:lpstr>
      <vt:lpstr>数组</vt:lpstr>
      <vt:lpstr>表达式与运算符 </vt:lpstr>
      <vt:lpstr>算术表达式</vt:lpstr>
      <vt:lpstr>逻辑表达式</vt:lpstr>
      <vt:lpstr>Shell控制结构 </vt:lpstr>
      <vt:lpstr>分支结构</vt:lpstr>
      <vt:lpstr>循环结构：for语句</vt:lpstr>
      <vt:lpstr>循环结构：for语句</vt:lpstr>
      <vt:lpstr>循环结构：</vt:lpstr>
      <vt:lpstr>Shell函数 </vt:lpstr>
      <vt:lpstr>函数的定义</vt:lpstr>
      <vt:lpstr>函数调用与参数传递</vt:lpstr>
      <vt:lpstr>获取Shell函数返回结果的方法一般有如下三种。</vt:lpstr>
      <vt:lpstr>Shell进阶 </vt:lpstr>
      <vt:lpstr>Shell进阶</vt:lpstr>
      <vt:lpstr>数值比较运算符</vt:lpstr>
      <vt:lpstr>逻辑运算符</vt:lpstr>
      <vt:lpstr>字符串检测和比较运算符</vt:lpstr>
      <vt:lpstr>文件测试运算符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Linux发行版</dc:title>
  <dc:creator>John</dc:creator>
  <cp:lastModifiedBy>李莉</cp:lastModifiedBy>
  <cp:revision>117</cp:revision>
  <dcterms:created xsi:type="dcterms:W3CDTF">2019-07-09T12:44:00Z</dcterms:created>
  <dcterms:modified xsi:type="dcterms:W3CDTF">2024-12-08T10:02:22Z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CE9072F3B505411D8FD07226C91F3B07_12</vt:lpwstr>
  </property>
  <property fmtid="{D5CDD505-2E9C-101B-9397-08002B2CF9AE}" pid="3" name="KSOProductBuildVer">
    <vt:lpwstr>2052-12.1.0.19302</vt:lpwstr>
  </property>
</Properties>
</file>