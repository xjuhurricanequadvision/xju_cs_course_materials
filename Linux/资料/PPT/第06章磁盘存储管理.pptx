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73" r:id="rId3"/>
    <p:sldId id="272" r:id="rId4"/>
    <p:sldId id="302" r:id="rId5"/>
    <p:sldId id="278" r:id="rId6"/>
    <p:sldId id="303" r:id="rId7"/>
    <p:sldId id="279" r:id="rId8"/>
    <p:sldId id="280" r:id="rId9"/>
    <p:sldId id="312" r:id="rId10"/>
    <p:sldId id="284" r:id="rId11"/>
    <p:sldId id="285" r:id="rId12"/>
    <p:sldId id="304" r:id="rId13"/>
    <p:sldId id="313" r:id="rId14"/>
    <p:sldId id="305" r:id="rId15"/>
    <p:sldId id="314" r:id="rId16"/>
    <p:sldId id="315" r:id="rId17"/>
    <p:sldId id="306" r:id="rId18"/>
    <p:sldId id="316" r:id="rId19"/>
    <p:sldId id="317" r:id="rId20"/>
    <p:sldId id="318" r:id="rId21"/>
    <p:sldId id="307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51" autoAdjust="0"/>
  </p:normalViewPr>
  <p:slideViewPr>
    <p:cSldViewPr snapToGrid="0">
      <p:cViewPr varScale="1">
        <p:scale>
          <a:sx n="64" d="100"/>
          <a:sy n="64" d="100"/>
        </p:scale>
        <p:origin x="8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CAE0C-A047-4C5A-B40C-696D032ACC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www.1ppt.com/hangye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microsoft.com/office/2007/relationships/hdphoto" Target="../media/image5.wdp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剪去单角 6"/>
          <p:cNvSpPr/>
          <p:nvPr userDrawn="1"/>
        </p:nvSpPr>
        <p:spPr>
          <a:xfrm>
            <a:off x="-133165" y="976931"/>
            <a:ext cx="2263806" cy="1180730"/>
          </a:xfrm>
          <a:prstGeom prst="snip1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2827888" y="976931"/>
            <a:ext cx="5650925" cy="4954450"/>
          </a:xfrm>
          <a:prstGeom prst="rect">
            <a:avLst/>
          </a:prstGeom>
        </p:spPr>
        <p:txBody>
          <a:bodyPr/>
          <a:lstStyle>
            <a:lvl1pPr marL="514350" indent="-514350">
              <a:buFont typeface="+mj-lt"/>
              <a:buAutoNum type="arabicPeriod"/>
              <a:defRPr lang="zh-CN" altLang="en-US" sz="3200" b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  <a:lvl2pPr marL="914400" indent="-457200">
              <a:buFont typeface="+mj-lt"/>
              <a:buAutoNum type="arabicPeriod"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371600" indent="-457200">
              <a:buFont typeface="+mj-lt"/>
              <a:buAutoNum type="arabicPeriod"/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7145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1717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6" name="WordArt 293"/>
          <p:cNvSpPr>
            <a:spLocks noChangeArrowheads="1" noChangeShapeType="1" noTextEdit="1"/>
          </p:cNvSpPr>
          <p:nvPr userDrawn="1"/>
        </p:nvSpPr>
        <p:spPr bwMode="auto">
          <a:xfrm>
            <a:off x="552994" y="1243444"/>
            <a:ext cx="1143000" cy="5332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blipFill dpi="0" rotWithShape="1">
                  <a:blip r:embed="rId2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000000">
                      <a:alpha val="80000"/>
                    </a:srgbClr>
                  </a:outerShdw>
                </a:effectLst>
                <a:cs typeface="+mn-ea"/>
                <a:sym typeface="+mn-lt"/>
              </a:rPr>
              <a:t>目录</a:t>
            </a:r>
            <a:endParaRPr lang="zh-CN" altLang="en-US" sz="3600" b="1" kern="10" dirty="0">
              <a:blipFill dpi="0" rotWithShape="1">
                <a:blip r:embed="rId2"/>
                <a:srcRect/>
                <a:tile tx="0" ty="0" sx="100000" sy="100000" flip="none" algn="tl"/>
              </a:blipFill>
              <a:effectLst>
                <a:outerShdw dist="35921" dir="2700000" algn="ctr" rotWithShape="0">
                  <a:srgbClr val="000000">
                    <a:alpha val="8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7" name="WordArt 294"/>
          <p:cNvSpPr>
            <a:spLocks noChangeArrowheads="1" noChangeShapeType="1" noTextEdit="1"/>
          </p:cNvSpPr>
          <p:nvPr userDrawn="1"/>
        </p:nvSpPr>
        <p:spPr bwMode="auto">
          <a:xfrm>
            <a:off x="564082" y="1912157"/>
            <a:ext cx="1143000" cy="15235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节首页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928020" y="2348880"/>
            <a:ext cx="2591916" cy="26035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lang="zh-CN" altLang="en-US" sz="16600" kern="1200" dirty="0">
                <a:solidFill>
                  <a:srgbClr val="385D8A"/>
                </a:solidFill>
                <a:latin typeface="Arial Narrow" panose="020B0606020202030204" pitchFamily="34" charset="0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8B5535-6453-4045-A675-64EF0EEF3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等腰三角形 37"/>
          <p:cNvSpPr>
            <a:spLocks noChangeArrowheads="1"/>
          </p:cNvSpPr>
          <p:nvPr userDrawn="1"/>
        </p:nvSpPr>
        <p:spPr bwMode="auto">
          <a:xfrm>
            <a:off x="1452563" y="4003377"/>
            <a:ext cx="3008312" cy="2593975"/>
          </a:xfrm>
          <a:prstGeom prst="triangle">
            <a:avLst>
              <a:gd name="adj" fmla="val 50000"/>
            </a:avLst>
          </a:prstGeom>
          <a:solidFill>
            <a:srgbClr val="385D8A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7002463" y="260648"/>
            <a:ext cx="3008312" cy="2603500"/>
            <a:chOff x="7002463" y="-9525"/>
            <a:chExt cx="3008312" cy="2603500"/>
          </a:xfrm>
        </p:grpSpPr>
        <p:sp>
          <p:nvSpPr>
            <p:cNvPr id="18" name="等腰三角形 7"/>
            <p:cNvSpPr>
              <a:spLocks noChangeArrowheads="1"/>
            </p:cNvSpPr>
            <p:nvPr/>
          </p:nvSpPr>
          <p:spPr bwMode="auto">
            <a:xfrm rot="10800000">
              <a:off x="7002463" y="0"/>
              <a:ext cx="3008312" cy="2593975"/>
            </a:xfrm>
            <a:prstGeom prst="triangle">
              <a:avLst>
                <a:gd name="adj" fmla="val 50000"/>
              </a:avLst>
            </a:prstGeom>
            <a:solidFill>
              <a:srgbClr val="385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直角三角形 13"/>
            <p:cNvSpPr>
              <a:spLocks noChangeArrowheads="1"/>
            </p:cNvSpPr>
            <p:nvPr/>
          </p:nvSpPr>
          <p:spPr bwMode="auto">
            <a:xfrm rot="10800000" flipH="1">
              <a:off x="8499475" y="-9525"/>
              <a:ext cx="1511300" cy="2603500"/>
            </a:xfrm>
            <a:prstGeom prst="rtTriangle">
              <a:avLst/>
            </a:prstGeom>
            <a:solidFill>
              <a:srgbClr val="30302F">
                <a:alpha val="4784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521" y="3645024"/>
            <a:ext cx="4752951" cy="1191915"/>
          </a:xfrm>
          <a:prstGeom prst="rect">
            <a:avLst/>
          </a:prstGeom>
        </p:spPr>
        <p:txBody>
          <a:bodyPr/>
          <a:lstStyle>
            <a:lvl1pPr>
              <a:defRPr lang="zh-CN" altLang="en-US" sz="36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5638510" y="2879503"/>
            <a:ext cx="1782860" cy="523220"/>
          </a:xfrm>
          <a:prstGeom prst="rect">
            <a:avLst/>
          </a:prstGeom>
          <a:solidFill>
            <a:srgbClr val="385D8A"/>
          </a:solidFill>
        </p:spPr>
        <p:txBody>
          <a:bodyPr wrap="none" rtlCol="0">
            <a:spAutoFit/>
          </a:bodyPr>
          <a:lstStyle/>
          <a:p>
            <a:r>
              <a:rPr kumimoji="0" lang="en-US" altLang="zh-CN" sz="2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SUBTITLE</a:t>
            </a:r>
            <a:endParaRPr kumimoji="0" lang="zh-CN" altLang="en-US" sz="2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2" grpId="0"/>
      <p:bldP spid="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0093" y="697517"/>
            <a:ext cx="7993358" cy="457315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8B5535-6453-4045-A675-64EF0EEF3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07232" y="662608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13" name="矩形 1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6591" y="555079"/>
            <a:ext cx="10037209" cy="457316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22513"/>
            <a:ext cx="10515600" cy="49544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707232" y="512854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9" name="矩形 8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14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988" y="1092373"/>
            <a:ext cx="2659224" cy="149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748530" y="2680396"/>
            <a:ext cx="5847122" cy="910888"/>
          </a:xfrm>
          <a:prstGeom prst="rect">
            <a:avLst/>
          </a:prstGeom>
        </p:spPr>
        <p:txBody>
          <a:bodyPr anchor="b"/>
          <a:lstStyle>
            <a:lvl1pPr algn="ctr">
              <a:defRPr lang="zh-CN" altLang="en-US" sz="48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055440" y="548681"/>
            <a:ext cx="3807505" cy="5261916"/>
            <a:chOff x="1559496" y="764704"/>
            <a:chExt cx="3849496" cy="557893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1008622" y="620688"/>
            <a:ext cx="3863242" cy="5598859"/>
            <a:chOff x="1559496" y="764704"/>
            <a:chExt cx="3849496" cy="557893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 userDrawn="1"/>
        </p:nvSpPr>
        <p:spPr>
          <a:xfrm>
            <a:off x="4673753" y="4127826"/>
            <a:ext cx="704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Thanks for your attention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！</a:t>
            </a:r>
            <a:endParaRPr lang="zh-CN" altLang="en-US" sz="36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9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99" y="1331453"/>
            <a:ext cx="385069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8B5535-6453-4045-A675-64EF0EEF3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8B5535-6453-4045-A675-64EF0EEF3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8B5535-6453-4045-A675-64EF0EEF3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524000" y="3773714"/>
            <a:ext cx="9144000" cy="1484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108353" y="3547050"/>
            <a:ext cx="7873847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831" y="4893382"/>
            <a:ext cx="1256338" cy="1256338"/>
          </a:xfrm>
          <a:prstGeom prst="rect">
            <a:avLst/>
          </a:prstGeom>
        </p:spPr>
      </p:pic>
      <p:cxnSp>
        <p:nvCxnSpPr>
          <p:cNvPr id="28" name="直接连接符 27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8625"/>
            <a:ext cx="10515600" cy="739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38200" y="943276"/>
            <a:ext cx="10515600" cy="5297188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759135"/>
            <a:ext cx="1039543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 flipV="1">
            <a:off x="711215" y="0"/>
            <a:ext cx="0" cy="943276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0" y="6476400"/>
            <a:ext cx="1219200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 userDrawn="1"/>
        </p:nvSpPr>
        <p:spPr>
          <a:xfrm>
            <a:off x="9608509" y="6488668"/>
            <a:ext cx="250088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b="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b="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操作系统</a:t>
            </a:r>
            <a:r>
              <a:rPr lang="en-US" altLang="zh-CN" b="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b="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张平</a:t>
            </a:r>
            <a:endParaRPr lang="zh-CN" altLang="en-US" b="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9583397" y="6476399"/>
            <a:ext cx="0" cy="381601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45" y="107386"/>
            <a:ext cx="504000" cy="54225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578" y="206542"/>
            <a:ext cx="1105186" cy="1105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 userDrawn="1"/>
        </p:nvSpPr>
        <p:spPr>
          <a:xfrm>
            <a:off x="2001868" y="2586633"/>
            <a:ext cx="81882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Thanks for your attention</a:t>
            </a:r>
            <a:r>
              <a:rPr lang="zh-CN" alt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！</a:t>
            </a:r>
            <a:endParaRPr lang="zh-CN" altLang="en-US" sz="54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140" y="4119033"/>
            <a:ext cx="1256338" cy="1256338"/>
          </a:xfrm>
          <a:prstGeom prst="rect">
            <a:avLst/>
          </a:prstGeom>
        </p:spPr>
      </p:pic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image" Target="../media/image8.jpeg"/><Relationship Id="rId21" Type="http://schemas.openxmlformats.org/officeDocument/2006/relationships/image" Target="../media/image10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 userDrawn="1"/>
        </p:nvPicPr>
        <p:blipFill>
          <a:blip r:embed="rId21" cstate="screen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263352" y="260648"/>
            <a:ext cx="11665296" cy="63367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504" y="5330545"/>
            <a:ext cx="1105186" cy="11051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磁盘存储管理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39" y="4880309"/>
            <a:ext cx="1837322" cy="18373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zh-CN" dirty="0">
                <a:solidFill>
                  <a:srgbClr val="00B050"/>
                </a:solidFill>
              </a:rPr>
              <a:t>磁盘存储管理概述</a:t>
            </a:r>
            <a:endParaRPr lang="en-US" altLang="zh-CN" dirty="0">
              <a:solidFill>
                <a:srgbClr val="00B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Linux</a:t>
            </a:r>
            <a:r>
              <a:rPr lang="zh-CN" altLang="zh-CN" dirty="0"/>
              <a:t>磁盘分区管理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Linux</a:t>
            </a:r>
            <a:r>
              <a:rPr lang="zh-CN" altLang="zh-CN" dirty="0"/>
              <a:t>文件系统管理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文件系统的挂载和卸载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文件系统检查维护命令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磁盘存储管理概述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磁盘存储管理概述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磁盘分区（</a:t>
            </a:r>
            <a:r>
              <a:rPr lang="en-US" altLang="zh-CN" dirty="0"/>
              <a:t>Partition</a:t>
            </a:r>
            <a:r>
              <a:rPr lang="zh-CN" altLang="zh-CN" dirty="0"/>
              <a:t>）是指将一个磁盘驱动器分成若干个逻辑驱动器。</a:t>
            </a:r>
            <a:endParaRPr lang="en-US" altLang="zh-CN" dirty="0"/>
          </a:p>
          <a:p>
            <a:pPr lvl="1"/>
            <a:r>
              <a:rPr lang="zh-CN" altLang="zh-CN" dirty="0"/>
              <a:t>分区表有两种常见的格式：</a:t>
            </a:r>
            <a:r>
              <a:rPr lang="en-US" altLang="zh-CN" dirty="0"/>
              <a:t>MBR</a:t>
            </a:r>
            <a:r>
              <a:rPr lang="zh-CN" altLang="zh-CN" dirty="0"/>
              <a:t>（</a:t>
            </a:r>
            <a:r>
              <a:rPr lang="en-US" altLang="zh-CN" dirty="0"/>
              <a:t>Master Boot Record</a:t>
            </a:r>
            <a:r>
              <a:rPr lang="zh-CN" altLang="zh-CN" dirty="0"/>
              <a:t>，主分区引导记录）与</a:t>
            </a:r>
            <a:r>
              <a:rPr lang="en-US" altLang="zh-CN" dirty="0"/>
              <a:t>GPT</a:t>
            </a:r>
            <a:r>
              <a:rPr lang="zh-CN" altLang="zh-CN" dirty="0"/>
              <a:t>（</a:t>
            </a:r>
            <a:r>
              <a:rPr lang="en-US" altLang="zh-CN" dirty="0"/>
              <a:t>Globally Unique Identifier Partition Table</a:t>
            </a:r>
            <a:r>
              <a:rPr lang="zh-CN" altLang="zh-CN" dirty="0"/>
              <a:t>，也叫</a:t>
            </a:r>
            <a:r>
              <a:rPr lang="en-US" altLang="zh-CN" dirty="0" err="1"/>
              <a:t>作GUID</a:t>
            </a:r>
            <a:r>
              <a:rPr lang="zh-CN" altLang="zh-CN" dirty="0"/>
              <a:t>分区表）。</a:t>
            </a:r>
            <a:endParaRPr lang="en-US" altLang="zh-CN" dirty="0"/>
          </a:p>
          <a:p>
            <a:r>
              <a:rPr lang="zh-CN" altLang="zh-CN" dirty="0"/>
              <a:t>格式化是对磁盘分区进行初始化的一种操作。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磁盘分区管理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zh-CN" dirty="0"/>
              <a:t>磁盘分区管理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磁盘及磁盘分区命名规则</a:t>
            </a:r>
            <a:endParaRPr lang="en-US" altLang="zh-CN" dirty="0"/>
          </a:p>
          <a:p>
            <a:pPr lvl="1"/>
            <a:r>
              <a:rPr lang="en-US" altLang="zh-CN" dirty="0"/>
              <a:t>IDE</a:t>
            </a:r>
            <a:r>
              <a:rPr lang="zh-CN" altLang="zh-CN" dirty="0"/>
              <a:t>设备映射到以</a:t>
            </a:r>
            <a:r>
              <a:rPr lang="en-US" altLang="zh-CN" dirty="0" err="1"/>
              <a:t>hd</a:t>
            </a:r>
            <a:r>
              <a:rPr lang="zh-CN" altLang="zh-CN" dirty="0"/>
              <a:t>作为前缀的设备文件</a:t>
            </a:r>
            <a:endParaRPr lang="en-US" altLang="zh-CN" dirty="0"/>
          </a:p>
          <a:p>
            <a:pPr lvl="2"/>
            <a:r>
              <a:rPr lang="en-US" altLang="zh-CN" dirty="0" err="1"/>
              <a:t>hda</a:t>
            </a:r>
            <a:r>
              <a:rPr lang="zh-CN" altLang="zh-CN" dirty="0"/>
              <a:t>表示第一个</a:t>
            </a:r>
            <a:r>
              <a:rPr lang="en-US" altLang="zh-CN" dirty="0"/>
              <a:t>IDE</a:t>
            </a:r>
            <a:r>
              <a:rPr lang="zh-CN" altLang="zh-CN" dirty="0"/>
              <a:t>通道（</a:t>
            </a:r>
            <a:r>
              <a:rPr lang="en-US" altLang="zh-CN" dirty="0"/>
              <a:t>IDE1</a:t>
            </a:r>
            <a:r>
              <a:rPr lang="zh-CN" altLang="zh-CN" dirty="0"/>
              <a:t>）的主设备，</a:t>
            </a:r>
            <a:r>
              <a:rPr lang="en-US" altLang="zh-CN" dirty="0" err="1"/>
              <a:t>hdb</a:t>
            </a:r>
            <a:r>
              <a:rPr lang="zh-CN" altLang="zh-CN" dirty="0"/>
              <a:t>表示第一个</a:t>
            </a:r>
            <a:r>
              <a:rPr lang="en-US" altLang="zh-CN" dirty="0"/>
              <a:t>IDE</a:t>
            </a:r>
            <a:r>
              <a:rPr lang="zh-CN" altLang="zh-CN" dirty="0"/>
              <a:t>通道的从设备。</a:t>
            </a:r>
            <a:endParaRPr lang="en-US" altLang="zh-CN" dirty="0"/>
          </a:p>
          <a:p>
            <a:pPr lvl="2"/>
            <a:r>
              <a:rPr lang="en-US" altLang="zh-CN" dirty="0" err="1"/>
              <a:t>hdc</a:t>
            </a:r>
            <a:r>
              <a:rPr lang="zh-CN" altLang="zh-CN" dirty="0"/>
              <a:t>和</a:t>
            </a:r>
            <a:r>
              <a:rPr lang="en-US" altLang="zh-CN" dirty="0" err="1"/>
              <a:t>hdd</a:t>
            </a:r>
            <a:r>
              <a:rPr lang="zh-CN" altLang="zh-CN" dirty="0"/>
              <a:t>分别表示</a:t>
            </a:r>
            <a:r>
              <a:rPr lang="en-US" altLang="zh-CN" dirty="0"/>
              <a:t>IDE2</a:t>
            </a:r>
            <a:r>
              <a:rPr lang="zh-CN" altLang="zh-CN" dirty="0"/>
              <a:t>的主设备和从设备。</a:t>
            </a:r>
            <a:endParaRPr lang="en-US" altLang="zh-CN" dirty="0"/>
          </a:p>
          <a:p>
            <a:pPr lvl="1"/>
            <a:r>
              <a:rPr lang="en-US" altLang="zh-CN" dirty="0"/>
              <a:t>SCSI</a:t>
            </a:r>
            <a:r>
              <a:rPr lang="zh-CN" altLang="zh-CN" dirty="0"/>
              <a:t>、</a:t>
            </a:r>
            <a:r>
              <a:rPr lang="en-US" altLang="zh-CN" dirty="0"/>
              <a:t>SATA</a:t>
            </a:r>
            <a:r>
              <a:rPr lang="zh-CN" altLang="zh-CN" dirty="0"/>
              <a:t>等设备映射到以</a:t>
            </a:r>
            <a:r>
              <a:rPr lang="en-US" altLang="zh-CN" dirty="0" err="1"/>
              <a:t>sd</a:t>
            </a:r>
            <a:r>
              <a:rPr lang="zh-CN" altLang="zh-CN" dirty="0"/>
              <a:t>作为前缀组成的设备文件</a:t>
            </a:r>
            <a:endParaRPr lang="en-US" altLang="zh-CN" dirty="0"/>
          </a:p>
          <a:p>
            <a:pPr lvl="2"/>
            <a:r>
              <a:rPr lang="zh-CN" altLang="zh-CN" dirty="0"/>
              <a:t>按照</a:t>
            </a:r>
            <a:r>
              <a:rPr lang="en-US" altLang="zh-CN" dirty="0"/>
              <a:t>ID</a:t>
            </a:r>
            <a:r>
              <a:rPr lang="zh-CN" altLang="zh-CN" dirty="0"/>
              <a:t>号从小到大的顺序依次命名为</a:t>
            </a:r>
            <a:r>
              <a:rPr lang="en-US" altLang="zh-CN" dirty="0" err="1"/>
              <a:t>sda</a:t>
            </a:r>
            <a:r>
              <a:rPr lang="zh-CN" altLang="zh-CN" dirty="0"/>
              <a:t>、</a:t>
            </a:r>
            <a:r>
              <a:rPr lang="en-US" altLang="zh-CN" dirty="0" err="1"/>
              <a:t>sdb</a:t>
            </a:r>
            <a:r>
              <a:rPr lang="zh-CN" altLang="zh-CN" dirty="0"/>
              <a:t>、</a:t>
            </a:r>
            <a:r>
              <a:rPr lang="en-US" altLang="zh-CN" dirty="0" err="1"/>
              <a:t>sdc</a:t>
            </a:r>
            <a:r>
              <a:rPr lang="zh-CN" altLang="zh-CN" dirty="0"/>
              <a:t>等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磁盘分区管理命令</a:t>
            </a:r>
            <a:r>
              <a:rPr lang="en-US" altLang="zh-CN" dirty="0" err="1"/>
              <a:t>fdisk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两种使用方式</a:t>
            </a:r>
            <a:endParaRPr lang="en-US" altLang="zh-CN" dirty="0"/>
          </a:p>
          <a:p>
            <a:pPr lvl="1"/>
            <a:r>
              <a:rPr lang="zh-CN" altLang="zh-CN" dirty="0"/>
              <a:t>命令行</a:t>
            </a:r>
            <a:r>
              <a:rPr lang="zh-CN" altLang="en-US" dirty="0"/>
              <a:t>方式</a:t>
            </a:r>
            <a:endParaRPr lang="en-US" altLang="zh-CN" dirty="0"/>
          </a:p>
          <a:p>
            <a:pPr lvl="1"/>
            <a:r>
              <a:rPr lang="zh-CN" altLang="zh-CN" dirty="0"/>
              <a:t>交互界面</a:t>
            </a:r>
            <a:r>
              <a:rPr lang="zh-CN" altLang="en-US" dirty="0"/>
              <a:t>方式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fdisk</a:t>
            </a:r>
            <a:r>
              <a:rPr lang="zh-CN" altLang="zh-CN" dirty="0"/>
              <a:t>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66" y="1194976"/>
            <a:ext cx="5771429" cy="2504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800" y="3099738"/>
            <a:ext cx="6619048" cy="3104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对新磁盘进行分区。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7627" y="2175481"/>
            <a:ext cx="7933333" cy="2238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【实例</a:t>
            </a:r>
            <a:r>
              <a:rPr lang="en-US" altLang="zh-CN" dirty="0"/>
              <a:t>6-6</a:t>
            </a:r>
            <a:r>
              <a:rPr lang="zh-CN" altLang="zh-CN" dirty="0"/>
              <a:t>】修改磁盘分区。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65" y="2039489"/>
            <a:ext cx="7819048" cy="15523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文件系统管理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创建文件系统命令</a:t>
            </a:r>
            <a:r>
              <a:rPr lang="en-US" altLang="zh-CN" dirty="0" err="1"/>
              <a:t>mkfs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命令语法：</a:t>
            </a:r>
            <a:r>
              <a:rPr lang="en-US" altLang="zh-CN" dirty="0" err="1"/>
              <a:t>mkfs</a:t>
            </a:r>
            <a:r>
              <a:rPr lang="en-US" altLang="zh-CN" dirty="0"/>
              <a:t> [</a:t>
            </a:r>
            <a:r>
              <a:rPr lang="zh-CN" altLang="en-US" dirty="0"/>
              <a:t>选项</a:t>
            </a:r>
            <a:r>
              <a:rPr lang="en-US" altLang="zh-CN" dirty="0"/>
              <a:t>] [-t &lt;</a:t>
            </a:r>
            <a:r>
              <a:rPr lang="zh-CN" altLang="en-US" dirty="0"/>
              <a:t>类型</a:t>
            </a:r>
            <a:r>
              <a:rPr lang="en-US" altLang="zh-CN" dirty="0"/>
              <a:t>&gt;] [</a:t>
            </a:r>
            <a:r>
              <a:rPr lang="zh-CN" altLang="en-US" dirty="0"/>
              <a:t>文件系统选项</a:t>
            </a:r>
            <a:r>
              <a:rPr lang="en-US" altLang="zh-CN" dirty="0"/>
              <a:t>] &lt;</a:t>
            </a:r>
            <a:r>
              <a:rPr lang="zh-CN" altLang="en-US" dirty="0"/>
              <a:t>设备</a:t>
            </a:r>
            <a:r>
              <a:rPr lang="en-US" altLang="zh-CN" dirty="0"/>
              <a:t>&gt; [&lt;</a:t>
            </a:r>
            <a:r>
              <a:rPr lang="zh-CN" altLang="en-US" dirty="0"/>
              <a:t>大小</a:t>
            </a:r>
            <a:r>
              <a:rPr lang="en-US" altLang="zh-CN" dirty="0"/>
              <a:t>&gt;]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282" y="2404500"/>
            <a:ext cx="6066667" cy="2590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文件系统的挂载和卸载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文件系统的挂载</a:t>
            </a:r>
            <a:r>
              <a:rPr lang="en-US" altLang="zh-CN" dirty="0"/>
              <a:t>mount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mount [-t </a:t>
            </a:r>
            <a:r>
              <a:rPr lang="zh-CN" altLang="zh-CN" dirty="0"/>
              <a:t>文件系统类型</a:t>
            </a:r>
            <a:r>
              <a:rPr lang="en-US" altLang="zh-CN" dirty="0"/>
              <a:t>] [-L </a:t>
            </a:r>
            <a:r>
              <a:rPr lang="zh-CN" altLang="zh-CN" dirty="0"/>
              <a:t>卷标</a:t>
            </a:r>
            <a:r>
              <a:rPr lang="en-US" altLang="zh-CN" dirty="0"/>
              <a:t>][-o </a:t>
            </a:r>
            <a:r>
              <a:rPr lang="zh-CN" altLang="zh-CN" dirty="0"/>
              <a:t>挂载选项</a:t>
            </a:r>
            <a:r>
              <a:rPr lang="en-US" altLang="zh-CN" dirty="0"/>
              <a:t>] </a:t>
            </a:r>
            <a:r>
              <a:rPr lang="zh-CN" altLang="zh-CN" dirty="0"/>
              <a:t>设备名 挂载点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8811" y="2121579"/>
            <a:ext cx="7142857" cy="2742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文件系统的卸载</a:t>
            </a:r>
            <a:r>
              <a:rPr lang="en-US" altLang="zh-CN" dirty="0" err="1"/>
              <a:t>umount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命令语法：</a:t>
            </a:r>
            <a:r>
              <a:rPr lang="en-US" altLang="zh-CN" dirty="0" err="1"/>
              <a:t>umount</a:t>
            </a:r>
            <a:r>
              <a:rPr lang="en-US" altLang="zh-CN" dirty="0"/>
              <a:t> [</a:t>
            </a:r>
            <a:r>
              <a:rPr lang="zh-CN" altLang="zh-CN" dirty="0"/>
              <a:t>选项</a:t>
            </a:r>
            <a:r>
              <a:rPr lang="en-US" altLang="zh-CN" dirty="0"/>
              <a:t>] &lt;</a:t>
            </a:r>
            <a:r>
              <a:rPr lang="zh-CN" altLang="zh-CN" dirty="0"/>
              <a:t>源</a:t>
            </a:r>
            <a:r>
              <a:rPr lang="en-US" altLang="zh-CN" dirty="0"/>
              <a:t>&gt; | &lt;</a:t>
            </a:r>
            <a:r>
              <a:rPr lang="zh-CN" altLang="zh-CN" dirty="0"/>
              <a:t>目录</a:t>
            </a:r>
            <a:r>
              <a:rPr lang="en-US" altLang="zh-CN" dirty="0"/>
              <a:t>&gt; 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5524" y="2309952"/>
            <a:ext cx="6580952" cy="2238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文件系统检查维护命令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文件系统的检查和修复命令</a:t>
            </a:r>
            <a:r>
              <a:rPr lang="en-US" altLang="zh-CN" dirty="0" err="1"/>
              <a:t>fsck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命令语法：</a:t>
            </a:r>
            <a:r>
              <a:rPr lang="en-US" altLang="zh-CN" dirty="0" err="1"/>
              <a:t>fsck</a:t>
            </a:r>
            <a:r>
              <a:rPr lang="en-US" altLang="zh-CN" dirty="0"/>
              <a:t> [</a:t>
            </a:r>
            <a:r>
              <a:rPr lang="zh-CN" altLang="zh-CN" dirty="0"/>
              <a:t>选项</a:t>
            </a:r>
            <a:r>
              <a:rPr lang="en-US" altLang="zh-CN" dirty="0"/>
              <a:t>] </a:t>
            </a:r>
            <a:r>
              <a:rPr lang="zh-CN" altLang="zh-CN" dirty="0"/>
              <a:t>设备名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3545" y="2167095"/>
            <a:ext cx="6076190" cy="25238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查看磁盘使用情况</a:t>
            </a:r>
            <a:r>
              <a:rPr lang="en-US" altLang="zh-CN" dirty="0"/>
              <a:t>df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7513" y="1705190"/>
            <a:ext cx="5276190" cy="3447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查看文件和目录的磁盘使用情况</a:t>
            </a:r>
            <a:r>
              <a:rPr lang="en-US" altLang="zh-CN" dirty="0"/>
              <a:t>du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857" y="1998676"/>
            <a:ext cx="6152381" cy="2257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commondata" val="eyJoZGlkIjoiMGVmMzkzNmEzMmU3NTFiMTgyMGNkZWM4ZjkxMTJhNTAifQ=="/>
</p:tagLst>
</file>

<file path=ppt/theme/theme1.xml><?xml version="1.0" encoding="utf-8"?>
<a:theme xmlns:a="http://schemas.openxmlformats.org/drawingml/2006/main" name="Linux@张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fs4aqc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WPS 演示</Application>
  <PresentationFormat>宽屏</PresentationFormat>
  <Paragraphs>83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楷体</vt:lpstr>
      <vt:lpstr>Arial Narrow</vt:lpstr>
      <vt:lpstr>Calibri</vt:lpstr>
      <vt:lpstr>Arial Black</vt:lpstr>
      <vt:lpstr>Times New Roman</vt:lpstr>
      <vt:lpstr>微软雅黑</vt:lpstr>
      <vt:lpstr>Arial Unicode MS</vt:lpstr>
      <vt:lpstr>Linux@张平</vt:lpstr>
      <vt:lpstr>磁盘存储管理</vt:lpstr>
      <vt:lpstr>第6章 磁盘存储管理</vt:lpstr>
      <vt:lpstr>磁盘存储管理概述 </vt:lpstr>
      <vt:lpstr>磁盘存储管理概述</vt:lpstr>
      <vt:lpstr>Linux磁盘分区管理 </vt:lpstr>
      <vt:lpstr>Linux磁盘分区管理</vt:lpstr>
      <vt:lpstr>磁盘分区管理命令fdisk</vt:lpstr>
      <vt:lpstr>fdisk命令</vt:lpstr>
      <vt:lpstr>【实例6-5】对新磁盘进行分区。</vt:lpstr>
      <vt:lpstr>【实例6-6】修改磁盘分区。</vt:lpstr>
      <vt:lpstr>Linux文件系统管理 </vt:lpstr>
      <vt:lpstr>创建文件系统命令mkfs</vt:lpstr>
      <vt:lpstr>文件系统的挂载和卸载 </vt:lpstr>
      <vt:lpstr>文件系统的挂载mount</vt:lpstr>
      <vt:lpstr>文件系统的卸载umount</vt:lpstr>
      <vt:lpstr>文件系统检查维护命令 </vt:lpstr>
      <vt:lpstr>文件系统的检查和修复命令fsck</vt:lpstr>
      <vt:lpstr>查看磁盘使用情况df</vt:lpstr>
      <vt:lpstr>查看文件和目录的磁盘使用情况du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Linux发行版</dc:title>
  <dc:creator>John</dc:creator>
  <cp:lastModifiedBy>李莉</cp:lastModifiedBy>
  <cp:revision>84</cp:revision>
  <dcterms:created xsi:type="dcterms:W3CDTF">2019-07-09T12:44:00Z</dcterms:created>
  <dcterms:modified xsi:type="dcterms:W3CDTF">2024-11-10T16:14:42Z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D1B3EC9C84664324AF8EFA7BCBF70BC2_12</vt:lpwstr>
  </property>
  <property fmtid="{D5CDD505-2E9C-101B-9397-08002B2CF9AE}" pid="3" name="KSOProductBuildVer">
    <vt:lpwstr>2052-12.1.0.18608</vt:lpwstr>
  </property>
</Properties>
</file>