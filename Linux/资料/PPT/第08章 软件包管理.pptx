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9" r:id="rId3"/>
  </p:sldMasterIdLst>
  <p:notesMasterIdLst>
    <p:notesMasterId r:id="rId5"/>
  </p:notesMasterIdLst>
  <p:sldIdLst>
    <p:sldId id="273" r:id="rId4"/>
    <p:sldId id="272" r:id="rId6"/>
    <p:sldId id="391" r:id="rId7"/>
    <p:sldId id="381" r:id="rId8"/>
    <p:sldId id="396" r:id="rId9"/>
    <p:sldId id="392" r:id="rId10"/>
    <p:sldId id="384" r:id="rId11"/>
    <p:sldId id="385" r:id="rId12"/>
    <p:sldId id="387" r:id="rId13"/>
    <p:sldId id="398" r:id="rId14"/>
    <p:sldId id="397" r:id="rId15"/>
    <p:sldId id="399" r:id="rId16"/>
    <p:sldId id="400" r:id="rId17"/>
    <p:sldId id="393" r:id="rId18"/>
    <p:sldId id="389" r:id="rId19"/>
    <p:sldId id="394" r:id="rId20"/>
    <p:sldId id="390" r:id="rId21"/>
    <p:sldId id="410" r:id="rId22"/>
    <p:sldId id="411" r:id="rId23"/>
    <p:sldId id="412" r:id="rId24"/>
    <p:sldId id="413" r:id="rId25"/>
    <p:sldId id="414" r:id="rId26"/>
    <p:sldId id="39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148" autoAdjust="0"/>
  </p:normalViewPr>
  <p:slideViewPr>
    <p:cSldViewPr snapToGrid="0">
      <p:cViewPr varScale="1">
        <p:scale>
          <a:sx n="54" d="100"/>
          <a:sy n="54" d="100"/>
        </p:scale>
        <p:origin x="4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条命令能够正确执行，说明当前系统里面已经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vim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软件包。第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条命令却显示没有安装，这是因为命令的名称与软件包名称并不一定完全一致。这也显示了该查询方式的弊端。第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条命令由于使用了正确的软件包名称，因此查询成功。第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条命令，查找所有安装过的包含某个字符串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vim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的软件包。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7244" y="392966"/>
            <a:ext cx="21451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cs typeface="+mn-ea"/>
                <a:sym typeface="+mn-lt"/>
              </a:rPr>
              <a:t>Linux</a:t>
            </a:r>
            <a:r>
              <a:rPr lang="zh-CN" altLang="en-US" sz="1600" dirty="0">
                <a:solidFill>
                  <a:prstClr val="black"/>
                </a:solidFill>
                <a:cs typeface="+mn-ea"/>
                <a:sym typeface="+mn-lt"/>
              </a:rPr>
              <a:t>操作系统</a:t>
            </a:r>
            <a:r>
              <a:rPr lang="en-US" altLang="zh-CN" sz="1600" dirty="0">
                <a:solidFill>
                  <a:prstClr val="black"/>
                </a:solidFill>
                <a:cs typeface="+mn-ea"/>
                <a:sym typeface="+mn-lt"/>
              </a:rPr>
              <a:t>@</a:t>
            </a:r>
            <a:r>
              <a:rPr lang="zh-CN" altLang="en-US" sz="1600" dirty="0">
                <a:solidFill>
                  <a:prstClr val="black"/>
                </a:solidFill>
                <a:cs typeface="+mn-ea"/>
                <a:sym typeface="+mn-lt"/>
              </a:rPr>
              <a:t>张平</a:t>
            </a:r>
            <a:endParaRPr lang="en-US" altLang="zh-CN" sz="1600" dirty="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1" y="548680"/>
            <a:ext cx="3674502" cy="5286855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8B5535-6453-4045-A675-64EF0EEF3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0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473" y="320993"/>
            <a:ext cx="109728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6633"/>
              </a:buClr>
              <a:buFont typeface="Wingdings" panose="05000000000000000000" charset="0"/>
              <a:buChar char="Ø"/>
              <a:defRPr/>
            </a:lvl1pPr>
            <a:lvl2pPr>
              <a:buClr>
                <a:srgbClr val="006633"/>
              </a:buClr>
              <a:buFont typeface="Wingdings" panose="05000000000000000000" charset="0"/>
              <a:buChar char="Ø"/>
              <a:defRPr/>
            </a:lvl2pPr>
            <a:lvl3pPr>
              <a:buClr>
                <a:srgbClr val="006633"/>
              </a:buClr>
              <a:buFont typeface="Wingdings" panose="05000000000000000000" charset="0"/>
              <a:buChar char="Ø"/>
              <a:defRPr/>
            </a:lvl3pPr>
            <a:lvl4pPr>
              <a:buClr>
                <a:srgbClr val="006633"/>
              </a:buClr>
              <a:buFont typeface="Wingdings" panose="05000000000000000000" charset="0"/>
              <a:buChar char="Ø"/>
              <a:defRPr/>
            </a:lvl4pPr>
            <a:lvl5pPr>
              <a:buClr>
                <a:srgbClr val="006633"/>
              </a:buClr>
              <a:buFont typeface="Wingdings" panose="05000000000000000000" charset="0"/>
              <a:buChar char="Ø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71293" y="7067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0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209E-F1CF-471A-8323-5D5FB58205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0"/>
            <a:ext cx="10668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641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F9F74-8AD3-4A66-9E7B-65BD8E6527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9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image" Target="../media/image10.png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1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10" descr="C:\Users\osmond\Desktop\centos5-fig\centos-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0" y="333375"/>
            <a:ext cx="21124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0000"/>
        <a:buFont typeface="Wingdings" panose="05000000000000000000" charset="0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0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5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6877050" y="2565400"/>
            <a:ext cx="3714750" cy="910590"/>
          </a:xfrm>
          <a:prstGeom prst="rect">
            <a:avLst/>
          </a:prstGeom>
        </p:spPr>
        <p:txBody>
          <a:bodyPr/>
          <a:lstStyle/>
          <a:p>
            <a:r>
              <a:rPr lang="zh-CN" altLang="zh-CN" dirty="0"/>
              <a:t>软件包管理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软件包管理概述</a:t>
            </a:r>
            <a:endParaRPr lang="en-US" altLang="zh-CN" dirty="0"/>
          </a:p>
          <a:p>
            <a:r>
              <a:rPr lang="zh-CN" altLang="zh-CN" dirty="0"/>
              <a:t>软件包管理工具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其他软件包安装方式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idx="4294967295"/>
          </p:nvPr>
        </p:nvSpPr>
        <p:spPr>
          <a:xfrm>
            <a:off x="6193790" y="2722245"/>
            <a:ext cx="4356735" cy="91059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软件包管理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zh-CN" dirty="0"/>
              <a:t>软件</a:t>
            </a:r>
            <a:r>
              <a:rPr lang="zh-CN" altLang="en-US" dirty="0"/>
              <a:t>包</a:t>
            </a:r>
            <a:r>
              <a:rPr lang="zh-CN" altLang="zh-CN" dirty="0"/>
              <a:t>安装方式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515600" cy="1859280"/>
          </a:xfrm>
        </p:spPr>
        <p:txBody>
          <a:bodyPr/>
          <a:lstStyle/>
          <a:p>
            <a:pPr lvl="1"/>
            <a:r>
              <a:rPr lang="zh-CN" altLang="zh-CN" sz="2800" dirty="0"/>
              <a:t>下载源代码包进行编译安装</a:t>
            </a:r>
            <a:endParaRPr lang="zh-CN" altLang="en-US" sz="2800" dirty="0"/>
          </a:p>
          <a:p>
            <a:pPr lvl="1"/>
            <a:r>
              <a:rPr lang="zh-CN" altLang="zh-CN" sz="2800" dirty="0"/>
              <a:t>下载二进制软件包安装</a:t>
            </a:r>
            <a:endParaRPr lang="en-US" altLang="zh-CN" sz="2800" dirty="0"/>
          </a:p>
          <a:p>
            <a:pPr lvl="1"/>
            <a:r>
              <a:rPr lang="zh-CN" altLang="zh-CN" sz="2800" dirty="0"/>
              <a:t>基于软件包存储库进行安装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代表性的</a:t>
            </a:r>
            <a:r>
              <a:rPr lang="zh-CN" altLang="zh-CN" dirty="0"/>
              <a:t>软件包管理</a:t>
            </a:r>
            <a:r>
              <a:rPr lang="zh-CN" altLang="en-US" dirty="0"/>
              <a:t>工具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515600" cy="3364865"/>
          </a:xfrm>
        </p:spPr>
        <p:txBody>
          <a:bodyPr/>
          <a:lstStyle/>
          <a:p>
            <a:pPr lvl="1"/>
            <a:r>
              <a:rPr lang="en-US" altLang="zh-CN" dirty="0"/>
              <a:t>Ubuntu</a:t>
            </a:r>
            <a:r>
              <a:rPr lang="zh-CN" altLang="en-US" dirty="0"/>
              <a:t>、</a:t>
            </a:r>
            <a:r>
              <a:rPr lang="en-US" altLang="zh-CN" dirty="0"/>
              <a:t>Debian</a:t>
            </a:r>
            <a:r>
              <a:rPr lang="zh-CN" altLang="zh-CN" dirty="0"/>
              <a:t>及相关衍生产品</a:t>
            </a:r>
            <a:endParaRPr lang="en-US" altLang="zh-CN" dirty="0"/>
          </a:p>
          <a:p>
            <a:pPr lvl="2"/>
            <a:r>
              <a:rPr lang="en-US" altLang="zh-CN" dirty="0"/>
              <a:t>DPKG</a:t>
            </a:r>
            <a:r>
              <a:rPr lang="zh-CN" altLang="zh-CN" dirty="0"/>
              <a:t>（</a:t>
            </a:r>
            <a:r>
              <a:rPr lang="en-US" altLang="zh-CN" dirty="0"/>
              <a:t>Debian Packager</a:t>
            </a:r>
            <a:r>
              <a:rPr lang="zh-CN" altLang="zh-CN" dirty="0"/>
              <a:t>）</a:t>
            </a:r>
            <a:endParaRPr lang="en-US" altLang="zh-CN" dirty="0"/>
          </a:p>
          <a:p>
            <a:pPr marL="1371600" lvl="3" indent="0">
              <a:buNone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通常</a:t>
            </a:r>
            <a:r>
              <a:rPr lang="zh-CN" altLang="zh-CN" b="1" dirty="0">
                <a:solidFill>
                  <a:schemeClr val="accent6">
                    <a:lumMod val="75000"/>
                  </a:schemeClr>
                </a:solidFill>
              </a:rPr>
              <a:t>以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.deb</a:t>
            </a:r>
            <a:r>
              <a:rPr lang="zh-CN" altLang="zh-CN" b="1" dirty="0">
                <a:solidFill>
                  <a:schemeClr val="accent6">
                    <a:lumMod val="75000"/>
                  </a:schemeClr>
                </a:solidFill>
              </a:rPr>
              <a:t>作为扩展名</a:t>
            </a:r>
            <a:endParaRPr lang="en-US" altLang="zh-CN" dirty="0"/>
          </a:p>
          <a:p>
            <a:pPr lvl="2"/>
            <a:r>
              <a:rPr lang="en-US" altLang="zh-CN" dirty="0"/>
              <a:t>APT</a:t>
            </a:r>
            <a:r>
              <a:rPr lang="zh-CN" altLang="en-US" dirty="0"/>
              <a:t>（</a:t>
            </a:r>
            <a:r>
              <a:rPr lang="en-US" altLang="zh-CN" dirty="0"/>
              <a:t> Advanced Packaging Tool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CentOS</a:t>
            </a:r>
            <a:r>
              <a:rPr lang="zh-CN" altLang="zh-CN" dirty="0"/>
              <a:t>、</a:t>
            </a:r>
            <a:r>
              <a:rPr lang="en-US" altLang="zh-CN" dirty="0"/>
              <a:t>Fedora</a:t>
            </a:r>
            <a:r>
              <a:rPr lang="zh-CN" altLang="zh-CN" dirty="0"/>
              <a:t>、</a:t>
            </a:r>
            <a:r>
              <a:rPr lang="en-US" altLang="zh-CN" dirty="0"/>
              <a:t>RHEL</a:t>
            </a:r>
            <a:r>
              <a:rPr lang="zh-CN" altLang="zh-CN" dirty="0"/>
              <a:t>、</a:t>
            </a:r>
            <a:r>
              <a:rPr lang="en-US" altLang="zh-CN" dirty="0"/>
              <a:t>CentOS Stream</a:t>
            </a:r>
            <a:r>
              <a:rPr lang="zh-CN" altLang="zh-CN" dirty="0"/>
              <a:t>及相关衍生产品</a:t>
            </a:r>
            <a:endParaRPr lang="en-US" altLang="zh-CN" dirty="0"/>
          </a:p>
          <a:p>
            <a:pPr lvl="2"/>
            <a:r>
              <a:rPr lang="en-US" altLang="zh-CN" dirty="0"/>
              <a:t>RPM</a:t>
            </a:r>
            <a:r>
              <a:rPr lang="zh-CN" altLang="en-US" dirty="0"/>
              <a:t>（</a:t>
            </a:r>
            <a:r>
              <a:rPr lang="en-US" altLang="zh-CN" dirty="0"/>
              <a:t> RedHat Package Manager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371600" lvl="3" indent="0">
              <a:buNone/>
            </a:pPr>
            <a:r>
              <a:rPr lang="zh-CN" altLang="zh-CN" b="1" dirty="0">
                <a:solidFill>
                  <a:schemeClr val="accent6">
                    <a:lumMod val="75000"/>
                  </a:schemeClr>
                </a:solidFill>
              </a:rPr>
              <a:t>通常以.rpm为扩展名</a:t>
            </a:r>
            <a:endParaRPr lang="en-US" altLang="zh-CN" dirty="0"/>
          </a:p>
          <a:p>
            <a:pPr lvl="2"/>
            <a:r>
              <a:rPr lang="en-US" altLang="zh-CN" dirty="0"/>
              <a:t>YUM</a:t>
            </a:r>
            <a:r>
              <a:rPr lang="zh-CN" altLang="zh-CN" dirty="0"/>
              <a:t>（</a:t>
            </a:r>
            <a:r>
              <a:rPr lang="en-US" altLang="zh-CN" dirty="0"/>
              <a:t>Yellow dog Updater, Modified</a:t>
            </a:r>
            <a:r>
              <a:rPr lang="zh-CN" altLang="zh-CN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DNF</a:t>
            </a:r>
            <a:r>
              <a:rPr lang="zh-CN" altLang="en-US" dirty="0"/>
              <a:t>（</a:t>
            </a:r>
            <a:r>
              <a:rPr lang="en-US" altLang="zh-CN" dirty="0"/>
              <a:t>Dandified yum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6028690" y="2685415"/>
            <a:ext cx="5475605" cy="910590"/>
          </a:xfrm>
          <a:prstGeom prst="rect">
            <a:avLst/>
          </a:prstGeom>
        </p:spPr>
        <p:txBody>
          <a:bodyPr/>
          <a:lstStyle/>
          <a:p>
            <a:r>
              <a:rPr lang="zh-CN" altLang="zh-CN" dirty="0"/>
              <a:t>软件包管理工具</a:t>
            </a:r>
            <a:r>
              <a:rPr lang="en-US" altLang="zh-CN" dirty="0" smtClean="0"/>
              <a:t>APT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APT</a:t>
            </a:r>
            <a:r>
              <a:rPr lang="zh-CN" altLang="en-US" dirty="0"/>
              <a:t>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apt-get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/>
            <a:r>
              <a:rPr lang="en-US" altLang="zh-CN" dirty="0"/>
              <a:t>apt-get</a:t>
            </a:r>
            <a:endParaRPr lang="en-US" altLang="zh-CN" dirty="0"/>
          </a:p>
          <a:p>
            <a:pPr lvl="1"/>
            <a:r>
              <a:rPr lang="en-US" altLang="zh-CN" dirty="0"/>
              <a:t>apt-cache</a:t>
            </a:r>
            <a:endParaRPr lang="en-US" altLang="zh-CN" dirty="0"/>
          </a:p>
          <a:p>
            <a:pPr lvl="1"/>
            <a:r>
              <a:rPr lang="en-US" altLang="zh-CN" dirty="0"/>
              <a:t>apt-</a:t>
            </a:r>
            <a:r>
              <a:rPr lang="en-US" altLang="zh-CN" dirty="0" err="1"/>
              <a:t>config</a:t>
            </a:r>
            <a:endParaRPr lang="en-US" altLang="zh-CN" dirty="0"/>
          </a:p>
          <a:p>
            <a:r>
              <a:rPr lang="en-US" altLang="zh-CN" dirty="0"/>
              <a:t>apt</a:t>
            </a:r>
            <a:r>
              <a:rPr lang="zh-CN" altLang="zh-CN" dirty="0"/>
              <a:t>命令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8818" y="1191782"/>
            <a:ext cx="7666667" cy="3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配置</a:t>
            </a:r>
            <a:r>
              <a:rPr lang="en-US" altLang="zh-CN" dirty="0"/>
              <a:t>APT</a:t>
            </a:r>
            <a:r>
              <a:rPr lang="zh-CN" altLang="zh-CN" dirty="0"/>
              <a:t>源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1079500"/>
            <a:ext cx="10127615" cy="5271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apt</a:t>
            </a:r>
            <a:r>
              <a:rPr lang="zh-CN" altLang="zh-CN" dirty="0"/>
              <a:t>命令操作实例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dirty="0"/>
              <a:t>更新可用软件包列表。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update</a:t>
            </a:r>
            <a:endParaRPr lang="zh-CN" altLang="zh-CN" dirty="0"/>
          </a:p>
          <a:p>
            <a:r>
              <a:rPr lang="zh-CN" altLang="zh-CN" dirty="0"/>
              <a:t>列出包含条件的软件包。</a:t>
            </a:r>
            <a:endParaRPr lang="en-US" altLang="zh-CN" dirty="0"/>
          </a:p>
          <a:p>
            <a:pPr lvl="1"/>
            <a:r>
              <a:rPr lang="en-US" altLang="zh-CN" dirty="0"/>
              <a:t>apt list net-tools</a:t>
            </a:r>
            <a:endParaRPr lang="en-US" altLang="zh-CN" dirty="0"/>
          </a:p>
          <a:p>
            <a:r>
              <a:rPr lang="zh-CN" altLang="zh-CN" dirty="0"/>
              <a:t>安装软件包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net-tools</a:t>
            </a:r>
            <a:endParaRPr lang="en-US" altLang="zh-CN" dirty="0"/>
          </a:p>
          <a:p>
            <a:r>
              <a:rPr lang="zh-CN" altLang="zh-CN" dirty="0"/>
              <a:t>显示软件包细节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show net-tools</a:t>
            </a:r>
            <a:endParaRPr lang="en-US" altLang="zh-CN" dirty="0"/>
          </a:p>
          <a:p>
            <a:r>
              <a:rPr lang="zh-CN" altLang="zh-CN" dirty="0"/>
              <a:t>移除软件包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remove net-tools</a:t>
            </a:r>
            <a:endParaRPr lang="en-US" altLang="zh-CN" dirty="0"/>
          </a:p>
          <a:p>
            <a:r>
              <a:rPr lang="zh-CN" altLang="zh-CN" dirty="0"/>
              <a:t>升级所有可升级的软件包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upgrade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full-upgrade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5036185" y="2680335"/>
            <a:ext cx="6922135" cy="605790"/>
          </a:xfrm>
          <a:prstGeom prst="rect">
            <a:avLst/>
          </a:prstGeom>
        </p:spPr>
        <p:txBody>
          <a:bodyPr/>
          <a:lstStyle/>
          <a:p>
            <a:r>
              <a:rPr lang="zh-CN" altLang="zh-CN" sz="3200" dirty="0"/>
              <a:t>软件包管理工具</a:t>
            </a:r>
            <a:r>
              <a:rPr lang="en-US" altLang="zh-CN" sz="3200" dirty="0"/>
              <a:t>RPM</a:t>
            </a:r>
            <a:r>
              <a:rPr lang="zh-CN" altLang="en-US" sz="3200" dirty="0"/>
              <a:t>、</a:t>
            </a:r>
            <a:r>
              <a:rPr lang="en-US" altLang="zh-CN" sz="3200" dirty="0"/>
              <a:t>YUM</a:t>
            </a:r>
            <a:r>
              <a:rPr lang="zh-CN" altLang="en-US" sz="3200" dirty="0"/>
              <a:t>和</a:t>
            </a:r>
            <a:r>
              <a:rPr lang="en-US" altLang="zh-CN" sz="3200" dirty="0" smtClean="0"/>
              <a:t>DNF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RPM</a:t>
            </a:r>
            <a:r>
              <a:rPr lang="zh-CN" altLang="zh-CN" dirty="0"/>
              <a:t>软件包管理器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RPM</a:t>
            </a:r>
            <a:r>
              <a:rPr lang="zh-CN" altLang="zh-CN" dirty="0"/>
              <a:t>（</a:t>
            </a:r>
            <a:r>
              <a:rPr lang="en-US" altLang="zh-CN" dirty="0" err="1"/>
              <a:t>Redhat</a:t>
            </a:r>
            <a:r>
              <a:rPr lang="en-US" altLang="zh-CN" dirty="0"/>
              <a:t> Package Manager</a:t>
            </a:r>
            <a:r>
              <a:rPr lang="zh-CN" altLang="zh-CN" dirty="0"/>
              <a:t>）是</a:t>
            </a:r>
            <a:r>
              <a:rPr lang="en-US" altLang="zh-CN" dirty="0"/>
              <a:t>Red Hat</a:t>
            </a:r>
            <a:r>
              <a:rPr lang="zh-CN" altLang="zh-CN" dirty="0"/>
              <a:t>公司提出的软件包管理标准。</a:t>
            </a:r>
            <a:endParaRPr lang="en-US" altLang="zh-CN" dirty="0"/>
          </a:p>
          <a:p>
            <a:r>
              <a:rPr lang="zh-CN" altLang="en-US" dirty="0"/>
              <a:t>可以完成软件包查询、安装、卸载、更新、校验等任务。</a:t>
            </a:r>
            <a:r>
              <a:rPr lang="en-US" altLang="zh-CN" dirty="0"/>
              <a:t>RPM</a:t>
            </a:r>
            <a:r>
              <a:rPr lang="zh-CN" altLang="en-US" dirty="0"/>
              <a:t>包管理工具中的核心命令为</a:t>
            </a:r>
            <a:r>
              <a:rPr lang="en-US" altLang="zh-CN" dirty="0"/>
              <a:t>rpm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它不能自动解决软件包之间的依赖关系，一般适用于不需要考虑依赖关系的简单情形。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【实例】</a:t>
            </a:r>
            <a:r>
              <a:rPr lang="en-US" altLang="zh-CN" dirty="0"/>
              <a:t>RPM</a:t>
            </a:r>
            <a:r>
              <a:rPr lang="zh-CN" altLang="zh-CN" dirty="0"/>
              <a:t>查询功能实践。</a:t>
            </a:r>
            <a:endParaRPr lang="zh-CN" altLang="zh-CN" dirty="0"/>
          </a:p>
        </p:txBody>
      </p:sp>
      <p:pic>
        <p:nvPicPr>
          <p:cNvPr id="1026" name="图片 50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049" y="1461642"/>
            <a:ext cx="9158593" cy="3613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YUM</a:t>
            </a:r>
            <a:r>
              <a:rPr lang="zh-CN" altLang="en-US" dirty="0"/>
              <a:t>和</a:t>
            </a:r>
            <a:r>
              <a:rPr lang="en-US" altLang="zh-CN" dirty="0"/>
              <a:t>DNF</a:t>
            </a:r>
            <a:r>
              <a:rPr lang="zh-CN" altLang="zh-CN" dirty="0"/>
              <a:t>软件包管理器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YUM</a:t>
            </a:r>
            <a:r>
              <a:rPr lang="zh-CN" altLang="zh-CN" dirty="0"/>
              <a:t>（</a:t>
            </a:r>
            <a:r>
              <a:rPr lang="en-US" altLang="zh-CN" dirty="0"/>
              <a:t>Yellow dog Updater, Modified</a:t>
            </a:r>
            <a:r>
              <a:rPr lang="zh-CN" altLang="zh-CN" dirty="0"/>
              <a:t>）</a:t>
            </a:r>
            <a:endParaRPr lang="en-US" altLang="zh-CN" dirty="0"/>
          </a:p>
          <a:p>
            <a:r>
              <a:rPr lang="en-US" altLang="zh-CN" dirty="0"/>
              <a:t>DNF</a:t>
            </a:r>
            <a:r>
              <a:rPr lang="zh-CN" altLang="en-US" dirty="0"/>
              <a:t>（</a:t>
            </a:r>
            <a:r>
              <a:rPr lang="en-US" altLang="zh-CN" dirty="0"/>
              <a:t>Dandified yum</a:t>
            </a:r>
            <a:r>
              <a:rPr lang="zh-CN" altLang="en-US" dirty="0"/>
              <a:t>），将</a:t>
            </a:r>
            <a:r>
              <a:rPr lang="en-US" altLang="zh-CN" dirty="0"/>
              <a:t>yum</a:t>
            </a:r>
            <a:r>
              <a:rPr lang="zh-CN" altLang="en-US" dirty="0"/>
              <a:t>替换成</a:t>
            </a:r>
            <a:r>
              <a:rPr lang="en-US" altLang="zh-CN" dirty="0" err="1"/>
              <a:t>dnf</a:t>
            </a:r>
            <a:r>
              <a:rPr lang="zh-CN" altLang="en-US" dirty="0"/>
              <a:t>即可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119" y="2265811"/>
            <a:ext cx="7208611" cy="3911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/>
          <a:lstStyle/>
          <a:p>
            <a:r>
              <a:rPr lang="zh-CN" altLang="zh-CN" dirty="0"/>
              <a:t>使用二进制包安装</a:t>
            </a:r>
            <a:r>
              <a:rPr lang="zh-CN" altLang="zh-CN" dirty="0" smtClean="0"/>
              <a:t>程序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使用二进制包安装程序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rcRect b="27770"/>
          <a:stretch>
            <a:fillRect/>
          </a:stretch>
        </p:blipFill>
        <p:spPr>
          <a:xfrm>
            <a:off x="1079908" y="943276"/>
            <a:ext cx="5274310" cy="2122170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6" name="图片 5"/>
          <p:cNvPicPr/>
          <p:nvPr/>
        </p:nvPicPr>
        <p:blipFill>
          <a:blip r:embed="rId2"/>
          <a:srcRect b="17283"/>
          <a:stretch>
            <a:fillRect/>
          </a:stretch>
        </p:blipFill>
        <p:spPr>
          <a:xfrm>
            <a:off x="5768907" y="909256"/>
            <a:ext cx="5274310" cy="2435860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1282115" y="3591870"/>
            <a:ext cx="2962275" cy="2374265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26721" y="3409325"/>
            <a:ext cx="5274310" cy="2945765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/>
          <a:lstStyle/>
          <a:p>
            <a:r>
              <a:rPr lang="zh-CN" altLang="zh-CN" dirty="0"/>
              <a:t>使用源代码安装</a:t>
            </a:r>
            <a:r>
              <a:rPr lang="zh-CN" altLang="zh-CN" dirty="0" smtClean="0"/>
              <a:t>程序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使用源代码安装程序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环境准备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Ubuntu</a:t>
            </a:r>
            <a:r>
              <a:rPr lang="zh-CN" altLang="en-US" dirty="0"/>
              <a:t>等系统）</a:t>
            </a:r>
            <a:r>
              <a:rPr lang="en-US" altLang="zh-CN" dirty="0" err="1"/>
              <a:t>sudo</a:t>
            </a:r>
            <a:r>
              <a:rPr lang="en-US" altLang="zh-CN" dirty="0"/>
              <a:t> apt install build-essential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CentOS</a:t>
            </a:r>
            <a:r>
              <a:rPr lang="zh-CN" altLang="en-US" dirty="0"/>
              <a:t>等系统）</a:t>
            </a:r>
            <a:r>
              <a:rPr lang="en-US" altLang="zh-CN" dirty="0" err="1"/>
              <a:t>sudo</a:t>
            </a:r>
            <a:r>
              <a:rPr lang="en-US" altLang="zh-CN" dirty="0"/>
              <a:t> yum </a:t>
            </a:r>
            <a:r>
              <a:rPr lang="en-US" altLang="zh-CN" dirty="0" err="1"/>
              <a:t>groupinstall</a:t>
            </a:r>
            <a:r>
              <a:rPr lang="en-US" altLang="zh-CN" dirty="0"/>
              <a:t> "Development Tools" -y</a:t>
            </a:r>
            <a:endParaRPr lang="zh-CN" altLang="zh-CN" dirty="0"/>
          </a:p>
          <a:p>
            <a:r>
              <a:rPr lang="zh-CN" altLang="zh-CN" dirty="0"/>
              <a:t>基本流程</a:t>
            </a:r>
            <a:endParaRPr lang="en-US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）下载源代码包，一般为压缩包（例如：</a:t>
            </a:r>
            <a:r>
              <a:rPr lang="en-US" altLang="zh-CN" dirty="0"/>
              <a:t>tar.bz2</a:t>
            </a:r>
            <a:r>
              <a:rPr lang="zh-CN" altLang="zh-CN" dirty="0"/>
              <a:t>、</a:t>
            </a:r>
            <a:r>
              <a:rPr lang="en-US" altLang="zh-CN" dirty="0"/>
              <a:t>tar.gz</a:t>
            </a:r>
            <a:r>
              <a:rPr lang="zh-CN" altLang="zh-CN" dirty="0"/>
              <a:t>等格式）。</a:t>
            </a:r>
            <a:endParaRPr lang="zh-CN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）提取压缩包内的源代码到某个目录。</a:t>
            </a:r>
            <a:endParaRPr lang="zh-CN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）在</a:t>
            </a:r>
            <a:r>
              <a:rPr lang="en-US" altLang="zh-CN" dirty="0"/>
              <a:t>shell</a:t>
            </a:r>
            <a:r>
              <a:rPr lang="zh-CN" altLang="zh-CN" dirty="0"/>
              <a:t>终端中切换到源代码文件所在目录。</a:t>
            </a:r>
            <a:endParaRPr lang="zh-CN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）执行</a:t>
            </a:r>
            <a:r>
              <a:rPr lang="en-US" altLang="zh-CN" dirty="0"/>
              <a:t>./configure</a:t>
            </a:r>
            <a:r>
              <a:rPr lang="zh-CN" altLang="zh-CN" dirty="0"/>
              <a:t>命令，检测安装平台的目标特征。这一步一般用来生成</a:t>
            </a:r>
            <a:r>
              <a:rPr lang="en-US" altLang="zh-CN" dirty="0"/>
              <a:t> </a:t>
            </a:r>
            <a:r>
              <a:rPr lang="en-US" altLang="zh-CN" dirty="0" err="1"/>
              <a:t>Makefile</a:t>
            </a:r>
            <a:r>
              <a:rPr lang="zh-CN" altLang="zh-CN" dirty="0"/>
              <a:t>，为下一步的编译做准备。读者可以通过在</a:t>
            </a:r>
            <a:r>
              <a:rPr lang="en-US" altLang="zh-CN" dirty="0"/>
              <a:t>configure</a:t>
            </a:r>
            <a:r>
              <a:rPr lang="zh-CN" altLang="zh-CN" dirty="0"/>
              <a:t>后加上各类参数来进行详细控制。</a:t>
            </a:r>
            <a:endParaRPr lang="zh-CN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）执行</a:t>
            </a:r>
            <a:r>
              <a:rPr lang="en-US" altLang="zh-CN" dirty="0"/>
              <a:t>make</a:t>
            </a:r>
            <a:r>
              <a:rPr lang="zh-CN" altLang="zh-CN" dirty="0"/>
              <a:t>命令，对源代码进行编译。</a:t>
            </a:r>
            <a:endParaRPr lang="zh-CN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）执行</a:t>
            </a:r>
            <a:r>
              <a:rPr lang="en-US" altLang="zh-CN" dirty="0" err="1"/>
              <a:t>sudo</a:t>
            </a:r>
            <a:r>
              <a:rPr lang="en-US" altLang="zh-CN" dirty="0"/>
              <a:t> make install</a:t>
            </a:r>
            <a:r>
              <a:rPr lang="zh-CN" altLang="zh-CN" dirty="0"/>
              <a:t>命令，对编译成功的程序进行安装。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705" y="476885"/>
            <a:ext cx="8673465" cy="840105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chemeClr val="accent6"/>
                </a:solidFill>
                <a:sym typeface="+mn-ea"/>
              </a:rPr>
              <a:t>补充：</a:t>
            </a:r>
            <a:r>
              <a:rPr lang="en-US" altLang="zh-CN" sz="4000" b="1" smtClean="0">
                <a:solidFill>
                  <a:schemeClr val="accent6"/>
                </a:solidFill>
                <a:sym typeface="+mn-ea"/>
              </a:rPr>
              <a:t>TAR的软件包管理</a:t>
            </a:r>
            <a:endParaRPr lang="zh-CN" altLang="en-US" sz="400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278511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smtClean="0">
                <a:solidFill>
                  <a:schemeClr val="tx2"/>
                </a:solidFill>
              </a:rPr>
              <a:t>1</a:t>
            </a:r>
            <a:r>
              <a:rPr lang="zh-CN" altLang="en-US" sz="3200" b="1" smtClean="0">
                <a:solidFill>
                  <a:schemeClr val="tx2"/>
                </a:solidFill>
              </a:rPr>
              <a:t>、</a:t>
            </a:r>
            <a:r>
              <a:rPr lang="en-US" altLang="zh-CN" sz="3200" b="1" smtClean="0">
                <a:solidFill>
                  <a:schemeClr val="tx2"/>
                </a:solidFill>
              </a:rPr>
              <a:t>TAR</a:t>
            </a:r>
            <a:r>
              <a:rPr lang="zh-CN" altLang="en-US" sz="3200" b="1" smtClean="0">
                <a:solidFill>
                  <a:schemeClr val="tx2"/>
                </a:solidFill>
              </a:rPr>
              <a:t>包概述 </a:t>
            </a:r>
            <a:endParaRPr lang="zh-CN" altLang="en-US" sz="3200" b="1" smtClean="0">
              <a:solidFill>
                <a:schemeClr val="tx2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en-US" altLang="zh-CN" b="1" smtClean="0">
                <a:solidFill>
                  <a:schemeClr val="tx1"/>
                </a:solidFill>
              </a:rPr>
              <a:t>TAR</a:t>
            </a:r>
            <a:r>
              <a:rPr lang="zh-CN" altLang="en-US" b="1" smtClean="0">
                <a:solidFill>
                  <a:schemeClr val="tx1"/>
                </a:solidFill>
              </a:rPr>
              <a:t>包的含义 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en-US" altLang="zh-CN" b="1" smtClean="0">
                <a:solidFill>
                  <a:schemeClr val="tx1"/>
                </a:solidFill>
              </a:rPr>
              <a:t>TAR</a:t>
            </a:r>
            <a:r>
              <a:rPr lang="zh-CN" altLang="en-US" b="1" smtClean="0">
                <a:solidFill>
                  <a:schemeClr val="tx1"/>
                </a:solidFill>
              </a:rPr>
              <a:t>包的名称格式 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en-US" altLang="zh-CN" b="1" smtClean="0">
                <a:solidFill>
                  <a:schemeClr val="tx1"/>
                </a:solidFill>
              </a:rPr>
              <a:t>TAR</a:t>
            </a:r>
            <a:r>
              <a:rPr lang="zh-CN" altLang="en-US" b="1" smtClean="0">
                <a:solidFill>
                  <a:schemeClr val="tx1"/>
                </a:solidFill>
              </a:rPr>
              <a:t>包的作用 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获得</a:t>
            </a:r>
            <a:r>
              <a:rPr lang="en-US" altLang="zh-CN" b="1" smtClean="0">
                <a:solidFill>
                  <a:schemeClr val="tx1"/>
                </a:solidFill>
              </a:rPr>
              <a:t>TAR</a:t>
            </a:r>
            <a:r>
              <a:rPr lang="zh-CN" altLang="en-US" b="1" smtClean="0">
                <a:solidFill>
                  <a:schemeClr val="tx1"/>
                </a:solidFill>
              </a:rPr>
              <a:t>软件包 </a:t>
            </a:r>
            <a:endParaRPr lang="zh-CN" altLang="en-US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605" y="548640"/>
            <a:ext cx="8229600" cy="725805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6"/>
                </a:solidFill>
              </a:rPr>
              <a:t>2</a:t>
            </a:r>
            <a:r>
              <a:rPr lang="zh-CN" altLang="en-US" b="1" smtClean="0">
                <a:solidFill>
                  <a:schemeClr val="accent6"/>
                </a:solidFill>
              </a:rPr>
              <a:t>、</a:t>
            </a:r>
            <a:r>
              <a:rPr lang="en-US" altLang="zh-CN" b="1" smtClean="0">
                <a:solidFill>
                  <a:schemeClr val="accent6"/>
                </a:solidFill>
              </a:rPr>
              <a:t>TAR</a:t>
            </a:r>
            <a:r>
              <a:rPr lang="zh-CN" altLang="en-US" b="1" smtClean="0">
                <a:solidFill>
                  <a:schemeClr val="accent6"/>
                </a:solidFill>
              </a:rPr>
              <a:t>包的命令</a:t>
            </a:r>
            <a:r>
              <a:rPr lang="zh-CN" altLang="en-US" smtClean="0">
                <a:solidFill>
                  <a:schemeClr val="accent6"/>
                </a:solidFill>
              </a:rPr>
              <a:t> </a:t>
            </a:r>
            <a:endParaRPr lang="zh-CN" altLang="en-US" smtClean="0">
              <a:solidFill>
                <a:schemeClr val="accent6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8205" y="1700530"/>
            <a:ext cx="8001000" cy="44926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chemeClr val="accent6"/>
                </a:solidFill>
              </a:rPr>
              <a:t>（</a:t>
            </a:r>
            <a:r>
              <a:rPr lang="en-US" altLang="zh-CN" b="1" smtClean="0">
                <a:solidFill>
                  <a:schemeClr val="accent6"/>
                </a:solidFill>
              </a:rPr>
              <a:t>1</a:t>
            </a:r>
            <a:r>
              <a:rPr lang="zh-CN" altLang="en-US" b="1" smtClean="0">
                <a:solidFill>
                  <a:schemeClr val="accent6"/>
                </a:solidFill>
              </a:rPr>
              <a:t>）建立</a:t>
            </a:r>
            <a:r>
              <a:rPr lang="en-US" altLang="zh-CN" b="1" smtClean="0">
                <a:solidFill>
                  <a:schemeClr val="accent6"/>
                </a:solidFill>
              </a:rPr>
              <a:t>TAR</a:t>
            </a:r>
            <a:r>
              <a:rPr lang="zh-CN" altLang="en-US" b="1" smtClean="0">
                <a:solidFill>
                  <a:schemeClr val="accent6"/>
                </a:solidFill>
              </a:rPr>
              <a:t>包 </a:t>
            </a:r>
            <a:endParaRPr lang="zh-CN" altLang="en-US" b="1" smtClean="0">
              <a:solidFill>
                <a:schemeClr val="accent6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有两种方式：一种是建立普通的</a:t>
            </a:r>
            <a:r>
              <a:rPr lang="en-US" altLang="zh-CN" b="1" smtClean="0">
                <a:solidFill>
                  <a:schemeClr val="tx1"/>
                </a:solidFill>
              </a:rPr>
              <a:t>TAR</a:t>
            </a:r>
            <a:r>
              <a:rPr lang="zh-CN" altLang="en-US" b="1" smtClean="0">
                <a:solidFill>
                  <a:schemeClr val="tx1"/>
                </a:solidFill>
              </a:rPr>
              <a:t>包，只打包，不压缩 </a:t>
            </a:r>
            <a:endParaRPr lang="zh-CN" altLang="en-US" b="1" smtClean="0">
              <a:solidFill>
                <a:schemeClr val="tx1"/>
              </a:solidFill>
            </a:endParaRPr>
          </a:p>
          <a:p>
            <a:pPr marL="471170" lvl="1" indent="0" eaLnBrk="1" hangingPunct="1">
              <a:buNone/>
            </a:pPr>
            <a:r>
              <a:rPr lang="zh-CN" altLang="en-US" b="1" smtClean="0">
                <a:solidFill>
                  <a:schemeClr val="accent6"/>
                </a:solidFill>
              </a:rPr>
              <a:t>建立包文件格式：</a:t>
            </a:r>
            <a:endParaRPr lang="en-US" altLang="zh-CN" b="1" smtClean="0">
              <a:solidFill>
                <a:schemeClr val="accent6"/>
              </a:solidFill>
            </a:endParaRPr>
          </a:p>
          <a:p>
            <a:pPr marL="471170" lvl="1" indent="0" eaLnBrk="1" hangingPunct="1">
              <a:buNone/>
            </a:pPr>
            <a:r>
              <a:rPr lang="en-US" altLang="zh-CN" b="1" smtClean="0">
                <a:solidFill>
                  <a:schemeClr val="accent6"/>
                </a:solidFill>
              </a:rPr>
              <a:t>tar  cvf    &lt;TAR</a:t>
            </a:r>
            <a:r>
              <a:rPr lang="zh-CN" altLang="en-US" b="1" smtClean="0">
                <a:solidFill>
                  <a:schemeClr val="accent6"/>
                </a:solidFill>
              </a:rPr>
              <a:t>包名</a:t>
            </a:r>
            <a:r>
              <a:rPr lang="en-US" altLang="zh-CN" b="1" smtClean="0">
                <a:solidFill>
                  <a:schemeClr val="accent6"/>
                </a:solidFill>
              </a:rPr>
              <a:t>&gt;    &lt;</a:t>
            </a:r>
            <a:r>
              <a:rPr lang="zh-CN" altLang="en-US" b="1" smtClean="0">
                <a:solidFill>
                  <a:schemeClr val="accent6"/>
                </a:solidFill>
              </a:rPr>
              <a:t>文件或目录名</a:t>
            </a:r>
            <a:r>
              <a:rPr lang="en-US" altLang="zh-CN" b="1" smtClean="0">
                <a:solidFill>
                  <a:schemeClr val="accent6"/>
                </a:solidFill>
              </a:rPr>
              <a:t>&gt;</a:t>
            </a:r>
            <a:endParaRPr lang="en-US" altLang="zh-CN" b="1" smtClean="0">
              <a:solidFill>
                <a:schemeClr val="accent6"/>
              </a:solidFill>
            </a:endParaRPr>
          </a:p>
          <a:p>
            <a:pPr lvl="1" eaLnBrk="1" hangingPunct="1">
              <a:buFont typeface="Wingdings" panose="05000000000000000000" charset="0"/>
              <a:buChar char="Ø"/>
            </a:pPr>
            <a:r>
              <a:rPr lang="zh-CN" altLang="en-US" b="1" smtClean="0">
                <a:solidFill>
                  <a:schemeClr val="tx1"/>
                </a:solidFill>
              </a:rPr>
              <a:t>另一种是打包并压缩，选项是</a:t>
            </a:r>
            <a:r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b="1" smtClean="0">
                <a:solidFill>
                  <a:schemeClr val="tx1"/>
                </a:solidFill>
              </a:rPr>
              <a:t>zcvf</a:t>
            </a:r>
            <a:r>
              <a:rPr lang="en-US" altLang="zh-CN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en-US" altLang="zh-CN" b="1" smtClean="0">
                <a:solidFill>
                  <a:schemeClr val="tx1"/>
                </a:solidFill>
              </a:rPr>
              <a:t>,</a:t>
            </a:r>
            <a:r>
              <a:rPr lang="zh-CN" altLang="en-US" b="1" smtClean="0">
                <a:solidFill>
                  <a:schemeClr val="tx1"/>
                </a:solidFill>
              </a:rPr>
              <a:t>其中</a:t>
            </a:r>
            <a:r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b="1" smtClean="0">
                <a:solidFill>
                  <a:schemeClr val="tx1"/>
                </a:solidFill>
              </a:rPr>
              <a:t>z</a:t>
            </a:r>
            <a:r>
              <a:rPr lang="en-US" altLang="zh-CN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b="1" smtClean="0">
                <a:solidFill>
                  <a:schemeClr val="tx1"/>
                </a:solidFill>
              </a:rPr>
              <a:t>代表使用</a:t>
            </a:r>
            <a:r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b="1" smtClean="0">
                <a:solidFill>
                  <a:schemeClr val="tx1"/>
                </a:solidFill>
              </a:rPr>
              <a:t>gzip</a:t>
            </a:r>
            <a:r>
              <a:rPr lang="en-US" altLang="zh-CN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b="1" smtClean="0">
                <a:solidFill>
                  <a:schemeClr val="tx1"/>
                </a:solidFill>
              </a:rPr>
              <a:t>程序进行文件的压缩	</a:t>
            </a:r>
            <a:endParaRPr lang="zh-CN" altLang="en-US" b="1" smtClean="0">
              <a:solidFill>
                <a:schemeClr val="tx1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chemeClr val="accent6"/>
                </a:solidFill>
                <a:sym typeface="+mn-ea"/>
              </a:rPr>
              <a:t>建立包文件</a:t>
            </a:r>
            <a:r>
              <a:rPr lang="zh-CN" altLang="en-US" b="1" smtClean="0">
                <a:solidFill>
                  <a:schemeClr val="accent6"/>
                </a:solidFill>
              </a:rPr>
              <a:t>格式：</a:t>
            </a:r>
            <a:endParaRPr lang="en-US" altLang="zh-CN" b="1" smtClean="0">
              <a:solidFill>
                <a:schemeClr val="accent6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smtClean="0">
                <a:solidFill>
                  <a:schemeClr val="accent6"/>
                </a:solidFill>
              </a:rPr>
              <a:t>tar  zcvf   &lt;TAR</a:t>
            </a:r>
            <a:r>
              <a:rPr lang="zh-CN" altLang="en-US" b="1" smtClean="0">
                <a:solidFill>
                  <a:schemeClr val="accent6"/>
                </a:solidFill>
              </a:rPr>
              <a:t>包名</a:t>
            </a:r>
            <a:r>
              <a:rPr lang="en-US" altLang="zh-CN" b="1" smtClean="0">
                <a:solidFill>
                  <a:schemeClr val="accent6"/>
                </a:solidFill>
              </a:rPr>
              <a:t>&gt;   &lt;</a:t>
            </a:r>
            <a:r>
              <a:rPr lang="zh-CN" altLang="en-US" b="1" smtClean="0">
                <a:solidFill>
                  <a:schemeClr val="accent6"/>
                </a:solidFill>
              </a:rPr>
              <a:t>文件或目录名</a:t>
            </a:r>
            <a:r>
              <a:rPr lang="en-US" altLang="zh-CN" b="1" smtClean="0">
                <a:solidFill>
                  <a:schemeClr val="accent6"/>
                </a:solidFill>
              </a:rPr>
              <a:t>&gt;</a:t>
            </a:r>
            <a:endParaRPr lang="en-US" altLang="zh-CN" b="1" smtClean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b="1" smtClean="0">
                <a:solidFill>
                  <a:schemeClr val="accent6"/>
                </a:solidFill>
              </a:rPr>
              <a:t>（</a:t>
            </a:r>
            <a:r>
              <a:rPr lang="en-US" altLang="zh-CN" b="1" smtClean="0">
                <a:solidFill>
                  <a:schemeClr val="accent6"/>
                </a:solidFill>
              </a:rPr>
              <a:t>2</a:t>
            </a:r>
            <a:r>
              <a:rPr lang="zh-CN" altLang="en-US" b="1" smtClean="0">
                <a:solidFill>
                  <a:schemeClr val="accent6"/>
                </a:solidFill>
              </a:rPr>
              <a:t>）查询</a:t>
            </a:r>
            <a:r>
              <a:rPr lang="en-US" altLang="zh-CN" b="1" smtClean="0">
                <a:solidFill>
                  <a:schemeClr val="accent6"/>
                </a:solidFill>
              </a:rPr>
              <a:t>TAR</a:t>
            </a:r>
            <a:r>
              <a:rPr lang="zh-CN" altLang="en-US" b="1" smtClean="0">
                <a:solidFill>
                  <a:schemeClr val="accent6"/>
                </a:solidFill>
              </a:rPr>
              <a:t>包 </a:t>
            </a:r>
            <a:endParaRPr lang="zh-CN" altLang="en-US" b="1" smtClean="0">
              <a:solidFill>
                <a:schemeClr val="accent6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</a:rPr>
              <a:t>在释放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包之前，查看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包中的文件内容。</a:t>
            </a:r>
            <a:endParaRPr lang="zh-CN" altLang="en-US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accent6"/>
                </a:solidFill>
              </a:rPr>
              <a:t>其格式如下：</a:t>
            </a:r>
            <a:endParaRPr lang="zh-CN" altLang="en-US" sz="2800" b="1" smtClean="0">
              <a:solidFill>
                <a:schemeClr val="accent6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accent6"/>
                </a:solidFill>
              </a:rPr>
              <a:t>     </a:t>
            </a:r>
            <a:r>
              <a:rPr lang="en-US" altLang="zh-CN" sz="2800" b="1" smtClean="0">
                <a:solidFill>
                  <a:schemeClr val="accent6"/>
                </a:solidFill>
              </a:rPr>
              <a:t>tar    ztf    &lt;TAR</a:t>
            </a:r>
            <a:r>
              <a:rPr lang="zh-CN" altLang="en-US" sz="2800" b="1" smtClean="0">
                <a:solidFill>
                  <a:schemeClr val="accent6"/>
                </a:solidFill>
              </a:rPr>
              <a:t>包名</a:t>
            </a:r>
            <a:r>
              <a:rPr lang="en-US" altLang="zh-CN" sz="2800" b="1" smtClean="0">
                <a:solidFill>
                  <a:schemeClr val="accent6"/>
                </a:solidFill>
              </a:rPr>
              <a:t>&gt;</a:t>
            </a:r>
            <a:endParaRPr lang="en-US" altLang="zh-CN" sz="2800" b="1" smtClean="0">
              <a:solidFill>
                <a:schemeClr val="accent6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</a:rPr>
              <a:t>查询的参数是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ztf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2800" b="1" smtClean="0">
                <a:solidFill>
                  <a:schemeClr val="tx1"/>
                </a:solidFill>
              </a:rPr>
              <a:t>, </a:t>
            </a:r>
            <a:r>
              <a:rPr lang="zh-CN" altLang="en-US" sz="2800" b="1" smtClean="0">
                <a:solidFill>
                  <a:schemeClr val="tx1"/>
                </a:solidFill>
              </a:rPr>
              <a:t>其中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z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同上，指查询压缩的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包，若无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z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则是普通的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包，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t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2800" b="1" smtClean="0">
                <a:solidFill>
                  <a:schemeClr val="tx1"/>
                </a:solidFill>
              </a:rPr>
              <a:t>(Test)</a:t>
            </a:r>
            <a:r>
              <a:rPr lang="zh-CN" altLang="en-US" sz="2800" b="1" smtClean="0">
                <a:solidFill>
                  <a:schemeClr val="tx1"/>
                </a:solidFill>
              </a:rPr>
              <a:t>指查询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包，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指定 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包的文件名。</a:t>
            </a:r>
            <a:endParaRPr lang="zh-CN" altLang="en-US" sz="2800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548640"/>
            <a:ext cx="8229600" cy="738505"/>
          </a:xfrm>
        </p:spPr>
        <p:txBody>
          <a:bodyPr/>
          <a:lstStyle/>
          <a:p>
            <a:pPr eaLnBrk="1" hangingPunct="1"/>
            <a:r>
              <a:rPr lang="zh-CN" altLang="en-US" sz="3200" b="1" smtClean="0">
                <a:solidFill>
                  <a:schemeClr val="accent6"/>
                </a:solidFill>
              </a:rPr>
              <a:t>（</a:t>
            </a:r>
            <a:r>
              <a:rPr lang="en-US" altLang="zh-CN" sz="3200" b="1" smtClean="0">
                <a:solidFill>
                  <a:schemeClr val="accent6"/>
                </a:solidFill>
              </a:rPr>
              <a:t>3</a:t>
            </a:r>
            <a:r>
              <a:rPr lang="zh-CN" altLang="en-US" sz="3200" b="1" smtClean="0">
                <a:solidFill>
                  <a:schemeClr val="accent6"/>
                </a:solidFill>
              </a:rPr>
              <a:t>）释放</a:t>
            </a:r>
            <a:r>
              <a:rPr lang="en-US" altLang="zh-CN" sz="3200" b="1" smtClean="0">
                <a:solidFill>
                  <a:schemeClr val="accent6"/>
                </a:solidFill>
              </a:rPr>
              <a:t>TAR</a:t>
            </a:r>
            <a:r>
              <a:rPr lang="zh-CN" altLang="en-US" sz="3200" b="1" smtClean="0">
                <a:solidFill>
                  <a:schemeClr val="accent6"/>
                </a:solidFill>
              </a:rPr>
              <a:t>包</a:t>
            </a:r>
            <a:r>
              <a:rPr lang="zh-CN" altLang="en-US" sz="3200" smtClean="0">
                <a:solidFill>
                  <a:schemeClr val="accent6"/>
                </a:solidFill>
              </a:rPr>
              <a:t> </a:t>
            </a:r>
            <a:endParaRPr lang="zh-CN" altLang="en-US" sz="3200" smtClean="0">
              <a:solidFill>
                <a:schemeClr val="accent6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40485"/>
            <a:ext cx="8229600" cy="501142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</a:rPr>
              <a:t>释放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包比较简单，它使用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zxvf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参数，其中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指释放</a:t>
            </a:r>
            <a:r>
              <a:rPr lang="en-US" altLang="zh-CN" sz="2800" b="1" smtClean="0">
                <a:solidFill>
                  <a:schemeClr val="tx1"/>
                </a:solidFill>
              </a:rPr>
              <a:t>(eXtract)</a:t>
            </a:r>
            <a:r>
              <a:rPr lang="zh-CN" altLang="en-US" sz="2800" b="1" smtClean="0">
                <a:solidFill>
                  <a:schemeClr val="tx1"/>
                </a:solidFill>
              </a:rPr>
              <a:t>。它也分为解非压缩和压缩包两种方式，命令格式如下：（注意，默认释放的路径是当前文件的路径）</a:t>
            </a:r>
            <a:endParaRPr lang="zh-CN" altLang="en-US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2"/>
                </a:solidFill>
              </a:rPr>
              <a:t>释放包文件的格式：</a:t>
            </a:r>
            <a:r>
              <a:rPr lang="en-US" altLang="zh-CN" sz="2800" b="1" smtClean="0">
                <a:solidFill>
                  <a:schemeClr val="tx2"/>
                </a:solidFill>
              </a:rPr>
              <a:t>tar   zxvf   &lt;TAR</a:t>
            </a:r>
            <a:r>
              <a:rPr lang="zh-CN" altLang="en-US" sz="2800" b="1" smtClean="0">
                <a:solidFill>
                  <a:schemeClr val="tx2"/>
                </a:solidFill>
              </a:rPr>
              <a:t>包名</a:t>
            </a:r>
            <a:r>
              <a:rPr lang="en-US" altLang="zh-CN" sz="2800" b="1" smtClean="0">
                <a:solidFill>
                  <a:schemeClr val="tx2"/>
                </a:solidFill>
              </a:rPr>
              <a:t>&gt;     </a:t>
            </a:r>
            <a:r>
              <a:rPr lang="en-US" altLang="zh-CN" sz="2800" b="1" smtClean="0">
                <a:solidFill>
                  <a:schemeClr val="tx1"/>
                </a:solidFill>
              </a:rPr>
              <a:t>  </a:t>
            </a:r>
            <a:endParaRPr lang="en-US" altLang="zh-CN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</a:rPr>
              <a:t>若释放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包为非压缩的</a:t>
            </a:r>
            <a:r>
              <a:rPr lang="en-US" altLang="zh-CN" sz="2800" b="1" smtClean="0">
                <a:solidFill>
                  <a:schemeClr val="tx1"/>
                </a:solidFill>
              </a:rPr>
              <a:t>TAR</a:t>
            </a:r>
            <a:r>
              <a:rPr lang="zh-CN" altLang="en-US" sz="2800" b="1" smtClean="0">
                <a:solidFill>
                  <a:schemeClr val="tx1"/>
                </a:solidFill>
              </a:rPr>
              <a:t>包，则不需用参数</a:t>
            </a:r>
            <a:r>
              <a:rPr lang="zh-CN" altLang="en-US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b="1" smtClean="0">
                <a:solidFill>
                  <a:schemeClr val="tx1"/>
                </a:solidFill>
              </a:rPr>
              <a:t>z</a:t>
            </a:r>
            <a:r>
              <a:rPr lang="en-US" altLang="zh-CN" sz="2800" b="1" smtClean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</a:rPr>
              <a:t>。</a:t>
            </a:r>
            <a:endParaRPr lang="zh-CN" altLang="en-US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2"/>
                </a:solidFill>
                <a:sym typeface="+mn-ea"/>
              </a:rPr>
              <a:t>释放压缩包文件的格式：</a:t>
            </a:r>
            <a:r>
              <a:rPr lang="en-US" altLang="zh-CN" sz="2800" b="1" smtClean="0">
                <a:solidFill>
                  <a:schemeClr val="tx2"/>
                </a:solidFill>
                <a:sym typeface="+mn-ea"/>
              </a:rPr>
              <a:t>tar   zxvf   &lt;TAR</a:t>
            </a:r>
            <a:r>
              <a:rPr lang="zh-CN" altLang="en-US" sz="2800" b="1" smtClean="0">
                <a:solidFill>
                  <a:schemeClr val="tx2"/>
                </a:solidFill>
                <a:sym typeface="+mn-ea"/>
              </a:rPr>
              <a:t>包名</a:t>
            </a:r>
            <a:r>
              <a:rPr lang="en-US" altLang="zh-CN" sz="2800" b="1" smtClean="0">
                <a:solidFill>
                  <a:schemeClr val="tx2"/>
                </a:solidFill>
                <a:sym typeface="+mn-ea"/>
              </a:rPr>
              <a:t>&gt;  </a:t>
            </a:r>
            <a:endParaRPr lang="zh-CN" altLang="en-US" sz="2800" b="1" smtClean="0">
              <a:solidFill>
                <a:schemeClr val="tx1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</a:rPr>
              <a:t>如果</a:t>
            </a:r>
            <a:r>
              <a:rPr lang="zh-CN" altLang="en-US" sz="2800" b="1" smtClean="0">
                <a:solidFill>
                  <a:schemeClr val="tx1"/>
                </a:solidFill>
                <a:sym typeface="+mn-ea"/>
              </a:rPr>
              <a:t>解压在指定目录下可以使用：</a:t>
            </a:r>
            <a:endParaRPr lang="zh-CN" altLang="en-US" sz="2800" b="1" smtClean="0">
              <a:solidFill>
                <a:schemeClr val="tx1"/>
              </a:solidFill>
              <a:sym typeface="+mn-ea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sym typeface="+mn-ea"/>
              </a:rPr>
              <a:t>tar   zxvf   &lt;TAR</a:t>
            </a:r>
            <a:r>
              <a:rPr lang="zh-CN" altLang="en-US" sz="2800" b="1" smtClean="0">
                <a:solidFill>
                  <a:schemeClr val="tx2"/>
                </a:solidFill>
                <a:sym typeface="+mn-ea"/>
              </a:rPr>
              <a:t>包名</a:t>
            </a:r>
            <a:r>
              <a:rPr lang="en-US" altLang="zh-CN" sz="2800" b="1" smtClean="0">
                <a:solidFill>
                  <a:schemeClr val="tx2"/>
                </a:solidFill>
                <a:sym typeface="+mn-ea"/>
              </a:rPr>
              <a:t>&gt;   -C    </a:t>
            </a:r>
            <a:r>
              <a:rPr lang="zh-CN" altLang="en-US" sz="2800" b="1" smtClean="0">
                <a:solidFill>
                  <a:schemeClr val="tx2"/>
                </a:solidFill>
                <a:sym typeface="+mn-ea"/>
              </a:rPr>
              <a:t>指定目录</a:t>
            </a:r>
            <a:endParaRPr lang="zh-CN" altLang="en-US" sz="2800" b="1" smtClean="0">
              <a:solidFill>
                <a:schemeClr val="tx2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3130" y="880745"/>
            <a:ext cx="519430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800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关于tar的总结</a:t>
            </a:r>
            <a:endParaRPr lang="zh-CN" altLang="en-US" sz="3800" b="1" kern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1680" y="1742440"/>
            <a:ext cx="8366760" cy="3608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 kern="0" smtClean="0">
                <a:solidFill>
                  <a:schemeClr val="tx1"/>
                </a:solidFill>
                <a:latin typeface="+mn-lt"/>
                <a:ea typeface="+mn-ea"/>
              </a:rPr>
              <a:t>1、压缩选项   </a:t>
            </a:r>
            <a:r>
              <a:rPr lang="en-US" altLang="zh-CN" sz="2800" b="1" kern="0" smtClean="0">
                <a:solidFill>
                  <a:schemeClr val="tx1"/>
                </a:solidFill>
                <a:latin typeface="+mn-lt"/>
                <a:ea typeface="+mn-ea"/>
              </a:rPr>
              <a:t>z</a:t>
            </a:r>
            <a:r>
              <a:rPr lang="zh-CN" altLang="en-US" sz="2800" b="1" kern="0" smtClean="0">
                <a:solidFill>
                  <a:schemeClr val="tx1"/>
                </a:solidFill>
                <a:latin typeface="+mn-lt"/>
                <a:ea typeface="+mn-ea"/>
              </a:rPr>
              <a:t>  使用的压缩工具是gzip   生成的压缩包文件后缀tar.gz  或  tgz</a:t>
            </a:r>
            <a:endParaRPr lang="zh-CN" altLang="en-US" sz="2800" b="1" kern="0" smtClean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b="1" kern="0" smtClean="0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 sz="2800" b="1" kern="0" smtClean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2、压缩选项  j   使用的压缩工具是bzip2   生成的压缩包文件后缀tar.bz2  </a:t>
            </a:r>
            <a:endParaRPr lang="zh-CN" altLang="en-US" sz="2800" b="1" kern="0" smtClean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  <a:p>
            <a:endParaRPr lang="zh-CN" altLang="en-US" sz="2800" b="1" kern="0" smtClean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  <a:p>
            <a:r>
              <a:rPr lang="zh-CN" altLang="en-US" sz="2800" b="1" kern="0" smtClean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2、压缩选项  J   使用的压缩工具是xz   生成的压缩包文件后缀tar.xz  </a:t>
            </a:r>
            <a:endParaRPr lang="zh-CN" altLang="en-US" sz="2800" b="1" kern="0" smtClean="0">
              <a:solidFill>
                <a:schemeClr val="hlink"/>
              </a:solidFill>
              <a:latin typeface="+mn-lt"/>
              <a:ea typeface="+mn-ea"/>
            </a:endParaRPr>
          </a:p>
          <a:p>
            <a:endParaRPr lang="en-US" altLang="zh-CN" sz="2800">
              <a:ln w="12700" cmpd="sng">
                <a:solidFill>
                  <a:schemeClr val="accent4"/>
                </a:solidFill>
                <a:prstDash val="solid"/>
              </a:ln>
              <a:solidFill>
                <a:srgbClr val="002060"/>
              </a:solidFill>
              <a:effectLst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ntOS-CH-PPT">
  <a:themeElements>
    <a:clrScheme name="介绍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介绍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介绍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1951</Words>
  <Application>WPS 演示</Application>
  <PresentationFormat>宽屏</PresentationFormat>
  <Paragraphs>137</Paragraphs>
  <Slides>23</Slides>
  <Notes>2</Notes>
  <HiddenSlides>4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Garamond</vt:lpstr>
      <vt:lpstr>Wingdings</vt:lpstr>
      <vt:lpstr>微软雅黑</vt:lpstr>
      <vt:lpstr>Arial Unicode MS</vt:lpstr>
      <vt:lpstr>华文中宋</vt:lpstr>
      <vt:lpstr>Linux@张平</vt:lpstr>
      <vt:lpstr>CentOS-CH-PPT</vt:lpstr>
      <vt:lpstr>软件包管理</vt:lpstr>
      <vt:lpstr>PowerPoint 演示文稿</vt:lpstr>
      <vt:lpstr>软件包管理概述</vt:lpstr>
      <vt:lpstr>Linux软件包安装方式</vt:lpstr>
      <vt:lpstr>代表性的软件包管理工具 </vt:lpstr>
      <vt:lpstr>软件包管理工具APT</vt:lpstr>
      <vt:lpstr>APT工具</vt:lpstr>
      <vt:lpstr>配置APT源</vt:lpstr>
      <vt:lpstr>apt命令操作实例</vt:lpstr>
      <vt:lpstr>软件包管理工具RPM、YUM和DNF</vt:lpstr>
      <vt:lpstr>RPM软件包管理器</vt:lpstr>
      <vt:lpstr>【实例】RPM查询功能实践。</vt:lpstr>
      <vt:lpstr>YUM和DNF软件包管理器</vt:lpstr>
      <vt:lpstr>使用二进制包安装程序</vt:lpstr>
      <vt:lpstr>使用二进制包安装程序</vt:lpstr>
      <vt:lpstr>使用源代码安装程序</vt:lpstr>
      <vt:lpstr>使用源代码安装程序</vt:lpstr>
      <vt:lpstr>补充：TAR的软件包管理</vt:lpstr>
      <vt:lpstr>2、TAR包的命令 </vt:lpstr>
      <vt:lpstr>PowerPoint 演示文稿</vt:lpstr>
      <vt:lpstr>（3）释放TAR包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122</cp:revision>
  <dcterms:created xsi:type="dcterms:W3CDTF">2019-07-09T12:44:00Z</dcterms:created>
  <dcterms:modified xsi:type="dcterms:W3CDTF">2024-11-25T03:23:16Z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636B8E4DA2A6477FA0ED84C6151A7EC0_12</vt:lpwstr>
  </property>
  <property fmtid="{D5CDD505-2E9C-101B-9397-08002B2CF9AE}" pid="3" name="KSOProductBuildVer">
    <vt:lpwstr>2052-12.1.0.18912</vt:lpwstr>
  </property>
</Properties>
</file>