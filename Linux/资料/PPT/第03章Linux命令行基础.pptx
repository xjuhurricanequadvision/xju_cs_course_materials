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3" r:id="rId3"/>
    <p:sldId id="301" r:id="rId4"/>
    <p:sldId id="327" r:id="rId5"/>
    <p:sldId id="292" r:id="rId6"/>
    <p:sldId id="293" r:id="rId7"/>
    <p:sldId id="328" r:id="rId8"/>
    <p:sldId id="286" r:id="rId9"/>
    <p:sldId id="320" r:id="rId10"/>
    <p:sldId id="321" r:id="rId11"/>
    <p:sldId id="329" r:id="rId12"/>
    <p:sldId id="298" r:id="rId13"/>
    <p:sldId id="294" r:id="rId14"/>
    <p:sldId id="295" r:id="rId15"/>
    <p:sldId id="296" r:id="rId16"/>
    <p:sldId id="330" r:id="rId17"/>
    <p:sldId id="297" r:id="rId18"/>
    <p:sldId id="302" r:id="rId19"/>
    <p:sldId id="303" r:id="rId20"/>
    <p:sldId id="304" r:id="rId22"/>
    <p:sldId id="305" r:id="rId23"/>
    <p:sldId id="307" r:id="rId24"/>
    <p:sldId id="306" r:id="rId25"/>
    <p:sldId id="331" r:id="rId26"/>
    <p:sldId id="299" r:id="rId27"/>
    <p:sldId id="308" r:id="rId28"/>
    <p:sldId id="309" r:id="rId29"/>
    <p:sldId id="316" r:id="rId30"/>
    <p:sldId id="310" r:id="rId31"/>
    <p:sldId id="313" r:id="rId32"/>
    <p:sldId id="332" r:id="rId33"/>
    <p:sldId id="300" r:id="rId34"/>
    <p:sldId id="333" r:id="rId35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91" autoAdjust="0"/>
  </p:normalViewPr>
  <p:slideViewPr>
    <p:cSldViewPr snapToGrid="0">
      <p:cViewPr varScale="1">
        <p:scale>
          <a:sx n="64" d="100"/>
          <a:sy n="64" d="100"/>
        </p:scale>
        <p:origin x="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CAE0C-A047-4C5A-B40C-696D032ACC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www.1ppt.com/hangye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microsoft.com/office/2007/relationships/hdphoto" Target="../media/image5.wdp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剪去单角 6"/>
          <p:cNvSpPr/>
          <p:nvPr userDrawn="1"/>
        </p:nvSpPr>
        <p:spPr>
          <a:xfrm>
            <a:off x="-133165" y="976931"/>
            <a:ext cx="2263806" cy="1180730"/>
          </a:xfrm>
          <a:prstGeom prst="snip1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827888" y="976931"/>
            <a:ext cx="5650925" cy="4954450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 lang="zh-CN" altLang="en-US" sz="3200" b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  <a:lvl2pPr marL="914400" indent="-457200">
              <a:buFont typeface="+mj-lt"/>
              <a:buAutoNum type="arabicPeriod"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371600" indent="-457200">
              <a:buFont typeface="+mj-lt"/>
              <a:buAutoNum type="arabicPeriod"/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7145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1717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6" name="WordArt 293"/>
          <p:cNvSpPr>
            <a:spLocks noChangeArrowheads="1" noChangeShapeType="1" noTextEdit="1"/>
          </p:cNvSpPr>
          <p:nvPr userDrawn="1"/>
        </p:nvSpPr>
        <p:spPr bwMode="auto">
          <a:xfrm>
            <a:off x="552994" y="1243444"/>
            <a:ext cx="1143000" cy="5332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000000">
                      <a:alpha val="80000"/>
                    </a:srgbClr>
                  </a:outerShdw>
                </a:effectLst>
                <a:cs typeface="+mn-ea"/>
                <a:sym typeface="+mn-lt"/>
              </a:rPr>
              <a:t>目录</a:t>
            </a:r>
            <a:endParaRPr lang="zh-CN" altLang="en-US" sz="3600" b="1" kern="10" dirty="0">
              <a:blipFill dpi="0" rotWithShape="1">
                <a:blip r:embed="rId2"/>
                <a:srcRect/>
                <a:tile tx="0" ty="0" sx="100000" sy="100000" flip="none" algn="tl"/>
              </a:blipFill>
              <a:effectLst>
                <a:outerShdw dist="35921" dir="2700000" algn="ctr" rotWithShape="0">
                  <a:srgbClr val="000000">
                    <a:alpha val="8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7" name="WordArt 294"/>
          <p:cNvSpPr>
            <a:spLocks noChangeArrowheads="1" noChangeShapeType="1" noTextEdit="1"/>
          </p:cNvSpPr>
          <p:nvPr userDrawn="1"/>
        </p:nvSpPr>
        <p:spPr bwMode="auto">
          <a:xfrm>
            <a:off x="564082" y="1912157"/>
            <a:ext cx="1143000" cy="15235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节首页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928020" y="2348880"/>
            <a:ext cx="2591916" cy="26035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lang="zh-CN" altLang="en-US" sz="16600" kern="1200" dirty="0">
                <a:solidFill>
                  <a:srgbClr val="385D8A"/>
                </a:solidFill>
                <a:latin typeface="Arial Narrow" panose="020B0606020202030204" pitchFamily="34" charset="0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等腰三角形 37"/>
          <p:cNvSpPr>
            <a:spLocks noChangeArrowheads="1"/>
          </p:cNvSpPr>
          <p:nvPr userDrawn="1"/>
        </p:nvSpPr>
        <p:spPr bwMode="auto">
          <a:xfrm>
            <a:off x="860743" y="3762077"/>
            <a:ext cx="3008312" cy="2593975"/>
          </a:xfrm>
          <a:prstGeom prst="triangle">
            <a:avLst>
              <a:gd name="adj" fmla="val 50000"/>
            </a:avLst>
          </a:prstGeom>
          <a:solidFill>
            <a:srgbClr val="385D8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7002463" y="260648"/>
            <a:ext cx="3008312" cy="2603500"/>
            <a:chOff x="7002463" y="-9525"/>
            <a:chExt cx="3008312" cy="2603500"/>
          </a:xfrm>
        </p:grpSpPr>
        <p:sp>
          <p:nvSpPr>
            <p:cNvPr id="18" name="等腰三角形 7"/>
            <p:cNvSpPr>
              <a:spLocks noChangeArrowheads="1"/>
            </p:cNvSpPr>
            <p:nvPr/>
          </p:nvSpPr>
          <p:spPr bwMode="auto">
            <a:xfrm rot="10800000">
              <a:off x="7002463" y="0"/>
              <a:ext cx="3008312" cy="2593975"/>
            </a:xfrm>
            <a:prstGeom prst="triangle">
              <a:avLst>
                <a:gd name="adj" fmla="val 50000"/>
              </a:avLst>
            </a:prstGeom>
            <a:solidFill>
              <a:srgbClr val="385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直角三角形 13"/>
            <p:cNvSpPr>
              <a:spLocks noChangeArrowheads="1"/>
            </p:cNvSpPr>
            <p:nvPr/>
          </p:nvSpPr>
          <p:spPr bwMode="auto">
            <a:xfrm rot="10800000" flipH="1">
              <a:off x="8499475" y="-9525"/>
              <a:ext cx="1511300" cy="2603500"/>
            </a:xfrm>
            <a:prstGeom prst="rtTriangle">
              <a:avLst/>
            </a:prstGeom>
            <a:solidFill>
              <a:srgbClr val="30302F">
                <a:alpha val="4784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521" y="3645024"/>
            <a:ext cx="4752951" cy="1191915"/>
          </a:xfrm>
          <a:prstGeom prst="rect">
            <a:avLst/>
          </a:prstGeom>
        </p:spPr>
        <p:txBody>
          <a:bodyPr/>
          <a:lstStyle>
            <a:lvl1pPr>
              <a:defRPr lang="zh-CN" altLang="en-US" sz="36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638510" y="2879503"/>
            <a:ext cx="1782860" cy="523220"/>
          </a:xfrm>
          <a:prstGeom prst="rect">
            <a:avLst/>
          </a:prstGeom>
          <a:solidFill>
            <a:srgbClr val="385D8A"/>
          </a:solidFill>
        </p:spPr>
        <p:txBody>
          <a:bodyPr wrap="none" rtlCol="0">
            <a:spAutoFit/>
          </a:bodyPr>
          <a:lstStyle/>
          <a:p>
            <a:r>
              <a:rPr kumimoji="0" lang="en-US" altLang="zh-CN" sz="2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SUBTITLE</a:t>
            </a:r>
            <a:endParaRPr kumimoji="0" lang="zh-CN" altLang="en-US" sz="2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ldLvl="0" animBg="1"/>
      <p:bldP spid="2" grpId="0"/>
      <p:bldP spid="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0093" y="697517"/>
            <a:ext cx="7993358" cy="457315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07232" y="662608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13" name="矩形 1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6591" y="555079"/>
            <a:ext cx="10037209" cy="457316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22513"/>
            <a:ext cx="10515600" cy="49544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707232" y="512854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9" name="矩形 8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14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988" y="1092373"/>
            <a:ext cx="2659224" cy="14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748530" y="2680396"/>
            <a:ext cx="5847122" cy="910888"/>
          </a:xfrm>
          <a:prstGeom prst="rect">
            <a:avLst/>
          </a:prstGeom>
        </p:spPr>
        <p:txBody>
          <a:bodyPr anchor="b"/>
          <a:lstStyle>
            <a:lvl1pPr algn="ctr">
              <a:defRPr lang="zh-CN" altLang="en-US" sz="48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55440" y="548680"/>
            <a:ext cx="4024195" cy="5832123"/>
            <a:chOff x="1559496" y="764704"/>
            <a:chExt cx="3849496" cy="55789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1008622" y="620688"/>
            <a:ext cx="3863242" cy="5598859"/>
            <a:chOff x="1559496" y="764704"/>
            <a:chExt cx="3849496" cy="557893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 userDrawn="1"/>
        </p:nvSpPr>
        <p:spPr>
          <a:xfrm>
            <a:off x="4673753" y="4127826"/>
            <a:ext cx="704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Thanks for your attention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！</a:t>
            </a:r>
            <a:endParaRPr lang="zh-CN" altLang="en-US" sz="36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9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99" y="1331453"/>
            <a:ext cx="385069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831" y="4893382"/>
            <a:ext cx="1256338" cy="1256338"/>
          </a:xfrm>
          <a:prstGeom prst="rect">
            <a:avLst/>
          </a:prstGeom>
        </p:spPr>
      </p:pic>
      <p:cxnSp>
        <p:nvCxnSpPr>
          <p:cNvPr id="28" name="直接连接符 27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759135"/>
            <a:ext cx="1039543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578" y="206542"/>
            <a:ext cx="1105186" cy="1105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/>
        </p:nvSpPr>
        <p:spPr>
          <a:xfrm>
            <a:off x="2001868" y="2586633"/>
            <a:ext cx="8188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Thanks for your attention</a:t>
            </a:r>
            <a:r>
              <a:rPr lang="zh-CN" alt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！</a:t>
            </a:r>
            <a:endParaRPr lang="zh-CN" altLang="en-US" sz="54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140" y="4119033"/>
            <a:ext cx="1256338" cy="1256338"/>
          </a:xfrm>
          <a:prstGeom prst="rect">
            <a:avLst/>
          </a:prstGeom>
        </p:spPr>
      </p:pic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B05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B05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B05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B05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0" name="TextBox 17"/>
          <p:cNvSpPr>
            <a:spLocks noChangeArrowheads="1"/>
          </p:cNvSpPr>
          <p:nvPr userDrawn="1"/>
        </p:nvSpPr>
        <p:spPr bwMode="auto">
          <a:xfrm>
            <a:off x="13058775" y="146048"/>
            <a:ext cx="15128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/>
            <a:r>
              <a:rPr lang="en-US" sz="5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en-US" sz="5400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sz="5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en-US" sz="5400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sz="5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endParaRPr lang="zh-CN" altLang="en-US" sz="5400" b="1" dirty="0">
              <a:solidFill>
                <a:schemeClr val="accent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B05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0" y="759135"/>
            <a:ext cx="12192000" cy="0"/>
          </a:xfrm>
          <a:prstGeom prst="line">
            <a:avLst/>
          </a:prstGeom>
          <a:ln w="15875">
            <a:solidFill>
              <a:srgbClr val="00B05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7"/>
          <p:cNvSpPr>
            <a:spLocks noChangeArrowheads="1"/>
          </p:cNvSpPr>
          <p:nvPr userDrawn="1"/>
        </p:nvSpPr>
        <p:spPr bwMode="auto">
          <a:xfrm>
            <a:off x="13058775" y="146048"/>
            <a:ext cx="15128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/>
            <a:r>
              <a:rPr lang="en-US" sz="5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en-US" sz="5400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sz="5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en-US" sz="5400" b="1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sz="5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endParaRPr lang="zh-CN" altLang="en-US" sz="5400" b="1" dirty="0">
              <a:solidFill>
                <a:schemeClr val="accent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660733" y="6476399"/>
            <a:ext cx="0" cy="381601"/>
          </a:xfrm>
          <a:prstGeom prst="line">
            <a:avLst/>
          </a:prstGeom>
          <a:ln w="15875">
            <a:solidFill>
              <a:srgbClr val="00B05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  <p:cxnSp>
        <p:nvCxnSpPr>
          <p:cNvPr id="29" name="直接连接符 28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B05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ate Placeholder 3"/>
          <p:cNvSpPr>
            <a:spLocks noGrp="1"/>
          </p:cNvSpPr>
          <p:nvPr>
            <p:ph type="dt" sz="half" idx="10"/>
          </p:nvPr>
        </p:nvSpPr>
        <p:spPr>
          <a:xfrm>
            <a:off x="370045" y="648060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10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 userDrawn="1"/>
        </p:nvPicPr>
        <p:blipFill>
          <a:blip r:embed="rId23" cstate="screen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263352" y="260648"/>
            <a:ext cx="11665296" cy="63367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zh-CN" dirty="0"/>
              <a:t>命令行基础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solidFill>
                  <a:srgbClr val="00B050"/>
                </a:solidFill>
              </a:rPr>
              <a:t>Linux Shell</a:t>
            </a:r>
            <a:r>
              <a:rPr lang="zh-CN" altLang="zh-CN" dirty="0">
                <a:solidFill>
                  <a:srgbClr val="00B050"/>
                </a:solidFill>
              </a:rPr>
              <a:t>概述</a:t>
            </a:r>
            <a:endParaRPr lang="en-US" altLang="zh-CN" dirty="0">
              <a:solidFill>
                <a:srgbClr val="00B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打开</a:t>
            </a:r>
            <a:r>
              <a:rPr lang="en-US" altLang="zh-CN" dirty="0"/>
              <a:t>Linux</a:t>
            </a:r>
            <a:r>
              <a:rPr lang="zh-CN" altLang="en-US" dirty="0"/>
              <a:t>命令行界面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命令行界面简介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Shell</a:t>
            </a:r>
            <a:r>
              <a:rPr lang="zh-CN" altLang="zh-CN" dirty="0"/>
              <a:t>的基本用法</a:t>
            </a:r>
            <a:r>
              <a:rPr lang="en-US" altLang="zh-CN" dirty="0"/>
              <a:t>.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Shell</a:t>
            </a:r>
            <a:r>
              <a:rPr lang="zh-CN" altLang="zh-CN" dirty="0"/>
              <a:t>高阶技巧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Linux</a:t>
            </a:r>
            <a:r>
              <a:rPr lang="zh-CN" altLang="zh-CN" dirty="0"/>
              <a:t>命令行帮助系统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131590" y="5931381"/>
            <a:ext cx="3379296" cy="457200"/>
          </a:xfrm>
          <a:prstGeom prst="rect">
            <a:avLst/>
          </a:prstGeom>
        </p:spPr>
        <p:txBody>
          <a:bodyPr/>
          <a:lstStyle/>
          <a:p>
            <a:r>
              <a:rPr lang="zh-CN" altLang="zh-CN" sz="2000" dirty="0"/>
              <a:t>第</a:t>
            </a:r>
            <a:r>
              <a:rPr lang="en-US" altLang="zh-CN" sz="2000" dirty="0"/>
              <a:t>3</a:t>
            </a:r>
            <a:r>
              <a:rPr lang="zh-CN" altLang="zh-CN" sz="2000" dirty="0"/>
              <a:t>章</a:t>
            </a:r>
            <a:r>
              <a:rPr lang="en-US" altLang="zh-CN" sz="2000" dirty="0"/>
              <a:t> Linux</a:t>
            </a:r>
            <a:r>
              <a:rPr lang="zh-CN" altLang="zh-CN" sz="2000" dirty="0"/>
              <a:t>命令行基础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Shell</a:t>
            </a:r>
            <a:r>
              <a:rPr lang="zh-CN" altLang="en-US" dirty="0"/>
              <a:t>概述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Linux Shell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zh-CN" dirty="0"/>
              <a:t>是</a:t>
            </a:r>
            <a:r>
              <a:rPr lang="en-US" altLang="zh-CN" dirty="0"/>
              <a:t>Linux</a:t>
            </a:r>
            <a:r>
              <a:rPr lang="zh-CN" altLang="zh-CN" dirty="0"/>
              <a:t>系统的用户界面。</a:t>
            </a:r>
            <a:endParaRPr lang="en-US" altLang="zh-CN" dirty="0"/>
          </a:p>
          <a:p>
            <a:r>
              <a:rPr lang="en-US" altLang="zh-CN" dirty="0"/>
              <a:t>Shell</a:t>
            </a:r>
            <a:r>
              <a:rPr lang="zh-CN" altLang="zh-CN" dirty="0"/>
              <a:t>是一个命令解释程序。</a:t>
            </a:r>
            <a:endParaRPr lang="en-US" altLang="zh-CN" dirty="0"/>
          </a:p>
          <a:p>
            <a:r>
              <a:rPr lang="en-US" altLang="zh-CN" dirty="0"/>
              <a:t>Shell</a:t>
            </a:r>
            <a:r>
              <a:rPr lang="zh-CN" altLang="zh-CN" dirty="0"/>
              <a:t>也是一种程序设计语言。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646312" y="1120775"/>
          <a:ext cx="4593188" cy="459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Visio" r:id="rId1" imgW="3436620" imgH="3436620" progId="Visio.Drawing.11">
                  <p:embed/>
                </p:oleObj>
              </mc:Choice>
              <mc:Fallback>
                <p:oleObj name="Visio" r:id="rId1" imgW="3436620" imgH="3436620" progId="Visio.Drawing.11">
                  <p:embed/>
                  <p:pic>
                    <p:nvPicPr>
                      <p:cNvPr id="0" name="图片 4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312" y="1120775"/>
                        <a:ext cx="4593188" cy="4593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Linux Shell</a:t>
            </a:r>
            <a:r>
              <a:rPr lang="zh-CN" altLang="zh-CN" dirty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代表性的</a:t>
            </a:r>
            <a:r>
              <a:rPr lang="en-US" altLang="zh-CN" dirty="0"/>
              <a:t>Linux Shell</a:t>
            </a:r>
            <a:r>
              <a:rPr lang="zh-CN" altLang="en-US" dirty="0"/>
              <a:t>包括，</a:t>
            </a:r>
            <a:r>
              <a:rPr lang="en-US" altLang="zh-CN" dirty="0"/>
              <a:t>Bourne Shell</a:t>
            </a:r>
            <a:r>
              <a:rPr lang="zh-CN" altLang="en-US" dirty="0"/>
              <a:t>、</a:t>
            </a:r>
            <a:r>
              <a:rPr lang="en-US" altLang="zh-CN" dirty="0"/>
              <a:t>C Shell</a:t>
            </a:r>
            <a:r>
              <a:rPr lang="zh-CN" altLang="en-US" dirty="0"/>
              <a:t>、</a:t>
            </a:r>
            <a:r>
              <a:rPr lang="en-US" altLang="zh-CN" dirty="0" err="1"/>
              <a:t>Korn</a:t>
            </a:r>
            <a:r>
              <a:rPr lang="en-US" altLang="zh-CN" dirty="0"/>
              <a:t> Shell</a:t>
            </a:r>
            <a:r>
              <a:rPr lang="zh-CN" altLang="en-US" dirty="0"/>
              <a:t>、</a:t>
            </a:r>
            <a:r>
              <a:rPr lang="en-US" altLang="zh-CN" dirty="0"/>
              <a:t>POSIX Shell</a:t>
            </a:r>
            <a:r>
              <a:rPr lang="zh-CN" altLang="en-US" dirty="0"/>
              <a:t>以及</a:t>
            </a:r>
            <a:r>
              <a:rPr lang="en-US" altLang="zh-CN" dirty="0"/>
              <a:t>Bourne Again Shell</a:t>
            </a:r>
            <a:r>
              <a:rPr lang="zh-CN" altLang="en-US" dirty="0"/>
              <a:t>（</a:t>
            </a:r>
            <a:r>
              <a:rPr lang="en-US" altLang="zh-CN" dirty="0"/>
              <a:t>bash</a:t>
            </a:r>
            <a:r>
              <a:rPr lang="zh-CN" altLang="en-US" dirty="0"/>
              <a:t>）等。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20" y="2134235"/>
            <a:ext cx="5157470" cy="4378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en-US" altLang="zh-CN" dirty="0"/>
              <a:t>Linux</a:t>
            </a:r>
            <a:r>
              <a:rPr lang="zh-CN" altLang="en-US" dirty="0"/>
              <a:t>命令行界面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3.2 </a:t>
            </a:r>
            <a:r>
              <a:rPr lang="zh-CN" altLang="zh-CN" dirty="0"/>
              <a:t>打开</a:t>
            </a:r>
            <a:r>
              <a:rPr lang="en-US" altLang="zh-CN" dirty="0"/>
              <a:t>Linux</a:t>
            </a:r>
            <a:r>
              <a:rPr lang="zh-CN" altLang="zh-CN" dirty="0"/>
              <a:t>命令行界面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585" y="1222375"/>
            <a:ext cx="11141075" cy="5346700"/>
          </a:xfrm>
        </p:spPr>
        <p:txBody>
          <a:bodyPr/>
          <a:lstStyle/>
          <a:p>
            <a:pPr indent="0" fontAlgn="auto">
              <a:spcBef>
                <a:spcPts val="0"/>
              </a:spcBef>
            </a:pPr>
            <a:r>
              <a:rPr lang="zh-CN" altLang="en-US" dirty="0"/>
              <a:t>使用组合键</a:t>
            </a:r>
            <a:r>
              <a:rPr lang="en-US" altLang="zh-CN" dirty="0"/>
              <a:t>&lt;Ctrl&gt;+&lt;Alt&gt;+&lt;T&gt;</a:t>
            </a:r>
            <a:r>
              <a:rPr lang="zh-CN" altLang="en-US" dirty="0"/>
              <a:t>。</a:t>
            </a:r>
            <a:endParaRPr lang="en-US" altLang="zh-CN" dirty="0"/>
          </a:p>
          <a:p>
            <a:pPr indent="0" fontAlgn="auto">
              <a:spcBef>
                <a:spcPts val="0"/>
              </a:spcBef>
            </a:pPr>
            <a:r>
              <a:rPr lang="zh-CN" altLang="en-US" dirty="0"/>
              <a:t>在</a:t>
            </a:r>
            <a:r>
              <a:rPr lang="en-US" altLang="zh-CN" dirty="0"/>
              <a:t>Dash</a:t>
            </a:r>
            <a:r>
              <a:rPr lang="zh-CN" altLang="en-US" dirty="0"/>
              <a:t>中浏览搜索“终端”程序。                                                                                                                                                                                               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4339" name="Rectangle 5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9551989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343" name="Rectangle 15"/>
          <p:cNvSpPr>
            <a:spLocks noChangeArrowheads="1"/>
          </p:cNvSpPr>
          <p:nvPr/>
        </p:nvSpPr>
        <p:spPr bwMode="auto">
          <a:xfrm>
            <a:off x="10483270" y="2853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60" y="2191385"/>
            <a:ext cx="4330065" cy="4025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使用文本模式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31165" y="1082178"/>
            <a:ext cx="10515600" cy="4954450"/>
          </a:xfrm>
        </p:spPr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en-US" dirty="0"/>
              <a:t>允许用户在同一时间从不同的控制台进行多次登录。</a:t>
            </a:r>
            <a:endParaRPr lang="zh-CN" altLang="en-US" dirty="0"/>
          </a:p>
          <a:p>
            <a:r>
              <a:rPr lang="zh-CN" altLang="en-US" dirty="0"/>
              <a:t>允许用户同时打开</a:t>
            </a:r>
            <a:r>
              <a:rPr lang="en-US" altLang="zh-CN" dirty="0"/>
              <a:t>6</a:t>
            </a:r>
            <a:r>
              <a:rPr lang="zh-CN" altLang="en-US" dirty="0"/>
              <a:t>个虚拟控制台（</a:t>
            </a:r>
            <a:r>
              <a:rPr lang="en-US" altLang="zh-CN" dirty="0"/>
              <a:t>tty1</a:t>
            </a:r>
            <a:r>
              <a:rPr lang="zh-CN" altLang="en-US" dirty="0"/>
              <a:t>～</a:t>
            </a:r>
            <a:r>
              <a:rPr lang="en-US" altLang="zh-CN" dirty="0"/>
              <a:t>tty6</a:t>
            </a:r>
            <a:r>
              <a:rPr lang="zh-CN" altLang="en-US" dirty="0"/>
              <a:t>）进行操作。</a:t>
            </a:r>
            <a:endParaRPr lang="zh-CN" altLang="en-US" dirty="0"/>
          </a:p>
          <a:p>
            <a:r>
              <a:rPr lang="en-US" altLang="zh-CN" dirty="0"/>
              <a:t>[ctrl]+[alt]+[</a:t>
            </a:r>
            <a:r>
              <a:rPr lang="en-US" altLang="zh-CN" dirty="0" err="1"/>
              <a:t>Fn</a:t>
            </a:r>
            <a:r>
              <a:rPr lang="en-US" altLang="zh-CN" dirty="0"/>
              <a:t>]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7530" y="2152650"/>
            <a:ext cx="4107815" cy="434403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关闭和重启系统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执行</a:t>
            </a:r>
            <a:r>
              <a:rPr lang="en-US" altLang="zh-CN" dirty="0"/>
              <a:t>reboot</a:t>
            </a:r>
            <a:r>
              <a:rPr lang="zh-CN" altLang="en-US" dirty="0"/>
              <a:t>命令重启系统。</a:t>
            </a:r>
            <a:endParaRPr lang="zh-CN" altLang="en-US" dirty="0"/>
          </a:p>
          <a:p>
            <a:r>
              <a:rPr lang="zh-CN" altLang="en-US" dirty="0"/>
              <a:t>执行</a:t>
            </a:r>
            <a:r>
              <a:rPr lang="en-US" altLang="zh-CN" dirty="0"/>
              <a:t>shutdown</a:t>
            </a:r>
            <a:r>
              <a:rPr lang="zh-CN" altLang="en-US" dirty="0"/>
              <a:t>命令关机。</a:t>
            </a:r>
            <a:endParaRPr lang="zh-CN" altLang="en-US" dirty="0"/>
          </a:p>
          <a:p>
            <a:r>
              <a:rPr lang="zh-CN" altLang="en-US" dirty="0"/>
              <a:t>可以使用</a:t>
            </a:r>
            <a:r>
              <a:rPr lang="en-US" altLang="zh-CN" dirty="0"/>
              <a:t>halt</a:t>
            </a:r>
            <a:r>
              <a:rPr lang="zh-CN" altLang="en-US" dirty="0"/>
              <a:t>命令关机，它实际调用的是命令</a:t>
            </a:r>
            <a:r>
              <a:rPr lang="en-US" altLang="zh-CN" dirty="0"/>
              <a:t>shutdown -h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关机命令</a:t>
            </a:r>
            <a:r>
              <a:rPr lang="en-US" altLang="zh-CN" dirty="0" err="1"/>
              <a:t>poweroff</a:t>
            </a:r>
            <a:r>
              <a:rPr lang="zh-CN" altLang="en-US" dirty="0"/>
              <a:t>相当于</a:t>
            </a:r>
            <a:r>
              <a:rPr lang="en-US" altLang="zh-CN" dirty="0"/>
              <a:t>halt -p</a:t>
            </a:r>
            <a:r>
              <a:rPr lang="zh-CN" altLang="en-US" dirty="0"/>
              <a:t>，关闭系统的同时切断电源。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命令行界面简介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3.3 </a:t>
            </a:r>
            <a:r>
              <a:rPr lang="zh-CN" altLang="en-US" dirty="0"/>
              <a:t>命令行界面简介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系统的标准提示符	</a:t>
            </a:r>
            <a:endParaRPr lang="en-US" altLang="zh-CN" dirty="0"/>
          </a:p>
          <a:p>
            <a:r>
              <a:rPr lang="zh-CN" altLang="en-US" dirty="0"/>
              <a:t>如何使用终端仿真器执行</a:t>
            </a:r>
            <a:r>
              <a:rPr lang="en-US" altLang="zh-CN" dirty="0" err="1"/>
              <a:t>linux</a:t>
            </a:r>
            <a:r>
              <a:rPr lang="zh-CN" altLang="en-US" dirty="0"/>
              <a:t>命令。	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root</a:t>
            </a:r>
            <a:r>
              <a:rPr lang="zh-CN" altLang="en-US" dirty="0"/>
              <a:t>权限	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命令行界面简介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2375"/>
            <a:ext cx="10933430" cy="5594350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系统的标准提示符</a:t>
            </a:r>
            <a:endParaRPr lang="en-US" altLang="zh-CN" dirty="0"/>
          </a:p>
          <a:p>
            <a:pPr lvl="1"/>
            <a:r>
              <a:rPr lang="fi-FI" altLang="zh-CN" dirty="0"/>
              <a:t>[</a:t>
            </a:r>
            <a:r>
              <a:rPr lang="zh-CN" altLang="zh-CN" dirty="0"/>
              <a:t>当前用户名</a:t>
            </a:r>
            <a:r>
              <a:rPr lang="fi-FI" altLang="zh-CN" dirty="0"/>
              <a:t>@</a:t>
            </a:r>
            <a:r>
              <a:rPr lang="zh-CN" altLang="zh-CN" dirty="0"/>
              <a:t>主机名：当前目录</a:t>
            </a:r>
            <a:r>
              <a:rPr lang="fi-FI" altLang="zh-CN" dirty="0"/>
              <a:t>] </a:t>
            </a:r>
            <a:r>
              <a:rPr lang="zh-CN" altLang="zh-CN" dirty="0"/>
              <a:t>提示符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845" y="2075815"/>
            <a:ext cx="6159500" cy="454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使用终端仿真器执行</a:t>
            </a:r>
            <a:r>
              <a:rPr lang="en-US" altLang="zh-CN"/>
              <a:t>linux</a:t>
            </a:r>
            <a:r>
              <a:rPr lang="zh-CN" altLang="zh-CN"/>
              <a:t>命令。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 err="1"/>
              <a:t>pwd</a:t>
            </a:r>
            <a:r>
              <a:rPr lang="zh-CN" altLang="zh-CN" dirty="0"/>
              <a:t>：输出当前的工作目录名称。</a:t>
            </a:r>
            <a:endParaRPr lang="zh-CN" altLang="zh-CN" dirty="0"/>
          </a:p>
          <a:p>
            <a:r>
              <a:rPr lang="en-US" altLang="zh-CN" dirty="0"/>
              <a:t>hostname</a:t>
            </a:r>
            <a:r>
              <a:rPr lang="zh-CN" altLang="zh-CN" dirty="0"/>
              <a:t>：显示或者设置系统主机名。</a:t>
            </a:r>
            <a:endParaRPr lang="zh-CN" altLang="zh-CN" dirty="0"/>
          </a:p>
          <a:p>
            <a:pPr lvl="0"/>
            <a:r>
              <a:rPr lang="en-US" altLang="zh-CN" dirty="0" err="1"/>
              <a:t>ls</a:t>
            </a:r>
            <a:r>
              <a:rPr lang="zh-CN" altLang="zh-CN" dirty="0"/>
              <a:t>：列出目录中的内容。</a:t>
            </a:r>
            <a:endParaRPr lang="zh-CN" altLang="zh-CN" dirty="0"/>
          </a:p>
          <a:p>
            <a:pPr lvl="0"/>
            <a:r>
              <a:rPr lang="en-US" altLang="zh-CN" dirty="0" err="1"/>
              <a:t>uname</a:t>
            </a:r>
            <a:r>
              <a:rPr lang="zh-CN" altLang="zh-CN" dirty="0"/>
              <a:t>：输出系统信息。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670" y="3122930"/>
            <a:ext cx="6570345" cy="3430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/>
              <a:t>root</a:t>
            </a:r>
            <a:r>
              <a:rPr lang="zh-CN" altLang="zh-CN" dirty="0"/>
              <a:t>权限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sudo</a:t>
            </a:r>
            <a:r>
              <a:rPr lang="en-US" altLang="zh-CN" dirty="0"/>
              <a:t> </a:t>
            </a:r>
            <a:r>
              <a:rPr lang="en-US" altLang="zh-CN" dirty="0" err="1"/>
              <a:t>cmd_name</a:t>
            </a:r>
            <a:r>
              <a:rPr lang="en-US" altLang="zh-CN" dirty="0"/>
              <a:t> [</a:t>
            </a:r>
            <a:r>
              <a:rPr lang="zh-CN" altLang="zh-CN" dirty="0"/>
              <a:t>其他参数选项</a:t>
            </a:r>
            <a:r>
              <a:rPr lang="en-US" altLang="zh-CN" dirty="0"/>
              <a:t>]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155" y="1778635"/>
            <a:ext cx="6769735" cy="1939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155" y="3855085"/>
            <a:ext cx="5035550" cy="2546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的基本用法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3.4 Shell</a:t>
            </a:r>
            <a:r>
              <a:rPr lang="zh-CN" altLang="en-US" dirty="0"/>
              <a:t>的基本用法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命令语法格式	</a:t>
            </a:r>
            <a:endParaRPr lang="en-US" altLang="zh-CN" dirty="0"/>
          </a:p>
          <a:p>
            <a:r>
              <a:rPr lang="zh-CN" altLang="en-US" dirty="0"/>
              <a:t>命令自动补全	</a:t>
            </a:r>
            <a:endParaRPr lang="zh-CN" altLang="en-US" dirty="0"/>
          </a:p>
          <a:p>
            <a:r>
              <a:rPr lang="zh-CN" altLang="en-US" dirty="0"/>
              <a:t>强制中断命令运行</a:t>
            </a:r>
            <a:endParaRPr lang="en-US" altLang="zh-CN" dirty="0"/>
          </a:p>
          <a:p>
            <a:r>
              <a:rPr lang="zh-CN" altLang="en-US" dirty="0"/>
              <a:t>命令历史记录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3.4.1 Linux</a:t>
            </a:r>
            <a:r>
              <a:rPr lang="zh-CN" altLang="zh-CN" dirty="0"/>
              <a:t>命令语法格式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zh-CN" dirty="0"/>
              <a:t>命令语法格式如下：</a:t>
            </a:r>
            <a:endParaRPr lang="zh-CN" altLang="zh-CN" dirty="0"/>
          </a:p>
          <a:p>
            <a:pPr lvl="1"/>
            <a:r>
              <a:rPr lang="zh-CN" altLang="zh-CN" dirty="0"/>
              <a:t>命令 </a:t>
            </a:r>
            <a:r>
              <a:rPr lang="en-US" altLang="zh-CN" dirty="0"/>
              <a:t>[</a:t>
            </a:r>
            <a:r>
              <a:rPr lang="zh-CN" altLang="zh-CN" dirty="0"/>
              <a:t>选项</a:t>
            </a:r>
            <a:r>
              <a:rPr lang="en-US" altLang="zh-CN" dirty="0"/>
              <a:t>] [</a:t>
            </a:r>
            <a:r>
              <a:rPr lang="zh-CN" altLang="zh-CN" dirty="0"/>
              <a:t>参数</a:t>
            </a:r>
            <a:r>
              <a:rPr lang="en-US" altLang="zh-CN" dirty="0"/>
              <a:t>]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390" y="2153920"/>
            <a:ext cx="10366375" cy="3761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3.4.2 </a:t>
            </a:r>
            <a:r>
              <a:rPr lang="zh-CN" altLang="en-US" dirty="0"/>
              <a:t>命令自动补全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可使用【</a:t>
            </a:r>
            <a:r>
              <a:rPr lang="en-US" altLang="zh-CN" dirty="0"/>
              <a:t>TAB</a:t>
            </a:r>
            <a:r>
              <a:rPr lang="zh-CN" altLang="zh-CN" dirty="0"/>
              <a:t>】键的自动补齐功能，将部分命令名或者文件名快速补充完整。</a:t>
            </a:r>
            <a:endParaRPr lang="zh-CN" altLang="zh-CN" dirty="0"/>
          </a:p>
          <a:p>
            <a:r>
              <a:rPr lang="zh-CN" altLang="en-US" dirty="0"/>
              <a:t>双击</a:t>
            </a:r>
            <a:r>
              <a:rPr lang="zh-CN" altLang="zh-CN" dirty="0">
                <a:sym typeface="+mn-ea"/>
              </a:rPr>
              <a:t>【</a:t>
            </a:r>
            <a:r>
              <a:rPr lang="en-US" altLang="zh-CN" dirty="0">
                <a:sym typeface="+mn-ea"/>
              </a:rPr>
              <a:t>TAB</a:t>
            </a:r>
            <a:r>
              <a:rPr lang="zh-CN" altLang="zh-CN" dirty="0">
                <a:sym typeface="+mn-ea"/>
              </a:rPr>
              <a:t>】</a:t>
            </a:r>
            <a:r>
              <a:rPr lang="zh-CN" altLang="en-US" dirty="0"/>
              <a:t>键可以罗列出匹配的文件或者</a:t>
            </a:r>
            <a:r>
              <a:rPr lang="zh-CN" altLang="en-US" dirty="0"/>
              <a:t>命令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2726055"/>
            <a:ext cx="11417935" cy="1947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3.4.3 </a:t>
            </a:r>
            <a:r>
              <a:rPr lang="zh-CN" altLang="en-US" dirty="0"/>
              <a:t>强制中断命令运行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部分命令运行时间较长，如果想提前终止该命令运行，可以使用</a:t>
            </a:r>
            <a:r>
              <a:rPr lang="en-US" altLang="zh-CN" dirty="0"/>
              <a:t>Ctrl + c</a:t>
            </a:r>
            <a:r>
              <a:rPr lang="zh-CN" altLang="zh-CN" dirty="0"/>
              <a:t>组合键。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840" y="2121535"/>
            <a:ext cx="9495790" cy="4297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3.4.4 </a:t>
            </a:r>
            <a:r>
              <a:rPr lang="zh-CN" altLang="en-US" dirty="0"/>
              <a:t>命令历史记录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865" y="1761986"/>
            <a:ext cx="7647619" cy="2866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3.4.4 </a:t>
            </a:r>
            <a:r>
              <a:rPr lang="zh-CN" altLang="en-US" dirty="0"/>
              <a:t>命令历史记录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/>
              <a:t>history</a:t>
            </a:r>
            <a:r>
              <a:rPr lang="zh-CN" altLang="zh-CN" dirty="0"/>
              <a:t>命令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70" y="1758950"/>
            <a:ext cx="5181600" cy="32626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635" y="1804670"/>
            <a:ext cx="4238625" cy="2628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635" y="4745990"/>
            <a:ext cx="4495800" cy="1162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3.4.4 </a:t>
            </a:r>
            <a:r>
              <a:rPr lang="zh-CN" altLang="en-US" dirty="0"/>
              <a:t>命令历史记录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748466"/>
            <a:ext cx="10080000" cy="377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高阶技巧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3.5 Shell</a:t>
            </a:r>
            <a:r>
              <a:rPr lang="zh-CN" altLang="en-US" dirty="0"/>
              <a:t>高阶技巧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管道	</a:t>
            </a:r>
            <a:endParaRPr lang="en-US" altLang="zh-CN" dirty="0"/>
          </a:p>
          <a:p>
            <a:r>
              <a:rPr lang="zh-CN" altLang="en-US" dirty="0"/>
              <a:t>重定向	</a:t>
            </a:r>
            <a:endParaRPr lang="en-US" altLang="zh-CN" dirty="0"/>
          </a:p>
          <a:p>
            <a:r>
              <a:rPr lang="zh-CN" altLang="en-US" dirty="0"/>
              <a:t>命令排列	</a:t>
            </a:r>
            <a:endParaRPr lang="en-US" altLang="zh-CN" dirty="0"/>
          </a:p>
          <a:p>
            <a:r>
              <a:rPr lang="zh-CN" altLang="en-US" dirty="0"/>
              <a:t>命令续行	</a:t>
            </a:r>
            <a:endParaRPr lang="en-US" altLang="zh-CN" dirty="0"/>
          </a:p>
          <a:p>
            <a:r>
              <a:rPr lang="zh-CN" altLang="en-US" dirty="0"/>
              <a:t>命令替换	</a:t>
            </a:r>
            <a:endParaRPr lang="en-US" altLang="zh-CN" dirty="0"/>
          </a:p>
          <a:p>
            <a:r>
              <a:rPr lang="zh-CN" altLang="en-US" dirty="0"/>
              <a:t>命令别名	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3.5.1 </a:t>
            </a:r>
            <a:r>
              <a:rPr lang="zh-CN" altLang="en-US" dirty="0"/>
              <a:t>管道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格式</a:t>
            </a:r>
            <a:r>
              <a:rPr lang="zh-CN" altLang="en-US" dirty="0"/>
              <a:t>：</a:t>
            </a:r>
            <a:r>
              <a:rPr lang="zh-CN" altLang="zh-CN" dirty="0"/>
              <a:t>命令</a:t>
            </a:r>
            <a:r>
              <a:rPr lang="en-US" altLang="zh-CN" dirty="0"/>
              <a:t>1 | </a:t>
            </a:r>
            <a:r>
              <a:rPr lang="zh-CN" altLang="zh-CN" dirty="0"/>
              <a:t>命令</a:t>
            </a:r>
            <a:r>
              <a:rPr lang="en-US" altLang="zh-CN" dirty="0"/>
              <a:t>2 …… | </a:t>
            </a:r>
            <a:r>
              <a:rPr lang="zh-CN" altLang="zh-CN" dirty="0"/>
              <a:t>命令</a:t>
            </a:r>
            <a:r>
              <a:rPr lang="en-US" altLang="zh-CN" dirty="0"/>
              <a:t>n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95475"/>
            <a:ext cx="9650095" cy="1624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3.5.2 </a:t>
            </a:r>
            <a:r>
              <a:rPr lang="zh-CN" altLang="en-US" dirty="0"/>
              <a:t>重定向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输出重定向</a:t>
            </a:r>
            <a:endParaRPr lang="en-US" altLang="zh-CN" dirty="0"/>
          </a:p>
          <a:p>
            <a:pPr lvl="1"/>
            <a:r>
              <a:rPr lang="zh-CN" altLang="zh-CN" dirty="0"/>
              <a:t>覆盖</a:t>
            </a:r>
            <a:r>
              <a:rPr lang="zh-CN" altLang="en-US" dirty="0"/>
              <a:t>：</a:t>
            </a:r>
            <a:r>
              <a:rPr lang="en-US" altLang="zh-CN" dirty="0"/>
              <a:t>[</a:t>
            </a:r>
            <a:r>
              <a:rPr lang="zh-CN" altLang="zh-CN" dirty="0"/>
              <a:t>命令</a:t>
            </a:r>
            <a:r>
              <a:rPr lang="en-US" altLang="zh-CN" dirty="0"/>
              <a:t>] &gt; [</a:t>
            </a:r>
            <a:r>
              <a:rPr lang="zh-CN" altLang="zh-CN" dirty="0"/>
              <a:t>文件</a:t>
            </a:r>
            <a:r>
              <a:rPr lang="en-US" altLang="zh-CN" dirty="0"/>
              <a:t>]</a:t>
            </a:r>
            <a:endParaRPr lang="en-US" altLang="zh-CN" dirty="0"/>
          </a:p>
          <a:p>
            <a:pPr lvl="1"/>
            <a:r>
              <a:rPr lang="zh-CN" altLang="zh-CN" dirty="0"/>
              <a:t>追加</a:t>
            </a:r>
            <a:r>
              <a:rPr lang="zh-CN" altLang="en-US" dirty="0"/>
              <a:t>：</a:t>
            </a:r>
            <a:r>
              <a:rPr lang="en-US" altLang="zh-CN" dirty="0"/>
              <a:t>[</a:t>
            </a:r>
            <a:r>
              <a:rPr lang="zh-CN" altLang="en-US" dirty="0"/>
              <a:t>命令</a:t>
            </a:r>
            <a:r>
              <a:rPr lang="en-US" altLang="zh-CN" dirty="0"/>
              <a:t>] &gt;&gt; [</a:t>
            </a:r>
            <a:r>
              <a:rPr lang="zh-CN" altLang="en-US" dirty="0"/>
              <a:t>文件</a:t>
            </a:r>
            <a:r>
              <a:rPr lang="en-US" altLang="zh-CN" dirty="0"/>
              <a:t>]</a:t>
            </a: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355" y="2595880"/>
            <a:ext cx="5612130" cy="3739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3.5.2 </a:t>
            </a:r>
            <a:r>
              <a:rPr lang="zh-CN" altLang="en-US" dirty="0"/>
              <a:t>重定向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输入重定向</a:t>
            </a:r>
            <a:endParaRPr lang="en-US" altLang="zh-CN" dirty="0"/>
          </a:p>
          <a:p>
            <a:pPr lvl="1"/>
            <a:r>
              <a:rPr lang="en-US" altLang="zh-CN" dirty="0"/>
              <a:t>[</a:t>
            </a:r>
            <a:r>
              <a:rPr lang="zh-CN" altLang="en-US" dirty="0"/>
              <a:t>命令</a:t>
            </a:r>
            <a:r>
              <a:rPr lang="en-US" altLang="zh-CN" dirty="0"/>
              <a:t>] &lt; [</a:t>
            </a:r>
            <a:r>
              <a:rPr lang="zh-CN" altLang="en-US" dirty="0"/>
              <a:t>文件</a:t>
            </a:r>
            <a:r>
              <a:rPr lang="en-US" altLang="zh-CN" dirty="0"/>
              <a:t>]</a:t>
            </a:r>
            <a:endParaRPr lang="en-US" altLang="zh-CN" dirty="0"/>
          </a:p>
          <a:p>
            <a:pPr lvl="1"/>
            <a:r>
              <a:rPr lang="en-US" altLang="zh-CN" dirty="0"/>
              <a:t>[</a:t>
            </a:r>
            <a:r>
              <a:rPr lang="zh-CN" altLang="en-US" dirty="0"/>
              <a:t>命令</a:t>
            </a:r>
            <a:r>
              <a:rPr lang="en-US" altLang="zh-CN" dirty="0"/>
              <a:t>] &lt;&lt; [</a:t>
            </a:r>
            <a:r>
              <a:rPr lang="zh-CN" altLang="en-US" dirty="0"/>
              <a:t>分隔符</a:t>
            </a:r>
            <a:r>
              <a:rPr lang="en-US" altLang="zh-CN" dirty="0"/>
              <a:t>]</a:t>
            </a:r>
            <a:endParaRPr lang="en-US" altLang="zh-CN" dirty="0"/>
          </a:p>
          <a:p>
            <a:pPr lvl="2"/>
            <a:r>
              <a:rPr lang="en-US" altLang="zh-CN" dirty="0"/>
              <a:t>&gt; [</a:t>
            </a:r>
            <a:r>
              <a:rPr lang="zh-CN" altLang="en-US" dirty="0"/>
              <a:t>文本内容</a:t>
            </a:r>
            <a:r>
              <a:rPr lang="en-US" altLang="zh-CN" dirty="0"/>
              <a:t>]</a:t>
            </a:r>
            <a:endParaRPr lang="en-US" altLang="zh-CN" dirty="0"/>
          </a:p>
          <a:p>
            <a:pPr lvl="2"/>
            <a:r>
              <a:rPr lang="en-US" altLang="zh-CN" dirty="0"/>
              <a:t>&gt; [</a:t>
            </a:r>
            <a:r>
              <a:rPr lang="zh-CN" altLang="en-US" dirty="0"/>
              <a:t>分隔符</a:t>
            </a:r>
            <a:r>
              <a:rPr lang="en-US" altLang="zh-CN" dirty="0"/>
              <a:t>]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4143375"/>
            <a:ext cx="10953750" cy="23564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730" y="2641600"/>
            <a:ext cx="5610225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命令排列	</a:t>
            </a:r>
            <a:r>
              <a:rPr>
                <a:sym typeface="+mn-ea"/>
              </a:rPr>
              <a:t>命令续行</a:t>
            </a:r>
            <a:r>
              <a:rPr lang="en-US" altLang="zh-CN">
                <a:sym typeface="+mn-ea"/>
              </a:rPr>
              <a:t>        </a:t>
            </a:r>
            <a:r>
              <a:rPr>
                <a:sym typeface="+mn-ea"/>
              </a:rPr>
              <a:t>命令替换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连接字符通常有“；”、“</a:t>
            </a:r>
            <a:r>
              <a:rPr lang="en-US" altLang="zh-CN" dirty="0"/>
              <a:t>&amp;&amp;</a:t>
            </a:r>
            <a:r>
              <a:rPr lang="zh-CN" altLang="zh-CN" dirty="0"/>
              <a:t>”和“</a:t>
            </a:r>
            <a:r>
              <a:rPr lang="en-US" altLang="zh-CN" dirty="0"/>
              <a:t>||</a:t>
            </a:r>
            <a:r>
              <a:rPr lang="zh-CN" altLang="zh-CN" dirty="0"/>
              <a:t>”三种</a:t>
            </a:r>
            <a:endParaRPr lang="zh-CN" altLang="zh-CN" dirty="0"/>
          </a:p>
          <a:p>
            <a:r>
              <a:rPr lang="zh-CN" altLang="zh-CN" sz="2800" dirty="0">
                <a:sym typeface="+mn-ea"/>
              </a:rPr>
              <a:t>反斜杠“</a:t>
            </a:r>
            <a:r>
              <a:rPr lang="en-US" altLang="zh-CN" sz="2800" dirty="0">
                <a:sym typeface="+mn-ea"/>
              </a:rPr>
              <a:t>\</a:t>
            </a:r>
            <a:r>
              <a:rPr lang="zh-CN" altLang="zh-CN" sz="2800" dirty="0">
                <a:sym typeface="+mn-ea"/>
              </a:rPr>
              <a:t>”</a:t>
            </a:r>
            <a:r>
              <a:rPr lang="zh-CN" altLang="en-US" sz="2800" dirty="0">
                <a:sym typeface="+mn-ea"/>
              </a:rPr>
              <a:t>的</a:t>
            </a:r>
            <a:r>
              <a:rPr lang="zh-CN" altLang="zh-CN" sz="2800" dirty="0">
                <a:sym typeface="+mn-ea"/>
              </a:rPr>
              <a:t>两种含义</a:t>
            </a:r>
            <a:endParaRPr lang="en-US" altLang="zh-CN" sz="2800" dirty="0"/>
          </a:p>
          <a:p>
            <a:pPr lvl="1"/>
            <a:r>
              <a:rPr lang="zh-CN" altLang="zh-CN" sz="2800" dirty="0">
                <a:sym typeface="+mn-ea"/>
              </a:rPr>
              <a:t>转义符</a:t>
            </a:r>
            <a:r>
              <a:rPr lang="en-US" altLang="zh-CN" sz="2800" dirty="0">
                <a:sym typeface="+mn-ea"/>
              </a:rPr>
              <a:t> echo "\$HOME is $HOME"</a:t>
            </a:r>
            <a:endParaRPr lang="zh-CN" altLang="zh-CN" sz="2800" dirty="0"/>
          </a:p>
          <a:p>
            <a:pPr lvl="1"/>
            <a:r>
              <a:rPr lang="zh-CN" altLang="zh-CN" sz="2800" dirty="0">
                <a:sym typeface="+mn-ea"/>
              </a:rPr>
              <a:t>命令续行</a:t>
            </a:r>
            <a:endParaRPr lang="zh-CN" altLang="zh-CN" sz="2800" dirty="0"/>
          </a:p>
          <a:p>
            <a:r>
              <a:rPr lang="zh-CN" altLang="zh-CN" dirty="0">
                <a:sym typeface="+mn-ea"/>
              </a:rPr>
              <a:t>将一个命令的结果作为命令的参数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10" y="3890010"/>
            <a:ext cx="6772275" cy="2152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命令别名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755" y="1240790"/>
            <a:ext cx="11362690" cy="52273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zh-CN" dirty="0"/>
              <a:t>．查看已定义的别名</a:t>
            </a:r>
            <a:r>
              <a:rPr lang="en-US" altLang="zh-CN" dirty="0"/>
              <a:t>  2</a:t>
            </a:r>
            <a:r>
              <a:rPr lang="zh-CN" altLang="zh-CN" dirty="0"/>
              <a:t>．创建别名</a:t>
            </a:r>
            <a:r>
              <a:rPr lang="en-US" altLang="zh-CN" dirty="0"/>
              <a:t>  3. </a:t>
            </a:r>
            <a:r>
              <a:rPr lang="zh-CN" altLang="zh-CN" dirty="0"/>
              <a:t>使用别名</a:t>
            </a:r>
            <a:r>
              <a:rPr lang="en-US" altLang="zh-CN" dirty="0"/>
              <a:t>  4</a:t>
            </a:r>
            <a:r>
              <a:rPr lang="zh-CN" altLang="zh-CN" dirty="0"/>
              <a:t>．取消别名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1786255"/>
            <a:ext cx="11247755" cy="4745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命令行帮助系统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3.6 Linux</a:t>
            </a:r>
            <a:r>
              <a:rPr lang="zh-CN" altLang="en-US" dirty="0"/>
              <a:t>命令行帮助系统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man </a:t>
            </a:r>
            <a:r>
              <a:rPr lang="zh-CN" altLang="en-US" dirty="0"/>
              <a:t>命令获取帮助	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info</a:t>
            </a:r>
            <a:r>
              <a:rPr lang="zh-CN" altLang="en-US" dirty="0"/>
              <a:t>命令获取帮助	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--help</a:t>
            </a:r>
            <a:r>
              <a:rPr lang="zh-CN" altLang="en-US" dirty="0"/>
              <a:t>选项获取帮助	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commondata" val="eyJoZGlkIjoiMGVmMzkzNmEzMmU3NTFiMTgyMGNkZWM4ZjkxMTJhNTAifQ=="/>
</p:tagLst>
</file>

<file path=ppt/theme/theme1.xml><?xml version="1.0" encoding="utf-8"?>
<a:theme xmlns:a="http://schemas.openxmlformats.org/drawingml/2006/main" name="Linux@张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fs4aqc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1603</Words>
  <Application>WPS 演示</Application>
  <PresentationFormat>宽屏</PresentationFormat>
  <Paragraphs>174</Paragraphs>
  <Slides>32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</vt:lpstr>
      <vt:lpstr>宋体</vt:lpstr>
      <vt:lpstr>Wingdings</vt:lpstr>
      <vt:lpstr>楷体</vt:lpstr>
      <vt:lpstr>Arial Narrow</vt:lpstr>
      <vt:lpstr>Calibri</vt:lpstr>
      <vt:lpstr>Arial Black</vt:lpstr>
      <vt:lpstr>微软雅黑</vt:lpstr>
      <vt:lpstr>楷体_GB2312</vt:lpstr>
      <vt:lpstr>新宋体</vt:lpstr>
      <vt:lpstr>Arial Unicode MS</vt:lpstr>
      <vt:lpstr>Linux@张平</vt:lpstr>
      <vt:lpstr>Visio.Drawing.11</vt:lpstr>
      <vt:lpstr>Linux命令行基础</vt:lpstr>
      <vt:lpstr>第3章 Linux命令行基础</vt:lpstr>
      <vt:lpstr>Linux Shell概述 </vt:lpstr>
      <vt:lpstr>3.1 Linux Shell概述</vt:lpstr>
      <vt:lpstr>3.1 Linux Shell概述</vt:lpstr>
      <vt:lpstr>打开Linux命令行界面 </vt:lpstr>
      <vt:lpstr> 3.2 打开Linux命令行界面</vt:lpstr>
      <vt:lpstr>使用文本模式</vt:lpstr>
      <vt:lpstr>关闭和重启系统</vt:lpstr>
      <vt:lpstr>命令行界面简介 </vt:lpstr>
      <vt:lpstr>3.3 命令行界面简介	</vt:lpstr>
      <vt:lpstr>命令行界面简介</vt:lpstr>
      <vt:lpstr>使用终端仿真器执行linux命令。</vt:lpstr>
      <vt:lpstr>使用root权限</vt:lpstr>
      <vt:lpstr>Shell的基本用法 </vt:lpstr>
      <vt:lpstr>3.4 Shell的基本用法</vt:lpstr>
      <vt:lpstr>3.4.1 Linux命令语法格式</vt:lpstr>
      <vt:lpstr>3.4.2 命令自动补全</vt:lpstr>
      <vt:lpstr>3.4.3 强制中断命令运行</vt:lpstr>
      <vt:lpstr>3.4.4 命令历史记录</vt:lpstr>
      <vt:lpstr>3.4.4 命令历史记录</vt:lpstr>
      <vt:lpstr>3.4.4 命令历史记录</vt:lpstr>
      <vt:lpstr>Shell高阶技巧 </vt:lpstr>
      <vt:lpstr>3.5 Shell高阶技巧	</vt:lpstr>
      <vt:lpstr>3.5.1 管道</vt:lpstr>
      <vt:lpstr>3.5.2 重定向</vt:lpstr>
      <vt:lpstr>3.5.2 重定向</vt:lpstr>
      <vt:lpstr>3.5.3 命令排列	</vt:lpstr>
      <vt:lpstr>3.5.6 命令别名</vt:lpstr>
      <vt:lpstr>Linux命令行帮助系统 </vt:lpstr>
      <vt:lpstr>3.6 Linux命令行帮助系统	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Linux发行版</dc:title>
  <dc:creator>John</dc:creator>
  <cp:lastModifiedBy>李莉</cp:lastModifiedBy>
  <cp:revision>85</cp:revision>
  <dcterms:created xsi:type="dcterms:W3CDTF">2019-07-09T12:44:00Z</dcterms:created>
  <dcterms:modified xsi:type="dcterms:W3CDTF">2024-10-11T14:33:50Z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479D5FCA3D8040CF9DB0BFC23FAA3355_12</vt:lpwstr>
  </property>
  <property fmtid="{D5CDD505-2E9C-101B-9397-08002B2CF9AE}" pid="3" name="KSOProductBuildVer">
    <vt:lpwstr>2052-12.1.0.18276</vt:lpwstr>
  </property>
</Properties>
</file>