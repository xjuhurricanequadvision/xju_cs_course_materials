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7"/>
  </p:notesMasterIdLst>
  <p:sldIdLst>
    <p:sldId id="256" r:id="rId3"/>
    <p:sldId id="307" r:id="rId4"/>
    <p:sldId id="471" r:id="rId5"/>
    <p:sldId id="472" r:id="rId6"/>
    <p:sldId id="473" r:id="rId7"/>
    <p:sldId id="474" r:id="rId8"/>
    <p:sldId id="545" r:id="rId9"/>
    <p:sldId id="546" r:id="rId10"/>
    <p:sldId id="475" r:id="rId11"/>
    <p:sldId id="476" r:id="rId12"/>
    <p:sldId id="477" r:id="rId13"/>
    <p:sldId id="478" r:id="rId14"/>
    <p:sldId id="479" r:id="rId15"/>
    <p:sldId id="547" r:id="rId16"/>
    <p:sldId id="480" r:id="rId17"/>
    <p:sldId id="620" r:id="rId18"/>
    <p:sldId id="481" r:id="rId19"/>
    <p:sldId id="621" r:id="rId20"/>
    <p:sldId id="548" r:id="rId21"/>
    <p:sldId id="482" r:id="rId22"/>
    <p:sldId id="483" r:id="rId23"/>
    <p:sldId id="549" r:id="rId24"/>
    <p:sldId id="484" r:id="rId25"/>
    <p:sldId id="485" r:id="rId26"/>
    <p:sldId id="486" r:id="rId27"/>
    <p:sldId id="487" r:id="rId28"/>
    <p:sldId id="488" r:id="rId29"/>
    <p:sldId id="490" r:id="rId30"/>
    <p:sldId id="491" r:id="rId31"/>
    <p:sldId id="492" r:id="rId32"/>
    <p:sldId id="493" r:id="rId33"/>
    <p:sldId id="494" r:id="rId34"/>
    <p:sldId id="495" r:id="rId35"/>
    <p:sldId id="728" r:id="rId36"/>
  </p:sldIdLst>
  <p:sldSz cx="9144000" cy="6858000" type="screen4x3"/>
  <p:notesSz cx="6858000" cy="9144000"/>
  <p:custDataLst>
    <p:tags r:id="rId41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7" userDrawn="1">
          <p15:clr>
            <a:srgbClr val="A4A3A4"/>
          </p15:clr>
        </p15:guide>
        <p15:guide id="2" pos="2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8468" autoAdjust="0"/>
  </p:normalViewPr>
  <p:slideViewPr>
    <p:cSldViewPr showGuides="1">
      <p:cViewPr varScale="1">
        <p:scale>
          <a:sx n="78" d="100"/>
          <a:sy n="78" d="100"/>
        </p:scale>
        <p:origin x="-1541" y="-62"/>
      </p:cViewPr>
      <p:guideLst>
        <p:guide orient="horz" pos="2257"/>
        <p:guide pos="29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32" y="-78"/>
      </p:cViewPr>
      <p:guideLst>
        <p:guide orient="horz" pos="3009"/>
        <p:guide pos="21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gs" Target="tags/tag4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6E94F61-7344-47AC-9404-8B8611873CD5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D3C6AC7-C646-4D7E-AD4D-0486F939BF0F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32099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6633"/>
              </a:buClr>
              <a:buFont typeface="Wingdings" panose="05000000000000000000" charset="0"/>
              <a:buChar char="Ø"/>
              <a:defRPr/>
            </a:lvl1pPr>
            <a:lvl2pPr>
              <a:buClr>
                <a:srgbClr val="006633"/>
              </a:buClr>
              <a:buFont typeface="Wingdings" panose="05000000000000000000" charset="0"/>
              <a:buChar char="Ø"/>
              <a:defRPr/>
            </a:lvl2pPr>
            <a:lvl3pPr>
              <a:buClr>
                <a:srgbClr val="006633"/>
              </a:buClr>
              <a:buFont typeface="Wingdings" panose="05000000000000000000" charset="0"/>
              <a:buChar char="Ø"/>
              <a:defRPr/>
            </a:lvl3pPr>
            <a:lvl4pPr>
              <a:buClr>
                <a:srgbClr val="006633"/>
              </a:buClr>
              <a:buFont typeface="Wingdings" panose="05000000000000000000" charset="0"/>
              <a:buChar char="Ø"/>
              <a:defRPr/>
            </a:lvl4pPr>
            <a:lvl5pPr>
              <a:buClr>
                <a:srgbClr val="006633"/>
              </a:buClr>
              <a:buFont typeface="Wingdings" panose="05000000000000000000" charset="0"/>
              <a:buChar char="Ø"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8078470" y="70675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/>
          <a:p>
            <a:pPr lvl="0" fontAlgn="base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/>
          <a:p>
            <a:pPr lvl="0" fontAlgn="base"/>
            <a:endParaRPr 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/>
          <a:p>
            <a:pPr lvl="0" fontAlgn="base"/>
            <a:fld id="{9A0DB2DC-4C9A-4742-B13C-FB6460FD3503}" type="slidenum">
              <a:rPr lang="en-US" altLang="zh-CN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33" name="Picture 10" descr="C:\Users\osmond\Desktop\centos5-fig\centos-logo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33337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5000"/>
        <a:buFont typeface="Wingdings" panose="05000000000000000000" charset="0"/>
        <a:buChar char="Ø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0000"/>
        <a:buFont typeface="Wingdings" panose="05000000000000000000" charset="0"/>
        <a:buChar char="Ø"/>
        <a:defRPr sz="2600">
          <a:solidFill>
            <a:schemeClr val="tx1"/>
          </a:solidFill>
          <a:latin typeface="+mn-lt"/>
          <a:ea typeface="+mn-ea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65000"/>
        <a:buFont typeface="Wingdings" panose="05000000000000000000" charset="0"/>
        <a:buChar char="Ø"/>
        <a:defRPr sz="2200">
          <a:solidFill>
            <a:schemeClr val="tx1"/>
          </a:solidFill>
          <a:latin typeface="+mn-lt"/>
          <a:ea typeface="+mn-ea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70000"/>
        <a:buFont typeface="Wingdings" panose="05000000000000000000" charset="0"/>
        <a:buChar char="Ø"/>
        <a:defRPr sz="2000">
          <a:solidFill>
            <a:schemeClr val="tx1"/>
          </a:solidFill>
          <a:latin typeface="+mn-lt"/>
          <a:ea typeface="+mn-ea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rgbClr val="006633"/>
        </a:buClr>
        <a:buSzPct val="75000"/>
        <a:buFont typeface="Wingdings" panose="05000000000000000000" charset="0"/>
        <a:buChar char="Ø"/>
        <a:defRPr sz="2000">
          <a:solidFill>
            <a:schemeClr val="tx1"/>
          </a:solidFill>
          <a:latin typeface="+mn-lt"/>
          <a:ea typeface="+mn-ea"/>
        </a:defRPr>
      </a:lvl5pPr>
      <a:lvl6pPr marL="21386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8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30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10280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3073"/>
          <p:cNvSpPr>
            <a:spLocks noGrp="1"/>
          </p:cNvSpPr>
          <p:nvPr>
            <p:ph type="title"/>
          </p:nvPr>
        </p:nvSpPr>
        <p:spPr>
          <a:xfrm>
            <a:off x="827405" y="2204720"/>
            <a:ext cx="8013065" cy="1071245"/>
          </a:xfrm>
        </p:spPr>
        <p:txBody>
          <a:bodyPr anchor="b"/>
          <a:p>
            <a:pPr algn="l"/>
            <a:r>
              <a:rPr lang="en-US" altLang="zh-CN" sz="4800" b="1" dirty="0"/>
              <a:t>  </a:t>
            </a:r>
            <a:r>
              <a:rPr lang="zh-CN" altLang="en-US" sz="4800" b="1" dirty="0"/>
              <a:t>第</a:t>
            </a:r>
            <a:r>
              <a:rPr lang="en-US" altLang="zh-CN" sz="4800" b="1" dirty="0"/>
              <a:t> 02 </a:t>
            </a:r>
            <a:r>
              <a:rPr lang="zh-CN" altLang="en-US" sz="4800" b="1" dirty="0"/>
              <a:t>章   </a:t>
            </a:r>
            <a:r>
              <a:rPr lang="en-US" altLang="zh-CN" sz="4800" b="1" dirty="0"/>
              <a:t>   Linux </a:t>
            </a:r>
            <a:r>
              <a:rPr lang="zh-CN" altLang="en-US" sz="4800" b="1" dirty="0"/>
              <a:t>基础</a:t>
            </a:r>
            <a:endParaRPr lang="zh-CN" altLang="en-US" sz="4800" b="1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564765"/>
            <a:ext cx="7772400" cy="78359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一、</a:t>
            </a:r>
            <a:r>
              <a:rPr lang="en-US" altLang="zh-CN" dirty="0">
                <a:sym typeface="+mn-ea"/>
              </a:rPr>
              <a:t> Linux</a:t>
            </a:r>
            <a:r>
              <a:rPr lang="zh-CN" altLang="en-US" dirty="0">
                <a:sym typeface="+mn-ea"/>
              </a:rPr>
              <a:t>文件系统简介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占位符 3074"/>
          <p:cNvSpPr>
            <a:spLocks noGrp="1"/>
          </p:cNvSpPr>
          <p:nvPr>
            <p:ph idx="1"/>
          </p:nvPr>
        </p:nvSpPr>
        <p:spPr>
          <a:xfrm>
            <a:off x="395605" y="1700530"/>
            <a:ext cx="8229600" cy="4530725"/>
          </a:xfrm>
        </p:spPr>
        <p:txBody>
          <a:bodyPr anchor="t"/>
          <a:lstStyle/>
          <a:p>
            <a:pPr marL="0" indent="0">
              <a:buNone/>
            </a:pPr>
            <a:r>
              <a:rPr lang="zh-CN" altLang="en-US" sz="280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在 </a:t>
            </a:r>
            <a:r>
              <a:rPr lang="en-US" altLang="zh-CN" sz="280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Linux </a:t>
            </a:r>
            <a:r>
              <a:rPr lang="zh-CN" altLang="en-US" sz="2800" smtClean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系统上划分了分区之后，还要在分区上创建文件系统。</a:t>
            </a:r>
            <a:endParaRPr lang="en-US" altLang="zh-CN" sz="2800" smtClean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Linux 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下创建文件系统的操作相当于 </a:t>
            </a: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Windows 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下的磁盘格式化操作。 </a:t>
            </a:r>
            <a:endParaRPr lang="zh-CN" altLang="en-US" sz="280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Windows 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系统常用的文件系统类型为 </a:t>
            </a: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FAT32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NTFS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。</a:t>
            </a:r>
            <a:endParaRPr lang="en-US" altLang="zh-CN" sz="280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eaLnBrk="1" hangingPunct="1">
              <a:buFont typeface="Wingdings" panose="05000000000000000000" charset="0"/>
              <a:buChar char="Ø"/>
            </a:pP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Linux 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下常用的文件系统类型为：</a:t>
            </a: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ext2/3/4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XFS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JFS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、</a:t>
            </a:r>
            <a:r>
              <a:rPr lang="en-US" altLang="zh-CN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ReiserFS </a:t>
            </a:r>
            <a:r>
              <a:rPr lang="zh-CN" altLang="en-US" sz="280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等。</a:t>
            </a:r>
            <a:endParaRPr lang="zh-CN" altLang="en-US" sz="280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buNone/>
            </a:pPr>
            <a:endParaRPr lang="zh-CN" altLang="en-US" sz="28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467995" y="560388"/>
            <a:ext cx="8229600" cy="1139825"/>
          </a:xfrm>
        </p:spPr>
        <p:txBody>
          <a:bodyPr/>
          <a:p>
            <a:pPr eaLnBrk="1" hangingPunct="1"/>
            <a:r>
              <a:rPr lang="zh-CN" altLang="en-US" b="1" smtClean="0"/>
              <a:t>文件系统</a:t>
            </a:r>
            <a:r>
              <a:rPr lang="en-US" altLang="zh-CN" b="1" smtClean="0"/>
              <a:t> </a:t>
            </a:r>
            <a:endParaRPr lang="en-US" altLang="zh-CN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409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>
                <a:sym typeface="+mn-ea"/>
              </a:rPr>
              <a:t>1</a:t>
            </a:r>
            <a:r>
              <a:rPr lang="zh-CN" altLang="en-US" b="1" dirty="0">
                <a:sym typeface="+mn-ea"/>
              </a:rPr>
              <a:t>、文件系统基础</a:t>
            </a:r>
            <a:r>
              <a:rPr lang="zh-CN" altLang="en-US" dirty="0">
                <a:sym typeface="+mn-ea"/>
              </a:rPr>
              <a:t> </a:t>
            </a:r>
            <a:endParaRPr lang="zh-CN" altLang="en-US" b="1" dirty="0"/>
          </a:p>
        </p:txBody>
      </p:sp>
      <p:sp>
        <p:nvSpPr>
          <p:cNvPr id="5122" name="文本占位符 4098"/>
          <p:cNvSpPr>
            <a:spLocks noGrp="1"/>
          </p:cNvSpPr>
          <p:nvPr>
            <p:ph idx="1"/>
          </p:nvPr>
        </p:nvSpPr>
        <p:spPr>
          <a:xfrm>
            <a:off x="457200" y="1628775"/>
            <a:ext cx="8229600" cy="2908935"/>
          </a:xfrm>
        </p:spPr>
        <p:txBody>
          <a:bodyPr anchor="t"/>
          <a:lstStyle/>
          <a:p>
            <a:pPr>
              <a:buFont typeface="Wingdings" panose="05000000000000000000" charset="0"/>
              <a:buChar char="Ø"/>
            </a:pPr>
            <a:r>
              <a:rPr lang="zh-CN" altLang="en-US" b="1" dirty="0">
                <a:sym typeface="+mn-ea"/>
              </a:rPr>
              <a:t>文件</a:t>
            </a:r>
            <a:endParaRPr lang="zh-CN" altLang="en-US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b="1" dirty="0">
                <a:sym typeface="+mn-ea"/>
              </a:rPr>
              <a:t>目录</a:t>
            </a:r>
            <a:endParaRPr lang="zh-CN" altLang="en-US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b="1" dirty="0">
                <a:sym typeface="+mn-ea"/>
              </a:rPr>
              <a:t>文件名</a:t>
            </a:r>
            <a:endParaRPr lang="zh-CN" altLang="en-US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b="1" dirty="0">
                <a:sym typeface="+mn-ea"/>
              </a:rPr>
              <a:t>路径名</a:t>
            </a:r>
            <a:endParaRPr lang="zh-CN" altLang="en-US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b="1" dirty="0">
                <a:sym typeface="+mn-ea"/>
              </a:rPr>
              <a:t>当前工作目录</a:t>
            </a:r>
            <a:endParaRPr lang="zh-CN" altLang="en-US" b="1" dirty="0"/>
          </a:p>
          <a:p>
            <a:pPr>
              <a:buNone/>
            </a:pPr>
            <a:endParaRPr lang="zh-CN" altLang="en-US" dirty="0"/>
          </a:p>
          <a:p>
            <a:pPr lvl="1">
              <a:buFont typeface="Wingdings" panose="05000000000000000000" charset="0"/>
              <a:buChar char="Ø"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占位符 18434"/>
          <p:cNvSpPr>
            <a:spLocks noGrp="1"/>
          </p:cNvSpPr>
          <p:nvPr>
            <p:ph idx="1"/>
          </p:nvPr>
        </p:nvSpPr>
        <p:spPr>
          <a:xfrm>
            <a:off x="395605" y="1052830"/>
            <a:ext cx="8229600" cy="4530725"/>
          </a:xfrm>
        </p:spPr>
        <p:txBody>
          <a:bodyPr anchor="t"/>
          <a:lstStyle/>
          <a:p>
            <a:pPr marL="179705" lvl="1" indent="0">
              <a:buNone/>
            </a:pPr>
            <a:r>
              <a:rPr lang="zh-CN" altLang="en-US" sz="42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2、文件的成分</a:t>
            </a:r>
            <a:r>
              <a:rPr lang="zh-CN" altLang="en-US" dirty="0"/>
              <a:t> </a:t>
            </a:r>
            <a:endParaRPr lang="zh-CN" altLang="en-US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b="1" dirty="0"/>
              <a:t>索引节点</a:t>
            </a:r>
            <a:endParaRPr lang="zh-CN" altLang="en-US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b="1" dirty="0"/>
              <a:t>数据</a:t>
            </a:r>
            <a:endParaRPr lang="zh-CN" altLang="en-US" b="1" dirty="0"/>
          </a:p>
          <a:p>
            <a:pPr marL="636905" lvl="1" indent="-457200">
              <a:buNone/>
            </a:pPr>
            <a:endParaRPr lang="zh-CN" altLang="en-US" dirty="0"/>
          </a:p>
          <a:p>
            <a:pPr marL="179705" lvl="1" indent="0">
              <a:buNone/>
            </a:pPr>
            <a:endParaRPr lang="zh-CN" altLang="en-US" sz="2800" b="1" dirty="0"/>
          </a:p>
          <a:p>
            <a:pPr marL="179705" lvl="1" indent="0">
              <a:buNone/>
            </a:pP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文本占位符 20481"/>
          <p:cNvSpPr>
            <a:spLocks noGrp="1"/>
          </p:cNvSpPr>
          <p:nvPr>
            <p:ph idx="1"/>
          </p:nvPr>
        </p:nvSpPr>
        <p:spPr>
          <a:xfrm>
            <a:off x="457200" y="908685"/>
            <a:ext cx="8229600" cy="4779645"/>
          </a:xfrm>
        </p:spPr>
        <p:txBody>
          <a:bodyPr anchor="t"/>
          <a:lstStyle/>
          <a:p>
            <a:pPr marL="179705" lvl="1" indent="0">
              <a:buNone/>
            </a:pPr>
            <a:r>
              <a:rPr lang="zh-CN" altLang="en-US" sz="4200" b="1" dirty="0">
                <a:solidFill>
                  <a:schemeClr val="tx2"/>
                </a:solidFill>
                <a:latin typeface="+mj-lt"/>
                <a:ea typeface="+mj-ea"/>
                <a:cs typeface="+mj-cs"/>
                <a:sym typeface="+mn-ea"/>
              </a:rPr>
              <a:t>3、文件的命名</a:t>
            </a:r>
            <a:endParaRPr lang="zh-CN" altLang="en-US" sz="4200" b="1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 sz="2600" b="1" dirty="0">
                <a:sym typeface="+mn-ea"/>
              </a:rPr>
              <a:t>尽量简捷有效</a:t>
            </a:r>
            <a:endParaRPr lang="zh-CN" altLang="en-US" sz="2600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sz="2600" b="1" dirty="0">
                <a:sym typeface="+mn-ea"/>
              </a:rPr>
              <a:t>不要用斜线（</a:t>
            </a:r>
            <a:r>
              <a:rPr lang="en-US" altLang="zh-CN" sz="2600" b="1" dirty="0">
                <a:sym typeface="+mn-ea"/>
              </a:rPr>
              <a:t>/</a:t>
            </a:r>
            <a:r>
              <a:rPr lang="zh-CN" altLang="en-US" sz="2600" b="1" dirty="0">
                <a:sym typeface="+mn-ea"/>
              </a:rPr>
              <a:t>）和空字符（</a:t>
            </a:r>
            <a:r>
              <a:rPr lang="en-US" altLang="zh-CN" sz="2600" b="1" dirty="0">
                <a:sym typeface="+mn-ea"/>
              </a:rPr>
              <a:t>ASCII</a:t>
            </a:r>
            <a:r>
              <a:rPr lang="zh-CN" altLang="en-US" sz="2600" b="1" dirty="0">
                <a:sym typeface="+mn-ea"/>
              </a:rPr>
              <a:t>字符</a:t>
            </a:r>
            <a:r>
              <a:rPr lang="en-US" altLang="zh-CN" sz="2600" b="1" dirty="0">
                <a:sym typeface="+mn-ea"/>
              </a:rPr>
              <a:t>\0</a:t>
            </a:r>
            <a:r>
              <a:rPr lang="zh-CN" altLang="en-US" sz="2600" b="1" dirty="0">
                <a:sym typeface="+mn-ea"/>
              </a:rPr>
              <a:t>）</a:t>
            </a:r>
            <a:endParaRPr lang="zh-CN" altLang="en-US" sz="2600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sz="2600" b="1" dirty="0">
                <a:latin typeface="宋体" panose="02010600030101010101" pitchFamily="2" charset="-122"/>
              </a:rPr>
              <a:t>习惯上允许使用下线符（</a:t>
            </a:r>
            <a:r>
              <a:rPr lang="en-US" altLang="zh-CN" sz="2600" b="1" dirty="0">
                <a:latin typeface="宋体" panose="02010600030101010101" pitchFamily="2" charset="-122"/>
              </a:rPr>
              <a:t>_</a:t>
            </a:r>
            <a:r>
              <a:rPr lang="zh-CN" altLang="en-US" sz="2600" b="1" dirty="0">
                <a:latin typeface="宋体" panose="02010600030101010101" pitchFamily="2" charset="-122"/>
              </a:rPr>
              <a:t>）和句点（</a:t>
            </a:r>
            <a:r>
              <a:rPr lang="en-US" altLang="zh-CN" sz="2600" b="1" dirty="0">
                <a:latin typeface="宋体" panose="02010600030101010101" pitchFamily="2" charset="-122"/>
              </a:rPr>
              <a:t>.</a:t>
            </a:r>
            <a:r>
              <a:rPr lang="zh-CN" altLang="en-US" sz="2600" b="1" dirty="0">
                <a:latin typeface="宋体" panose="02010600030101010101" pitchFamily="2" charset="-122"/>
              </a:rPr>
              <a:t>）来区别文件的类型</a:t>
            </a:r>
            <a:r>
              <a:rPr lang="zh-CN" altLang="en-US" sz="2600" b="1" dirty="0"/>
              <a:t> ，但是应避免使用以下有特殊含义的字符：</a:t>
            </a:r>
            <a:endParaRPr lang="zh-CN" altLang="en-US" sz="2600" b="1" dirty="0"/>
          </a:p>
          <a:p>
            <a:pPr marL="0" indent="0">
              <a:buNone/>
            </a:pPr>
            <a:r>
              <a:rPr lang="zh-CN" altLang="en-US" sz="2600" b="1" dirty="0"/>
              <a:t>      </a:t>
            </a:r>
            <a:r>
              <a:rPr lang="en-US" altLang="zh-CN" sz="2600" b="1" dirty="0"/>
              <a:t>;   |   &lt;  &gt;   ˋ   ″   ′  $    </a:t>
            </a:r>
            <a:r>
              <a:rPr lang="zh-CN" altLang="en-US" sz="2600" b="1" dirty="0"/>
              <a:t>！  </a:t>
            </a:r>
            <a:r>
              <a:rPr lang="en-US" altLang="zh-CN" sz="2600" b="1" dirty="0"/>
              <a:t>%   &amp;   *   ?   \   (   )   [   ]</a:t>
            </a:r>
            <a:endParaRPr lang="en-US" altLang="zh-CN" sz="2600" b="1" dirty="0"/>
          </a:p>
          <a:p>
            <a:pPr>
              <a:buFont typeface="Wingdings" panose="05000000000000000000" charset="0"/>
              <a:buChar char="Ø"/>
            </a:pPr>
            <a:r>
              <a:rPr lang="zh-CN" altLang="en-US" sz="2600" b="1" dirty="0">
                <a:latin typeface="宋体" panose="02010600030101010101" pitchFamily="2" charset="-122"/>
              </a:rPr>
              <a:t>同类文件应使用同样的后缀或扩展名 </a:t>
            </a:r>
            <a:endParaRPr lang="zh-CN" altLang="en-US" sz="2600" b="1" dirty="0">
              <a:latin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2600" b="1" dirty="0">
                <a:latin typeface="宋体" panose="02010600030101010101" pitchFamily="2" charset="-122"/>
              </a:rPr>
              <a:t>Linux</a:t>
            </a:r>
            <a:r>
              <a:rPr lang="zh-CN" altLang="en-US" sz="2600" b="1" dirty="0">
                <a:latin typeface="宋体" panose="02010600030101010101" pitchFamily="2" charset="-122"/>
              </a:rPr>
              <a:t>系统区分文件名的大小写 </a:t>
            </a:r>
            <a:endParaRPr lang="zh-CN" altLang="en-US" sz="2600" b="1" dirty="0">
              <a:latin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Ø"/>
            </a:pPr>
            <a:r>
              <a:rPr lang="zh-CN" altLang="en-US" sz="2600" b="1" dirty="0">
                <a:latin typeface="宋体" panose="02010600030101010101" pitchFamily="2" charset="-122"/>
              </a:rPr>
              <a:t>以圆点（</a:t>
            </a:r>
            <a:r>
              <a:rPr lang="en-US" altLang="zh-CN" sz="2600" b="1" dirty="0">
                <a:latin typeface="宋体" panose="02010600030101010101" pitchFamily="2" charset="-122"/>
              </a:rPr>
              <a:t>.</a:t>
            </a:r>
            <a:r>
              <a:rPr lang="zh-CN" altLang="en-US" sz="2600" b="1" dirty="0">
                <a:latin typeface="宋体" panose="02010600030101010101" pitchFamily="2" charset="-122"/>
              </a:rPr>
              <a:t>）开头的文件名是隐含文件</a:t>
            </a:r>
            <a:endParaRPr lang="zh-CN" altLang="en-US" sz="2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564765"/>
            <a:ext cx="7772400" cy="78359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二、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LINUX 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系统目录结构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 descr="1——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908685"/>
            <a:ext cx="8259445" cy="4445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24577"/>
          <p:cNvSpPr>
            <a:spLocks noGrp="1"/>
          </p:cNvSpPr>
          <p:nvPr>
            <p:ph type="title"/>
          </p:nvPr>
        </p:nvSpPr>
        <p:spPr>
          <a:xfrm>
            <a:off x="755650" y="549275"/>
            <a:ext cx="7772400" cy="1143000"/>
          </a:xfrm>
        </p:spPr>
        <p:txBody>
          <a:bodyPr anchor="b"/>
          <a:lstStyle/>
          <a:p>
            <a:br>
              <a:rPr lang="en-US" altLang="zh-CN" sz="4100" b="1" dirty="0"/>
            </a:br>
            <a:br>
              <a:rPr lang="en-US" altLang="zh-CN" sz="4100" b="1" dirty="0"/>
            </a:br>
            <a:br>
              <a:rPr lang="en-US" altLang="zh-CN" sz="4100" b="1" dirty="0"/>
            </a:br>
            <a:br>
              <a:rPr lang="en-US" altLang="zh-CN" sz="4100" b="1" dirty="0"/>
            </a:br>
            <a:br>
              <a:rPr lang="en-US" altLang="zh-CN" sz="4100" b="1" dirty="0"/>
            </a:br>
            <a:br>
              <a:rPr lang="en-US" altLang="zh-CN" sz="4100" b="1" dirty="0"/>
            </a:br>
            <a:br>
              <a:rPr lang="en-US" altLang="zh-CN" sz="4100" b="1" dirty="0"/>
            </a:br>
            <a:br>
              <a:rPr lang="en-US" altLang="zh-CN" sz="4100" b="1" dirty="0"/>
            </a:br>
            <a:br>
              <a:rPr lang="en-US" altLang="zh-CN" sz="4100" b="1" dirty="0"/>
            </a:br>
            <a:endParaRPr lang="en-US" altLang="zh-CN" sz="4100" b="1" dirty="0"/>
          </a:p>
        </p:txBody>
      </p:sp>
      <p:sp>
        <p:nvSpPr>
          <p:cNvPr id="24579" name="内容占位符 24578"/>
          <p:cNvSpPr>
            <a:spLocks noGrp="1"/>
          </p:cNvSpPr>
          <p:nvPr>
            <p:ph idx="1"/>
          </p:nvPr>
        </p:nvSpPr>
        <p:spPr>
          <a:xfrm>
            <a:off x="391160" y="1196975"/>
            <a:ext cx="8170545" cy="4997450"/>
          </a:xfrm>
        </p:spPr>
        <p:txBody>
          <a:bodyPr anchor="t"/>
          <a:lstStyle/>
          <a:p>
            <a:pPr>
              <a:lnSpc>
                <a:spcPct val="90000"/>
              </a:lnSpc>
              <a:buNone/>
            </a:pPr>
            <a:endParaRPr lang="en-US" altLang="zh-CN" sz="2600" b="1" dirty="0">
              <a:solidFill>
                <a:srgbClr val="000099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</a:rPr>
              <a:t>1</a:t>
            </a:r>
            <a:r>
              <a:rPr lang="zh-CN" altLang="en-US" sz="2600" b="1" dirty="0">
                <a:solidFill>
                  <a:schemeClr val="tx1"/>
                </a:solidFill>
              </a:rPr>
              <a:t>）</a:t>
            </a:r>
            <a:r>
              <a:rPr lang="en-US" altLang="zh-CN" sz="2600" b="1" dirty="0">
                <a:solidFill>
                  <a:schemeClr val="tx1"/>
                </a:solidFill>
              </a:rPr>
              <a:t>/bin </a:t>
            </a:r>
            <a:endParaRPr lang="en-US" altLang="zh-CN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存放着</a:t>
            </a:r>
            <a:r>
              <a:rPr lang="en-US" altLang="zh-CN" sz="2600" b="1" dirty="0" err="1">
                <a:solidFill>
                  <a:schemeClr val="tx1"/>
                </a:solidFill>
              </a:rPr>
              <a:t>linux</a:t>
            </a:r>
            <a:r>
              <a:rPr lang="zh-CN" altLang="en-US" sz="2600" b="1" dirty="0">
                <a:solidFill>
                  <a:schemeClr val="tx1"/>
                </a:solidFill>
              </a:rPr>
              <a:t>最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常用的基本命令，如</a:t>
            </a:r>
            <a:r>
              <a:rPr lang="en-US" altLang="zh-CN" sz="2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ls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, cd, </a:t>
            </a:r>
            <a:r>
              <a:rPr lang="en-US" altLang="zh-CN" sz="2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cp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, </a:t>
            </a:r>
            <a:r>
              <a:rPr lang="en-US" altLang="zh-CN" sz="2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mkdir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, date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cat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等 。</a:t>
            </a:r>
            <a:r>
              <a:rPr lang="zh-CN" altLang="en-US" sz="2600" b="1" dirty="0">
                <a:solidFill>
                  <a:schemeClr val="tx1"/>
                </a:solidFill>
              </a:rPr>
              <a:t> 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</a:rPr>
              <a:t>2</a:t>
            </a:r>
            <a:r>
              <a:rPr lang="zh-CN" altLang="en-US" sz="2600" b="1" dirty="0">
                <a:solidFill>
                  <a:schemeClr val="tx1"/>
                </a:solidFill>
              </a:rPr>
              <a:t>）</a:t>
            </a:r>
            <a:r>
              <a:rPr lang="en-US" altLang="zh-CN" sz="2600" b="1" dirty="0">
                <a:solidFill>
                  <a:schemeClr val="tx1"/>
                </a:solidFill>
              </a:rPr>
              <a:t>/</a:t>
            </a:r>
            <a:r>
              <a:rPr lang="en-US" altLang="zh-CN" sz="2600" b="1" dirty="0" err="1">
                <a:solidFill>
                  <a:schemeClr val="tx1"/>
                </a:solidFill>
              </a:rPr>
              <a:t>sbin</a:t>
            </a:r>
            <a:r>
              <a:rPr lang="en-US" altLang="zh-CN" sz="2600" b="1" dirty="0">
                <a:solidFill>
                  <a:schemeClr val="tx1"/>
                </a:solidFill>
              </a:rPr>
              <a:t> </a:t>
            </a:r>
            <a:endParaRPr lang="en-US" altLang="zh-CN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存放系统管理员的系统管理命令，如</a:t>
            </a:r>
            <a:r>
              <a:rPr lang="en-US" altLang="zh-CN" sz="2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fdisk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, </a:t>
            </a:r>
            <a:r>
              <a:rPr lang="en-US" altLang="zh-CN" sz="2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init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, </a:t>
            </a:r>
            <a:r>
              <a:rPr lang="en-US" altLang="zh-CN" sz="26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ifconfig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, reboot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等 。</a:t>
            </a:r>
            <a:endParaRPr lang="zh-CN" altLang="en-US" sz="26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sz="2600" b="1" dirty="0">
                <a:solidFill>
                  <a:schemeClr val="tx1"/>
                </a:solidFill>
              </a:rPr>
              <a:t>/lib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endParaRPr lang="en-US" altLang="zh-CN" sz="26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这个目录是用来存放系统最基本的动态连接库，几乎所有的应用程序都要用到这个目录中的共享库。 </a:t>
            </a:r>
            <a:r>
              <a:rPr lang="zh-CN" altLang="en-US" sz="2600" b="1" dirty="0">
                <a:solidFill>
                  <a:schemeClr val="tx1"/>
                </a:solidFill>
              </a:rPr>
              <a:t> </a:t>
            </a:r>
            <a:endParaRPr lang="zh-CN" altLang="en-US" sz="2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内容占位符 25602"/>
          <p:cNvSpPr>
            <a:spLocks noGrp="1"/>
          </p:cNvSpPr>
          <p:nvPr>
            <p:ph idx="1"/>
          </p:nvPr>
        </p:nvSpPr>
        <p:spPr>
          <a:xfrm>
            <a:off x="683895" y="1124585"/>
            <a:ext cx="7772400" cy="4924425"/>
          </a:xfrm>
        </p:spPr>
        <p:txBody>
          <a:bodyPr anchor="t"/>
          <a:lstStyle/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</a:rPr>
              <a:t>4</a:t>
            </a:r>
            <a:r>
              <a:rPr lang="zh-CN" altLang="en-US" sz="2600" b="1" dirty="0">
                <a:solidFill>
                  <a:schemeClr val="tx1"/>
                </a:solidFill>
              </a:rPr>
              <a:t>）</a:t>
            </a:r>
            <a:r>
              <a:rPr lang="en-US" altLang="zh-CN" sz="2600" b="1" dirty="0">
                <a:solidFill>
                  <a:schemeClr val="tx1"/>
                </a:solidFill>
              </a:rPr>
              <a:t>/root</a:t>
            </a:r>
            <a:endParaRPr lang="en-US" altLang="zh-CN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</a:rPr>
              <a:t>     </a:t>
            </a:r>
            <a:r>
              <a:rPr lang="zh-CN" altLang="en-US" sz="2600" b="1" dirty="0">
                <a:solidFill>
                  <a:schemeClr val="tx1"/>
                </a:solidFill>
              </a:rPr>
              <a:t>超级用户的主目录。 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</a:rPr>
              <a:t>5</a:t>
            </a:r>
            <a:r>
              <a:rPr lang="zh-CN" altLang="en-US" sz="2600" b="1" dirty="0">
                <a:solidFill>
                  <a:schemeClr val="tx1"/>
                </a:solidFill>
              </a:rPr>
              <a:t>） </a:t>
            </a:r>
            <a:r>
              <a:rPr lang="en-US" altLang="zh-CN" sz="2600" b="1" dirty="0">
                <a:solidFill>
                  <a:schemeClr val="tx1"/>
                </a:solidFill>
              </a:rPr>
              <a:t>/</a:t>
            </a:r>
            <a:r>
              <a:rPr lang="en-US" altLang="zh-CN" sz="2600" b="1" dirty="0" err="1">
                <a:solidFill>
                  <a:schemeClr val="tx1"/>
                </a:solidFill>
              </a:rPr>
              <a:t>dev</a:t>
            </a:r>
            <a:endParaRPr lang="en-US" altLang="zh-CN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</a:rPr>
              <a:t>     </a:t>
            </a:r>
            <a:r>
              <a:rPr lang="zh-CN" altLang="en-US" sz="2600" b="1" dirty="0">
                <a:solidFill>
                  <a:schemeClr val="tx1"/>
                </a:solidFill>
              </a:rPr>
              <a:t>该目录存放的是设备文件，这种文件与普通文件不同，没有真正的内容，只是各种设备的名称，用户像访问文件一样访问设备。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</a:rPr>
              <a:t>6</a:t>
            </a:r>
            <a:r>
              <a:rPr lang="zh-CN" altLang="en-US" sz="2600" b="1" dirty="0">
                <a:solidFill>
                  <a:schemeClr val="tx1"/>
                </a:solidFill>
              </a:rPr>
              <a:t>） </a:t>
            </a:r>
            <a:r>
              <a:rPr lang="en-US" altLang="zh-CN" sz="2600" b="1" dirty="0">
                <a:solidFill>
                  <a:schemeClr val="tx1"/>
                </a:solidFill>
              </a:rPr>
              <a:t>/</a:t>
            </a:r>
            <a:r>
              <a:rPr lang="en-US" altLang="zh-CN" sz="2600" b="1" dirty="0" err="1">
                <a:solidFill>
                  <a:schemeClr val="tx1"/>
                </a:solidFill>
              </a:rPr>
              <a:t>etc</a:t>
            </a:r>
            <a:endParaRPr lang="en-US" altLang="zh-CN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</a:rPr>
              <a:t>     </a:t>
            </a:r>
            <a:r>
              <a:rPr lang="zh-CN" altLang="en-US" sz="2600" b="1" dirty="0">
                <a:solidFill>
                  <a:schemeClr val="tx1"/>
                </a:solidFill>
              </a:rPr>
              <a:t>该目录是</a:t>
            </a:r>
            <a:r>
              <a:rPr lang="en-US" altLang="zh-CN" sz="2600" b="1" dirty="0" err="1">
                <a:solidFill>
                  <a:schemeClr val="tx1"/>
                </a:solidFill>
              </a:rPr>
              <a:t>linux</a:t>
            </a:r>
            <a:r>
              <a:rPr lang="zh-CN" altLang="en-US" sz="2600" b="1" dirty="0">
                <a:solidFill>
                  <a:schemeClr val="tx1"/>
                </a:solidFill>
              </a:rPr>
              <a:t>系统中最重要的目录之一，在这个目录下存放了网络配置文件，文件系统，</a:t>
            </a:r>
            <a:r>
              <a:rPr lang="en-US" altLang="zh-CN" sz="2600" b="1" dirty="0">
                <a:solidFill>
                  <a:schemeClr val="tx1"/>
                </a:solidFill>
              </a:rPr>
              <a:t>x</a:t>
            </a:r>
            <a:r>
              <a:rPr lang="zh-CN" altLang="en-US" sz="2600" b="1" dirty="0">
                <a:solidFill>
                  <a:schemeClr val="tx1"/>
                </a:solidFill>
              </a:rPr>
              <a:t>系统配置文件，设备配置信息，设置用户信息等都在这个目录下。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zh-CN" altLang="en-US" sz="2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内容占位符 26626"/>
          <p:cNvSpPr>
            <a:spLocks noGrp="1"/>
          </p:cNvSpPr>
          <p:nvPr>
            <p:ph idx="1"/>
          </p:nvPr>
        </p:nvSpPr>
        <p:spPr>
          <a:xfrm>
            <a:off x="457200" y="1124585"/>
            <a:ext cx="8229600" cy="4071620"/>
          </a:xfrm>
        </p:spPr>
        <p:txBody>
          <a:bodyPr anchor="t"/>
          <a:lstStyle/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</a:rPr>
              <a:t>7</a:t>
            </a:r>
            <a:r>
              <a:rPr lang="zh-CN" altLang="en-US" sz="2600" b="1" dirty="0">
                <a:solidFill>
                  <a:schemeClr val="tx1"/>
                </a:solidFill>
              </a:rPr>
              <a:t>）</a:t>
            </a:r>
            <a:r>
              <a:rPr lang="en-US" altLang="zh-CN" sz="2600" b="1">
                <a:solidFill>
                  <a:schemeClr val="tx1"/>
                </a:solidFill>
              </a:rPr>
              <a:t>/home</a:t>
            </a:r>
            <a:endParaRPr lang="en-US" altLang="zh-CN" sz="2600" b="1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</a:rPr>
              <a:t>     </a:t>
            </a:r>
            <a:r>
              <a:rPr lang="zh-CN" altLang="en-US" sz="2600" b="1" dirty="0">
                <a:solidFill>
                  <a:schemeClr val="tx1"/>
                </a:solidFill>
              </a:rPr>
              <a:t>如果我们建立一个用户，用户名是“</a:t>
            </a:r>
            <a:r>
              <a:rPr lang="en-US" altLang="zh-CN" sz="2600" b="1" dirty="0">
                <a:solidFill>
                  <a:schemeClr val="tx1"/>
                </a:solidFill>
              </a:rPr>
              <a:t>xx”,    </a:t>
            </a:r>
            <a:r>
              <a:rPr lang="zh-CN" altLang="en-US" sz="2600" b="1" dirty="0">
                <a:solidFill>
                  <a:schemeClr val="tx1"/>
                </a:solidFill>
              </a:rPr>
              <a:t>那么在</a:t>
            </a:r>
            <a:r>
              <a:rPr lang="en-US" altLang="zh-CN" sz="2600" b="1" dirty="0">
                <a:solidFill>
                  <a:schemeClr val="tx1"/>
                </a:solidFill>
              </a:rPr>
              <a:t>/home</a:t>
            </a:r>
            <a:r>
              <a:rPr lang="zh-CN" altLang="en-US" sz="2600" b="1" dirty="0">
                <a:solidFill>
                  <a:schemeClr val="tx1"/>
                </a:solidFill>
              </a:rPr>
              <a:t>目录下就有一个对应的 </a:t>
            </a:r>
            <a:r>
              <a:rPr lang="en-US" altLang="zh-CN" sz="2600" b="1" dirty="0">
                <a:solidFill>
                  <a:schemeClr val="tx1"/>
                </a:solidFill>
              </a:rPr>
              <a:t>/home/xx</a:t>
            </a:r>
            <a:r>
              <a:rPr lang="zh-CN" altLang="en-US" sz="2600" b="1" dirty="0">
                <a:solidFill>
                  <a:schemeClr val="tx1"/>
                </a:solidFill>
              </a:rPr>
              <a:t>路径，用来存放用户的主目录。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</a:rPr>
              <a:t>8</a:t>
            </a:r>
            <a:r>
              <a:rPr lang="zh-CN" altLang="en-US" sz="2600" b="1" dirty="0">
                <a:solidFill>
                  <a:schemeClr val="tx1"/>
                </a:solidFill>
              </a:rPr>
              <a:t>） </a:t>
            </a:r>
            <a:r>
              <a:rPr lang="en-US" altLang="zh-CN" sz="2600" b="1" err="1">
                <a:solidFill>
                  <a:schemeClr val="tx1"/>
                </a:solidFill>
              </a:rPr>
              <a:t>/usr</a:t>
            </a:r>
            <a:endParaRPr lang="en-US" altLang="zh-CN" sz="2600" b="1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</a:rPr>
              <a:t>     </a:t>
            </a:r>
            <a:r>
              <a:rPr lang="zh-CN" altLang="en-US" sz="2600" b="1" dirty="0">
                <a:solidFill>
                  <a:schemeClr val="tx1"/>
                </a:solidFill>
              </a:rPr>
              <a:t>这是</a:t>
            </a:r>
            <a:r>
              <a:rPr lang="en-US" altLang="zh-CN" sz="2600" b="1" err="1">
                <a:solidFill>
                  <a:schemeClr val="tx1"/>
                </a:solidFill>
              </a:rPr>
              <a:t>linux</a:t>
            </a:r>
            <a:r>
              <a:rPr lang="zh-CN" altLang="en-US" sz="2600" b="1" dirty="0">
                <a:solidFill>
                  <a:schemeClr val="tx1"/>
                </a:solidFill>
              </a:rPr>
              <a:t>系统中占用硬盘空间最大的目录。用户的很多应用程序和文件几乎都存放在这个目录下。这里有许多目录，</a:t>
            </a:r>
            <a:r>
              <a:rPr lang="en-US" altLang="zh-CN" sz="2600" b="1" err="1">
                <a:solidFill>
                  <a:schemeClr val="tx1"/>
                </a:solidFill>
              </a:rPr>
              <a:t>/usr</a:t>
            </a:r>
            <a:r>
              <a:rPr lang="en-US" altLang="zh-CN" sz="2600" b="1" dirty="0">
                <a:solidFill>
                  <a:schemeClr val="tx1"/>
                </a:solidFill>
              </a:rPr>
              <a:t>/bin</a:t>
            </a:r>
            <a:r>
              <a:rPr lang="zh-CN" altLang="en-US" sz="2600" b="1" dirty="0">
                <a:solidFill>
                  <a:schemeClr val="tx1"/>
                </a:solidFill>
              </a:rPr>
              <a:t>中存放软件包程序。如</a:t>
            </a:r>
            <a:r>
              <a:rPr lang="en-US" altLang="zh-CN" sz="2600" b="1" err="1">
                <a:solidFill>
                  <a:schemeClr val="tx1"/>
                </a:solidFill>
              </a:rPr>
              <a:t>bin, sbin, lib, src</a:t>
            </a:r>
            <a:r>
              <a:rPr lang="zh-CN" altLang="en-US" sz="2600" b="1" dirty="0">
                <a:solidFill>
                  <a:schemeClr val="tx1"/>
                </a:solidFill>
              </a:rPr>
              <a:t>， </a:t>
            </a:r>
            <a:r>
              <a:rPr lang="en-US" altLang="zh-CN" sz="2600" b="1" dirty="0">
                <a:solidFill>
                  <a:schemeClr val="tx1"/>
                </a:solidFill>
              </a:rPr>
              <a:t>X11R6</a:t>
            </a:r>
            <a:r>
              <a:rPr lang="zh-CN" altLang="en-US" sz="2600" b="1" dirty="0">
                <a:solidFill>
                  <a:schemeClr val="tx1"/>
                </a:solidFill>
              </a:rPr>
              <a:t>等。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 </a:t>
            </a:r>
            <a:endParaRPr lang="zh-CN" altLang="en-US" sz="2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文本占位符 27650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601085"/>
          </a:xfrm>
        </p:spPr>
        <p:txBody>
          <a:bodyPr anchor="t"/>
          <a:lstStyle/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  <a:r>
              <a:rPr lang="en-US" altLang="zh-CN" b="1" err="1">
                <a:solidFill>
                  <a:schemeClr val="tx1"/>
                </a:solidFill>
              </a:rPr>
              <a:t>/var</a:t>
            </a:r>
            <a:endParaRPr lang="en-US" altLang="zh-CN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    </a:t>
            </a:r>
            <a:r>
              <a:rPr lang="zh-CN" altLang="en-US" b="1" dirty="0">
                <a:solidFill>
                  <a:schemeClr val="tx1"/>
                </a:solidFill>
              </a:rPr>
              <a:t>系统记帐信息，日志文件。</a:t>
            </a:r>
            <a:r>
              <a:rPr lang="zh-CN" altLang="en-US" dirty="0">
                <a:solidFill>
                  <a:schemeClr val="tx1"/>
                </a:solidFill>
              </a:rPr>
              <a:t>  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10</a:t>
            </a:r>
            <a:r>
              <a:rPr lang="zh-CN" altLang="en-US" b="1" dirty="0">
                <a:solidFill>
                  <a:schemeClr val="tx1"/>
                </a:solidFill>
              </a:rPr>
              <a:t>）</a:t>
            </a:r>
            <a:r>
              <a:rPr lang="en-US" altLang="zh-CN" b="1">
                <a:solidFill>
                  <a:schemeClr val="tx1"/>
                </a:solidFill>
              </a:rPr>
              <a:t>/boot</a:t>
            </a:r>
            <a:endParaRPr lang="en-US" altLang="zh-CN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    </a:t>
            </a:r>
            <a:r>
              <a:rPr lang="zh-CN" altLang="en-US" b="1" dirty="0">
                <a:solidFill>
                  <a:schemeClr val="tx1"/>
                </a:solidFill>
              </a:rPr>
              <a:t>在这个目录下存放的都是系统启动时要用到的程序。我们在使用</a:t>
            </a:r>
            <a:r>
              <a:rPr lang="en-US" altLang="zh-CN" b="1" dirty="0">
                <a:solidFill>
                  <a:schemeClr val="tx1"/>
                </a:solidFill>
              </a:rPr>
              <a:t>grub</a:t>
            </a:r>
            <a:r>
              <a:rPr lang="zh-CN" altLang="en-US" b="1" dirty="0">
                <a:solidFill>
                  <a:schemeClr val="tx1"/>
                </a:solidFill>
              </a:rPr>
              <a:t>或</a:t>
            </a:r>
            <a:r>
              <a:rPr lang="en-US" altLang="zh-CN" b="1" err="1">
                <a:solidFill>
                  <a:schemeClr val="tx1"/>
                </a:solidFill>
              </a:rPr>
              <a:t>lilo</a:t>
            </a:r>
            <a:r>
              <a:rPr lang="zh-CN" altLang="en-US" b="1" dirty="0">
                <a:solidFill>
                  <a:schemeClr val="tx1"/>
                </a:solidFill>
              </a:rPr>
              <a:t>引导</a:t>
            </a:r>
            <a:r>
              <a:rPr lang="en-US" altLang="zh-CN" b="1" err="1">
                <a:solidFill>
                  <a:schemeClr val="tx1"/>
                </a:solidFill>
              </a:rPr>
              <a:t>linux</a:t>
            </a:r>
            <a:r>
              <a:rPr lang="zh-CN" altLang="en-US" b="1" dirty="0">
                <a:solidFill>
                  <a:schemeClr val="tx1"/>
                </a:solidFill>
              </a:rPr>
              <a:t>的时候，会用到这里的一些信息。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" grpId="0" build="p"/>
      <p:bldP spid="11265" grpI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内容占位符 2867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87775"/>
          </a:xfrm>
        </p:spPr>
        <p:txBody>
          <a:bodyPr anchor="t"/>
          <a:lstStyle/>
          <a:p>
            <a:pPr>
              <a:lnSpc>
                <a:spcPct val="80000"/>
              </a:lnSpc>
              <a:buNone/>
            </a:pPr>
            <a:r>
              <a:rPr lang="en-US" altLang="zh-CN" sz="2600" b="1" dirty="0">
                <a:solidFill>
                  <a:srgbClr val="000066"/>
                </a:solidFill>
              </a:rPr>
              <a:t> </a:t>
            </a:r>
            <a:r>
              <a:rPr lang="zh-CN" altLang="en-US" sz="2600" b="1" dirty="0">
                <a:solidFill>
                  <a:schemeClr val="tx1"/>
                </a:solidFill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</a:rPr>
              <a:t>11</a:t>
            </a:r>
            <a:r>
              <a:rPr lang="zh-CN" altLang="en-US" sz="2600" b="1" dirty="0">
                <a:solidFill>
                  <a:schemeClr val="tx1"/>
                </a:solidFill>
              </a:rPr>
              <a:t>） </a:t>
            </a:r>
            <a:r>
              <a:rPr lang="en-US" altLang="zh-CN" sz="2600" b="1" err="1">
                <a:solidFill>
                  <a:schemeClr val="tx1"/>
                </a:solidFill>
              </a:rPr>
              <a:t>/mnt</a:t>
            </a:r>
            <a:endParaRPr lang="en-US" altLang="zh-CN" sz="2600" b="1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</a:rPr>
              <a:t>     </a:t>
            </a:r>
            <a:r>
              <a:rPr lang="zh-CN" altLang="en-US" sz="2600" b="1" dirty="0">
                <a:solidFill>
                  <a:schemeClr val="tx1"/>
                </a:solidFill>
              </a:rPr>
              <a:t>这个目录在一般情况下是空的，通常临时将别的文件系统挂在这个目录下。</a:t>
            </a:r>
            <a:endParaRPr lang="zh-CN" altLang="en-US" sz="2600" b="1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600" b="1" dirty="0">
                <a:solidFill>
                  <a:schemeClr val="tx1"/>
                </a:solidFill>
              </a:rPr>
              <a:t> （</a:t>
            </a:r>
            <a:r>
              <a:rPr lang="en-US" altLang="zh-CN" sz="2600" b="1" dirty="0">
                <a:solidFill>
                  <a:schemeClr val="tx1"/>
                </a:solidFill>
              </a:rPr>
              <a:t>12</a:t>
            </a:r>
            <a:r>
              <a:rPr lang="zh-CN" altLang="en-US" sz="2600" b="1" dirty="0">
                <a:solidFill>
                  <a:schemeClr val="tx1"/>
                </a:solidFill>
              </a:rPr>
              <a:t>） </a:t>
            </a:r>
            <a:r>
              <a:rPr lang="en-US" altLang="zh-CN" sz="2600" b="1">
                <a:solidFill>
                  <a:schemeClr val="tx1"/>
                </a:solidFill>
              </a:rPr>
              <a:t>/proc</a:t>
            </a:r>
            <a:endParaRPr lang="en-US" altLang="zh-CN" sz="2600" b="1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600" b="1" dirty="0">
                <a:solidFill>
                  <a:schemeClr val="tx1"/>
                </a:solidFill>
              </a:rPr>
              <a:t>     </a:t>
            </a:r>
            <a:r>
              <a:rPr lang="zh-CN" altLang="en-US" sz="2600" b="1" dirty="0">
                <a:solidFill>
                  <a:schemeClr val="tx1"/>
                </a:solidFill>
              </a:rPr>
              <a:t>存放系统信息，该目录下的文件不是存于硬盘中，是系统初启时在内存中产生的。关闭计算机时它会消失，每次重启时又重新生成。</a:t>
            </a:r>
            <a:endParaRPr lang="zh-CN" altLang="en-US" sz="26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sz="2600" b="1">
                <a:solidFill>
                  <a:schemeClr val="tx1"/>
                </a:solidFill>
              </a:rPr>
              <a:t> </a:t>
            </a:r>
            <a:r>
              <a:rPr lang="zh-CN" altLang="en-US" sz="2600" b="1" dirty="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600" b="1" dirty="0">
                <a:solidFill>
                  <a:schemeClr val="tx1"/>
                </a:solidFill>
                <a:sym typeface="+mn-ea"/>
              </a:rPr>
              <a:t>13</a:t>
            </a:r>
            <a:r>
              <a:rPr lang="zh-CN" altLang="en-US" sz="2600" b="1" dirty="0">
                <a:solidFill>
                  <a:schemeClr val="tx1"/>
                </a:solidFill>
                <a:sym typeface="+mn-ea"/>
              </a:rPr>
              <a:t>）</a:t>
            </a:r>
            <a:r>
              <a:rPr lang="zh-CN" altLang="en-US" sz="2600" b="1" err="1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2600" b="1" err="1">
                <a:solidFill>
                  <a:schemeClr val="tx1"/>
                </a:solidFill>
                <a:sym typeface="+mn-ea"/>
              </a:rPr>
              <a:t>/tmp</a:t>
            </a:r>
            <a:endParaRPr lang="en-US" altLang="zh-CN" sz="26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600" b="1" dirty="0">
                <a:solidFill>
                  <a:schemeClr val="tx1"/>
                </a:solidFill>
                <a:sym typeface="+mn-ea"/>
              </a:rPr>
              <a:t>     </a:t>
            </a:r>
            <a:r>
              <a:rPr lang="zh-CN" altLang="en-US" sz="2600" b="1" dirty="0">
                <a:solidFill>
                  <a:schemeClr val="tx1"/>
                </a:solidFill>
                <a:sym typeface="+mn-ea"/>
              </a:rPr>
              <a:t>具有特殊权限，用于存放临时数据，所有用户都能在该目录下存放数据信息。</a:t>
            </a:r>
            <a:endParaRPr lang="zh-CN" altLang="en-US" sz="2600" b="1" dirty="0" err="1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zh-CN" altLang="en-US" sz="2600" b="1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600" b="1">
                <a:solidFill>
                  <a:srgbClr val="000099"/>
                </a:solidFill>
              </a:rPr>
              <a:t>  </a:t>
            </a:r>
            <a:endParaRPr lang="zh-CN" altLang="en-US" sz="2600" b="1">
              <a:solidFill>
                <a:srgbClr val="000099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zh-CN" altLang="en-US" sz="2600" b="1">
                <a:solidFill>
                  <a:srgbClr val="000099"/>
                </a:solidFill>
              </a:rPr>
              <a:t> </a:t>
            </a:r>
            <a:endParaRPr lang="zh-CN" altLang="en-US" sz="2600" b="1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28675" grpI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564765"/>
            <a:ext cx="7772400" cy="78359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三、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LINUX 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系统文件类型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225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200" b="1"/>
              <a:t>文件类型</a:t>
            </a:r>
            <a:endParaRPr lang="en-US" altLang="zh-CN" sz="4200" b="1"/>
          </a:p>
        </p:txBody>
      </p:sp>
      <p:sp>
        <p:nvSpPr>
          <p:cNvPr id="14338" name="文本占位符 22530"/>
          <p:cNvSpPr>
            <a:spLocks noGrp="1"/>
          </p:cNvSpPr>
          <p:nvPr>
            <p:ph idx="1"/>
          </p:nvPr>
        </p:nvSpPr>
        <p:spPr>
          <a:xfrm>
            <a:off x="566738" y="1855788"/>
            <a:ext cx="8001000" cy="4057650"/>
          </a:xfrm>
        </p:spPr>
        <p:txBody>
          <a:bodyPr anchor="t"/>
          <a:lstStyle/>
          <a:p>
            <a:pPr>
              <a:buNone/>
            </a:pPr>
            <a:r>
              <a:rPr lang="en-US" altLang="zh-CN" sz="36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1．普通文件</a:t>
            </a:r>
            <a:r>
              <a:rPr lang="en-US" altLang="zh-CN" sz="3600" b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endParaRPr lang="en-US" altLang="zh-CN" sz="3600" b="1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zh-CN" altLang="en-US" sz="2600" b="1" dirty="0"/>
              <a:t>    文本文件        数据文件      可执行的二进制程序 </a:t>
            </a:r>
            <a:endParaRPr lang="zh-CN" altLang="en-US" sz="2600" b="1" dirty="0"/>
          </a:p>
          <a:p>
            <a:pPr>
              <a:buNone/>
            </a:pPr>
            <a:endParaRPr lang="zh-CN" altLang="en-US" sz="2600" b="1"/>
          </a:p>
          <a:p>
            <a:pPr>
              <a:buNone/>
            </a:pPr>
            <a:endParaRPr lang="zh-CN" altLang="en-US" sz="2600" b="1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1505" y="3500755"/>
            <a:ext cx="8043545" cy="4933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4293235"/>
            <a:ext cx="7079615" cy="240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占位符 22530"/>
          <p:cNvSpPr>
            <a:spLocks noGrp="1"/>
          </p:cNvSpPr>
          <p:nvPr>
            <p:ph idx="1"/>
          </p:nvPr>
        </p:nvSpPr>
        <p:spPr>
          <a:xfrm>
            <a:off x="566738" y="1855788"/>
            <a:ext cx="8001000" cy="4057650"/>
          </a:xfrm>
        </p:spPr>
        <p:txBody>
          <a:bodyPr anchor="t"/>
          <a:lstStyle/>
          <a:p>
            <a:pPr>
              <a:buNone/>
            </a:pPr>
            <a:r>
              <a:rPr lang="en-US" altLang="zh-CN" sz="36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2．目录文件</a:t>
            </a:r>
            <a:endParaRPr lang="en-US" altLang="zh-CN" sz="36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zh-CN" altLang="en-US" sz="2600" b="1" dirty="0"/>
              <a:t>    在</a:t>
            </a:r>
            <a:r>
              <a:rPr lang="en-US" altLang="zh-CN" sz="2600" b="1" dirty="0"/>
              <a:t>Linux</a:t>
            </a:r>
            <a:r>
              <a:rPr lang="zh-CN" altLang="en-US" sz="2600" b="1" dirty="0"/>
              <a:t>系统中目录被当做一类特殊文件，利用它可以构成文件系统的分层树状结构。</a:t>
            </a:r>
            <a:endParaRPr lang="zh-CN" altLang="en-US" sz="26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573145"/>
            <a:ext cx="6915150" cy="1141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文本占位符 23553"/>
          <p:cNvSpPr>
            <a:spLocks noGrp="1"/>
          </p:cNvSpPr>
          <p:nvPr>
            <p:ph idx="1"/>
          </p:nvPr>
        </p:nvSpPr>
        <p:spPr>
          <a:xfrm>
            <a:off x="166370" y="1455420"/>
            <a:ext cx="8520430" cy="4591685"/>
          </a:xfrm>
        </p:spPr>
        <p:txBody>
          <a:bodyPr anchor="t"/>
          <a:lstStyle/>
          <a:p>
            <a:pPr>
              <a:buNone/>
            </a:pPr>
            <a:r>
              <a:rPr lang="en-US" altLang="zh-CN" sz="36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3．设备文件</a:t>
            </a:r>
            <a:endParaRPr lang="en-US" altLang="zh-CN" sz="36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zh-CN" altLang="en-US" sz="2600" b="1" dirty="0"/>
              <a:t>     在</a:t>
            </a:r>
            <a:r>
              <a:rPr lang="en-US" altLang="zh-CN" sz="2600" b="1" dirty="0"/>
              <a:t>Linux</a:t>
            </a:r>
            <a:r>
              <a:rPr lang="zh-CN" altLang="en-US" sz="2600" b="1" dirty="0"/>
              <a:t>系统中，所有设备都作为一类特别文件对待，用户像使用普通文件那样对设备进行操作。分为字符设备、块设备。    </a:t>
            </a:r>
            <a:endParaRPr lang="zh-CN" altLang="en-US" sz="2600" b="1" dirty="0"/>
          </a:p>
          <a:p>
            <a:pPr>
              <a:buNone/>
            </a:pPr>
            <a:endParaRPr lang="zh-CN" altLang="en-US" sz="21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3789045"/>
            <a:ext cx="8119745" cy="3276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95" y="4940935"/>
            <a:ext cx="7858760" cy="3276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95" y="4436745"/>
            <a:ext cx="7854950" cy="386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文本占位符 2355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69615"/>
          </a:xfrm>
        </p:spPr>
        <p:txBody>
          <a:bodyPr anchor="t"/>
          <a:lstStyle/>
          <a:p>
            <a:pPr>
              <a:buNone/>
            </a:pPr>
            <a:r>
              <a:rPr lang="en-US" altLang="zh-CN" sz="36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4．符号链接文件</a:t>
            </a:r>
            <a:endParaRPr lang="en-US" altLang="zh-CN" sz="360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zh-CN" altLang="en-US" sz="2600" b="1" dirty="0">
                <a:latin typeface="宋体" panose="02010600030101010101" pitchFamily="2" charset="-122"/>
              </a:rPr>
              <a:t>   符号链接又称软链接，是指将一个文件指向另外一个文件的文件名。</a:t>
            </a:r>
            <a:r>
              <a:rPr lang="zh-CN" altLang="en-US" sz="2100" dirty="0">
                <a:latin typeface="宋体" panose="02010600030101010101" pitchFamily="2" charset="-122"/>
              </a:rPr>
              <a:t> </a:t>
            </a:r>
            <a:endParaRPr lang="zh-CN" altLang="en-US" sz="2100" dirty="0">
              <a:latin typeface="宋体" panose="02010600030101010101" pitchFamily="2" charset="-122"/>
            </a:endParaRPr>
          </a:p>
          <a:p>
            <a:pPr>
              <a:buNone/>
            </a:pPr>
            <a:endParaRPr lang="zh-CN" altLang="en-US" sz="21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284855"/>
            <a:ext cx="7506335" cy="2990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789045"/>
            <a:ext cx="7874000" cy="953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564765"/>
            <a:ext cx="7772400" cy="78359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四、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LINUX 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命令格式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76885"/>
            <a:ext cx="8229600" cy="812165"/>
          </a:xfrm>
        </p:spPr>
        <p:txBody>
          <a:bodyPr/>
          <a:p>
            <a:r>
              <a:rPr lang="en-US" altLang="zh-CN"/>
              <a:t>Linux</a:t>
            </a:r>
            <a:r>
              <a:rPr lang="zh-CN" altLang="en-US"/>
              <a:t>命令的格式：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755650" y="1484630"/>
            <a:ext cx="7194550" cy="37719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3200" b="1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1、命令格式</a:t>
            </a:r>
            <a:endParaRPr lang="en-US" altLang="zh-CN" sz="3200" b="1" ker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en-US" altLang="zh-CN" sz="3200" b="1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命令名  -[选项]    [参数1]    [参数2]……</a:t>
            </a:r>
            <a:endParaRPr lang="en-US" altLang="zh-CN" sz="3200" b="1" ker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endParaRPr lang="zh-CN" altLang="en-US" sz="2800" b="1">
              <a:latin typeface="Arial" panose="020B0604020202020204" pitchFamily="34" charset="0"/>
            </a:endParaRPr>
          </a:p>
          <a:p>
            <a:r>
              <a:rPr lang="en-US" altLang="zh-CN" sz="3200" b="1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说明：</a:t>
            </a:r>
            <a:endParaRPr 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命令名由小写字母组成 </a:t>
            </a:r>
            <a:endParaRPr lang="zh-CN" altLang="en-US" sz="2400" b="1" kern="0" dirty="0">
              <a:latin typeface="+mn-lt"/>
              <a:ea typeface="+mn-ea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[  ]括起来的部分可缺省</a:t>
            </a:r>
            <a:endParaRPr lang="zh-CN" altLang="en-US" sz="2400" b="1" kern="0" dirty="0">
              <a:latin typeface="+mn-lt"/>
              <a:ea typeface="+mn-ea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选项是对命令的特别定义，以“-”开始</a:t>
            </a:r>
            <a:endParaRPr lang="zh-CN" altLang="en-US" sz="2400" b="1" kern="0" dirty="0">
              <a:latin typeface="+mn-lt"/>
              <a:ea typeface="+mn-ea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参数一般是文件名</a:t>
            </a:r>
            <a:r>
              <a:rPr lang="en-US" sz="2400">
                <a:latin typeface="Arial" panose="020B0604020202020204" pitchFamily="34" charset="0"/>
              </a:rPr>
              <a:t> </a:t>
            </a:r>
            <a:endParaRPr lang="zh-CN" alt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481330" y="1124585"/>
            <a:ext cx="8181340" cy="50393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sz="3200" b="1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2、键入命令</a:t>
            </a:r>
            <a:endParaRPr lang="en-US" sz="2800">
              <a:latin typeface="Wingdings" panose="05000000000000000000" charset="0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命令输入完后，按回车确认</a:t>
            </a:r>
            <a:endParaRPr lang="zh-CN" altLang="en-US" sz="2400" b="1" kern="0" dirty="0">
              <a:latin typeface="+mn-lt"/>
              <a:ea typeface="+mn-ea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区分大小写</a:t>
            </a:r>
            <a:endParaRPr lang="zh-CN" altLang="en-US" sz="2400" b="1" kern="0" dirty="0">
              <a:latin typeface="+mn-lt"/>
              <a:ea typeface="+mn-ea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命令太长一行放不下，在第一行末尾键入“\”字符</a:t>
            </a:r>
            <a:endParaRPr lang="zh-CN" altLang="en-US" sz="2400" b="1" kern="0" dirty="0">
              <a:latin typeface="+mn-lt"/>
              <a:ea typeface="+mn-ea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命令与参数、选项用空格隔开，多个连续空格被shell解释为单个空格</a:t>
            </a:r>
            <a:r>
              <a:rPr lang="en-US" sz="2400">
                <a:solidFill>
                  <a:srgbClr val="333333"/>
                </a:solidFill>
                <a:latin typeface="宋体" panose="02010600030101010101" pitchFamily="2" charset="-122"/>
              </a:rPr>
              <a:t> </a:t>
            </a:r>
            <a:r>
              <a:rPr lang="en-US" sz="2400" b="1">
                <a:latin typeface="Arial" panose="020B0604020202020204" pitchFamily="34" charset="0"/>
              </a:rPr>
              <a:t> </a:t>
            </a:r>
            <a:endParaRPr lang="en-US" sz="2400" b="1">
              <a:latin typeface="Arial" panose="020B0604020202020204" pitchFamily="34" charset="0"/>
            </a:endParaRPr>
          </a:p>
          <a:p>
            <a:endParaRPr lang="en-US" altLang="zh-CN" sz="3200" b="1" ker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r>
              <a:rPr lang="en-US" altLang="zh-CN" sz="3200" b="1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3、编辑命令行</a:t>
            </a:r>
            <a:endParaRPr lang="en-US" sz="2800">
              <a:latin typeface="Wingdings" panose="05000000000000000000" charset="0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用backspace键向前删除字符</a:t>
            </a:r>
            <a:endParaRPr lang="zh-CN" altLang="en-US" sz="2400" b="1" kern="0" dirty="0">
              <a:latin typeface="+mn-lt"/>
              <a:ea typeface="+mn-ea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用上、下键选择最近曾经运行的命令</a:t>
            </a:r>
            <a:endParaRPr lang="zh-CN" altLang="en-US" sz="2400" b="1" kern="0" dirty="0">
              <a:latin typeface="+mn-lt"/>
              <a:ea typeface="+mn-ea"/>
            </a:endParaRPr>
          </a:p>
          <a:p>
            <a:pPr marL="342900" indent="-342900" algn="l">
              <a:spcBef>
                <a:spcPct val="20000"/>
              </a:spcBef>
              <a:buClr>
                <a:srgbClr val="006633"/>
              </a:buClr>
              <a:buSzPct val="65000"/>
              <a:buFont typeface="Wingdings" panose="05000000000000000000" charset="0"/>
              <a:buChar char="Ø"/>
            </a:pPr>
            <a:r>
              <a:rPr lang="zh-CN" altLang="en-US" sz="2400" b="1" kern="0" dirty="0">
                <a:latin typeface="+mn-lt"/>
                <a:ea typeface="+mn-ea"/>
              </a:rPr>
              <a:t>用左、右键选择要修改的某一个字符</a:t>
            </a:r>
            <a:endParaRPr lang="zh-CN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2564765"/>
            <a:ext cx="7772400" cy="78359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五、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LINUX </a:t>
            </a:r>
            <a:r>
              <a:rPr lang="zh-CN" altLang="en-US" dirty="0">
                <a:latin typeface="Verdana" panose="020B0604030504040204" pitchFamily="34" charset="0"/>
                <a:ea typeface="宋体" panose="02010600030101010101" pitchFamily="2" charset="-122"/>
                <a:sym typeface="+mn-ea"/>
              </a:rPr>
              <a:t>简单命令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/>
            <a:r>
              <a:rPr lang="en-US" altLang="zh-CN" sz="3600"/>
              <a:t>简单命令</a:t>
            </a:r>
            <a:endParaRPr lang="en-US" altLang="zh-CN" sz="3600" dirty="0">
              <a:solidFill>
                <a:srgbClr val="000066"/>
              </a:solidFill>
            </a:endParaRPr>
          </a:p>
        </p:txBody>
      </p:sp>
      <p:sp>
        <p:nvSpPr>
          <p:cNvPr id="14339" name="文本占位符 14338"/>
          <p:cNvSpPr>
            <a:spLocks noGrp="1"/>
          </p:cNvSpPr>
          <p:nvPr>
            <p:ph type="body" idx="1"/>
          </p:nvPr>
        </p:nvSpPr>
        <p:spPr>
          <a:xfrm>
            <a:off x="323215" y="1700530"/>
            <a:ext cx="8686800" cy="3414395"/>
          </a:xfrm>
        </p:spPr>
        <p:txBody>
          <a:bodyPr/>
          <a:lstStyle/>
          <a:p>
            <a:pPr algn="just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．</a:t>
            </a:r>
            <a:r>
              <a:rPr lang="en-US" altLang="zh-CN" sz="2400" dirty="0"/>
              <a:t>who   </a:t>
            </a:r>
            <a:r>
              <a:rPr lang="zh-CN" altLang="en-US" sz="2400" dirty="0"/>
              <a:t>列出所有正在使用系统的用户、所用终端名和注册到系统的时间 </a:t>
            </a:r>
            <a:endParaRPr lang="zh-CN" altLang="en-US" sz="2400" dirty="0"/>
          </a:p>
          <a:p>
            <a:pPr algn="just"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．</a:t>
            </a:r>
            <a:r>
              <a:rPr lang="en-US" altLang="zh-CN" sz="2400" dirty="0"/>
              <a:t>echo  </a:t>
            </a:r>
            <a:r>
              <a:rPr lang="zh-CN" altLang="en-US" sz="2400" dirty="0"/>
              <a:t>将命令行中的参数显示到标准输出（即屏幕）上 </a:t>
            </a:r>
            <a:endParaRPr lang="zh-CN" altLang="en-US" sz="2400" dirty="0"/>
          </a:p>
          <a:p>
            <a:pPr algn="just"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．</a:t>
            </a:r>
            <a:r>
              <a:rPr lang="en-US" altLang="zh-CN" sz="2400" dirty="0"/>
              <a:t>date   </a:t>
            </a:r>
            <a:r>
              <a:rPr lang="zh-CN" altLang="en-US" sz="2400" dirty="0"/>
              <a:t>在屏幕上显示或设置系统的日期和时间 </a:t>
            </a:r>
            <a:endParaRPr lang="zh-CN" altLang="en-US" sz="2400" dirty="0"/>
          </a:p>
          <a:p>
            <a:pPr algn="just">
              <a:buNone/>
            </a:pPr>
            <a:r>
              <a:rPr lang="en-US" altLang="zh-CN" sz="2400" dirty="0"/>
              <a:t>4</a:t>
            </a:r>
            <a:r>
              <a:rPr lang="zh-CN" altLang="en-US" sz="2400" dirty="0"/>
              <a:t>．</a:t>
            </a:r>
            <a:r>
              <a:rPr lang="en-US" altLang="zh-CN" sz="2400" dirty="0"/>
              <a:t>cal    </a:t>
            </a:r>
            <a:r>
              <a:rPr lang="zh-CN" altLang="en-US" sz="2400" dirty="0"/>
              <a:t>显示公元</a:t>
            </a:r>
            <a:r>
              <a:rPr lang="en-US" altLang="zh-CN" sz="2400" dirty="0"/>
              <a:t>1</a:t>
            </a:r>
            <a:r>
              <a:rPr lang="zh-CN" altLang="en-US" sz="2400" dirty="0"/>
              <a:t>～</a:t>
            </a:r>
            <a:r>
              <a:rPr lang="en-US" altLang="zh-CN" sz="2400" dirty="0"/>
              <a:t>9999</a:t>
            </a:r>
            <a:r>
              <a:rPr lang="zh-CN" altLang="en-US" sz="2400" dirty="0"/>
              <a:t>年中任意一年或者任意一个月的日历 </a:t>
            </a:r>
            <a:endParaRPr lang="zh-CN" altLang="en-US" sz="2400" dirty="0"/>
          </a:p>
          <a:p>
            <a:pPr algn="just"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．</a:t>
            </a:r>
            <a:r>
              <a:rPr lang="en-US" altLang="zh-CN" sz="2400" dirty="0"/>
              <a:t>clear    </a:t>
            </a:r>
            <a:r>
              <a:rPr lang="zh-CN" altLang="en-US" sz="2400" dirty="0"/>
              <a:t>清除屏幕上的信息 </a:t>
            </a:r>
            <a:endParaRPr lang="zh-CN" altLang="en-US" sz="2400" dirty="0"/>
          </a:p>
          <a:p>
            <a:pPr algn="just">
              <a:buNone/>
            </a:pPr>
            <a:r>
              <a:rPr lang="en-US" altLang="zh-CN" sz="2400" dirty="0"/>
              <a:t>6</a:t>
            </a:r>
            <a:r>
              <a:rPr lang="zh-CN" altLang="en-US" sz="2400" dirty="0"/>
              <a:t>．</a:t>
            </a:r>
            <a:r>
              <a:rPr lang="en-US" altLang="zh-CN" sz="2400" err="1"/>
              <a:t>passwd</a:t>
            </a:r>
            <a:r>
              <a:rPr lang="en-US" altLang="zh-CN" sz="2400" dirty="0"/>
              <a:t>  </a:t>
            </a:r>
            <a:r>
              <a:rPr lang="zh-CN" altLang="en-US" sz="2400" dirty="0"/>
              <a:t>修改用户密码</a:t>
            </a:r>
            <a:endParaRPr lang="zh-CN" altLang="en-US" sz="2400" dirty="0"/>
          </a:p>
          <a:p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文本占位符 89090"/>
          <p:cNvSpPr>
            <a:spLocks noGrp="1"/>
          </p:cNvSpPr>
          <p:nvPr>
            <p:ph type="body" idx="1"/>
          </p:nvPr>
        </p:nvSpPr>
        <p:spPr>
          <a:xfrm>
            <a:off x="533400" y="990600"/>
            <a:ext cx="7848600" cy="4495800"/>
          </a:xfrm>
        </p:spPr>
        <p:txBody>
          <a:bodyPr/>
          <a:lstStyle/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who   </a:t>
            </a:r>
            <a:r>
              <a:rPr lang="zh-CN" altLang="en-US" b="1" dirty="0">
                <a:solidFill>
                  <a:schemeClr val="tx1"/>
                </a:solidFill>
              </a:rPr>
              <a:t>列出所有正在使用系统的用户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一般格式： 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  </a:t>
            </a:r>
            <a:r>
              <a:rPr lang="en-US" altLang="zh-CN" b="1" dirty="0">
                <a:solidFill>
                  <a:schemeClr val="tx1"/>
                </a:solidFill>
              </a:rPr>
              <a:t>who  [</a:t>
            </a:r>
            <a:r>
              <a:rPr lang="zh-CN" altLang="en-US" b="1" dirty="0">
                <a:solidFill>
                  <a:schemeClr val="tx1"/>
                </a:solidFill>
              </a:rPr>
              <a:t>选项</a:t>
            </a:r>
            <a:r>
              <a:rPr lang="en-US" altLang="zh-CN" b="1" dirty="0">
                <a:solidFill>
                  <a:schemeClr val="tx1"/>
                </a:solidFill>
              </a:rPr>
              <a:t>]  [</a:t>
            </a:r>
            <a:r>
              <a:rPr lang="zh-CN" altLang="en-US" b="1" dirty="0">
                <a:solidFill>
                  <a:schemeClr val="tx1"/>
                </a:solidFill>
              </a:rPr>
              <a:t>参数</a:t>
            </a:r>
            <a:r>
              <a:rPr lang="en-US" altLang="zh-CN" b="1" dirty="0">
                <a:solidFill>
                  <a:schemeClr val="tx1"/>
                </a:solidFill>
              </a:rPr>
              <a:t>]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选项说明：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  </a:t>
            </a:r>
            <a:r>
              <a:rPr lang="en-US" altLang="zh-CN" b="1" dirty="0">
                <a:solidFill>
                  <a:schemeClr val="tx1"/>
                </a:solidFill>
              </a:rPr>
              <a:t>-w   </a:t>
            </a:r>
            <a:r>
              <a:rPr lang="zh-CN" altLang="en-US" b="1" dirty="0">
                <a:solidFill>
                  <a:schemeClr val="tx1"/>
                </a:solidFill>
              </a:rPr>
              <a:t>显示注册用户屏蔽情况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  </a:t>
            </a:r>
            <a:r>
              <a:rPr lang="en-US" altLang="zh-CN" b="1" dirty="0">
                <a:solidFill>
                  <a:schemeClr val="tx1"/>
                </a:solidFill>
              </a:rPr>
              <a:t>-q    </a:t>
            </a:r>
            <a:r>
              <a:rPr lang="zh-CN" altLang="en-US" b="1" dirty="0">
                <a:solidFill>
                  <a:schemeClr val="tx1"/>
                </a:solidFill>
              </a:rPr>
              <a:t>显示所有注册用户名和个数</a:t>
            </a:r>
            <a:endParaRPr lang="zh-CN" altLang="en-US" b="1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>
                <a:schemeClr val="bg1"/>
              </a:buClr>
              <a:buSzPct val="100000"/>
              <a:buNone/>
            </a:pPr>
            <a:endParaRPr lang="zh-CN" altLang="en-US" b="1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buClr>
                <a:schemeClr val="bg1"/>
              </a:buClr>
              <a:buSzPct val="100000"/>
              <a:buNone/>
            </a:pP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内容占位符 90113"/>
          <p:cNvSpPr>
            <a:spLocks noGrp="1"/>
          </p:cNvSpPr>
          <p:nvPr>
            <p:ph/>
          </p:nvPr>
        </p:nvSpPr>
        <p:spPr>
          <a:xfrm>
            <a:off x="457200" y="685800"/>
            <a:ext cx="8229600" cy="5597525"/>
          </a:xfrm>
        </p:spPr>
        <p:txBody>
          <a:bodyPr/>
          <a:lstStyle/>
          <a:p>
            <a:pPr>
              <a:buNone/>
            </a:pPr>
            <a:r>
              <a:rPr lang="zh-CN" altLang="en-US" sz="3600" b="1" dirty="0">
                <a:solidFill>
                  <a:schemeClr val="tx2"/>
                </a:solidFill>
              </a:rPr>
              <a:t>示例：</a:t>
            </a:r>
            <a:endParaRPr lang="zh-CN" altLang="en-US" sz="3600" b="1" dirty="0">
              <a:solidFill>
                <a:srgbClr val="000099"/>
              </a:solidFill>
            </a:endParaRPr>
          </a:p>
          <a:p>
            <a:pPr>
              <a:buNone/>
            </a:pPr>
            <a:endParaRPr lang="zh-CN" altLang="en-US" sz="3600" b="1" dirty="0">
              <a:solidFill>
                <a:srgbClr val="000099"/>
              </a:solidFill>
            </a:endParaRPr>
          </a:p>
          <a:p>
            <a:pPr algn="just">
              <a:spcBef>
                <a:spcPct val="0"/>
              </a:spcBef>
              <a:buClr>
                <a:schemeClr val="bg1"/>
              </a:buClr>
              <a:buSzPct val="100000"/>
              <a:buNone/>
            </a:pPr>
            <a:r>
              <a:rPr lang="zh-CN" altLang="en-US" sz="3600" b="1" dirty="0"/>
              <a:t>   </a:t>
            </a:r>
            <a:endParaRPr lang="en-US" altLang="zh-CN" sz="3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44675"/>
            <a:ext cx="8480425" cy="15030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内容占位符 91137"/>
          <p:cNvSpPr>
            <a:spLocks noGrp="1"/>
          </p:cNvSpPr>
          <p:nvPr>
            <p:ph/>
          </p:nvPr>
        </p:nvSpPr>
        <p:spPr>
          <a:xfrm>
            <a:off x="457200" y="838200"/>
            <a:ext cx="8229600" cy="5597525"/>
          </a:xfrm>
        </p:spPr>
        <p:txBody>
          <a:bodyPr/>
          <a:lstStyle/>
          <a:p>
            <a:pPr>
              <a:buNone/>
            </a:pPr>
            <a:r>
              <a:rPr lang="en-US" altLang="zh-CN" sz="3600" b="1" dirty="0">
                <a:solidFill>
                  <a:schemeClr val="tx1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36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3600" b="1">
                <a:solidFill>
                  <a:schemeClr val="tx1"/>
                </a:solidFill>
              </a:rPr>
              <a:t>echo     </a:t>
            </a:r>
            <a:r>
              <a:rPr lang="zh-CN" altLang="en-US" sz="3600" b="1" dirty="0">
                <a:solidFill>
                  <a:schemeClr val="tx1"/>
                </a:solidFill>
                <a:latin typeface="宋体" panose="02010600030101010101" pitchFamily="2" charset="-122"/>
              </a:rPr>
              <a:t>显示指定字符串</a:t>
            </a:r>
            <a:endParaRPr lang="zh-CN" altLang="en-US" sz="36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一般格式：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3600" b="1">
                <a:solidFill>
                  <a:schemeClr val="tx1"/>
                </a:solidFill>
              </a:rPr>
              <a:t>echo  [- n]  string</a:t>
            </a:r>
            <a:endParaRPr lang="en-US" altLang="zh-CN" sz="36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选项说明：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3600" b="1">
                <a:solidFill>
                  <a:schemeClr val="tx1"/>
                </a:solidFill>
              </a:rPr>
              <a:t>-n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</a:rPr>
              <a:t>输出字符串之后不换行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内容占位符 92161"/>
          <p:cNvSpPr>
            <a:spLocks noGrp="1"/>
          </p:cNvSpPr>
          <p:nvPr>
            <p:ph/>
          </p:nvPr>
        </p:nvSpPr>
        <p:spPr>
          <a:xfrm>
            <a:off x="457200" y="685800"/>
            <a:ext cx="8229600" cy="5597525"/>
          </a:xfrm>
        </p:spPr>
        <p:txBody>
          <a:bodyPr/>
          <a:lstStyle/>
          <a:p>
            <a:pPr>
              <a:buNone/>
            </a:pPr>
            <a:r>
              <a:rPr lang="zh-CN" altLang="en-US" sz="3600" dirty="0">
                <a:solidFill>
                  <a:schemeClr val="tx2"/>
                </a:solidFill>
                <a:latin typeface="宋体" panose="02010600030101010101" pitchFamily="2" charset="-122"/>
              </a:rPr>
              <a:t>示例：</a:t>
            </a:r>
            <a:endParaRPr lang="zh-CN" altLang="en-US" b="1" dirty="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rgbClr val="000099"/>
                </a:solidFill>
                <a:latin typeface="宋体" panose="02010600030101010101" pitchFamily="2" charset="-122"/>
              </a:rPr>
              <a:t>  </a:t>
            </a:r>
            <a:endParaRPr lang="zh-CN" altLang="en-US" b="1" dirty="0">
              <a:solidFill>
                <a:srgbClr val="000099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rgbClr val="000099"/>
                </a:solidFill>
                <a:latin typeface="宋体" panose="02010600030101010101" pitchFamily="2" charset="-122"/>
              </a:rPr>
              <a:t>  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2637155"/>
            <a:ext cx="8276590" cy="546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1917065"/>
            <a:ext cx="5497195" cy="5816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内容占位符 94209"/>
          <p:cNvSpPr>
            <a:spLocks noGrp="1"/>
          </p:cNvSpPr>
          <p:nvPr>
            <p:ph/>
          </p:nvPr>
        </p:nvSpPr>
        <p:spPr>
          <a:xfrm>
            <a:off x="457200" y="685800"/>
            <a:ext cx="8229600" cy="6172200"/>
          </a:xfrm>
        </p:spPr>
        <p:txBody>
          <a:bodyPr/>
          <a:lstStyle/>
          <a:p>
            <a:pPr>
              <a:buNone/>
            </a:pPr>
            <a:r>
              <a:rPr lang="en-US" altLang="zh-CN" sz="3600" b="1" dirty="0">
                <a:sym typeface="+mn-ea"/>
              </a:rPr>
              <a:t>3</a:t>
            </a:r>
            <a:r>
              <a:rPr lang="zh-CN" altLang="en-US" sz="3600" b="1" dirty="0">
                <a:sym typeface="+mn-ea"/>
              </a:rPr>
              <a:t>、</a:t>
            </a:r>
            <a:r>
              <a:rPr lang="en-US" altLang="zh-CN" sz="3600" b="1" dirty="0">
                <a:sym typeface="+mn-ea"/>
              </a:rPr>
              <a:t>date   </a:t>
            </a:r>
            <a:r>
              <a:rPr lang="zh-CN" altLang="en-US" sz="3600" b="1" dirty="0">
                <a:sym typeface="+mn-ea"/>
              </a:rPr>
              <a:t>显示或设置系统的日期和时间</a:t>
            </a:r>
            <a:endParaRPr lang="zh-CN" altLang="en-US" sz="36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 sz="3600" dirty="0">
                <a:solidFill>
                  <a:schemeClr val="tx2"/>
                </a:solidFill>
              </a:rPr>
              <a:t>示例：</a:t>
            </a:r>
            <a:endParaRPr lang="zh-CN" altLang="en-US" b="1" dirty="0">
              <a:solidFill>
                <a:srgbClr val="000099"/>
              </a:solidFill>
            </a:endParaRPr>
          </a:p>
          <a:p>
            <a:pPr>
              <a:buNone/>
            </a:pPr>
            <a:endParaRPr lang="zh-CN" altLang="en-US" sz="3600" b="1" dirty="0"/>
          </a:p>
          <a:p>
            <a:pPr>
              <a:buNone/>
            </a:pPr>
            <a:endParaRPr lang="en-US" altLang="zh-CN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2421255"/>
            <a:ext cx="6706235" cy="7327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40" y="3501390"/>
            <a:ext cx="5821680" cy="7181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内容占位符 95233"/>
          <p:cNvSpPr>
            <a:spLocks noGrp="1"/>
          </p:cNvSpPr>
          <p:nvPr>
            <p:ph/>
          </p:nvPr>
        </p:nvSpPr>
        <p:spPr>
          <a:xfrm>
            <a:off x="457200" y="914400"/>
            <a:ext cx="8382000" cy="5597525"/>
          </a:xfrm>
        </p:spPr>
        <p:txBody>
          <a:bodyPr/>
          <a:lstStyle/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4</a:t>
            </a:r>
            <a:r>
              <a:rPr lang="zh-CN" altLang="en-US" b="1" dirty="0">
                <a:solidFill>
                  <a:schemeClr val="tx1"/>
                </a:solidFill>
              </a:rPr>
              <a:t>、 </a:t>
            </a:r>
            <a:r>
              <a:rPr lang="en-US" altLang="zh-CN" b="1" dirty="0">
                <a:solidFill>
                  <a:schemeClr val="tx1"/>
                </a:solidFill>
              </a:rPr>
              <a:t>cal   </a:t>
            </a:r>
            <a:r>
              <a:rPr lang="zh-CN" altLang="en-US" b="1" dirty="0">
                <a:solidFill>
                  <a:schemeClr val="tx1"/>
                </a:solidFill>
              </a:rPr>
              <a:t>显示日历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一般格式：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 </a:t>
            </a:r>
            <a:r>
              <a:rPr lang="en-US" altLang="zh-CN" b="1" err="1">
                <a:solidFill>
                  <a:schemeClr val="tx1"/>
                </a:solidFill>
              </a:rPr>
              <a:t>cal  [-jy</a:t>
            </a:r>
            <a:r>
              <a:rPr lang="en-US" altLang="zh-CN" b="1">
                <a:solidFill>
                  <a:schemeClr val="tx1"/>
                </a:solidFill>
              </a:rPr>
              <a:t>]  [month] [year]</a:t>
            </a:r>
            <a:endParaRPr lang="en-US" altLang="zh-CN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选项说明：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 </a:t>
            </a:r>
            <a:r>
              <a:rPr lang="en-US" altLang="zh-CN" b="1" dirty="0">
                <a:solidFill>
                  <a:schemeClr val="tx1"/>
                </a:solidFill>
              </a:rPr>
              <a:t>-j   </a:t>
            </a:r>
            <a:r>
              <a:rPr lang="zh-CN" altLang="en-US" b="1" dirty="0">
                <a:solidFill>
                  <a:schemeClr val="tx1"/>
                </a:solidFill>
              </a:rPr>
              <a:t>按照日号在一年中是第几天来显示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 </a:t>
            </a:r>
            <a:r>
              <a:rPr lang="en-US" altLang="zh-CN" b="1" dirty="0">
                <a:solidFill>
                  <a:schemeClr val="tx1"/>
                </a:solidFill>
              </a:rPr>
              <a:t>-y  </a:t>
            </a:r>
            <a:r>
              <a:rPr lang="zh-CN" altLang="en-US" b="1" dirty="0">
                <a:solidFill>
                  <a:schemeClr val="tx1"/>
                </a:solidFill>
              </a:rPr>
              <a:t>显示本年度的日历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注：</a:t>
            </a:r>
            <a:r>
              <a:rPr lang="en-US" altLang="zh-CN" b="1" dirty="0">
                <a:solidFill>
                  <a:schemeClr val="tx1"/>
                </a:solidFill>
              </a:rPr>
              <a:t>cal </a:t>
            </a:r>
            <a:r>
              <a:rPr lang="zh-CN" altLang="en-US" b="1" dirty="0">
                <a:solidFill>
                  <a:schemeClr val="tx1"/>
                </a:solidFill>
              </a:rPr>
              <a:t>后只有一个参数，则表示年份； 当有    两个参数时，则第一个表示月份，第二个表示年份。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内容占位符 96257"/>
          <p:cNvSpPr>
            <a:spLocks noGrp="1"/>
          </p:cNvSpPr>
          <p:nvPr>
            <p:ph/>
          </p:nvPr>
        </p:nvSpPr>
        <p:spPr>
          <a:xfrm>
            <a:off x="533400" y="533400"/>
            <a:ext cx="8229600" cy="5597525"/>
          </a:xfrm>
        </p:spPr>
        <p:txBody>
          <a:bodyPr/>
          <a:lstStyle/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clear  </a:t>
            </a:r>
            <a:r>
              <a:rPr lang="zh-CN" altLang="en-US" b="1" dirty="0">
                <a:solidFill>
                  <a:schemeClr val="tx1"/>
                </a:solidFill>
              </a:rPr>
              <a:t>清屏命令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endParaRPr lang="en-US" altLang="zh-CN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dirty="0">
                <a:solidFill>
                  <a:schemeClr val="tx1"/>
                </a:solidFill>
              </a:rPr>
              <a:t>write  </a:t>
            </a:r>
            <a:r>
              <a:rPr lang="zh-CN" altLang="en-US" b="1" dirty="0">
                <a:solidFill>
                  <a:schemeClr val="tx1"/>
                </a:solidFill>
              </a:rPr>
              <a:t>在线用户互发信息命令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一般格式：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</a:t>
            </a:r>
            <a:r>
              <a:rPr lang="en-US" altLang="zh-CN" b="1" dirty="0">
                <a:solidFill>
                  <a:schemeClr val="tx1"/>
                </a:solidFill>
              </a:rPr>
              <a:t>write </a:t>
            </a:r>
            <a:r>
              <a:rPr lang="zh-CN" altLang="en-US" b="1" dirty="0">
                <a:solidFill>
                  <a:schemeClr val="tx1"/>
                </a:solidFill>
              </a:rPr>
              <a:t>用户帐号</a:t>
            </a:r>
            <a:r>
              <a:rPr lang="en-US" altLang="zh-CN" b="1" dirty="0">
                <a:solidFill>
                  <a:schemeClr val="tx1"/>
                </a:solidFill>
              </a:rPr>
              <a:t>[@</a:t>
            </a:r>
            <a:r>
              <a:rPr lang="zh-CN" altLang="en-US" b="1" dirty="0">
                <a:solidFill>
                  <a:schemeClr val="tx1"/>
                </a:solidFill>
              </a:rPr>
              <a:t>主机号</a:t>
            </a:r>
            <a:r>
              <a:rPr lang="en-US" altLang="zh-CN" b="1" dirty="0">
                <a:solidFill>
                  <a:schemeClr val="tx1"/>
                </a:solidFill>
              </a:rPr>
              <a:t>] [</a:t>
            </a:r>
            <a:r>
              <a:rPr lang="zh-CN" altLang="en-US" b="1" dirty="0">
                <a:solidFill>
                  <a:schemeClr val="tx1"/>
                </a:solidFill>
              </a:rPr>
              <a:t>终端号</a:t>
            </a:r>
            <a:r>
              <a:rPr lang="en-US" altLang="zh-CN" b="1" dirty="0">
                <a:solidFill>
                  <a:schemeClr val="tx1"/>
                </a:solidFill>
              </a:rPr>
              <a:t>]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示例：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</a:t>
            </a:r>
            <a:r>
              <a:rPr lang="en-US" altLang="zh-CN" b="1" dirty="0">
                <a:solidFill>
                  <a:schemeClr val="tx1"/>
                </a:solidFill>
              </a:rPr>
              <a:t>$write   stu01 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    What are you doing?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    Ctrl + d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buNone/>
            </a:pPr>
            <a:endParaRPr lang="en-US" altLang="zh-C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内容占位符 97281"/>
          <p:cNvSpPr>
            <a:spLocks noGrp="1"/>
          </p:cNvSpPr>
          <p:nvPr>
            <p:ph/>
          </p:nvPr>
        </p:nvSpPr>
        <p:spPr>
          <a:xfrm>
            <a:off x="457200" y="685800"/>
            <a:ext cx="8229600" cy="6172200"/>
          </a:xfrm>
        </p:spPr>
        <p:txBody>
          <a:bodyPr/>
          <a:lstStyle/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altLang="zh-CN" b="1" err="1">
                <a:solidFill>
                  <a:schemeClr val="tx1"/>
                </a:solidFill>
              </a:rPr>
              <a:t>mesg</a:t>
            </a:r>
            <a:r>
              <a:rPr lang="en-US" altLang="zh-CN" b="1" dirty="0">
                <a:solidFill>
                  <a:schemeClr val="tx1"/>
                </a:solidFill>
              </a:rPr>
              <a:t>   </a:t>
            </a:r>
            <a:r>
              <a:rPr lang="zh-CN" altLang="en-US" b="1" dirty="0">
                <a:solidFill>
                  <a:schemeClr val="tx1"/>
                </a:solidFill>
              </a:rPr>
              <a:t>接收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屏蔽其它用户的信息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示例：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</a:t>
            </a:r>
            <a:r>
              <a:rPr lang="en-US" altLang="zh-CN" sz="2800" b="1" err="1">
                <a:solidFill>
                  <a:schemeClr val="tx1"/>
                </a:solidFill>
              </a:rPr>
              <a:t>$ mesg</a:t>
            </a:r>
            <a:endParaRPr lang="en-US" altLang="zh-CN" sz="28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  is   n </a:t>
            </a:r>
            <a:endParaRPr lang="en-US" altLang="zh-CN" sz="28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800" b="1" err="1">
                <a:solidFill>
                  <a:schemeClr val="tx1"/>
                </a:solidFill>
              </a:rPr>
              <a:t>    $ mesg</a:t>
            </a:r>
            <a:r>
              <a:rPr lang="en-US" altLang="zh-CN" sz="2800" b="1">
                <a:solidFill>
                  <a:schemeClr val="tx1"/>
                </a:solidFill>
              </a:rPr>
              <a:t>  y</a:t>
            </a:r>
            <a:endParaRPr lang="en-US" altLang="zh-CN" sz="28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  is   y</a:t>
            </a:r>
            <a:endParaRPr lang="en-US" altLang="zh-CN" sz="28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800" b="1" err="1">
                <a:solidFill>
                  <a:schemeClr val="tx1"/>
                </a:solidFill>
              </a:rPr>
              <a:t>    $ mesg</a:t>
            </a:r>
            <a:endParaRPr lang="en-US" altLang="zh-CN" sz="28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  is   y </a:t>
            </a:r>
            <a:endParaRPr lang="en-US" altLang="zh-CN" sz="28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800" b="1" err="1">
                <a:solidFill>
                  <a:schemeClr val="tx1"/>
                </a:solidFill>
              </a:rPr>
              <a:t>    $ mesg</a:t>
            </a:r>
            <a:r>
              <a:rPr lang="en-US" altLang="zh-CN" sz="2800" b="1">
                <a:solidFill>
                  <a:schemeClr val="tx1"/>
                </a:solidFill>
              </a:rPr>
              <a:t>  n</a:t>
            </a:r>
            <a:endParaRPr lang="en-US" altLang="zh-CN" sz="28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altLang="zh-CN" sz="2800" b="1">
                <a:solidFill>
                  <a:schemeClr val="tx1"/>
                </a:solidFill>
              </a:rPr>
              <a:t>       is   n   </a:t>
            </a:r>
            <a:endParaRPr lang="en-US" altLang="zh-CN"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内容占位符 98305"/>
          <p:cNvSpPr>
            <a:spLocks noGrp="1"/>
          </p:cNvSpPr>
          <p:nvPr>
            <p:ph/>
          </p:nvPr>
        </p:nvSpPr>
        <p:spPr>
          <a:xfrm>
            <a:off x="457200" y="685800"/>
            <a:ext cx="8229600" cy="5597525"/>
          </a:xfrm>
        </p:spPr>
        <p:txBody>
          <a:bodyPr/>
          <a:lstStyle/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8</a:t>
            </a:r>
            <a:r>
              <a:rPr lang="zh-CN" altLang="en-US" b="1" dirty="0">
                <a:solidFill>
                  <a:schemeClr val="tx1"/>
                </a:solidFill>
              </a:rPr>
              <a:t>、 </a:t>
            </a:r>
            <a:r>
              <a:rPr lang="en-US" altLang="zh-CN" b="1" err="1">
                <a:solidFill>
                  <a:schemeClr val="tx1"/>
                </a:solidFill>
              </a:rPr>
              <a:t>su</a:t>
            </a:r>
            <a:r>
              <a:rPr lang="en-US" altLang="zh-CN" b="1" dirty="0">
                <a:solidFill>
                  <a:schemeClr val="tx1"/>
                </a:solidFill>
              </a:rPr>
              <a:t>   </a:t>
            </a:r>
            <a:r>
              <a:rPr lang="zh-CN" altLang="en-US" b="1" dirty="0">
                <a:solidFill>
                  <a:schemeClr val="tx1"/>
                </a:solidFill>
              </a:rPr>
              <a:t>改变用户身份命令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一般格式：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</a:t>
            </a:r>
            <a:r>
              <a:rPr lang="en-US" altLang="zh-CN" b="1" err="1">
                <a:solidFill>
                  <a:schemeClr val="tx1"/>
                </a:solidFill>
              </a:rPr>
              <a:t>su</a:t>
            </a:r>
            <a:r>
              <a:rPr lang="en-US" altLang="zh-CN" b="1" dirty="0">
                <a:solidFill>
                  <a:schemeClr val="tx1"/>
                </a:solidFill>
              </a:rPr>
              <a:t>  [</a:t>
            </a:r>
            <a:r>
              <a:rPr lang="zh-CN" altLang="en-US" b="1" dirty="0">
                <a:solidFill>
                  <a:schemeClr val="tx1"/>
                </a:solidFill>
              </a:rPr>
              <a:t>用户名</a:t>
            </a:r>
            <a:r>
              <a:rPr lang="en-US" altLang="zh-CN" b="1">
                <a:solidFill>
                  <a:schemeClr val="tx1"/>
                </a:solidFill>
              </a:rPr>
              <a:t>]</a:t>
            </a:r>
            <a:endParaRPr lang="en-US" altLang="zh-CN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用户帐户省略则默认改变身份为</a:t>
            </a:r>
            <a:r>
              <a:rPr lang="en-US" altLang="zh-CN" b="1">
                <a:solidFill>
                  <a:schemeClr val="tx1"/>
                </a:solidFill>
              </a:rPr>
              <a:t>root</a:t>
            </a:r>
            <a:endParaRPr lang="en-US" altLang="zh-CN" b="1">
              <a:solidFill>
                <a:schemeClr val="tx1"/>
              </a:solidFill>
            </a:endParaRPr>
          </a:p>
          <a:p>
            <a:pPr>
              <a:buNone/>
            </a:pPr>
            <a:endParaRPr lang="zh-CN" altLang="en-US" sz="2800" b="1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sz="2800" b="1">
                <a:solidFill>
                  <a:schemeClr val="tx1"/>
                </a:solidFill>
              </a:rPr>
              <a:t>说明：用户名前如果加</a:t>
            </a:r>
            <a:r>
              <a:rPr lang="en-US" altLang="zh-CN" sz="2800" b="1">
                <a:solidFill>
                  <a:schemeClr val="tx1"/>
                </a:solidFill>
              </a:rPr>
              <a:t>-</a:t>
            </a:r>
            <a:r>
              <a:rPr lang="zh-CN" altLang="en-US" sz="2800" b="1">
                <a:solidFill>
                  <a:schemeClr val="tx1"/>
                </a:solidFill>
              </a:rPr>
              <a:t>，改变身份成功后，用户的环境变量等也会发生相应改变。</a:t>
            </a:r>
            <a:endParaRPr lang="zh-CN" altLang="en-US"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文本占位符 88066"/>
          <p:cNvSpPr>
            <a:spLocks noGrp="1"/>
          </p:cNvSpPr>
          <p:nvPr>
            <p:ph type="body" idx="1"/>
          </p:nvPr>
        </p:nvSpPr>
        <p:spPr>
          <a:xfrm>
            <a:off x="381000" y="762000"/>
            <a:ext cx="8229600" cy="4302125"/>
          </a:xfrm>
        </p:spPr>
        <p:txBody>
          <a:bodyPr/>
          <a:lstStyle/>
          <a:p>
            <a:pPr>
              <a:buNone/>
            </a:pPr>
            <a:r>
              <a:rPr lang="zh-CN" altLang="en-US" sz="3600" dirty="0">
                <a:solidFill>
                  <a:schemeClr val="tx2"/>
                </a:solidFill>
              </a:rPr>
              <a:t>示例：</a:t>
            </a:r>
            <a:endParaRPr lang="zh-CN" altLang="en-US" b="1" dirty="0">
              <a:solidFill>
                <a:srgbClr val="000099"/>
              </a:solidFill>
            </a:endParaRPr>
          </a:p>
          <a:p>
            <a:pPr>
              <a:buNone/>
            </a:pPr>
            <a:endParaRPr lang="zh-CN" altLang="en-US" b="1" dirty="0"/>
          </a:p>
          <a:p>
            <a:pPr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844675"/>
            <a:ext cx="7465060" cy="11760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内容占位符 98305"/>
          <p:cNvSpPr>
            <a:spLocks noGrp="1"/>
          </p:cNvSpPr>
          <p:nvPr>
            <p:ph/>
          </p:nvPr>
        </p:nvSpPr>
        <p:spPr>
          <a:xfrm>
            <a:off x="457200" y="685800"/>
            <a:ext cx="8229600" cy="5597525"/>
          </a:xfrm>
        </p:spPr>
        <p:txBody>
          <a:bodyPr/>
          <a:lstStyle/>
          <a:p>
            <a:pPr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、</a:t>
            </a:r>
            <a:r>
              <a:rPr lang="en-US" b="1" dirty="0">
                <a:solidFill>
                  <a:schemeClr val="tx1"/>
                </a:solidFill>
              </a:rPr>
              <a:t>passwd</a:t>
            </a:r>
            <a:r>
              <a:rPr lang="en-US" altLang="zh-CN" b="1" dirty="0">
                <a:solidFill>
                  <a:schemeClr val="tx1"/>
                </a:solidFill>
              </a:rPr>
              <a:t>   </a:t>
            </a:r>
            <a:r>
              <a:rPr lang="zh-CN" altLang="en-US" b="1" dirty="0">
                <a:solidFill>
                  <a:schemeClr val="tx1"/>
                </a:solidFill>
              </a:rPr>
              <a:t>改变用户密码的命令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一般格式：</a:t>
            </a:r>
            <a:endParaRPr lang="zh-CN" altLang="en-US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    </a:t>
            </a:r>
            <a:r>
              <a:rPr lang="en-US" altLang="zh-CN" b="1" err="1">
                <a:solidFill>
                  <a:schemeClr val="tx1"/>
                </a:solidFill>
              </a:rPr>
              <a:t>passwd</a:t>
            </a:r>
            <a:r>
              <a:rPr lang="en-US" altLang="zh-CN" b="1" dirty="0">
                <a:solidFill>
                  <a:schemeClr val="tx1"/>
                </a:solidFill>
              </a:rPr>
              <a:t>   [</a:t>
            </a:r>
            <a:r>
              <a:rPr lang="zh-CN" altLang="en-US" b="1" dirty="0">
                <a:solidFill>
                  <a:schemeClr val="tx1"/>
                </a:solidFill>
              </a:rPr>
              <a:t>用户名</a:t>
            </a:r>
            <a:r>
              <a:rPr lang="en-US" altLang="zh-CN" b="1">
                <a:solidFill>
                  <a:schemeClr val="tx1"/>
                </a:solidFill>
              </a:rPr>
              <a:t>]</a:t>
            </a:r>
            <a:endParaRPr lang="en-US" altLang="zh-CN" b="1">
              <a:solidFill>
                <a:schemeClr val="tx1"/>
              </a:solidFill>
            </a:endParaRPr>
          </a:p>
          <a:p>
            <a:pPr>
              <a:buNone/>
            </a:pPr>
            <a:endParaRPr lang="zh-CN" altLang="en-US" sz="2800" b="1">
              <a:solidFill>
                <a:schemeClr val="tx1"/>
              </a:solidFill>
            </a:endParaRPr>
          </a:p>
          <a:p>
            <a:pPr indent="-720090" latinLnBrk="0">
              <a:spcBef>
                <a:spcPts val="0"/>
              </a:spcBef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说明：</a:t>
            </a:r>
            <a:endParaRPr lang="zh-CN" altLang="en-US" sz="2400" b="1">
              <a:solidFill>
                <a:schemeClr val="tx1"/>
              </a:solidFill>
            </a:endParaRPr>
          </a:p>
          <a:p>
            <a:pPr indent="-720090" latinLnBrk="0">
              <a:spcBef>
                <a:spcPts val="0"/>
              </a:spcBef>
              <a:buNone/>
            </a:pPr>
            <a:r>
              <a:rPr lang="zh-CN" altLang="en-US" sz="2400" b="1">
                <a:solidFill>
                  <a:schemeClr val="accent6"/>
                </a:solidFill>
              </a:rPr>
              <a:t> </a:t>
            </a:r>
            <a:r>
              <a:rPr lang="en-US" altLang="zh-CN" sz="2400" b="1">
                <a:solidFill>
                  <a:schemeClr val="accent6"/>
                </a:solidFill>
              </a:rPr>
              <a:t>   </a:t>
            </a:r>
            <a:r>
              <a:rPr lang="zh-CN" altLang="en-US" sz="2400" b="1">
                <a:solidFill>
                  <a:schemeClr val="accent6"/>
                </a:solidFill>
              </a:rPr>
              <a:t>如果不加用户名就是改变当前登录用户自己的密码，只有超级用户才能更改其他用户的密码，普通用户只能更改自己的密码。</a:t>
            </a:r>
            <a:endParaRPr lang="zh-CN" altLang="en-US" sz="24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KSO_WM_UNIT_PLACING_PICTURE_USER_VIEWPORT" val="{&quot;height&quot;:4451,&quot;width&quot;:8270}"/>
</p:tagLst>
</file>

<file path=ppt/tags/tag3.xml><?xml version="1.0" encoding="utf-8"?>
<p:tagLst xmlns:p="http://schemas.openxmlformats.org/presentationml/2006/main">
  <p:tag name="KSO_WM_UNIT_PLACING_PICTURE_USER_VIEWPORT" val="{&quot;height&quot;:645,&quot;width&quot;:10515}"/>
</p:tagLst>
</file>

<file path=ppt/tags/tag4.xml><?xml version="1.0" encoding="utf-8"?>
<p:tagLst xmlns:p="http://schemas.openxmlformats.org/presentationml/2006/main">
  <p:tag name="COMMONDATA" val="eyJoZGlkIjoiODNjOTJjMmExMDY4OTczYjU5NDUyOGE5MzdlYWQ3MGIifQ=="/>
  <p:tag name="KSO_WPP_MARK_KEY" val="2d6e4c28-60c5-4ad0-8336-57f8fb93b255"/>
  <p:tag name="commondata" val="eyJoZGlkIjoiMGVmMzkzNmEzMmU3NTFiMTgyMGNkZWM4ZjkxMTJhNTAifQ=="/>
</p:tagLst>
</file>

<file path=ppt/theme/theme1.xml><?xml version="1.0" encoding="utf-8"?>
<a:theme xmlns:a="http://schemas.openxmlformats.org/drawingml/2006/main" name="CentOS-CH-PPT">
  <a:themeElements>
    <a:clrScheme name="介绍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介绍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介绍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介绍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介绍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介绍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CentOS-CH-PPT</Template>
  <TotalTime>0</TotalTime>
  <Words>2731</Words>
  <Application>WPS 演示</Application>
  <PresentationFormat>全屏显示(4:3)</PresentationFormat>
  <Paragraphs>216</Paragraphs>
  <Slides>34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</vt:lpstr>
      <vt:lpstr>宋体</vt:lpstr>
      <vt:lpstr>Wingdings</vt:lpstr>
      <vt:lpstr>Garamond</vt:lpstr>
      <vt:lpstr>Wingdings</vt:lpstr>
      <vt:lpstr>Verdana</vt:lpstr>
      <vt:lpstr>华文中宋</vt:lpstr>
      <vt:lpstr>微软雅黑</vt:lpstr>
      <vt:lpstr>Arial Unicode MS</vt:lpstr>
      <vt:lpstr>Calibri</vt:lpstr>
      <vt:lpstr>CentOS-CH-PPT</vt:lpstr>
      <vt:lpstr>  第 02 章      Linux 基础</vt:lpstr>
      <vt:lpstr>一、 Linux文件系统简介</vt:lpstr>
      <vt:lpstr>文件系统 </vt:lpstr>
      <vt:lpstr>1、文件系统基础 </vt:lpstr>
      <vt:lpstr>PowerPoint 演示文稿</vt:lpstr>
      <vt:lpstr>PowerPoint 演示文稿</vt:lpstr>
      <vt:lpstr>二、 LINUX 系统目录结构</vt:lpstr>
      <vt:lpstr>PowerPoint 演示文稿</vt:lpstr>
      <vt:lpstr>         </vt:lpstr>
      <vt:lpstr>PowerPoint 演示文稿</vt:lpstr>
      <vt:lpstr>PowerPoint 演示文稿</vt:lpstr>
      <vt:lpstr>PowerPoint 演示文稿</vt:lpstr>
      <vt:lpstr>PowerPoint 演示文稿</vt:lpstr>
      <vt:lpstr>三、 LINUX 系统文件类型</vt:lpstr>
      <vt:lpstr>文件类型</vt:lpstr>
      <vt:lpstr>PowerPoint 演示文稿</vt:lpstr>
      <vt:lpstr>PowerPoint 演示文稿</vt:lpstr>
      <vt:lpstr>PowerPoint 演示文稿</vt:lpstr>
      <vt:lpstr>四、 LINUX 命令格式</vt:lpstr>
      <vt:lpstr>Linux命令的格式：</vt:lpstr>
      <vt:lpstr>PowerPoint 演示文稿</vt:lpstr>
      <vt:lpstr>五、 LINUX 简单命令</vt:lpstr>
      <vt:lpstr>简单命令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                  Linux简介与安装</dc:title>
  <dc:creator>osmond</dc:creator>
  <cp:lastModifiedBy>李莉</cp:lastModifiedBy>
  <cp:revision>154</cp:revision>
  <dcterms:created xsi:type="dcterms:W3CDTF">2011-05-25T10:42:00Z</dcterms:created>
  <dcterms:modified xsi:type="dcterms:W3CDTF">2024-09-19T16:46:08Z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2052-12.1.0.18240</vt:lpwstr>
  </property>
  <property fmtid="{D5CDD505-2E9C-101B-9397-08002B2CF9AE}" pid="3" name="ICV">
    <vt:lpwstr>4E7325B4768C4B9A90C5893B74AADD20</vt:lpwstr>
  </property>
</Properties>
</file>