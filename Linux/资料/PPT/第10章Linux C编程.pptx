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46"/>
  </p:notesMasterIdLst>
  <p:sldIdLst>
    <p:sldId id="273" r:id="rId3"/>
    <p:sldId id="272" r:id="rId4"/>
    <p:sldId id="346" r:id="rId5"/>
    <p:sldId id="311" r:id="rId6"/>
    <p:sldId id="347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48" r:id="rId20"/>
    <p:sldId id="325" r:id="rId21"/>
    <p:sldId id="326" r:id="rId22"/>
    <p:sldId id="349" r:id="rId23"/>
    <p:sldId id="327" r:id="rId24"/>
    <p:sldId id="328" r:id="rId25"/>
    <p:sldId id="329" r:id="rId26"/>
    <p:sldId id="330" r:id="rId27"/>
    <p:sldId id="331" r:id="rId28"/>
    <p:sldId id="332" r:id="rId29"/>
    <p:sldId id="350" r:id="rId30"/>
    <p:sldId id="333" r:id="rId31"/>
    <p:sldId id="334" r:id="rId32"/>
    <p:sldId id="351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52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51" autoAdjust="0"/>
  </p:normalViewPr>
  <p:slideViewPr>
    <p:cSldViewPr snapToGrid="0">
      <p:cViewPr varScale="1">
        <p:scale>
          <a:sx n="64" d="100"/>
          <a:sy n="64" d="100"/>
        </p:scale>
        <p:origin x="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CAE0C-A047-4C5A-B40C-696D032ACC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www.1ppt.com/hangye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剪去单角 6"/>
          <p:cNvSpPr/>
          <p:nvPr userDrawn="1"/>
        </p:nvSpPr>
        <p:spPr>
          <a:xfrm>
            <a:off x="-133165" y="976931"/>
            <a:ext cx="2263806" cy="1180730"/>
          </a:xfrm>
          <a:prstGeom prst="snip1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827888" y="976931"/>
            <a:ext cx="5650925" cy="4954450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lang="zh-CN" altLang="en-US" sz="3200" b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914400" indent="-457200">
              <a:buFont typeface="+mj-lt"/>
              <a:buAutoNum type="arabicPeriod"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371600" indent="-457200">
              <a:buFont typeface="+mj-lt"/>
              <a:buAutoNum type="arabicPeriod"/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7145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1717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" name="WordArt 293"/>
          <p:cNvSpPr>
            <a:spLocks noChangeArrowheads="1" noChangeShapeType="1" noTextEdit="1"/>
          </p:cNvSpPr>
          <p:nvPr userDrawn="1"/>
        </p:nvSpPr>
        <p:spPr bwMode="auto">
          <a:xfrm>
            <a:off x="552994" y="1243444"/>
            <a:ext cx="1143000" cy="5332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000000">
                      <a:alpha val="80000"/>
                    </a:srgbClr>
                  </a:outerShdw>
                </a:effectLst>
                <a:cs typeface="+mn-ea"/>
                <a:sym typeface="+mn-lt"/>
              </a:rPr>
              <a:t>目录</a:t>
            </a:r>
            <a:endParaRPr lang="zh-CN" altLang="en-US" sz="3600" b="1" kern="1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outerShdw dist="35921" dir="2700000" algn="ctr" rotWithShape="0">
                  <a:srgbClr val="000000">
                    <a:alpha val="8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WordArt 294"/>
          <p:cNvSpPr>
            <a:spLocks noChangeArrowheads="1" noChangeShapeType="1" noTextEdit="1"/>
          </p:cNvSpPr>
          <p:nvPr userDrawn="1"/>
        </p:nvSpPr>
        <p:spPr bwMode="auto">
          <a:xfrm>
            <a:off x="564082" y="1912157"/>
            <a:ext cx="1143000" cy="1523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首页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28020" y="2348880"/>
            <a:ext cx="2591916" cy="26035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lang="zh-CN" altLang="en-US" sz="16600" kern="1200" dirty="0">
                <a:solidFill>
                  <a:srgbClr val="385D8A"/>
                </a:solidFill>
                <a:latin typeface="Arial Narrow" panose="020B0606020202030204" pitchFamily="34" charset="0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等腰三角形 37"/>
          <p:cNvSpPr>
            <a:spLocks noChangeArrowheads="1"/>
          </p:cNvSpPr>
          <p:nvPr userDrawn="1"/>
        </p:nvSpPr>
        <p:spPr bwMode="auto">
          <a:xfrm>
            <a:off x="1452563" y="4003377"/>
            <a:ext cx="3008312" cy="2593975"/>
          </a:xfrm>
          <a:prstGeom prst="triangle">
            <a:avLst>
              <a:gd name="adj" fmla="val 50000"/>
            </a:avLst>
          </a:prstGeom>
          <a:solidFill>
            <a:srgbClr val="385D8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002463" y="260648"/>
            <a:ext cx="3008312" cy="2603500"/>
            <a:chOff x="7002463" y="-9525"/>
            <a:chExt cx="3008312" cy="2603500"/>
          </a:xfrm>
        </p:grpSpPr>
        <p:sp>
          <p:nvSpPr>
            <p:cNvPr id="18" name="等腰三角形 7"/>
            <p:cNvSpPr>
              <a:spLocks noChangeArrowheads="1"/>
            </p:cNvSpPr>
            <p:nvPr/>
          </p:nvSpPr>
          <p:spPr bwMode="auto">
            <a:xfrm rot="10800000">
              <a:off x="7002463" y="0"/>
              <a:ext cx="3008312" cy="2593975"/>
            </a:xfrm>
            <a:prstGeom prst="triangle">
              <a:avLst>
                <a:gd name="adj" fmla="val 50000"/>
              </a:avLst>
            </a:prstGeom>
            <a:solidFill>
              <a:srgbClr val="385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直角三角形 13"/>
            <p:cNvSpPr>
              <a:spLocks noChangeArrowheads="1"/>
            </p:cNvSpPr>
            <p:nvPr/>
          </p:nvSpPr>
          <p:spPr bwMode="auto">
            <a:xfrm rot="10800000" flipH="1">
              <a:off x="8499475" y="-9525"/>
              <a:ext cx="1511300" cy="2603500"/>
            </a:xfrm>
            <a:prstGeom prst="rtTriangle">
              <a:avLst/>
            </a:prstGeom>
            <a:solidFill>
              <a:srgbClr val="30302F">
                <a:alpha val="4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521" y="3645024"/>
            <a:ext cx="4752951" cy="1191915"/>
          </a:xfrm>
          <a:prstGeom prst="rect">
            <a:avLst/>
          </a:prstGeom>
        </p:spPr>
        <p:txBody>
          <a:bodyPr/>
          <a:lstStyle>
            <a:lvl1pPr>
              <a:defRPr lang="zh-CN" altLang="en-US" sz="36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638510" y="2879503"/>
            <a:ext cx="1782860" cy="523220"/>
          </a:xfrm>
          <a:prstGeom prst="rect">
            <a:avLst/>
          </a:prstGeom>
          <a:solidFill>
            <a:srgbClr val="385D8A"/>
          </a:solidFill>
        </p:spPr>
        <p:txBody>
          <a:bodyPr wrap="none" rtlCol="0">
            <a:spAutoFit/>
          </a:bodyPr>
          <a:lstStyle/>
          <a:p>
            <a:r>
              <a:rPr kumimoji="0" lang="en-US" altLang="zh-CN" sz="2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SUBTITLE</a:t>
            </a:r>
            <a:endParaRPr kumimoji="0" lang="zh-CN" altLang="en-US" sz="2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2" grpId="0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0093" y="697517"/>
            <a:ext cx="7993358" cy="457315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07232" y="662608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13" name="矩形 1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6591" y="555079"/>
            <a:ext cx="10037209" cy="457316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22513"/>
            <a:ext cx="10515600" cy="49544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07232" y="512854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9" name="矩形 8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14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88" y="1092373"/>
            <a:ext cx="2659224" cy="14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 anchor="b"/>
          <a:lstStyle>
            <a:lvl1pPr algn="ctr">
              <a:defRPr lang="zh-CN" altLang="en-US" sz="48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编辑母版标题样式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55440" y="548681"/>
            <a:ext cx="3957135" cy="5436484"/>
            <a:chOff x="1559496" y="764704"/>
            <a:chExt cx="3849496" cy="55789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08622" y="620688"/>
            <a:ext cx="3863242" cy="5598859"/>
            <a:chOff x="1559496" y="764704"/>
            <a:chExt cx="3849496" cy="55789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 userDrawn="1"/>
        </p:nvSpPr>
        <p:spPr>
          <a:xfrm>
            <a:off x="4673753" y="4127826"/>
            <a:ext cx="704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Thanks for your attention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！</a:t>
            </a:r>
            <a:endParaRPr lang="zh-CN" altLang="en-US" sz="36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9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99" y="1331453"/>
            <a:ext cx="385069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039543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9583397" y="6476399"/>
            <a:ext cx="0" cy="381601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接连接符 24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2001868" y="2586633"/>
            <a:ext cx="8188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Thanks for your attention</a:t>
            </a:r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！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140" y="4119033"/>
            <a:ext cx="1256338" cy="1256338"/>
          </a:xfrm>
          <a:prstGeom prst="rect">
            <a:avLst/>
          </a:prstGeom>
        </p:spPr>
      </p:pic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0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/>
        </p:nvPicPr>
        <p:blipFill>
          <a:blip r:embed="rId21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263352" y="260648"/>
            <a:ext cx="11665296" cy="63367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10</a:t>
            </a:r>
            <a:r>
              <a:rPr lang="zh-CN" altLang="en-US" dirty="0"/>
              <a:t>章 </a:t>
            </a:r>
            <a:r>
              <a:rPr lang="en-US" altLang="zh-CN" dirty="0"/>
              <a:t>Linux C</a:t>
            </a:r>
            <a:r>
              <a:rPr lang="zh-CN" altLang="en-US" dirty="0"/>
              <a:t>编程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27655" y="976630"/>
            <a:ext cx="6998335" cy="495427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olidFill>
                  <a:srgbClr val="00B050"/>
                </a:solidFill>
              </a:rPr>
              <a:t>概述</a:t>
            </a:r>
            <a:endParaRPr lang="en-US" altLang="zh-CN" dirty="0">
              <a:solidFill>
                <a:srgbClr val="00B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gcc</a:t>
            </a:r>
            <a:r>
              <a:rPr lang="zh-CN" altLang="en-US" dirty="0"/>
              <a:t>编译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gdb</a:t>
            </a:r>
            <a:r>
              <a:rPr lang="zh-CN" altLang="en-US" dirty="0"/>
              <a:t>调试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make</a:t>
            </a:r>
            <a:r>
              <a:rPr lang="zh-CN" altLang="en-US" dirty="0"/>
              <a:t>编译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Makefile</a:t>
            </a:r>
            <a:r>
              <a:rPr lang="zh-CN" altLang="en-US" dirty="0"/>
              <a:t>自动生成技术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Autotools</a:t>
            </a:r>
            <a:r>
              <a:rPr lang="zh-CN" altLang="en-US" dirty="0"/>
              <a:t>和</a:t>
            </a:r>
            <a:r>
              <a:rPr lang="en-US" altLang="zh-CN" dirty="0"/>
              <a:t>make</a:t>
            </a:r>
            <a:r>
              <a:rPr lang="zh-CN" altLang="en-US" dirty="0"/>
              <a:t>综合应用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编辑器</a:t>
            </a:r>
            <a:endParaRPr lang="en-US" altLang="zh-CN" dirty="0"/>
          </a:p>
          <a:p>
            <a:pPr lvl="1"/>
            <a:r>
              <a:rPr lang="en-US" altLang="zh-CN" dirty="0"/>
              <a:t>Vi</a:t>
            </a:r>
            <a:r>
              <a:rPr lang="zh-CN" altLang="en-US" dirty="0"/>
              <a:t>、</a:t>
            </a:r>
            <a:r>
              <a:rPr lang="en-US" altLang="zh-CN" dirty="0"/>
              <a:t>Vim</a:t>
            </a:r>
            <a:r>
              <a:rPr lang="zh-CN" altLang="en-US" dirty="0"/>
              <a:t>、</a:t>
            </a:r>
            <a:r>
              <a:rPr lang="en-US" altLang="zh-CN" dirty="0" err="1"/>
              <a:t>emacs</a:t>
            </a:r>
            <a:r>
              <a:rPr lang="zh-CN" altLang="en-US" dirty="0"/>
              <a:t>、</a:t>
            </a:r>
            <a:r>
              <a:rPr lang="en-US" altLang="zh-CN" dirty="0" err="1"/>
              <a:t>gedit</a:t>
            </a:r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编译器</a:t>
            </a:r>
            <a:endParaRPr lang="en-US" altLang="zh-CN" dirty="0"/>
          </a:p>
          <a:p>
            <a:pPr lvl="1"/>
            <a:r>
              <a:rPr lang="en-US" altLang="zh-CN" dirty="0" err="1"/>
              <a:t>gcc</a:t>
            </a:r>
            <a:endParaRPr lang="en-US" altLang="zh-CN" dirty="0"/>
          </a:p>
          <a:p>
            <a:r>
              <a:rPr lang="zh-CN" altLang="en-US" dirty="0"/>
              <a:t>调试器</a:t>
            </a:r>
            <a:endParaRPr lang="en-US" altLang="zh-CN" dirty="0"/>
          </a:p>
          <a:p>
            <a:pPr lvl="1"/>
            <a:r>
              <a:rPr lang="en-US" altLang="zh-CN" dirty="0" err="1"/>
              <a:t>gdb</a:t>
            </a:r>
            <a:r>
              <a:rPr lang="en-US" altLang="zh-CN" dirty="0"/>
              <a:t>	</a:t>
            </a:r>
            <a:endParaRPr lang="en-US" altLang="zh-CN" dirty="0"/>
          </a:p>
          <a:p>
            <a:r>
              <a:rPr lang="zh-CN" altLang="en-US" dirty="0"/>
              <a:t>项目管理器</a:t>
            </a:r>
            <a:endParaRPr lang="en-US" altLang="zh-CN" dirty="0"/>
          </a:p>
          <a:p>
            <a:pPr lvl="1"/>
            <a:r>
              <a:rPr lang="en-US" altLang="zh-CN" dirty="0"/>
              <a:t>make</a:t>
            </a:r>
            <a:r>
              <a:rPr lang="zh-CN" altLang="en-US" dirty="0"/>
              <a:t>和</a:t>
            </a:r>
            <a:r>
              <a:rPr lang="en-US" altLang="zh-CN" dirty="0" err="1"/>
              <a:t>makefile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gcc</a:t>
            </a:r>
            <a:r>
              <a:rPr lang="zh-CN" altLang="en-US" dirty="0"/>
              <a:t>编译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开发环境配置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err="1"/>
              <a:t>gcc</a:t>
            </a:r>
            <a:r>
              <a:rPr lang="en-US" altLang="zh-CN" dirty="0"/>
              <a:t> –v</a:t>
            </a:r>
            <a:endParaRPr lang="en-US" altLang="zh-CN" dirty="0"/>
          </a:p>
          <a:p>
            <a:pPr lvl="1"/>
            <a:r>
              <a:rPr lang="en-US" altLang="zh-CN" dirty="0"/>
              <a:t>sudo apt install build-essential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26651"/>
          <a:stretch>
            <a:fillRect/>
          </a:stretch>
        </p:blipFill>
        <p:spPr>
          <a:xfrm>
            <a:off x="1593796" y="2218313"/>
            <a:ext cx="8640000" cy="1038132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1" b="69568"/>
          <a:stretch>
            <a:fillRect/>
          </a:stretch>
        </p:blipFill>
        <p:spPr>
          <a:xfrm>
            <a:off x="1593796" y="3715015"/>
            <a:ext cx="8640000" cy="1654136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gcc</a:t>
            </a:r>
            <a:r>
              <a:rPr lang="zh-CN" altLang="zh-CN" dirty="0"/>
              <a:t>命令基本用法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预处理阶段</a:t>
            </a:r>
            <a:endParaRPr lang="en-US" altLang="zh-CN" dirty="0"/>
          </a:p>
          <a:p>
            <a:pPr lvl="1"/>
            <a:r>
              <a:rPr lang="pt-BR" altLang="zh-CN" dirty="0"/>
              <a:t>gcc -E -o zp.i zp.c</a:t>
            </a:r>
            <a:endParaRPr lang="en-US" altLang="zh-CN" dirty="0"/>
          </a:p>
          <a:p>
            <a:r>
              <a:rPr lang="zh-CN" altLang="en-US" dirty="0"/>
              <a:t>编译阶段</a:t>
            </a:r>
            <a:endParaRPr lang="en-US" altLang="zh-CN" dirty="0"/>
          </a:p>
          <a:p>
            <a:pPr lvl="1"/>
            <a:r>
              <a:rPr lang="en-US" altLang="zh-CN" dirty="0" err="1"/>
              <a:t>gcc</a:t>
            </a:r>
            <a:r>
              <a:rPr lang="en-US" altLang="zh-CN" dirty="0"/>
              <a:t> -S -o </a:t>
            </a:r>
            <a:r>
              <a:rPr lang="en-US" altLang="zh-CN" dirty="0" err="1"/>
              <a:t>zp.s</a:t>
            </a:r>
            <a:r>
              <a:rPr lang="en-US" altLang="zh-CN" dirty="0"/>
              <a:t> </a:t>
            </a:r>
            <a:r>
              <a:rPr lang="en-US" altLang="zh-CN" dirty="0" err="1"/>
              <a:t>zp.c</a:t>
            </a:r>
            <a:endParaRPr lang="en-US" altLang="zh-CN" dirty="0"/>
          </a:p>
          <a:p>
            <a:r>
              <a:rPr lang="zh-CN" altLang="en-US" dirty="0"/>
              <a:t>汇编阶段</a:t>
            </a:r>
            <a:endParaRPr lang="en-US" altLang="zh-CN" dirty="0"/>
          </a:p>
          <a:p>
            <a:pPr lvl="1"/>
            <a:r>
              <a:rPr lang="pl-PL" altLang="zh-CN" dirty="0"/>
              <a:t>gcc -c -o zp.o zp.c</a:t>
            </a:r>
            <a:endParaRPr lang="en-US" altLang="zh-CN" dirty="0"/>
          </a:p>
          <a:p>
            <a:r>
              <a:rPr lang="zh-CN" altLang="en-US" dirty="0"/>
              <a:t>链接阶段</a:t>
            </a:r>
            <a:endParaRPr lang="en-US" altLang="zh-CN" dirty="0"/>
          </a:p>
          <a:p>
            <a:pPr lvl="1"/>
            <a:r>
              <a:rPr lang="en-US" altLang="zh-CN" dirty="0" err="1"/>
              <a:t>gcc</a:t>
            </a:r>
            <a:r>
              <a:rPr lang="en-US" altLang="zh-CN" dirty="0"/>
              <a:t> -o </a:t>
            </a:r>
            <a:r>
              <a:rPr lang="en-US" altLang="zh-CN" dirty="0" err="1"/>
              <a:t>zp</a:t>
            </a:r>
            <a:r>
              <a:rPr lang="en-US" altLang="zh-CN" dirty="0"/>
              <a:t> </a:t>
            </a:r>
            <a:r>
              <a:rPr lang="en-US" altLang="zh-CN" dirty="0" err="1"/>
              <a:t>zp.c</a:t>
            </a:r>
            <a:endParaRPr lang="en-US" altLang="zh-CN" dirty="0"/>
          </a:p>
          <a:p>
            <a:r>
              <a:rPr lang="zh-CN" altLang="en-US" dirty="0"/>
              <a:t>运行程序</a:t>
            </a:r>
            <a:endParaRPr lang="en-US" altLang="zh-CN" dirty="0"/>
          </a:p>
          <a:p>
            <a:pPr lvl="1"/>
            <a:r>
              <a:rPr lang="en-US" altLang="zh-CN" dirty="0"/>
              <a:t>./</a:t>
            </a:r>
            <a:r>
              <a:rPr lang="en-US" altLang="zh-CN" dirty="0" err="1"/>
              <a:t>zp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5077250" y="2586680"/>
            <a:ext cx="5969051" cy="1265127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gcc</a:t>
            </a:r>
            <a:r>
              <a:rPr lang="zh-CN" altLang="en-US" dirty="0"/>
              <a:t>使用实例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实例</a:t>
            </a:r>
            <a:r>
              <a:rPr lang="en-US" altLang="zh-CN" dirty="0"/>
              <a:t>10-3】</a:t>
            </a:r>
            <a:r>
              <a:rPr lang="zh-CN" altLang="en-US" dirty="0"/>
              <a:t>最简单的</a:t>
            </a:r>
            <a:r>
              <a:rPr lang="en-US" altLang="zh-CN" dirty="0" err="1"/>
              <a:t>gcc</a:t>
            </a:r>
            <a:r>
              <a:rPr lang="zh-CN" altLang="en-US" dirty="0"/>
              <a:t>用法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3201" y="943276"/>
            <a:ext cx="5009524" cy="15142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53130" b="5524"/>
          <a:stretch>
            <a:fillRect/>
          </a:stretch>
        </p:blipFill>
        <p:spPr>
          <a:xfrm>
            <a:off x="1295844" y="3161974"/>
            <a:ext cx="8640000" cy="1408616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【实例</a:t>
            </a:r>
            <a:r>
              <a:rPr lang="en-US" altLang="zh-CN" dirty="0"/>
              <a:t>10-4</a:t>
            </a:r>
            <a:r>
              <a:rPr lang="zh-CN" altLang="zh-CN" dirty="0"/>
              <a:t>】</a:t>
            </a:r>
            <a:r>
              <a:rPr lang="en-US" altLang="zh-CN" dirty="0" err="1"/>
              <a:t>gcc</a:t>
            </a:r>
            <a:r>
              <a:rPr lang="zh-CN" altLang="zh-CN" dirty="0"/>
              <a:t>完整编译过程展示。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预处理过程</a:t>
            </a:r>
            <a:endParaRPr lang="en-US" altLang="zh-CN" dirty="0"/>
          </a:p>
          <a:p>
            <a:r>
              <a:rPr lang="zh-CN" altLang="zh-CN" dirty="0"/>
              <a:t>编译过程</a:t>
            </a:r>
            <a:endParaRPr lang="en-US" altLang="zh-CN" dirty="0"/>
          </a:p>
          <a:p>
            <a:r>
              <a:rPr lang="zh-CN" altLang="zh-CN" dirty="0"/>
              <a:t>汇编过程</a:t>
            </a:r>
            <a:endParaRPr lang="en-US" altLang="zh-CN" dirty="0"/>
          </a:p>
          <a:p>
            <a:r>
              <a:rPr lang="zh-CN" altLang="zh-CN" dirty="0"/>
              <a:t>链接过程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2778" b="4520"/>
          <a:stretch>
            <a:fillRect/>
          </a:stretch>
        </p:blipFill>
        <p:spPr>
          <a:xfrm>
            <a:off x="3579453" y="1523211"/>
            <a:ext cx="7200000" cy="3029617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【实例</a:t>
            </a:r>
            <a:r>
              <a:rPr lang="en-US" altLang="zh-CN" dirty="0"/>
              <a:t>10-4</a:t>
            </a:r>
            <a:r>
              <a:rPr lang="zh-CN" altLang="zh-CN" dirty="0"/>
              <a:t>】</a:t>
            </a:r>
            <a:r>
              <a:rPr lang="en-US" altLang="zh-CN" dirty="0" err="1"/>
              <a:t>gcc</a:t>
            </a:r>
            <a:r>
              <a:rPr lang="zh-CN" altLang="zh-CN" dirty="0"/>
              <a:t>完整编译过程展示。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预处理过程</a:t>
            </a:r>
            <a:endParaRPr lang="en-US" altLang="zh-CN" dirty="0"/>
          </a:p>
          <a:p>
            <a:r>
              <a:rPr lang="zh-CN" altLang="zh-CN" dirty="0"/>
              <a:t>编译过程</a:t>
            </a:r>
            <a:endParaRPr lang="en-US" altLang="zh-CN" dirty="0"/>
          </a:p>
          <a:p>
            <a:r>
              <a:rPr lang="zh-CN" altLang="zh-CN" dirty="0"/>
              <a:t>汇编过程</a:t>
            </a:r>
            <a:endParaRPr lang="en-US" altLang="zh-CN" dirty="0"/>
          </a:p>
          <a:p>
            <a:r>
              <a:rPr lang="zh-CN" altLang="zh-CN" dirty="0"/>
              <a:t>链接过程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3430" b="18456"/>
          <a:stretch>
            <a:fillRect/>
          </a:stretch>
        </p:blipFill>
        <p:spPr>
          <a:xfrm>
            <a:off x="3197067" y="2161562"/>
            <a:ext cx="7200000" cy="2505177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【实例</a:t>
            </a:r>
            <a:r>
              <a:rPr lang="en-US" altLang="zh-CN" dirty="0"/>
              <a:t>10-4</a:t>
            </a:r>
            <a:r>
              <a:rPr lang="zh-CN" altLang="zh-CN" dirty="0"/>
              <a:t>】</a:t>
            </a:r>
            <a:r>
              <a:rPr lang="en-US" altLang="zh-CN" dirty="0" err="1"/>
              <a:t>gcc</a:t>
            </a:r>
            <a:r>
              <a:rPr lang="zh-CN" altLang="zh-CN" dirty="0"/>
              <a:t>完整编译过程展示。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预处理过程</a:t>
            </a:r>
            <a:endParaRPr lang="en-US" altLang="zh-CN" dirty="0"/>
          </a:p>
          <a:p>
            <a:r>
              <a:rPr lang="zh-CN" altLang="zh-CN" dirty="0"/>
              <a:t>编译过程</a:t>
            </a:r>
            <a:endParaRPr lang="en-US" altLang="zh-CN" dirty="0"/>
          </a:p>
          <a:p>
            <a:r>
              <a:rPr lang="zh-CN" altLang="zh-CN" dirty="0"/>
              <a:t>汇编过程</a:t>
            </a:r>
            <a:endParaRPr lang="en-US" altLang="zh-CN" dirty="0"/>
          </a:p>
          <a:p>
            <a:r>
              <a:rPr lang="zh-CN" altLang="zh-CN" dirty="0"/>
              <a:t>链接过程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5229"/>
          <a:stretch>
            <a:fillRect/>
          </a:stretch>
        </p:blipFill>
        <p:spPr>
          <a:xfrm>
            <a:off x="3113245" y="1827245"/>
            <a:ext cx="7200000" cy="2717554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【实例</a:t>
            </a:r>
            <a:r>
              <a:rPr lang="en-US" altLang="zh-CN" dirty="0"/>
              <a:t>10-4</a:t>
            </a:r>
            <a:r>
              <a:rPr lang="zh-CN" altLang="zh-CN" dirty="0"/>
              <a:t>】</a:t>
            </a:r>
            <a:r>
              <a:rPr lang="en-US" altLang="zh-CN" dirty="0" err="1"/>
              <a:t>gcc</a:t>
            </a:r>
            <a:r>
              <a:rPr lang="zh-CN" altLang="zh-CN" dirty="0"/>
              <a:t>完整编译过程展示。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预处理过程</a:t>
            </a:r>
            <a:endParaRPr lang="en-US" altLang="zh-CN" dirty="0"/>
          </a:p>
          <a:p>
            <a:r>
              <a:rPr lang="zh-CN" altLang="zh-CN" dirty="0"/>
              <a:t>编译过程</a:t>
            </a:r>
            <a:endParaRPr lang="en-US" altLang="zh-CN" dirty="0"/>
          </a:p>
          <a:p>
            <a:r>
              <a:rPr lang="zh-CN" altLang="zh-CN" dirty="0"/>
              <a:t>汇编过程</a:t>
            </a:r>
            <a:endParaRPr lang="en-US" altLang="zh-CN" dirty="0"/>
          </a:p>
          <a:p>
            <a:r>
              <a:rPr lang="zh-CN" altLang="zh-CN" dirty="0"/>
              <a:t>链接过程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8584"/>
          <a:stretch>
            <a:fillRect/>
          </a:stretch>
        </p:blipFill>
        <p:spPr>
          <a:xfrm>
            <a:off x="3359676" y="1995829"/>
            <a:ext cx="7200000" cy="1846376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【实例</a:t>
            </a:r>
            <a:r>
              <a:rPr lang="en-US" altLang="zh-CN" dirty="0"/>
              <a:t>10-5</a:t>
            </a:r>
            <a:r>
              <a:rPr lang="zh-CN" altLang="zh-CN" dirty="0"/>
              <a:t>】最常用的</a:t>
            </a:r>
            <a:r>
              <a:rPr lang="en-US" altLang="zh-CN" dirty="0" err="1"/>
              <a:t>gcc</a:t>
            </a:r>
            <a:r>
              <a:rPr lang="zh-CN" altLang="zh-CN" dirty="0"/>
              <a:t>用法。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4621" b="11932"/>
          <a:stretch>
            <a:fillRect/>
          </a:stretch>
        </p:blipFill>
        <p:spPr>
          <a:xfrm>
            <a:off x="2496000" y="2011172"/>
            <a:ext cx="8640000" cy="1045412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【实例</a:t>
            </a:r>
            <a:r>
              <a:rPr lang="en-US" altLang="zh-CN" dirty="0"/>
              <a:t>10-6</a:t>
            </a:r>
            <a:r>
              <a:rPr lang="zh-CN" altLang="zh-CN" dirty="0"/>
              <a:t>】其他</a:t>
            </a:r>
            <a:r>
              <a:rPr lang="en-US" altLang="zh-CN" dirty="0" err="1"/>
              <a:t>gcc</a:t>
            </a:r>
            <a:r>
              <a:rPr lang="zh-CN" altLang="zh-CN" dirty="0"/>
              <a:t>参数举例。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6796" b="6976"/>
          <a:stretch>
            <a:fillRect/>
          </a:stretch>
        </p:blipFill>
        <p:spPr>
          <a:xfrm>
            <a:off x="1776000" y="2057556"/>
            <a:ext cx="8640000" cy="1841176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实例</a:t>
            </a:r>
            <a:r>
              <a:rPr lang="en-US" altLang="zh-CN" dirty="0"/>
              <a:t>10-7】</a:t>
            </a:r>
            <a:r>
              <a:rPr lang="zh-CN" altLang="en-US" dirty="0"/>
              <a:t>编译包含多个源文件的项目。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源文件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641" y="2687108"/>
            <a:ext cx="4638095" cy="180952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641" y="1113257"/>
            <a:ext cx="4657725" cy="132397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641" y="4674317"/>
            <a:ext cx="4685714" cy="153333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实例</a:t>
            </a:r>
            <a:r>
              <a:rPr lang="en-US" altLang="zh-CN" dirty="0"/>
              <a:t>10-7】</a:t>
            </a:r>
            <a:r>
              <a:rPr lang="zh-CN" altLang="en-US" dirty="0"/>
              <a:t>编译包含多个源文件的项目。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方法一：分别编译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683" y="1767807"/>
            <a:ext cx="7200000" cy="3195184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实例</a:t>
            </a:r>
            <a:r>
              <a:rPr lang="en-US" altLang="zh-CN" dirty="0"/>
              <a:t>10-7】</a:t>
            </a:r>
            <a:r>
              <a:rPr lang="zh-CN" altLang="en-US" dirty="0"/>
              <a:t>编译包含多个源文件的项目。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方法二：多个文件一起编译。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5965" y="1863348"/>
            <a:ext cx="7200000" cy="2005008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gdb</a:t>
            </a:r>
            <a:r>
              <a:rPr lang="zh-CN" altLang="zh-CN" dirty="0"/>
              <a:t>使用实例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编写</a:t>
            </a:r>
            <a:r>
              <a:rPr lang="en-US" altLang="zh-CN" dirty="0"/>
              <a:t>C</a:t>
            </a:r>
            <a:r>
              <a:rPr lang="zh-CN" altLang="zh-CN" dirty="0"/>
              <a:t>语言源文件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 err="1"/>
              <a:t>gcc</a:t>
            </a:r>
            <a:r>
              <a:rPr lang="zh-CN" altLang="zh-CN" dirty="0"/>
              <a:t>的</a:t>
            </a:r>
            <a:r>
              <a:rPr lang="en-US" altLang="zh-CN" dirty="0"/>
              <a:t>–g</a:t>
            </a:r>
            <a:r>
              <a:rPr lang="zh-CN" altLang="zh-CN" dirty="0"/>
              <a:t>选项编译文件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 err="1"/>
              <a:t>gdb</a:t>
            </a:r>
            <a:r>
              <a:rPr lang="zh-CN" altLang="zh-CN" dirty="0"/>
              <a:t>启动此文件调试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149" y="3058324"/>
            <a:ext cx="3111392" cy="224174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851" y="2585119"/>
            <a:ext cx="6480000" cy="2714953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76232" b="5052"/>
          <a:stretch>
            <a:fillRect/>
          </a:stretch>
        </p:blipFill>
        <p:spPr>
          <a:xfrm>
            <a:off x="5068851" y="1937811"/>
            <a:ext cx="6480000" cy="479798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常见</a:t>
            </a:r>
            <a:r>
              <a:rPr lang="en-US" altLang="zh-CN" dirty="0" err="1"/>
              <a:t>gdb</a:t>
            </a:r>
            <a:r>
              <a:rPr lang="zh-CN" altLang="zh-CN" dirty="0"/>
              <a:t>内部命令的使用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/>
              <a:t>list </a:t>
            </a:r>
            <a:r>
              <a:rPr lang="zh-CN" altLang="zh-CN" dirty="0"/>
              <a:t>或</a:t>
            </a:r>
            <a:r>
              <a:rPr lang="en-US" altLang="zh-CN" dirty="0"/>
              <a:t>l</a:t>
            </a:r>
            <a:r>
              <a:rPr lang="zh-CN" altLang="zh-CN" dirty="0"/>
              <a:t>查看程序的源代码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run </a:t>
            </a:r>
            <a:r>
              <a:rPr lang="zh-CN" altLang="zh-CN" dirty="0"/>
              <a:t>运行此文件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break 7</a:t>
            </a:r>
            <a:r>
              <a:rPr lang="zh-CN" altLang="zh-CN" dirty="0"/>
              <a:t>在程序的第</a:t>
            </a:r>
            <a:r>
              <a:rPr lang="en-US" altLang="zh-CN" dirty="0"/>
              <a:t>7</a:t>
            </a:r>
            <a:r>
              <a:rPr lang="zh-CN" altLang="zh-CN" dirty="0"/>
              <a:t>行设置一个断点</a:t>
            </a:r>
            <a:endParaRPr lang="en-US" altLang="zh-CN" dirty="0"/>
          </a:p>
          <a:p>
            <a:r>
              <a:rPr lang="zh-CN" altLang="zh-CN" dirty="0"/>
              <a:t>继续使用</a:t>
            </a:r>
            <a:r>
              <a:rPr lang="en-US" altLang="zh-CN" dirty="0"/>
              <a:t>run</a:t>
            </a:r>
            <a:r>
              <a:rPr lang="zh-CN" altLang="zh-CN" dirty="0"/>
              <a:t>查看设置断点后程序的运行情况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watch sum</a:t>
            </a:r>
            <a:r>
              <a:rPr lang="zh-CN" altLang="zh-CN" dirty="0"/>
              <a:t>给</a:t>
            </a:r>
            <a:r>
              <a:rPr lang="en-US" altLang="zh-CN" dirty="0"/>
              <a:t>sum</a:t>
            </a:r>
            <a:r>
              <a:rPr lang="zh-CN" altLang="zh-CN" dirty="0"/>
              <a:t>变量设置一个监视点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step</a:t>
            </a:r>
            <a:r>
              <a:rPr lang="zh-CN" altLang="zh-CN" dirty="0"/>
              <a:t>或者</a:t>
            </a:r>
            <a:r>
              <a:rPr lang="en-US" altLang="zh-CN" dirty="0"/>
              <a:t>next</a:t>
            </a:r>
            <a:r>
              <a:rPr lang="zh-CN" altLang="zh-CN" dirty="0"/>
              <a:t>可以单步执行程序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info b</a:t>
            </a:r>
            <a:r>
              <a:rPr lang="zh-CN" altLang="zh-CN" dirty="0"/>
              <a:t>可以查看当前所有断点和观测点信息</a:t>
            </a:r>
            <a:endParaRPr lang="en-US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d n </a:t>
            </a:r>
            <a:r>
              <a:rPr lang="zh-CN" altLang="zh-CN" dirty="0"/>
              <a:t>可以删除指定编号的断点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make</a:t>
            </a:r>
            <a:r>
              <a:rPr lang="zh-CN" altLang="en-US" dirty="0"/>
              <a:t>编译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Makefile</a:t>
            </a:r>
            <a:r>
              <a:rPr lang="zh-CN" altLang="zh-CN" dirty="0"/>
              <a:t>语法基础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Makefile</a:t>
            </a:r>
            <a:r>
              <a:rPr lang="zh-CN" altLang="en-US" dirty="0"/>
              <a:t>文件通过一系列的规则来定义文件的依赖关系。</a:t>
            </a:r>
            <a:endParaRPr lang="en-US" altLang="zh-CN" dirty="0"/>
          </a:p>
          <a:p>
            <a:r>
              <a:rPr lang="zh-CN" altLang="en-US" dirty="0"/>
              <a:t>每条规则由</a:t>
            </a:r>
            <a:r>
              <a:rPr lang="en-US" altLang="zh-CN" dirty="0"/>
              <a:t>Target</a:t>
            </a:r>
            <a:r>
              <a:rPr lang="zh-CN" altLang="en-US" dirty="0"/>
              <a:t>（目标）、</a:t>
            </a:r>
            <a:r>
              <a:rPr lang="en-US" altLang="zh-CN" dirty="0"/>
              <a:t>Prerequisites</a:t>
            </a:r>
            <a:r>
              <a:rPr lang="zh-CN" altLang="en-US" dirty="0"/>
              <a:t>（先决条件）、</a:t>
            </a:r>
            <a:r>
              <a:rPr lang="en-US" altLang="zh-CN" dirty="0"/>
              <a:t>Command</a:t>
            </a:r>
            <a:r>
              <a:rPr lang="zh-CN" altLang="en-US" dirty="0"/>
              <a:t>（命令）三个部分组成。</a:t>
            </a:r>
            <a:endParaRPr lang="en-US" altLang="zh-CN" dirty="0"/>
          </a:p>
          <a:p>
            <a:r>
              <a:rPr lang="en-US" altLang="zh-CN" dirty="0"/>
              <a:t>Target</a:t>
            </a:r>
            <a:r>
              <a:rPr lang="zh-CN" altLang="zh-CN" dirty="0"/>
              <a:t>目标文件依赖于</a:t>
            </a:r>
            <a:r>
              <a:rPr lang="en-US" altLang="zh-CN" dirty="0"/>
              <a:t>Prerequisites</a:t>
            </a:r>
            <a:r>
              <a:rPr lang="zh-CN" altLang="zh-CN" dirty="0"/>
              <a:t>中的文件，其生成规则定义在</a:t>
            </a:r>
            <a:r>
              <a:rPr lang="en-US" altLang="zh-CN" dirty="0"/>
              <a:t>Command</a:t>
            </a:r>
            <a:r>
              <a:rPr lang="zh-CN" altLang="zh-CN" dirty="0"/>
              <a:t>中。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580" y="3761966"/>
            <a:ext cx="3333333" cy="13904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008" y="3736497"/>
            <a:ext cx="6266667" cy="181904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Makefile</a:t>
            </a:r>
            <a:r>
              <a:rPr lang="zh-CN" altLang="en-US" dirty="0"/>
              <a:t>实例：基础版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Makefile</a:t>
            </a:r>
            <a:r>
              <a:rPr lang="zh-CN" altLang="en-US" dirty="0"/>
              <a:t>实例</a:t>
            </a:r>
            <a:endParaRPr lang="en-US" altLang="zh-CN" dirty="0"/>
          </a:p>
          <a:p>
            <a:r>
              <a:rPr lang="en-US" altLang="zh-CN" dirty="0"/>
              <a:t>make</a:t>
            </a:r>
            <a:r>
              <a:rPr lang="zh-CN" altLang="en-US" dirty="0"/>
              <a:t>编译的基本步骤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2795" y="1925904"/>
            <a:ext cx="8640000" cy="4509436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Makefile</a:t>
            </a:r>
            <a:r>
              <a:rPr lang="zh-CN" altLang="en-US" dirty="0"/>
              <a:t>实例：进阶版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000" y="1967277"/>
            <a:ext cx="8640000" cy="1886945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make</a:t>
            </a:r>
            <a:r>
              <a:rPr lang="zh-CN" altLang="zh-CN" dirty="0"/>
              <a:t>综合实例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tretch>
            <a:fillRect/>
          </a:stretch>
        </p:blipFill>
        <p:spPr>
          <a:xfrm>
            <a:off x="4348381" y="2671097"/>
            <a:ext cx="3495238" cy="205714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r="9881"/>
          <a:stretch>
            <a:fillRect/>
          </a:stretch>
        </p:blipFill>
        <p:spPr>
          <a:xfrm>
            <a:off x="1115819" y="3275099"/>
            <a:ext cx="3905142" cy="128571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75" y="4739339"/>
            <a:ext cx="3914286" cy="128571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-1" r="-9345"/>
          <a:stretch>
            <a:fillRect/>
          </a:stretch>
        </p:blipFill>
        <p:spPr>
          <a:xfrm>
            <a:off x="6254071" y="2096507"/>
            <a:ext cx="4644588" cy="182857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071" y="4225053"/>
            <a:ext cx="4647619" cy="1800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make</a:t>
            </a:r>
            <a:r>
              <a:rPr lang="zh-CN" altLang="zh-CN" dirty="0"/>
              <a:t>综合实例（基础版）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基础版本的</a:t>
            </a:r>
            <a:r>
              <a:rPr lang="en-US" altLang="zh-CN" dirty="0"/>
              <a:t>Makefile</a:t>
            </a:r>
            <a:endParaRPr lang="en-US" altLang="zh-CN" dirty="0"/>
          </a:p>
          <a:p>
            <a:r>
              <a:rPr lang="zh-CN" altLang="zh-CN" dirty="0"/>
              <a:t>进行</a:t>
            </a:r>
            <a:r>
              <a:rPr lang="en-US" altLang="zh-CN" dirty="0"/>
              <a:t>make</a:t>
            </a:r>
            <a:r>
              <a:rPr lang="zh-CN" altLang="zh-CN" dirty="0"/>
              <a:t>编译</a:t>
            </a:r>
            <a:endParaRPr lang="en-US" altLang="zh-CN" dirty="0"/>
          </a:p>
          <a:p>
            <a:r>
              <a:rPr lang="zh-CN" altLang="zh-CN" dirty="0"/>
              <a:t>运行可执行程序</a:t>
            </a:r>
            <a:endParaRPr lang="en-US" altLang="zh-CN" dirty="0"/>
          </a:p>
          <a:p>
            <a:r>
              <a:rPr lang="zh-CN" altLang="zh-CN" dirty="0"/>
              <a:t>测试</a:t>
            </a:r>
            <a:r>
              <a:rPr lang="en-US" altLang="zh-CN" dirty="0"/>
              <a:t>make clean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-7202"/>
          <a:stretch>
            <a:fillRect/>
          </a:stretch>
        </p:blipFill>
        <p:spPr>
          <a:xfrm>
            <a:off x="5740121" y="1034260"/>
            <a:ext cx="5272628" cy="195015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图片 6"/>
          <p:cNvPicPr/>
          <p:nvPr/>
        </p:nvPicPr>
        <p:blipFill>
          <a:blip r:embed="rId2"/>
          <a:srcRect t="1681" b="7997"/>
          <a:stretch>
            <a:fillRect/>
          </a:stretch>
        </p:blipFill>
        <p:spPr>
          <a:xfrm>
            <a:off x="5740121" y="3081851"/>
            <a:ext cx="5273040" cy="1466850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8" name="图片 7"/>
          <p:cNvPicPr/>
          <p:nvPr/>
        </p:nvPicPr>
        <p:blipFill>
          <a:blip r:embed="rId3"/>
          <a:srcRect t="75455" b="6635"/>
          <a:stretch>
            <a:fillRect/>
          </a:stretch>
        </p:blipFill>
        <p:spPr>
          <a:xfrm>
            <a:off x="5738439" y="4646418"/>
            <a:ext cx="5274310" cy="375285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9" name="图片 8"/>
          <p:cNvPicPr/>
          <p:nvPr/>
        </p:nvPicPr>
        <p:blipFill>
          <a:blip r:embed="rId4"/>
          <a:srcRect b="62404"/>
          <a:stretch>
            <a:fillRect/>
          </a:stretch>
        </p:blipFill>
        <p:spPr>
          <a:xfrm>
            <a:off x="5739709" y="5166524"/>
            <a:ext cx="5273040" cy="743585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make</a:t>
            </a:r>
            <a:r>
              <a:rPr lang="zh-CN" altLang="zh-CN" dirty="0"/>
              <a:t>综合实例（进阶版）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进阶版本</a:t>
            </a:r>
            <a:r>
              <a:rPr lang="en-US" altLang="zh-CN" dirty="0"/>
              <a:t>Makefile</a:t>
            </a:r>
            <a:endParaRPr lang="en-US" altLang="zh-CN" dirty="0"/>
          </a:p>
          <a:p>
            <a:r>
              <a:rPr lang="zh-CN" altLang="en-US" dirty="0"/>
              <a:t>测试效果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4840"/>
          <a:stretch>
            <a:fillRect/>
          </a:stretch>
        </p:blipFill>
        <p:spPr>
          <a:xfrm>
            <a:off x="1650659" y="1910333"/>
            <a:ext cx="8640000" cy="1564478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53340" b="4649"/>
          <a:stretch>
            <a:fillRect/>
          </a:stretch>
        </p:blipFill>
        <p:spPr>
          <a:xfrm>
            <a:off x="1650659" y="3669687"/>
            <a:ext cx="8640000" cy="2201618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591810" y="3644900"/>
            <a:ext cx="5398135" cy="1191895"/>
          </a:xfrm>
        </p:spPr>
        <p:txBody>
          <a:bodyPr/>
          <a:lstStyle/>
          <a:p>
            <a:r>
              <a:rPr lang="en-US" altLang="zh-CN" dirty="0" err="1"/>
              <a:t>Makefile</a:t>
            </a:r>
            <a:r>
              <a:rPr lang="zh-CN" altLang="en-US" dirty="0"/>
              <a:t>自动生成技术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工具包括如下几个部分：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altLang="zh-CN" dirty="0" err="1"/>
              <a:t>autoscan</a:t>
            </a:r>
            <a:r>
              <a:rPr lang="zh-CN" altLang="zh-CN" dirty="0"/>
              <a:t>：</a:t>
            </a:r>
            <a:r>
              <a:rPr lang="en-US" altLang="zh-CN" dirty="0"/>
              <a:t> </a:t>
            </a:r>
            <a:endParaRPr lang="en-US" altLang="zh-CN" dirty="0"/>
          </a:p>
          <a:p>
            <a:pPr lvl="1"/>
            <a:r>
              <a:rPr lang="zh-CN" altLang="zh-CN" dirty="0"/>
              <a:t>用来扫描源代码目录生成</a:t>
            </a:r>
            <a:r>
              <a:rPr lang="en-US" altLang="zh-CN" dirty="0" err="1"/>
              <a:t>configure.scan</a:t>
            </a:r>
            <a:r>
              <a:rPr lang="zh-CN" altLang="zh-CN" dirty="0"/>
              <a:t>文件。</a:t>
            </a:r>
            <a:endParaRPr lang="zh-CN" altLang="zh-CN" dirty="0"/>
          </a:p>
          <a:p>
            <a:pPr lvl="0"/>
            <a:r>
              <a:rPr lang="en-US" altLang="zh-CN" dirty="0" err="1"/>
              <a:t>aclocal</a:t>
            </a:r>
            <a:r>
              <a:rPr lang="zh-CN" altLang="zh-CN" dirty="0"/>
              <a:t>：</a:t>
            </a:r>
            <a:r>
              <a:rPr lang="en-US" altLang="zh-CN" dirty="0"/>
              <a:t> </a:t>
            </a:r>
            <a:endParaRPr lang="en-US" altLang="zh-CN" dirty="0"/>
          </a:p>
          <a:p>
            <a:pPr lvl="1"/>
            <a:r>
              <a:rPr lang="zh-CN" altLang="zh-CN" dirty="0"/>
              <a:t>根据</a:t>
            </a:r>
            <a:r>
              <a:rPr lang="en-US" altLang="zh-CN" dirty="0"/>
              <a:t>configure.in</a:t>
            </a:r>
            <a:r>
              <a:rPr lang="zh-CN" altLang="zh-CN" dirty="0"/>
              <a:t>文件的内容，自动生成</a:t>
            </a:r>
            <a:r>
              <a:rPr lang="en-US" altLang="zh-CN" dirty="0"/>
              <a:t>aclocal.m4</a:t>
            </a:r>
            <a:r>
              <a:rPr lang="zh-CN" altLang="zh-CN" dirty="0"/>
              <a:t>文件。</a:t>
            </a:r>
            <a:endParaRPr lang="zh-CN" altLang="zh-CN" dirty="0"/>
          </a:p>
          <a:p>
            <a:pPr lvl="0"/>
            <a:r>
              <a:rPr lang="en-US" altLang="zh-CN" dirty="0" err="1"/>
              <a:t>autoconf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在编译软件包前执行一系列测试，发现系统的特性，使源码可以去适应不同系统的差别，增强可移植性。</a:t>
            </a:r>
            <a:endParaRPr lang="zh-CN" altLang="zh-CN" dirty="0"/>
          </a:p>
          <a:p>
            <a:pPr lvl="0"/>
            <a:r>
              <a:rPr lang="en-US" altLang="zh-CN" dirty="0" err="1"/>
              <a:t>autoheader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扫描</a:t>
            </a:r>
            <a:r>
              <a:rPr lang="en-US" altLang="zh-CN" dirty="0"/>
              <a:t>configure.ac</a:t>
            </a:r>
            <a:r>
              <a:rPr lang="zh-CN" altLang="zh-CN" dirty="0"/>
              <a:t>中的内容，并确定需要如何生成</a:t>
            </a:r>
            <a:r>
              <a:rPr lang="en-US" altLang="zh-CN" dirty="0"/>
              <a:t>[config.h.in]</a:t>
            </a:r>
            <a:r>
              <a:rPr lang="zh-CN" altLang="zh-CN" dirty="0"/>
              <a:t>。</a:t>
            </a:r>
            <a:endParaRPr lang="zh-CN" altLang="zh-CN" dirty="0"/>
          </a:p>
          <a:p>
            <a:pPr lvl="0"/>
            <a:r>
              <a:rPr lang="en-US" altLang="zh-CN" dirty="0" err="1"/>
              <a:t>automake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根据</a:t>
            </a:r>
            <a:r>
              <a:rPr lang="en-US" altLang="zh-CN" dirty="0"/>
              <a:t>[Makefile.am]</a:t>
            </a:r>
            <a:r>
              <a:rPr lang="zh-CN" altLang="zh-CN" dirty="0"/>
              <a:t>自动构建</a:t>
            </a:r>
            <a:r>
              <a:rPr lang="en-US" altLang="zh-CN" dirty="0"/>
              <a:t>[Makefile.in]</a:t>
            </a:r>
            <a:r>
              <a:rPr lang="zh-CN" altLang="zh-CN" dirty="0"/>
              <a:t>的工具。极大地简化了描述软件包结构及追踪源码间依赖关系的过程。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451538" y="1067577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>
              <a:spcAft>
                <a:spcPts val="0"/>
              </a:spcAft>
            </a:pPr>
            <a:r>
              <a:rPr lang="en-US" altLang="zh-CN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sudo</a:t>
            </a:r>
            <a:r>
              <a:rPr lang="en-US" altLang="zh-CN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apt install </a:t>
            </a:r>
            <a:r>
              <a:rPr lang="en-US" altLang="zh-CN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autoconf</a:t>
            </a:r>
            <a:endParaRPr lang="zh-CN" altLang="zh-CN" kern="1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运行的基本流程如下：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zh-CN" altLang="zh-CN" dirty="0"/>
              <a:t>执行</a:t>
            </a:r>
            <a:r>
              <a:rPr lang="en-US" altLang="zh-CN" dirty="0" err="1"/>
              <a:t>autoscan</a:t>
            </a:r>
            <a:r>
              <a:rPr lang="zh-CN" altLang="zh-CN" dirty="0"/>
              <a:t>命令。</a:t>
            </a:r>
            <a:endParaRPr lang="en-US" altLang="zh-CN" dirty="0"/>
          </a:p>
          <a:p>
            <a:pPr lvl="1"/>
            <a:r>
              <a:rPr lang="zh-CN" altLang="zh-CN" dirty="0"/>
              <a:t>主要扫描工作目录，并生成</a:t>
            </a:r>
            <a:r>
              <a:rPr lang="en-US" altLang="zh-CN" dirty="0" err="1"/>
              <a:t>configure.scan</a:t>
            </a:r>
            <a:r>
              <a:rPr lang="zh-CN" altLang="zh-CN" dirty="0"/>
              <a:t>文件。</a:t>
            </a:r>
            <a:endParaRPr lang="zh-CN" altLang="zh-CN" dirty="0"/>
          </a:p>
          <a:p>
            <a:pPr lvl="0"/>
            <a:r>
              <a:rPr lang="zh-CN" altLang="zh-CN" dirty="0"/>
              <a:t>修改</a:t>
            </a:r>
            <a:r>
              <a:rPr lang="en-US" altLang="zh-CN" dirty="0" err="1"/>
              <a:t>configure.scan</a:t>
            </a:r>
            <a:r>
              <a:rPr lang="zh-CN" altLang="zh-CN" dirty="0"/>
              <a:t>为</a:t>
            </a:r>
            <a:r>
              <a:rPr lang="en-US" altLang="zh-CN" dirty="0"/>
              <a:t>configure.ac</a:t>
            </a:r>
            <a:r>
              <a:rPr lang="zh-CN" altLang="zh-CN" dirty="0"/>
              <a:t>文件，</a:t>
            </a:r>
            <a:endParaRPr lang="en-US" altLang="zh-CN" dirty="0"/>
          </a:p>
          <a:p>
            <a:pPr lvl="1"/>
            <a:r>
              <a:rPr lang="zh-CN" altLang="zh-CN" dirty="0"/>
              <a:t>并且修改配置内容。</a:t>
            </a:r>
            <a:r>
              <a:rPr lang="en-US" altLang="zh-CN" dirty="0"/>
              <a:t> </a:t>
            </a:r>
            <a:endParaRPr lang="zh-CN" altLang="zh-CN" dirty="0"/>
          </a:p>
          <a:p>
            <a:pPr lvl="0"/>
            <a:r>
              <a:rPr lang="zh-CN" altLang="zh-CN" dirty="0"/>
              <a:t>执行</a:t>
            </a:r>
            <a:r>
              <a:rPr lang="en-US" altLang="zh-CN" dirty="0" err="1"/>
              <a:t>aclocal</a:t>
            </a:r>
            <a:r>
              <a:rPr lang="zh-CN" altLang="zh-CN" dirty="0"/>
              <a:t>命令，</a:t>
            </a:r>
            <a:endParaRPr lang="en-US" altLang="zh-CN" dirty="0"/>
          </a:p>
          <a:p>
            <a:pPr lvl="1"/>
            <a:r>
              <a:rPr lang="zh-CN" altLang="zh-CN" dirty="0"/>
              <a:t>扫描</a:t>
            </a:r>
            <a:r>
              <a:rPr lang="en-US" altLang="zh-CN" dirty="0"/>
              <a:t> configure.ac </a:t>
            </a:r>
            <a:r>
              <a:rPr lang="zh-CN" altLang="zh-CN" dirty="0"/>
              <a:t>文件生成</a:t>
            </a:r>
            <a:r>
              <a:rPr lang="en-US" altLang="zh-CN" dirty="0"/>
              <a:t> aclocal.m4</a:t>
            </a:r>
            <a:r>
              <a:rPr lang="zh-CN" altLang="zh-CN" dirty="0"/>
              <a:t>文件。</a:t>
            </a:r>
            <a:endParaRPr lang="zh-CN" altLang="zh-CN" dirty="0"/>
          </a:p>
          <a:p>
            <a:pPr lvl="0"/>
            <a:r>
              <a:rPr lang="zh-CN" altLang="zh-CN" dirty="0"/>
              <a:t>执行</a:t>
            </a:r>
            <a:r>
              <a:rPr lang="en-US" altLang="zh-CN" dirty="0" err="1"/>
              <a:t>autoheader</a:t>
            </a:r>
            <a:r>
              <a:rPr lang="zh-CN" altLang="zh-CN" dirty="0"/>
              <a:t>命令，</a:t>
            </a:r>
            <a:endParaRPr lang="en-US" altLang="zh-CN" dirty="0"/>
          </a:p>
          <a:p>
            <a:pPr lvl="1"/>
            <a:r>
              <a:rPr lang="zh-CN" altLang="zh-CN" dirty="0"/>
              <a:t>生成</a:t>
            </a:r>
            <a:r>
              <a:rPr lang="en-US" altLang="zh-CN" dirty="0"/>
              <a:t> config.h.in </a:t>
            </a:r>
            <a:r>
              <a:rPr lang="zh-CN" altLang="zh-CN" dirty="0"/>
              <a:t>文件。</a:t>
            </a:r>
            <a:endParaRPr lang="zh-CN" altLang="zh-CN" dirty="0"/>
          </a:p>
          <a:p>
            <a:pPr lvl="0"/>
            <a:r>
              <a:rPr lang="zh-CN" altLang="zh-CN" dirty="0"/>
              <a:t>新增</a:t>
            </a:r>
            <a:r>
              <a:rPr lang="en-US" altLang="zh-CN" dirty="0"/>
              <a:t>Makefile.am</a:t>
            </a:r>
            <a:r>
              <a:rPr lang="zh-CN" altLang="zh-CN" dirty="0"/>
              <a:t>文件，</a:t>
            </a:r>
            <a:endParaRPr lang="en-US" altLang="zh-CN" dirty="0"/>
          </a:p>
          <a:p>
            <a:pPr lvl="1"/>
            <a:r>
              <a:rPr lang="zh-CN" altLang="zh-CN" dirty="0"/>
              <a:t>修改配置内容。</a:t>
            </a:r>
            <a:endParaRPr lang="zh-CN" altLang="zh-CN" dirty="0"/>
          </a:p>
          <a:p>
            <a:pPr lvl="0"/>
            <a:r>
              <a:rPr lang="zh-CN" altLang="zh-CN" dirty="0"/>
              <a:t>执行</a:t>
            </a:r>
            <a:r>
              <a:rPr lang="en-US" altLang="zh-CN" dirty="0" err="1"/>
              <a:t>automake</a:t>
            </a:r>
            <a:r>
              <a:rPr lang="en-US" altLang="zh-CN" dirty="0"/>
              <a:t> --add-missing</a:t>
            </a:r>
            <a:r>
              <a:rPr lang="zh-CN" altLang="zh-CN" dirty="0"/>
              <a:t>命令。</a:t>
            </a:r>
            <a:endParaRPr lang="en-US" altLang="zh-CN" dirty="0"/>
          </a:p>
          <a:p>
            <a:pPr lvl="1"/>
            <a:r>
              <a:rPr lang="zh-CN" altLang="zh-CN" dirty="0"/>
              <a:t>该命令生成</a:t>
            </a:r>
            <a:r>
              <a:rPr lang="en-US" altLang="zh-CN" dirty="0"/>
              <a:t> Makefile.in </a:t>
            </a:r>
            <a:r>
              <a:rPr lang="zh-CN" altLang="zh-CN" dirty="0"/>
              <a:t>文件。</a:t>
            </a:r>
            <a:endParaRPr lang="zh-CN" altLang="zh-CN" dirty="0"/>
          </a:p>
          <a:p>
            <a:pPr lvl="0"/>
            <a:r>
              <a:rPr lang="zh-CN" altLang="zh-CN" dirty="0"/>
              <a:t>执行</a:t>
            </a:r>
            <a:r>
              <a:rPr lang="en-US" altLang="zh-CN" dirty="0"/>
              <a:t> ./</a:t>
            </a:r>
            <a:r>
              <a:rPr lang="en-US" altLang="zh-CN" dirty="0" err="1"/>
              <a:t>congigure</a:t>
            </a:r>
            <a:r>
              <a:rPr lang="zh-CN" altLang="zh-CN" dirty="0"/>
              <a:t>命令。</a:t>
            </a:r>
            <a:endParaRPr lang="en-US" altLang="zh-CN" dirty="0"/>
          </a:p>
          <a:p>
            <a:pPr lvl="1"/>
            <a:r>
              <a:rPr lang="zh-CN" altLang="zh-CN" dirty="0"/>
              <a:t>将</a:t>
            </a:r>
            <a:r>
              <a:rPr lang="en-US" altLang="zh-CN" dirty="0"/>
              <a:t>Makefile.in</a:t>
            </a:r>
            <a:r>
              <a:rPr lang="zh-CN" altLang="zh-CN" dirty="0"/>
              <a:t>命令生成</a:t>
            </a:r>
            <a:r>
              <a:rPr lang="en-US" altLang="zh-CN" dirty="0"/>
              <a:t>Makefile</a:t>
            </a:r>
            <a:r>
              <a:rPr lang="zh-CN" altLang="zh-CN" dirty="0"/>
              <a:t>文件。</a:t>
            </a:r>
            <a:endParaRPr lang="zh-CN" altLang="zh-CN" dirty="0"/>
          </a:p>
          <a:p>
            <a:pPr lvl="0"/>
            <a:r>
              <a:rPr lang="zh-CN" altLang="zh-CN" dirty="0"/>
              <a:t>执行</a:t>
            </a:r>
            <a:r>
              <a:rPr lang="en-US" altLang="zh-CN" dirty="0"/>
              <a:t>make</a:t>
            </a:r>
            <a:r>
              <a:rPr lang="zh-CN" altLang="zh-CN" dirty="0"/>
              <a:t>命令，生成可执行文件。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591810" y="3644900"/>
            <a:ext cx="6075680" cy="1191895"/>
          </a:xfrm>
        </p:spPr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en-US" dirty="0"/>
              <a:t>和</a:t>
            </a:r>
            <a:r>
              <a:rPr lang="en-US" altLang="zh-CN" dirty="0"/>
              <a:t>make</a:t>
            </a:r>
            <a:r>
              <a:rPr lang="zh-CN" altLang="en-US" dirty="0"/>
              <a:t>综合应用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工具的使用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源代码与【实例</a:t>
            </a:r>
            <a:r>
              <a:rPr lang="en-US" altLang="zh-CN" dirty="0"/>
              <a:t>10-11</a:t>
            </a:r>
            <a:r>
              <a:rPr lang="zh-CN" altLang="zh-CN" dirty="0"/>
              <a:t>】完全一致</a:t>
            </a:r>
            <a:endParaRPr lang="en-US" altLang="zh-CN" dirty="0"/>
          </a:p>
          <a:p>
            <a:r>
              <a:rPr lang="zh-CN" altLang="zh-CN" dirty="0"/>
              <a:t>①</a:t>
            </a:r>
            <a:r>
              <a:rPr lang="en-US" altLang="zh-CN" dirty="0"/>
              <a:t> </a:t>
            </a:r>
            <a:r>
              <a:rPr lang="zh-CN" altLang="zh-CN" dirty="0"/>
              <a:t>执行命令</a:t>
            </a:r>
            <a:r>
              <a:rPr lang="en-US" altLang="zh-CN" dirty="0" err="1"/>
              <a:t>autoscan</a:t>
            </a:r>
            <a:r>
              <a:rPr lang="zh-CN" altLang="zh-CN" dirty="0"/>
              <a:t>扫描目录生成</a:t>
            </a:r>
            <a:r>
              <a:rPr lang="en-US" altLang="zh-CN" dirty="0" err="1"/>
              <a:t>configure.scan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5043"/>
          <a:stretch>
            <a:fillRect/>
          </a:stretch>
        </p:blipFill>
        <p:spPr>
          <a:xfrm>
            <a:off x="2063607" y="3451630"/>
            <a:ext cx="7200000" cy="2892656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10703"/>
          <a:stretch>
            <a:fillRect/>
          </a:stretch>
        </p:blipFill>
        <p:spPr>
          <a:xfrm>
            <a:off x="2063607" y="1978522"/>
            <a:ext cx="7200000" cy="1359210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工具的使用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②将文件</a:t>
            </a:r>
            <a:r>
              <a:rPr lang="en-US" altLang="zh-CN" dirty="0" err="1"/>
              <a:t>configure.scan</a:t>
            </a:r>
            <a:r>
              <a:rPr lang="zh-CN" altLang="zh-CN" dirty="0"/>
              <a:t>重命名为</a:t>
            </a:r>
            <a:r>
              <a:rPr lang="en-US" altLang="zh-CN" dirty="0"/>
              <a:t>configure.ac</a:t>
            </a:r>
            <a:r>
              <a:rPr lang="zh-CN" altLang="zh-CN" dirty="0"/>
              <a:t>，然后再编辑修改这个配置文件。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6237"/>
          <a:stretch>
            <a:fillRect/>
          </a:stretch>
        </p:blipFill>
        <p:spPr>
          <a:xfrm>
            <a:off x="2026554" y="1884630"/>
            <a:ext cx="8640000" cy="3459745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工具的使用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③执行</a:t>
            </a:r>
            <a:r>
              <a:rPr lang="en-US" altLang="zh-CN" dirty="0" err="1"/>
              <a:t>aclocal</a:t>
            </a:r>
            <a:r>
              <a:rPr lang="zh-CN" altLang="zh-CN" dirty="0"/>
              <a:t>命令，扫描</a:t>
            </a:r>
            <a:r>
              <a:rPr lang="en-US" altLang="zh-CN" dirty="0"/>
              <a:t>configure.ac</a:t>
            </a:r>
            <a:r>
              <a:rPr lang="zh-CN" altLang="zh-CN" dirty="0"/>
              <a:t>文件生成</a:t>
            </a:r>
            <a:r>
              <a:rPr lang="en-US" altLang="zh-CN" dirty="0"/>
              <a:t>aclocal.m4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12676"/>
          <a:stretch>
            <a:fillRect/>
          </a:stretch>
        </p:blipFill>
        <p:spPr>
          <a:xfrm>
            <a:off x="1581600" y="2101766"/>
            <a:ext cx="8640000" cy="1788125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工具的使用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④在项目目录下执行</a:t>
            </a:r>
            <a:r>
              <a:rPr lang="en-US" altLang="zh-CN" dirty="0" err="1"/>
              <a:t>autoconf</a:t>
            </a:r>
            <a:r>
              <a:rPr lang="zh-CN" altLang="zh-CN" dirty="0"/>
              <a:t>命令，生成</a:t>
            </a:r>
            <a:r>
              <a:rPr lang="en-US" altLang="zh-CN" dirty="0"/>
              <a:t>configure</a:t>
            </a:r>
            <a:r>
              <a:rPr lang="zh-CN" altLang="zh-CN" dirty="0"/>
              <a:t>文件。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39231" b="11219"/>
          <a:stretch>
            <a:fillRect/>
          </a:stretch>
        </p:blipFill>
        <p:spPr>
          <a:xfrm>
            <a:off x="1630152" y="2181692"/>
            <a:ext cx="8640000" cy="1016777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工具的使用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⑥创建</a:t>
            </a:r>
            <a:r>
              <a:rPr lang="en-US" altLang="zh-CN" dirty="0"/>
              <a:t>makefile.am</a:t>
            </a:r>
            <a:r>
              <a:rPr lang="zh-CN" altLang="zh-CN" dirty="0"/>
              <a:t>文件。</a:t>
            </a:r>
            <a:endParaRPr lang="en-US" altLang="zh-CN" dirty="0"/>
          </a:p>
          <a:p>
            <a:pPr lvl="1"/>
            <a:r>
              <a:rPr lang="zh-CN" altLang="zh-CN" dirty="0"/>
              <a:t>下一步中，</a:t>
            </a:r>
            <a:r>
              <a:rPr lang="en-US" altLang="zh-CN" dirty="0" err="1"/>
              <a:t>automake</a:t>
            </a:r>
            <a:r>
              <a:rPr lang="zh-CN" altLang="zh-CN" dirty="0"/>
              <a:t>工具将根据</a:t>
            </a:r>
            <a:r>
              <a:rPr lang="en-US" altLang="zh-CN" dirty="0"/>
              <a:t>configure.in</a:t>
            </a:r>
            <a:r>
              <a:rPr lang="zh-CN" altLang="zh-CN" dirty="0"/>
              <a:t>中的参数将</a:t>
            </a:r>
            <a:r>
              <a:rPr lang="en-US" altLang="zh-CN" dirty="0"/>
              <a:t>makefile.am</a:t>
            </a:r>
            <a:r>
              <a:rPr lang="zh-CN" altLang="zh-CN" dirty="0"/>
              <a:t>转换成</a:t>
            </a:r>
            <a:r>
              <a:rPr lang="en-US" altLang="zh-CN" dirty="0"/>
              <a:t>Makefile.in</a:t>
            </a:r>
            <a:r>
              <a:rPr lang="zh-CN" altLang="zh-CN" dirty="0"/>
              <a:t>文件。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324" y="2571422"/>
            <a:ext cx="8640000" cy="1020448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Autotools</a:t>
            </a:r>
            <a:r>
              <a:rPr lang="zh-CN" altLang="zh-CN" dirty="0"/>
              <a:t>工具的使用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⑦执行</a:t>
            </a:r>
            <a:r>
              <a:rPr lang="en-US" altLang="zh-CN" dirty="0" err="1"/>
              <a:t>automake</a:t>
            </a:r>
            <a:r>
              <a:rPr lang="zh-CN" altLang="zh-CN" dirty="0"/>
              <a:t>命令生成</a:t>
            </a:r>
            <a:r>
              <a:rPr lang="en-US" altLang="zh-CN" dirty="0"/>
              <a:t>makefile.in</a:t>
            </a:r>
            <a:r>
              <a:rPr lang="zh-CN" altLang="zh-CN" dirty="0"/>
              <a:t>文件。</a:t>
            </a:r>
            <a:endParaRPr lang="en-US" altLang="zh-CN" dirty="0"/>
          </a:p>
          <a:p>
            <a:pPr lvl="1"/>
            <a:r>
              <a:rPr lang="en-US" altLang="zh-CN" dirty="0" err="1"/>
              <a:t>automake</a:t>
            </a:r>
            <a:r>
              <a:rPr lang="en-US" altLang="zh-CN" dirty="0"/>
              <a:t> --add-missing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396" y="2039351"/>
            <a:ext cx="7200000" cy="2673345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396" y="4884526"/>
            <a:ext cx="7200000" cy="1184108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编译、安装和卸载项目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①在项目目录下执行</a:t>
            </a:r>
            <a:r>
              <a:rPr lang="en-US" altLang="zh-CN" dirty="0"/>
              <a:t>./configure</a:t>
            </a:r>
            <a:r>
              <a:rPr lang="zh-CN" altLang="zh-CN" dirty="0"/>
              <a:t>命令，基于</a:t>
            </a:r>
            <a:r>
              <a:rPr lang="en-US" altLang="zh-CN" dirty="0"/>
              <a:t>makefile.in</a:t>
            </a:r>
            <a:r>
              <a:rPr lang="zh-CN" altLang="zh-CN" dirty="0"/>
              <a:t>生成最终的</a:t>
            </a:r>
            <a:r>
              <a:rPr lang="en-US" altLang="zh-CN" dirty="0"/>
              <a:t>Makefile</a:t>
            </a:r>
            <a:r>
              <a:rPr lang="zh-CN" altLang="zh-CN" dirty="0"/>
              <a:t>文件。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62248"/>
          <a:stretch>
            <a:fillRect/>
          </a:stretch>
        </p:blipFill>
        <p:spPr>
          <a:xfrm>
            <a:off x="2026044" y="2390716"/>
            <a:ext cx="8640000" cy="1809968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编译、安装和卸载项目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②在项目目录下执行</a:t>
            </a:r>
            <a:r>
              <a:rPr lang="en-US" altLang="zh-CN" dirty="0"/>
              <a:t>make</a:t>
            </a:r>
            <a:r>
              <a:rPr lang="zh-CN" altLang="zh-CN" dirty="0"/>
              <a:t>命令，基于</a:t>
            </a:r>
            <a:r>
              <a:rPr lang="en-US" altLang="zh-CN" dirty="0" err="1"/>
              <a:t>makefile</a:t>
            </a:r>
            <a:r>
              <a:rPr lang="zh-CN" altLang="zh-CN" dirty="0"/>
              <a:t>文件编译源代码文件并生成可执行文件。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729" y="1978521"/>
            <a:ext cx="8640000" cy="2970845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编译、安装和卸载项目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③在项目目录下执行</a:t>
            </a:r>
            <a:r>
              <a:rPr lang="en-US" altLang="zh-CN" dirty="0"/>
              <a:t>make install</a:t>
            </a:r>
            <a:r>
              <a:rPr lang="zh-CN" altLang="zh-CN" dirty="0"/>
              <a:t>命令将编译后的软件包安装到系统中。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260" y="2233056"/>
            <a:ext cx="8640000" cy="3375487"/>
          </a:xfrm>
          <a:prstGeom prst="rect">
            <a:avLst/>
          </a:prstGeom>
          <a:ln w="6348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编译、安装和卸载项目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④使用</a:t>
            </a:r>
            <a:r>
              <a:rPr lang="en-US" altLang="zh-CN" dirty="0"/>
              <a:t>make uninstall</a:t>
            </a:r>
            <a:r>
              <a:rPr lang="zh-CN" altLang="zh-CN" dirty="0"/>
              <a:t>卸载。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8856" b="51992"/>
          <a:stretch>
            <a:fillRect/>
          </a:stretch>
        </p:blipFill>
        <p:spPr>
          <a:xfrm>
            <a:off x="1776000" y="1905519"/>
            <a:ext cx="8640000" cy="1230271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对外发布项目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打包成一个压缩文档</a:t>
            </a:r>
            <a:r>
              <a:rPr lang="en-US" altLang="zh-CN" dirty="0"/>
              <a:t>zp_hello-1.0.tar.gz</a:t>
            </a:r>
            <a:endParaRPr lang="en-US" altLang="zh-CN" dirty="0"/>
          </a:p>
          <a:p>
            <a:pPr lvl="1"/>
            <a:r>
              <a:rPr lang="en-US" altLang="zh-CN" dirty="0" err="1"/>
              <a:t>zp@lab</a:t>
            </a:r>
            <a:r>
              <a:rPr lang="en-US" altLang="zh-CN" dirty="0"/>
              <a:t>:~/c/</a:t>
            </a:r>
            <a:r>
              <a:rPr lang="en-US" altLang="zh-CN" dirty="0" err="1"/>
              <a:t>autotools</a:t>
            </a:r>
            <a:r>
              <a:rPr lang="en-US" altLang="zh-CN" dirty="0"/>
              <a:t>$ make </a:t>
            </a:r>
            <a:r>
              <a:rPr lang="en-US" altLang="zh-CN" dirty="0" err="1"/>
              <a:t>dist</a:t>
            </a:r>
            <a:endParaRPr lang="zh-CN" altLang="zh-CN" dirty="0"/>
          </a:p>
          <a:p>
            <a:pPr lvl="1"/>
            <a:r>
              <a:rPr lang="en-US" altLang="zh-CN" dirty="0" err="1"/>
              <a:t>zp@lab</a:t>
            </a:r>
            <a:r>
              <a:rPr lang="en-US" altLang="zh-CN" dirty="0"/>
              <a:t>:~/c/</a:t>
            </a:r>
            <a:r>
              <a:rPr lang="en-US" altLang="zh-CN" dirty="0" err="1"/>
              <a:t>autotools</a:t>
            </a:r>
            <a:r>
              <a:rPr lang="en-US" altLang="zh-CN" dirty="0"/>
              <a:t>$ </a:t>
            </a:r>
            <a:r>
              <a:rPr lang="en-US" altLang="zh-CN" dirty="0" err="1"/>
              <a:t>ls</a:t>
            </a:r>
            <a:endParaRPr lang="zh-CN" altLang="zh-CN" dirty="0"/>
          </a:p>
          <a:p>
            <a:r>
              <a:rPr lang="zh-CN" altLang="en-US" dirty="0"/>
              <a:t>下载安装</a:t>
            </a:r>
            <a:endParaRPr lang="en-US" altLang="zh-CN" dirty="0"/>
          </a:p>
          <a:p>
            <a:pPr lvl="1"/>
            <a:r>
              <a:rPr lang="en-US" altLang="zh-CN" dirty="0"/>
              <a:t>tar -</a:t>
            </a:r>
            <a:r>
              <a:rPr lang="en-US" altLang="zh-CN" dirty="0" err="1"/>
              <a:t>xzvf</a:t>
            </a:r>
            <a:r>
              <a:rPr lang="en-US" altLang="zh-CN" dirty="0"/>
              <a:t> zp_hello-1.0.tar.gz</a:t>
            </a:r>
            <a:endParaRPr lang="en-US" altLang="zh-CN" dirty="0"/>
          </a:p>
          <a:p>
            <a:pPr lvl="1"/>
            <a:r>
              <a:rPr lang="en-US" altLang="zh-CN" dirty="0"/>
              <a:t>tar -</a:t>
            </a:r>
            <a:r>
              <a:rPr lang="en-US" altLang="zh-CN" dirty="0" err="1"/>
              <a:t>xjvf</a:t>
            </a:r>
            <a:r>
              <a:rPr lang="en-US" altLang="zh-CN" dirty="0"/>
              <a:t> zp_hello-1.0.tar.bz2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72855"/>
          <a:stretch>
            <a:fillRect/>
          </a:stretch>
        </p:blipFill>
        <p:spPr>
          <a:xfrm>
            <a:off x="1541685" y="3949310"/>
            <a:ext cx="8640000" cy="1575922"/>
          </a:xfrm>
          <a:prstGeom prst="rect">
            <a:avLst/>
          </a:prstGeom>
          <a:ln w="6348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Linux@张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fs4aqc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2481</Words>
  <Application>WPS 演示</Application>
  <PresentationFormat>宽屏</PresentationFormat>
  <Paragraphs>253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4" baseType="lpstr">
      <vt:lpstr>Arial</vt:lpstr>
      <vt:lpstr>宋体</vt:lpstr>
      <vt:lpstr>Wingdings</vt:lpstr>
      <vt:lpstr>楷体</vt:lpstr>
      <vt:lpstr>Arial Narrow</vt:lpstr>
      <vt:lpstr>Calibri</vt:lpstr>
      <vt:lpstr>Arial Black</vt:lpstr>
      <vt:lpstr>微软雅黑</vt:lpstr>
      <vt:lpstr>Arial Unicode MS</vt:lpstr>
      <vt:lpstr>Times New Roman</vt:lpstr>
      <vt:lpstr>Linux@张平</vt:lpstr>
      <vt:lpstr>第10章 Linux C编程</vt:lpstr>
      <vt:lpstr>PowerPoint 演示文稿</vt:lpstr>
      <vt:lpstr>概述 </vt:lpstr>
      <vt:lpstr>概述</vt:lpstr>
      <vt:lpstr>gcc编译 </vt:lpstr>
      <vt:lpstr>开发环境配置</vt:lpstr>
      <vt:lpstr>gcc命令基本用法</vt:lpstr>
      <vt:lpstr>gcc使用实例</vt:lpstr>
      <vt:lpstr>【实例10-4】gcc完整编译过程展示。</vt:lpstr>
      <vt:lpstr>【实例10-4】gcc完整编译过程展示。</vt:lpstr>
      <vt:lpstr>【实例10-4】gcc完整编译过程展示。</vt:lpstr>
      <vt:lpstr>【实例10-4】gcc完整编译过程展示。</vt:lpstr>
      <vt:lpstr>【实例10-5】最常用的gcc用法。</vt:lpstr>
      <vt:lpstr>【实例10-6】其他gcc参数举例。</vt:lpstr>
      <vt:lpstr>【实例10-7】编译包含多个源文件的项目。</vt:lpstr>
      <vt:lpstr>【实例10-7】编译包含多个源文件的项目。</vt:lpstr>
      <vt:lpstr>【实例10-7】编译包含多个源文件的项目。</vt:lpstr>
      <vt:lpstr>gdb调试 </vt:lpstr>
      <vt:lpstr>gdb使用实例</vt:lpstr>
      <vt:lpstr>常见gdb内部命令的使用</vt:lpstr>
      <vt:lpstr>make编译 </vt:lpstr>
      <vt:lpstr>Makefile语法基础</vt:lpstr>
      <vt:lpstr>Makefile实例：基础版</vt:lpstr>
      <vt:lpstr>Makefile实例：进阶版</vt:lpstr>
      <vt:lpstr>make综合实例</vt:lpstr>
      <vt:lpstr>make综合实例（基础版）</vt:lpstr>
      <vt:lpstr>make综合实例（进阶版）</vt:lpstr>
      <vt:lpstr>Makefile自动生成技术 </vt:lpstr>
      <vt:lpstr>Autotools工具包括如下几个部分：</vt:lpstr>
      <vt:lpstr>Autotools运行的基本流程如下：</vt:lpstr>
      <vt:lpstr>Autotools和make综合应用 </vt:lpstr>
      <vt:lpstr>Autotools工具的使用</vt:lpstr>
      <vt:lpstr>Autotools工具的使用</vt:lpstr>
      <vt:lpstr>Autotools工具的使用</vt:lpstr>
      <vt:lpstr>Autotools工具的使用</vt:lpstr>
      <vt:lpstr>Autotools工具的使用</vt:lpstr>
      <vt:lpstr>Autotools工具的使用</vt:lpstr>
      <vt:lpstr>编译、安装和卸载项目</vt:lpstr>
      <vt:lpstr>编译、安装和卸载项目</vt:lpstr>
      <vt:lpstr>编译、安装和卸载项目</vt:lpstr>
      <vt:lpstr>编译、安装和卸载项目</vt:lpstr>
      <vt:lpstr>对外发布项目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Linux发行版</dc:title>
  <dc:creator>John</dc:creator>
  <cp:lastModifiedBy>李莉</cp:lastModifiedBy>
  <cp:revision>96</cp:revision>
  <dcterms:created xsi:type="dcterms:W3CDTF">2019-07-09T12:44:00Z</dcterms:created>
  <dcterms:modified xsi:type="dcterms:W3CDTF">2024-12-23T03:11:26Z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935543A9730E4762BFA8A6A5EAE8174D_12</vt:lpwstr>
  </property>
  <property fmtid="{D5CDD505-2E9C-101B-9397-08002B2CF9AE}" pid="3" name="KSOProductBuildVer">
    <vt:lpwstr>2052-12.1.0.19302</vt:lpwstr>
  </property>
</Properties>
</file>