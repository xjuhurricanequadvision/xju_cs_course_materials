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7" r:id="rId3"/>
    <p:sldId id="268" r:id="rId4"/>
    <p:sldId id="269" r:id="rId5"/>
    <p:sldId id="266" r:id="rId6"/>
    <p:sldId id="258" r:id="rId7"/>
    <p:sldId id="270" r:id="rId8"/>
    <p:sldId id="259"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8" r:id="rId25"/>
    <p:sldId id="289" r:id="rId26"/>
    <p:sldId id="290" r:id="rId27"/>
    <p:sldId id="291" r:id="rId28"/>
    <p:sldId id="292" r:id="rId29"/>
    <p:sldId id="293" r:id="rId30"/>
    <p:sldId id="294" r:id="rId31"/>
    <p:sldId id="295" r:id="rId32"/>
    <p:sldId id="296" r:id="rId34"/>
    <p:sldId id="297" r:id="rId35"/>
    <p:sldId id="298" r:id="rId36"/>
    <p:sldId id="299" r:id="rId37"/>
    <p:sldId id="301" r:id="rId38"/>
    <p:sldId id="302" r:id="rId39"/>
    <p:sldId id="303" r:id="rId40"/>
    <p:sldId id="304" r:id="rId41"/>
    <p:sldId id="305" r:id="rId42"/>
  </p:sldIdLst>
  <p:sldSz cx="12858750" cy="723265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649" y="1143000"/>
            <a:ext cx="5486701"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tags" Target="../tags/tag4.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tags" Target="../tags/tag5.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1.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2.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20"/>
          <p:cNvGraphicFramePr>
            <a:graphicFrameLocks noGrp="1"/>
          </p:cNvGraphicFramePr>
          <p:nvPr>
            <p:custDataLst>
              <p:tags r:id="rId1"/>
            </p:custDataLst>
          </p:nvPr>
        </p:nvGraphicFramePr>
        <p:xfrm>
          <a:off x="1048385" y="1801495"/>
          <a:ext cx="10419715" cy="4220845"/>
        </p:xfrm>
        <a:graphic>
          <a:graphicData uri="http://schemas.openxmlformats.org/drawingml/2006/table">
            <a:tbl>
              <a:tblPr/>
              <a:tblGrid>
                <a:gridCol w="10419715"/>
              </a:tblGrid>
              <a:tr h="4220845">
                <a:tc>
                  <a:txBody>
                    <a:bodyPr/>
                    <a:lstStyle/>
                    <a:p>
                      <a:pPr algn="l" rtl="0" eaLnBrk="0">
                        <a:lnSpc>
                          <a:spcPct val="103000"/>
                        </a:lnSpc>
                      </a:pPr>
                      <a:endParaRPr sz="900" dirty="0">
                        <a:latin typeface="Arial" panose="020B0604020202020204"/>
                        <a:ea typeface="Arial" panose="020B0604020202020204"/>
                        <a:cs typeface="Arial" panose="020B0604020202020204"/>
                      </a:endParaRPr>
                    </a:p>
                    <a:p>
                      <a:pPr marL="451485" indent="-324485" algn="l" rtl="0" eaLnBrk="0">
                        <a:lnSpc>
                          <a:spcPct val="115000"/>
                        </a:lnSpc>
                        <a:spcBef>
                          <a:spcPts val="5"/>
                        </a:spcBef>
                      </a:pPr>
                      <a:r>
                        <a:rPr sz="2000" kern="0" spc="-50" dirty="0">
                          <a:solidFill>
                            <a:srgbClr val="0066CC">
                              <a:alpha val="100000"/>
                            </a:srgbClr>
                          </a:solidFill>
                          <a:latin typeface="Wingdings" panose="05000000000000000000"/>
                          <a:ea typeface="Wingdings" panose="05000000000000000000"/>
                          <a:cs typeface="Wingdings" panose="05000000000000000000"/>
                        </a:rPr>
                        <a:t>l</a:t>
                      </a:r>
                      <a:r>
                        <a:rPr sz="2000" kern="0" spc="-730" dirty="0">
                          <a:solidFill>
                            <a:srgbClr val="0066CC">
                              <a:alpha val="100000"/>
                            </a:srgbClr>
                          </a:solidFill>
                          <a:latin typeface="Wingdings" panose="05000000000000000000"/>
                          <a:ea typeface="Wingdings" panose="05000000000000000000"/>
                          <a:cs typeface="Wingdings" panose="05000000000000000000"/>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速率。比特（</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bit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）是计算机中数据量的单位，也是信息论中使用的信息量的单位。</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Bit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来源于</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binary digit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，意思是一个</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二进制数字</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，因此一个比特就是二进制数字中一个</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1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或</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0</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速率即数据率(data rate)或比特率(bit rate)是计算机网络中最重要的一个性能指标。速率的单位是 b/s，或kb/s, Mb/s, Gb/s 等。速率往往是指额定速率或标称速率。</a:t>
                      </a:r>
                      <a:endPar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1485" indent="-324485" algn="l" rtl="0" eaLnBrk="0">
                        <a:lnSpc>
                          <a:spcPct val="115000"/>
                        </a:lnSpc>
                        <a:spcBef>
                          <a:spcPts val="720"/>
                        </a:spcBef>
                      </a:pPr>
                      <a:r>
                        <a:rPr sz="2000" kern="0" spc="-10" dirty="0">
                          <a:solidFill>
                            <a:srgbClr val="0066CC">
                              <a:alpha val="100000"/>
                            </a:srgbClr>
                          </a:solidFill>
                          <a:latin typeface="Wingdings" panose="05000000000000000000"/>
                          <a:ea typeface="Wingdings" panose="05000000000000000000"/>
                          <a:cs typeface="Wingdings" panose="05000000000000000000"/>
                        </a:rPr>
                        <a:t>l</a:t>
                      </a:r>
                      <a:r>
                        <a:rPr sz="2000" kern="0" spc="-770" dirty="0">
                          <a:solidFill>
                            <a:srgbClr val="0066CC">
                              <a:alpha val="100000"/>
                            </a:srgbClr>
                          </a:solidFill>
                          <a:latin typeface="Wingdings" panose="05000000000000000000"/>
                          <a:ea typeface="Wingdings" panose="05000000000000000000"/>
                          <a:cs typeface="Wingdings" panose="05000000000000000000"/>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”(bandwidth)</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本来是指信号具有的频带宽度，单位是赫（或千赫、兆赫、吉赫等）。现在</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是数字信道所能传送的</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最高数据率</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的同义语，单位是</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比特每秒</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，或</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b/s (bit/s)</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600" dirty="0">
                        <a:latin typeface="Arial" panose="020B0604020202020204"/>
                        <a:ea typeface="Arial" panose="020B0604020202020204"/>
                        <a:cs typeface="Arial" panose="020B0604020202020204"/>
                      </a:endParaRPr>
                    </a:p>
                    <a:p>
                      <a:pPr marL="452120" indent="-325120" algn="l" rtl="0" eaLnBrk="0">
                        <a:lnSpc>
                          <a:spcPct val="117000"/>
                        </a:lnSpc>
                        <a:spcBef>
                          <a:spcPts val="5"/>
                        </a:spcBef>
                      </a:pPr>
                      <a:r>
                        <a:rPr sz="2000" kern="0" spc="-20" dirty="0">
                          <a:solidFill>
                            <a:srgbClr val="0066CC">
                              <a:alpha val="100000"/>
                            </a:srgbClr>
                          </a:solidFill>
                          <a:latin typeface="Wingdings" panose="05000000000000000000"/>
                          <a:ea typeface="Wingdings" panose="05000000000000000000"/>
                          <a:cs typeface="Wingdings" panose="05000000000000000000"/>
                        </a:rPr>
                        <a:t>l</a:t>
                      </a:r>
                      <a:r>
                        <a:rPr sz="2000" kern="0" spc="-650" dirty="0">
                          <a:solidFill>
                            <a:srgbClr val="0066CC">
                              <a:alpha val="100000"/>
                            </a:srgbClr>
                          </a:solidFill>
                          <a:latin typeface="Wingdings" panose="05000000000000000000"/>
                          <a:ea typeface="Wingdings" panose="05000000000000000000"/>
                          <a:cs typeface="Wingdings" panose="05000000000000000000"/>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吞吐量。吞吐量</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(throughput)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表示在单位时间内通过某个网络（或信道、接口）的数据量。吞吐量更经常地用于对现实世界中的网络的一种测量，以便知道实际上到底有多少数据量能够通过网络。吞吐量受网络的带宽或网络的额定速率的限制。</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sp>
        <p:nvSpPr>
          <p:cNvPr id="126" name="textbox 126"/>
          <p:cNvSpPr/>
          <p:nvPr/>
        </p:nvSpPr>
        <p:spPr>
          <a:xfrm>
            <a:off x="824532" y="983918"/>
            <a:ext cx="10643869" cy="419100"/>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algn="l" rtl="0" eaLnBrk="0">
              <a:lnSpc>
                <a:spcPct val="96000"/>
              </a:lnSpc>
            </a:pPr>
            <a:r>
              <a:rPr sz="2700" kern="0" spc="20" dirty="0">
                <a:solidFill>
                  <a:srgbClr val="0070C0">
                    <a:alpha val="100000"/>
                  </a:srgbClr>
                </a:solidFill>
                <a:latin typeface="Wingdings" panose="05000000000000000000"/>
                <a:ea typeface="Wingdings" panose="05000000000000000000"/>
                <a:cs typeface="Wingdings" panose="05000000000000000000"/>
              </a:rPr>
              <a:t>l</a:t>
            </a:r>
            <a:r>
              <a:rPr sz="2700" kern="0" spc="-1550" dirty="0">
                <a:solidFill>
                  <a:srgbClr val="0070C0">
                    <a:alpha val="100000"/>
                  </a:srgbClr>
                </a:solidFill>
                <a:latin typeface="Wingdings" panose="05000000000000000000"/>
                <a:ea typeface="Wingdings" panose="05000000000000000000"/>
                <a:cs typeface="Wingdings" panose="05000000000000000000"/>
              </a:rPr>
              <a:t> </a:t>
            </a:r>
            <a:r>
              <a:rPr lang="en-US" altLang="zh-CN" sz="2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a:t>
            </a:r>
            <a:r>
              <a:rPr lang="zh-CN" altLang="en-US" sz="2700" dirty="0">
                <a:latin typeface="微软雅黑" panose="020B0503020204020204" charset="-122"/>
                <a:ea typeface="微软雅黑" panose="020B0503020204020204" charset="-122"/>
                <a:cs typeface="微软雅黑" panose="020B0503020204020204" charset="-122"/>
              </a:rPr>
              <a:t>计算机网络有哪些常用的性能指标？</a:t>
            </a:r>
            <a:endParaRPr lang="zh-CN" altLang="en-US" sz="2700" dirty="0">
              <a:latin typeface="微软雅黑" panose="020B0503020204020204" charset="-122"/>
              <a:ea typeface="微软雅黑" panose="020B0503020204020204" charset="-122"/>
              <a:cs typeface="微软雅黑" panose="020B0503020204020204" charset="-122"/>
            </a:endParaRPr>
          </a:p>
        </p:txBody>
      </p:sp>
      <p:pic>
        <p:nvPicPr>
          <p:cNvPr id="130" name="picture 130"/>
          <p:cNvPicPr>
            <a:picLocks noChangeAspect="1"/>
          </p:cNvPicPr>
          <p:nvPr/>
        </p:nvPicPr>
        <p:blipFill>
          <a:blip r:embed="rId2"/>
          <a:stretch>
            <a:fillRect/>
          </a:stretch>
        </p:blipFill>
        <p:spPr>
          <a:xfrm rot="21600000">
            <a:off x="201593" y="6530513"/>
            <a:ext cx="12329023" cy="106504"/>
          </a:xfrm>
          <a:prstGeom prst="rect">
            <a:avLst/>
          </a:prstGeom>
        </p:spPr>
      </p:pic>
      <p:pic>
        <p:nvPicPr>
          <p:cNvPr id="136" name="picture 136"/>
          <p:cNvPicPr>
            <a:picLocks noChangeAspect="1"/>
          </p:cNvPicPr>
          <p:nvPr/>
        </p:nvPicPr>
        <p:blipFill>
          <a:blip r:embed="rId3"/>
          <a:stretch>
            <a:fillRect/>
          </a:stretch>
        </p:blipFill>
        <p:spPr>
          <a:xfrm rot="21600000">
            <a:off x="25390" y="455581"/>
            <a:ext cx="5966700" cy="165803"/>
          </a:xfrm>
          <a:prstGeom prst="rect">
            <a:avLst/>
          </a:prstGeom>
        </p:spPr>
      </p:pic>
      <p:pic>
        <p:nvPicPr>
          <p:cNvPr id="138" name="picture 138"/>
          <p:cNvPicPr>
            <a:picLocks noChangeAspect="1"/>
          </p:cNvPicPr>
          <p:nvPr/>
        </p:nvPicPr>
        <p:blipFill>
          <a:blip r:embed="rId4"/>
          <a:stretch>
            <a:fillRect/>
          </a:stretch>
        </p:blipFill>
        <p:spPr>
          <a:xfrm rot="21600000">
            <a:off x="7016265" y="444979"/>
            <a:ext cx="5829811" cy="155341"/>
          </a:xfrm>
          <a:prstGeom prst="rect">
            <a:avLst/>
          </a:prstGeom>
        </p:spPr>
      </p:pic>
      <p:pic>
        <p:nvPicPr>
          <p:cNvPr id="144" name="picture 144"/>
          <p:cNvPicPr>
            <a:picLocks noChangeAspect="1"/>
          </p:cNvPicPr>
          <p:nvPr/>
        </p:nvPicPr>
        <p:blipFill>
          <a:blip r:embed="rId5"/>
          <a:stretch>
            <a:fillRect/>
          </a:stretch>
        </p:blipFill>
        <p:spPr>
          <a:xfrm rot="21600000">
            <a:off x="6193535" y="160019"/>
            <a:ext cx="660741" cy="662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20"/>
          <p:cNvGraphicFramePr>
            <a:graphicFrameLocks noGrp="1"/>
          </p:cNvGraphicFramePr>
          <p:nvPr>
            <p:custDataLst>
              <p:tags r:id="rId1"/>
            </p:custDataLst>
          </p:nvPr>
        </p:nvGraphicFramePr>
        <p:xfrm>
          <a:off x="1048385" y="1801495"/>
          <a:ext cx="10419715" cy="2891790"/>
        </p:xfrm>
        <a:graphic>
          <a:graphicData uri="http://schemas.openxmlformats.org/drawingml/2006/table">
            <a:tbl>
              <a:tblPr/>
              <a:tblGrid>
                <a:gridCol w="10419715"/>
              </a:tblGrid>
              <a:tr h="2891790">
                <a:tc>
                  <a:txBody>
                    <a:bodyPr/>
                    <a:lstStyle/>
                    <a:p>
                      <a:pPr algn="l" rtl="0" eaLnBrk="0">
                        <a:lnSpc>
                          <a:spcPct val="103000"/>
                        </a:lnSpc>
                      </a:pPr>
                      <a:endParaRPr sz="900" dirty="0">
                        <a:latin typeface="Arial" panose="020B0604020202020204"/>
                        <a:ea typeface="Arial" panose="020B0604020202020204"/>
                        <a:cs typeface="Arial" panose="020B0604020202020204"/>
                      </a:endParaRPr>
                    </a:p>
                    <a:p>
                      <a:pPr marL="451485" indent="-324485" algn="l" rtl="0" eaLnBrk="0">
                        <a:lnSpc>
                          <a:spcPct val="115000"/>
                        </a:lnSpc>
                        <a:spcBef>
                          <a:spcPts val="5"/>
                        </a:spcBef>
                      </a:pPr>
                      <a:r>
                        <a:rPr sz="2000" kern="0" spc="-50" dirty="0">
                          <a:solidFill>
                            <a:srgbClr val="0066CC">
                              <a:alpha val="100000"/>
                            </a:srgbClr>
                          </a:solidFill>
                          <a:latin typeface="Wingdings" panose="05000000000000000000"/>
                          <a:ea typeface="Wingdings" panose="05000000000000000000"/>
                          <a:cs typeface="Wingdings" panose="05000000000000000000"/>
                        </a:rPr>
                        <a:t>l</a:t>
                      </a:r>
                      <a:r>
                        <a:rPr sz="2000" kern="0" spc="-730" dirty="0">
                          <a:solidFill>
                            <a:srgbClr val="0066CC">
                              <a:alpha val="100000"/>
                            </a:srgbClr>
                          </a:solidFill>
                          <a:latin typeface="Wingdings" panose="05000000000000000000"/>
                          <a:ea typeface="Wingdings" panose="05000000000000000000"/>
                          <a:cs typeface="Wingdings" panose="05000000000000000000"/>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时延。传输时延（发送时延</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发送数据时，数据块从结点进入到传输媒体所需要的时间。</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1485" indent="-324485" algn="l" rtl="0" eaLnBrk="0">
                        <a:lnSpc>
                          <a:spcPct val="115000"/>
                        </a:lnSpc>
                        <a:spcBef>
                          <a:spcPts val="5"/>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也就是从发送数据帧的第一个比特算起，到该帧的最后一个比特发送完毕所需的时间。</a:t>
                      </a:r>
                      <a:endParaRPr sz="2000" dirty="0">
                        <a:latin typeface="微软雅黑" panose="020B0503020204020204" charset="-122"/>
                        <a:ea typeface="微软雅黑" panose="020B0503020204020204" charset="-122"/>
                        <a:cs typeface="微软雅黑" panose="020B0503020204020204" charset="-122"/>
                      </a:endParaRPr>
                    </a:p>
                    <a:p>
                      <a:pPr marL="451485" indent="-324485" algn="l" rtl="0" eaLnBrk="0">
                        <a:lnSpc>
                          <a:spcPct val="115000"/>
                        </a:lnSpc>
                        <a:spcBef>
                          <a:spcPts val="720"/>
                        </a:spcBef>
                      </a:pPr>
                      <a:r>
                        <a:rPr sz="2000" kern="0" spc="-10" dirty="0">
                          <a:solidFill>
                            <a:srgbClr val="0066CC">
                              <a:alpha val="100000"/>
                            </a:srgbClr>
                          </a:solidFill>
                          <a:latin typeface="Wingdings" panose="05000000000000000000"/>
                          <a:ea typeface="Wingdings" panose="05000000000000000000"/>
                          <a:cs typeface="Wingdings" panose="05000000000000000000"/>
                        </a:rPr>
                        <a:t>l</a:t>
                      </a:r>
                      <a:r>
                        <a:rPr sz="2000" kern="0" spc="-770" dirty="0">
                          <a:solidFill>
                            <a:srgbClr val="0066CC">
                              <a:alpha val="100000"/>
                            </a:srgbClr>
                          </a:solidFill>
                          <a:latin typeface="Wingdings" panose="05000000000000000000"/>
                          <a:ea typeface="Wingdings" panose="05000000000000000000"/>
                          <a:cs typeface="Wingdings" panose="05000000000000000000"/>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时延带宽积</a:t>
                      </a:r>
                      <a:r>
                        <a:rPr 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600" dirty="0">
                        <a:latin typeface="Arial" panose="020B0604020202020204"/>
                        <a:ea typeface="Arial" panose="020B0604020202020204"/>
                        <a:cs typeface="Arial" panose="020B0604020202020204"/>
                      </a:endParaRPr>
                    </a:p>
                    <a:p>
                      <a:pPr marL="452120" indent="-325120" algn="l" rtl="0" eaLnBrk="0">
                        <a:lnSpc>
                          <a:spcPct val="117000"/>
                        </a:lnSpc>
                        <a:spcBef>
                          <a:spcPts val="5"/>
                        </a:spcBef>
                      </a:pPr>
                      <a:r>
                        <a:rPr sz="2000" kern="0" spc="-20" dirty="0">
                          <a:solidFill>
                            <a:srgbClr val="0066CC">
                              <a:alpha val="100000"/>
                            </a:srgbClr>
                          </a:solidFill>
                          <a:latin typeface="Wingdings" panose="05000000000000000000"/>
                          <a:ea typeface="Wingdings" panose="05000000000000000000"/>
                          <a:cs typeface="Wingdings" panose="05000000000000000000"/>
                        </a:rPr>
                        <a:t>l</a:t>
                      </a:r>
                      <a:r>
                        <a:rPr sz="2000" kern="0" spc="-650" dirty="0">
                          <a:solidFill>
                            <a:srgbClr val="0066CC">
                              <a:alpha val="100000"/>
                            </a:srgbClr>
                          </a:solidFill>
                          <a:latin typeface="Wingdings" panose="05000000000000000000"/>
                          <a:ea typeface="Wingdings" panose="05000000000000000000"/>
                          <a:cs typeface="Wingdings" panose="05000000000000000000"/>
                        </a:rPr>
                        <a:t>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6.往返时间RTT。</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27000" indent="0" algn="l" rtl="0" eaLnBrk="0" fontAlgn="auto">
                        <a:lnSpc>
                          <a:spcPct val="115000"/>
                        </a:lnSpc>
                        <a:spcBef>
                          <a:spcPts val="700"/>
                        </a:spcBef>
                        <a:buFont typeface="Wingdings" panose="05000000000000000000" charset="0"/>
                        <a:buNone/>
                      </a:pPr>
                      <a:r>
                        <a:rPr sz="2000" kern="0" spc="-20" dirty="0">
                          <a:solidFill>
                            <a:srgbClr val="0066CC">
                              <a:alpha val="100000"/>
                            </a:srgbClr>
                          </a:solidFill>
                          <a:latin typeface="Wingdings" panose="05000000000000000000"/>
                          <a:ea typeface="Wingdings" panose="05000000000000000000"/>
                          <a:cs typeface="Wingdings" panose="05000000000000000000"/>
                          <a:sym typeface="+mn-ea"/>
                        </a:rPr>
                        <a:t>l</a:t>
                      </a:r>
                      <a:r>
                        <a:rPr sz="2000" kern="0" spc="-650" dirty="0">
                          <a:solidFill>
                            <a:srgbClr val="0066CC">
                              <a:alpha val="100000"/>
                            </a:srgbClr>
                          </a:solidFill>
                          <a:latin typeface="Wingdings" panose="05000000000000000000"/>
                          <a:ea typeface="Wingdings" panose="05000000000000000000"/>
                          <a:cs typeface="Wingdings" panose="05000000000000000000"/>
                          <a:sym typeface="+mn-ea"/>
                        </a:rPr>
                        <a:t>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7.利用率。</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2120" indent="-325120" algn="l" rtl="0" eaLnBrk="0">
                        <a:lnSpc>
                          <a:spcPct val="117000"/>
                        </a:lnSpc>
                        <a:spcBef>
                          <a:spcPts val="5"/>
                        </a:spcBef>
                      </a:pPr>
                      <a:endParaRPr lang="en-US" altLang="zh-CN" sz="2000" dirty="0">
                        <a:latin typeface="微软雅黑" panose="020B0503020204020204" charset="-122"/>
                        <a:ea typeface="微软雅黑" panose="020B0503020204020204" charset="-122"/>
                        <a:cs typeface="微软雅黑" panose="020B0503020204020204" charset="-122"/>
                      </a:endParaRPr>
                    </a:p>
                    <a:p>
                      <a:pPr marL="452120" indent="-325120" algn="l" rtl="0" eaLnBrk="0">
                        <a:lnSpc>
                          <a:spcPct val="117000"/>
                        </a:lnSpc>
                        <a:spcBef>
                          <a:spcPts val="5"/>
                        </a:spcBef>
                      </a:pP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txBody>
                  <a:tcPr marL="0" marR="0" marT="0" marB="0" vert="horz">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sp>
        <p:nvSpPr>
          <p:cNvPr id="126" name="textbox 126"/>
          <p:cNvSpPr/>
          <p:nvPr/>
        </p:nvSpPr>
        <p:spPr>
          <a:xfrm>
            <a:off x="824532" y="983918"/>
            <a:ext cx="10643869" cy="41910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algn="l" rtl="0" eaLnBrk="0">
              <a:lnSpc>
                <a:spcPct val="96000"/>
              </a:lnSpc>
            </a:pPr>
            <a:r>
              <a:rPr sz="2700" kern="0" spc="20" dirty="0">
                <a:solidFill>
                  <a:srgbClr val="0070C0">
                    <a:alpha val="100000"/>
                  </a:srgbClr>
                </a:solidFill>
                <a:latin typeface="Wingdings" panose="05000000000000000000"/>
                <a:ea typeface="Wingdings" panose="05000000000000000000"/>
                <a:cs typeface="Wingdings" panose="05000000000000000000"/>
              </a:rPr>
              <a:t>l</a:t>
            </a:r>
            <a:r>
              <a:rPr sz="2700" kern="0" spc="-1550" dirty="0">
                <a:solidFill>
                  <a:srgbClr val="0070C0">
                    <a:alpha val="100000"/>
                  </a:srgbClr>
                </a:solidFill>
                <a:latin typeface="Wingdings" panose="05000000000000000000"/>
                <a:ea typeface="Wingdings" panose="05000000000000000000"/>
                <a:cs typeface="Wingdings" panose="05000000000000000000"/>
              </a:rPr>
              <a:t> </a:t>
            </a:r>
            <a:r>
              <a:rPr lang="en-US" altLang="zh-CN" sz="2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a:t>
            </a:r>
            <a:r>
              <a:rPr lang="zh-CN" altLang="en-US" sz="2700" dirty="0">
                <a:latin typeface="微软雅黑" panose="020B0503020204020204" charset="-122"/>
                <a:ea typeface="微软雅黑" panose="020B0503020204020204" charset="-122"/>
                <a:cs typeface="微软雅黑" panose="020B0503020204020204" charset="-122"/>
              </a:rPr>
              <a:t>计算机网络有哪些常用的性能指标？</a:t>
            </a:r>
            <a:endParaRPr lang="zh-CN" altLang="en-US" sz="2700" dirty="0">
              <a:latin typeface="微软雅黑" panose="020B0503020204020204" charset="-122"/>
              <a:ea typeface="微软雅黑" panose="020B0503020204020204" charset="-122"/>
              <a:cs typeface="微软雅黑" panose="020B0503020204020204" charset="-122"/>
            </a:endParaRPr>
          </a:p>
        </p:txBody>
      </p:sp>
      <p:pic>
        <p:nvPicPr>
          <p:cNvPr id="130" name="picture 130"/>
          <p:cNvPicPr>
            <a:picLocks noChangeAspect="1"/>
          </p:cNvPicPr>
          <p:nvPr/>
        </p:nvPicPr>
        <p:blipFill>
          <a:blip r:embed="rId2"/>
          <a:stretch>
            <a:fillRect/>
          </a:stretch>
        </p:blipFill>
        <p:spPr>
          <a:xfrm rot="21600000">
            <a:off x="201593" y="6530513"/>
            <a:ext cx="12329023" cy="106504"/>
          </a:xfrm>
          <a:prstGeom prst="rect">
            <a:avLst/>
          </a:prstGeom>
        </p:spPr>
      </p:pic>
      <p:pic>
        <p:nvPicPr>
          <p:cNvPr id="136" name="picture 136"/>
          <p:cNvPicPr>
            <a:picLocks noChangeAspect="1"/>
          </p:cNvPicPr>
          <p:nvPr/>
        </p:nvPicPr>
        <p:blipFill>
          <a:blip r:embed="rId3"/>
          <a:stretch>
            <a:fillRect/>
          </a:stretch>
        </p:blipFill>
        <p:spPr>
          <a:xfrm rot="21600000">
            <a:off x="25390" y="455581"/>
            <a:ext cx="5966700" cy="165803"/>
          </a:xfrm>
          <a:prstGeom prst="rect">
            <a:avLst/>
          </a:prstGeom>
        </p:spPr>
      </p:pic>
      <p:pic>
        <p:nvPicPr>
          <p:cNvPr id="138" name="picture 138"/>
          <p:cNvPicPr>
            <a:picLocks noChangeAspect="1"/>
          </p:cNvPicPr>
          <p:nvPr/>
        </p:nvPicPr>
        <p:blipFill>
          <a:blip r:embed="rId4"/>
          <a:stretch>
            <a:fillRect/>
          </a:stretch>
        </p:blipFill>
        <p:spPr>
          <a:xfrm rot="21600000">
            <a:off x="7016265" y="444979"/>
            <a:ext cx="5829811" cy="155341"/>
          </a:xfrm>
          <a:prstGeom prst="rect">
            <a:avLst/>
          </a:prstGeom>
        </p:spPr>
      </p:pic>
      <p:pic>
        <p:nvPicPr>
          <p:cNvPr id="144" name="picture 144"/>
          <p:cNvPicPr>
            <a:picLocks noChangeAspect="1"/>
          </p:cNvPicPr>
          <p:nvPr/>
        </p:nvPicPr>
        <p:blipFill>
          <a:blip r:embed="rId5"/>
          <a:stretch>
            <a:fillRect/>
          </a:stretch>
        </p:blipFill>
        <p:spPr>
          <a:xfrm rot="21600000">
            <a:off x="6193535" y="160019"/>
            <a:ext cx="660741" cy="6629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20"/>
          <p:cNvGraphicFramePr>
            <a:graphicFrameLocks noGrp="1"/>
          </p:cNvGraphicFramePr>
          <p:nvPr>
            <p:custDataLst>
              <p:tags r:id="rId1"/>
            </p:custDataLst>
          </p:nvPr>
        </p:nvGraphicFramePr>
        <p:xfrm>
          <a:off x="814705" y="1801495"/>
          <a:ext cx="11165205" cy="3072130"/>
        </p:xfrm>
        <a:graphic>
          <a:graphicData uri="http://schemas.openxmlformats.org/drawingml/2006/table">
            <a:tbl>
              <a:tblPr/>
              <a:tblGrid>
                <a:gridCol w="11165205"/>
              </a:tblGrid>
              <a:tr h="3072130">
                <a:tc>
                  <a:txBody>
                    <a:bodyPr/>
                    <a:lstStyle/>
                    <a:p>
                      <a:pPr algn="l" rtl="0" eaLnBrk="0">
                        <a:lnSpc>
                          <a:spcPct val="103000"/>
                        </a:lnSpc>
                      </a:pP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3000"/>
                        </a:lnSpc>
                      </a:pP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在计算机网络中要做到有条不紊地交换数据，就必须遵守一些事先约定好的规则。这些为进行网络中的数据交换而建立的规则、标准或约定即称为网络协议。一个网络协议要由以下三个要素组成：</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1485" indent="-324485" algn="l" rtl="0" eaLnBrk="0">
                        <a:lnSpc>
                          <a:spcPct val="115000"/>
                        </a:lnSpc>
                        <a:spcBef>
                          <a:spcPts val="720"/>
                        </a:spcBef>
                      </a:pPr>
                      <a:r>
                        <a:rPr sz="2000" kern="0" spc="-10" dirty="0">
                          <a:solidFill>
                            <a:srgbClr val="0066CC">
                              <a:alpha val="100000"/>
                            </a:srgbClr>
                          </a:solidFill>
                          <a:latin typeface="Wingdings" panose="05000000000000000000"/>
                          <a:ea typeface="Wingdings" panose="05000000000000000000"/>
                          <a:cs typeface="Wingdings" panose="05000000000000000000"/>
                        </a:rPr>
                        <a:t>l</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）语法，即数据与控制信息的结构或格式；</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600" dirty="0">
                        <a:latin typeface="Arial" panose="020B0604020202020204"/>
                        <a:ea typeface="Arial" panose="020B0604020202020204"/>
                        <a:cs typeface="Arial" panose="020B0604020202020204"/>
                      </a:endParaRPr>
                    </a:p>
                    <a:p>
                      <a:pPr marL="452120" indent="-325120" algn="l" rtl="0" eaLnBrk="0">
                        <a:lnSpc>
                          <a:spcPct val="117000"/>
                        </a:lnSpc>
                        <a:spcBef>
                          <a:spcPts val="5"/>
                        </a:spcBef>
                      </a:pPr>
                      <a:r>
                        <a:rPr sz="2000" kern="0" spc="-20" dirty="0">
                          <a:solidFill>
                            <a:srgbClr val="0066CC">
                              <a:alpha val="100000"/>
                            </a:srgbClr>
                          </a:solidFill>
                          <a:latin typeface="Wingdings" panose="05000000000000000000"/>
                          <a:ea typeface="Wingdings" panose="05000000000000000000"/>
                          <a:cs typeface="Wingdings" panose="05000000000000000000"/>
                        </a:rPr>
                        <a:t>l</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）语义，即需要发出何种控制信息，完成何种动作以及做出何种应答；</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27000" indent="0" algn="l" rtl="0" eaLnBrk="0" fontAlgn="auto">
                        <a:lnSpc>
                          <a:spcPct val="115000"/>
                        </a:lnSpc>
                        <a:spcBef>
                          <a:spcPts val="700"/>
                        </a:spcBef>
                        <a:buFont typeface="Wingdings" panose="05000000000000000000" charset="0"/>
                        <a:buNone/>
                      </a:pPr>
                      <a:r>
                        <a:rPr sz="2000" kern="0" spc="-20" dirty="0">
                          <a:solidFill>
                            <a:srgbClr val="0066CC">
                              <a:alpha val="100000"/>
                            </a:srgbClr>
                          </a:solidFill>
                          <a:latin typeface="Wingdings" panose="05000000000000000000"/>
                          <a:ea typeface="Wingdings" panose="05000000000000000000"/>
                          <a:cs typeface="Wingdings" panose="05000000000000000000"/>
                          <a:sym typeface="+mn-ea"/>
                        </a:rPr>
                        <a:t>l</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（3）同步，即事件实现顺序的详细说明。</a:t>
                      </a:r>
                      <a:endParaRPr lang="zh-CN" altLang="en-US" sz="2000" dirty="0">
                        <a:latin typeface="微软雅黑" panose="020B0503020204020204" charset="-122"/>
                        <a:ea typeface="微软雅黑" panose="020B0503020204020204" charset="-122"/>
                        <a:cs typeface="微软雅黑" panose="020B0503020204020204" charset="-122"/>
                      </a:endParaRPr>
                    </a:p>
                    <a:p>
                      <a:pPr marL="452120" indent="-325120" algn="l" rtl="0" eaLnBrk="0" fontAlgn="auto">
                        <a:lnSpc>
                          <a:spcPct val="117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对于非常复杂的计算机网络协议，其结构最好采用层次式的。</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txBody>
                  <a:tcPr marL="0" marR="0" marT="0" marB="0" vert="horz">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sp>
        <p:nvSpPr>
          <p:cNvPr id="126" name="textbox 126"/>
          <p:cNvSpPr/>
          <p:nvPr/>
        </p:nvSpPr>
        <p:spPr>
          <a:xfrm>
            <a:off x="824532" y="983918"/>
            <a:ext cx="10643869" cy="41910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algn="l" rtl="0" eaLnBrk="0">
              <a:lnSpc>
                <a:spcPct val="96000"/>
              </a:lnSpc>
            </a:pPr>
            <a:r>
              <a:rPr sz="2700" kern="0" spc="20" dirty="0">
                <a:solidFill>
                  <a:srgbClr val="0070C0">
                    <a:alpha val="100000"/>
                  </a:srgbClr>
                </a:solidFill>
                <a:latin typeface="Wingdings" panose="05000000000000000000"/>
                <a:ea typeface="Wingdings" panose="05000000000000000000"/>
                <a:cs typeface="Wingdings" panose="05000000000000000000"/>
              </a:rPr>
              <a:t>l</a:t>
            </a:r>
            <a:r>
              <a:rPr sz="2700" kern="0" spc="-1550" dirty="0">
                <a:solidFill>
                  <a:srgbClr val="0070C0">
                    <a:alpha val="100000"/>
                  </a:srgbClr>
                </a:solidFill>
                <a:latin typeface="Wingdings" panose="05000000000000000000"/>
                <a:ea typeface="Wingdings" panose="05000000000000000000"/>
                <a:cs typeface="Wingdings" panose="05000000000000000000"/>
              </a:rPr>
              <a:t> </a:t>
            </a:r>
            <a:r>
              <a:rPr lang="en-US" altLang="zh-CN" sz="2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a:t>
            </a:r>
            <a:r>
              <a:rPr lang="zh-CN" altLang="en-US" sz="2700" dirty="0">
                <a:latin typeface="微软雅黑" panose="020B0503020204020204" charset="-122"/>
                <a:ea typeface="微软雅黑" panose="020B0503020204020204" charset="-122"/>
                <a:cs typeface="微软雅黑" panose="020B0503020204020204" charset="-122"/>
              </a:rPr>
              <a:t>网络协议的三个要素是什么？各有什么含义？</a:t>
            </a:r>
            <a:endParaRPr lang="zh-CN" altLang="en-US" sz="2700" dirty="0">
              <a:latin typeface="微软雅黑" panose="020B0503020204020204" charset="-122"/>
              <a:ea typeface="微软雅黑" panose="020B0503020204020204" charset="-122"/>
              <a:cs typeface="微软雅黑" panose="020B0503020204020204" charset="-122"/>
            </a:endParaRPr>
          </a:p>
        </p:txBody>
      </p:sp>
      <p:pic>
        <p:nvPicPr>
          <p:cNvPr id="130" name="picture 130"/>
          <p:cNvPicPr>
            <a:picLocks noChangeAspect="1"/>
          </p:cNvPicPr>
          <p:nvPr/>
        </p:nvPicPr>
        <p:blipFill>
          <a:blip r:embed="rId2"/>
          <a:stretch>
            <a:fillRect/>
          </a:stretch>
        </p:blipFill>
        <p:spPr>
          <a:xfrm rot="21600000">
            <a:off x="201593" y="6530513"/>
            <a:ext cx="12329023" cy="106504"/>
          </a:xfrm>
          <a:prstGeom prst="rect">
            <a:avLst/>
          </a:prstGeom>
        </p:spPr>
      </p:pic>
      <p:pic>
        <p:nvPicPr>
          <p:cNvPr id="136" name="picture 136"/>
          <p:cNvPicPr>
            <a:picLocks noChangeAspect="1"/>
          </p:cNvPicPr>
          <p:nvPr/>
        </p:nvPicPr>
        <p:blipFill>
          <a:blip r:embed="rId3"/>
          <a:stretch>
            <a:fillRect/>
          </a:stretch>
        </p:blipFill>
        <p:spPr>
          <a:xfrm rot="21600000">
            <a:off x="25390" y="455581"/>
            <a:ext cx="5966700" cy="165803"/>
          </a:xfrm>
          <a:prstGeom prst="rect">
            <a:avLst/>
          </a:prstGeom>
        </p:spPr>
      </p:pic>
      <p:pic>
        <p:nvPicPr>
          <p:cNvPr id="138" name="picture 138"/>
          <p:cNvPicPr>
            <a:picLocks noChangeAspect="1"/>
          </p:cNvPicPr>
          <p:nvPr/>
        </p:nvPicPr>
        <p:blipFill>
          <a:blip r:embed="rId4"/>
          <a:stretch>
            <a:fillRect/>
          </a:stretch>
        </p:blipFill>
        <p:spPr>
          <a:xfrm rot="21600000">
            <a:off x="7016265" y="444979"/>
            <a:ext cx="5829811" cy="155341"/>
          </a:xfrm>
          <a:prstGeom prst="rect">
            <a:avLst/>
          </a:prstGeom>
        </p:spPr>
      </p:pic>
      <p:pic>
        <p:nvPicPr>
          <p:cNvPr id="144" name="picture 144"/>
          <p:cNvPicPr>
            <a:picLocks noChangeAspect="1"/>
          </p:cNvPicPr>
          <p:nvPr/>
        </p:nvPicPr>
        <p:blipFill>
          <a:blip r:embed="rId5"/>
          <a:stretch>
            <a:fillRect/>
          </a:stretch>
        </p:blipFill>
        <p:spPr>
          <a:xfrm rot="21600000">
            <a:off x="6193535" y="160019"/>
            <a:ext cx="660741" cy="6629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rect 522"/>
          <p:cNvSpPr/>
          <p:nvPr/>
        </p:nvSpPr>
        <p:spPr>
          <a:xfrm>
            <a:off x="0" y="0"/>
            <a:ext cx="12858750" cy="7232650"/>
          </a:xfrm>
          <a:prstGeom prst="rect">
            <a:avLst/>
          </a:prstGeom>
          <a:solidFill>
            <a:srgbClr val="FFFFFF">
              <a:alpha val="14509"/>
            </a:srgbClr>
          </a:solidFill>
          <a:ln w="0" cap="flat">
            <a:noFill/>
            <a:prstDash val="solid"/>
            <a:miter lim="0"/>
          </a:ln>
        </p:spPr>
        <p:txBody>
          <a:bodyPr rtlCol="0"/>
          <a:lstStyle/>
          <a:p>
            <a:pPr algn="ctr"/>
            <a:endParaRPr lang="zh-CN" altLang="en-US"/>
          </a:p>
        </p:txBody>
      </p:sp>
      <p:sp>
        <p:nvSpPr>
          <p:cNvPr id="524" name="textbox 524"/>
          <p:cNvSpPr/>
          <p:nvPr/>
        </p:nvSpPr>
        <p:spPr>
          <a:xfrm>
            <a:off x="374015" y="812800"/>
            <a:ext cx="11895455" cy="213550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indent="0" algn="l" rtl="0" eaLnBrk="0" fontAlgn="auto">
              <a:lnSpc>
                <a:spcPts val="2645"/>
              </a:lnSpc>
            </a:pP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3.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共有四个站进行码分多址</a:t>
            </a:r>
            <a:r>
              <a:rPr sz="20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CDMA通信 ，四个站的码片序列为 ：</a:t>
            </a:r>
            <a:endParaRPr sz="2000" dirty="0">
              <a:latin typeface="微软雅黑" panose="020B0503020204020204" charset="-122"/>
              <a:ea typeface="微软雅黑" panose="020B0503020204020204" charset="-122"/>
              <a:cs typeface="微软雅黑" panose="020B0503020204020204" charset="-122"/>
            </a:endParaRPr>
          </a:p>
          <a:p>
            <a:pPr marL="12700" indent="0" algn="l" rtl="0" eaLnBrk="0" fontAlgn="auto">
              <a:lnSpc>
                <a:spcPts val="2645"/>
              </a:lnSpc>
              <a:spcBef>
                <a:spcPts val="995"/>
              </a:spcBef>
            </a:pP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 </a:t>
            </a:r>
            <a:r>
              <a:rPr sz="1900" b="1" kern="0" spc="-4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B </a:t>
            </a:r>
            <a:r>
              <a:rPr sz="1900" b="1" kern="0" spc="-4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endParaRPr sz="1900" dirty="0">
              <a:latin typeface="微软雅黑" panose="020B0503020204020204" charset="-122"/>
              <a:ea typeface="微软雅黑" panose="020B0503020204020204" charset="-122"/>
              <a:cs typeface="微软雅黑" panose="020B0503020204020204" charset="-122"/>
            </a:endParaRPr>
          </a:p>
          <a:p>
            <a:pPr marL="12700" indent="0" algn="l" rtl="0" eaLnBrk="0" fontAlgn="auto">
              <a:lnSpc>
                <a:spcPts val="2645"/>
              </a:lnSpc>
              <a:spcBef>
                <a:spcPts val="995"/>
              </a:spcBef>
            </a:pP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 </a:t>
            </a:r>
            <a:r>
              <a:rPr sz="1900" b="1"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D </a:t>
            </a:r>
            <a:r>
              <a:rPr sz="1900" b="1"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b="1"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endParaRPr sz="1900" dirty="0">
              <a:latin typeface="微软雅黑" panose="020B0503020204020204" charset="-122"/>
              <a:ea typeface="微软雅黑" panose="020B0503020204020204" charset="-122"/>
              <a:cs typeface="微软雅黑" panose="020B0503020204020204" charset="-122"/>
            </a:endParaRPr>
          </a:p>
          <a:p>
            <a:pPr algn="l" rtl="0" eaLnBrk="0">
              <a:lnSpc>
                <a:spcPct val="10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14655" indent="0" algn="l" rtl="0" eaLnBrk="0" fontAlgn="auto">
              <a:lnSpc>
                <a:spcPct val="119000"/>
              </a:lnSpc>
            </a:pPr>
            <a:r>
              <a:rPr sz="20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现收到这样的码</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片序列 </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0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000" b="1"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问哪个站发送数据了？发送数据的站发送的是</a:t>
            </a: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1还是0</a:t>
            </a:r>
            <a:r>
              <a:rPr sz="20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p:txBody>
      </p:sp>
      <p:pic>
        <p:nvPicPr>
          <p:cNvPr id="526" name="picture 526"/>
          <p:cNvPicPr>
            <a:picLocks noChangeAspect="1"/>
          </p:cNvPicPr>
          <p:nvPr/>
        </p:nvPicPr>
        <p:blipFill>
          <a:blip r:embed="rId1"/>
          <a:stretch>
            <a:fillRect/>
          </a:stretch>
        </p:blipFill>
        <p:spPr>
          <a:xfrm rot="21600000">
            <a:off x="201593" y="6530513"/>
            <a:ext cx="12329023" cy="106504"/>
          </a:xfrm>
          <a:prstGeom prst="rect">
            <a:avLst/>
          </a:prstGeom>
        </p:spPr>
      </p:pic>
      <p:graphicFrame>
        <p:nvGraphicFramePr>
          <p:cNvPr id="528" name="table 528"/>
          <p:cNvGraphicFramePr>
            <a:graphicFrameLocks noGrp="1"/>
          </p:cNvGraphicFramePr>
          <p:nvPr/>
        </p:nvGraphicFramePr>
        <p:xfrm>
          <a:off x="726122" y="4690427"/>
          <a:ext cx="9178290" cy="1884045"/>
        </p:xfrm>
        <a:graphic>
          <a:graphicData uri="http://schemas.openxmlformats.org/drawingml/2006/table">
            <a:tbl>
              <a:tblPr/>
              <a:tblGrid>
                <a:gridCol w="9178290"/>
              </a:tblGrid>
              <a:tr h="1877695">
                <a:tc>
                  <a:txBody>
                    <a:bodyPr/>
                    <a:lstStyle/>
                    <a:p>
                      <a:pPr algn="l" rtl="0" eaLnBrk="0">
                        <a:lnSpc>
                          <a:spcPct val="111000"/>
                        </a:lnSpc>
                      </a:pPr>
                      <a:endParaRPr sz="500" dirty="0">
                        <a:latin typeface="Arial" panose="020B0604020202020204"/>
                        <a:ea typeface="Arial" panose="020B0604020202020204"/>
                        <a:cs typeface="Arial" panose="020B0604020202020204"/>
                      </a:endParaRPr>
                    </a:p>
                    <a:p>
                      <a:pPr marL="109220" algn="l" rtl="0" eaLnBrk="0">
                        <a:lnSpc>
                          <a:spcPts val="2645"/>
                        </a:lnSpc>
                      </a:pP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 ：</a:t>
                      </a:r>
                      <a:r>
                        <a:rPr 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求</a:t>
                      </a:r>
                      <a:r>
                        <a:rPr 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其规格化内积，</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S·A</a:t>
                      </a:r>
                      <a:r>
                        <a:rPr sz="2000" b="1"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1－1＋3＋1－1＋3＋1＋1</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A发送1</a:t>
                      </a:r>
                      <a:endParaRPr sz="2000" dirty="0">
                        <a:latin typeface="微软雅黑" panose="020B0503020204020204" charset="-122"/>
                        <a:ea typeface="微软雅黑" panose="020B0503020204020204" charset="-122"/>
                        <a:cs typeface="微软雅黑" panose="020B0503020204020204" charset="-122"/>
                      </a:endParaRPr>
                    </a:p>
                    <a:p>
                      <a:pPr marL="118110" algn="l" rtl="0" eaLnBrk="0">
                        <a:lnSpc>
                          <a:spcPts val="3640"/>
                        </a:lnSpc>
                      </a:pP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S·B</a:t>
                      </a:r>
                      <a:r>
                        <a:rPr sz="2000" b="1"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1－1－3－</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1－1－3＋1－1</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3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B发送0</a:t>
                      </a:r>
                      <a:endParaRPr sz="2000" dirty="0">
                        <a:latin typeface="微软雅黑" panose="020B0503020204020204" charset="-122"/>
                        <a:ea typeface="微软雅黑" panose="020B0503020204020204" charset="-122"/>
                        <a:cs typeface="微软雅黑" panose="020B0503020204020204" charset="-122"/>
                      </a:endParaRPr>
                    </a:p>
                    <a:p>
                      <a:pPr marL="118110" algn="l" rtl="0" eaLnBrk="0">
                        <a:lnSpc>
                          <a:spcPts val="2645"/>
                        </a:lnSpc>
                        <a:spcBef>
                          <a:spcPts val="995"/>
                        </a:spcBef>
                      </a:pP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S·C</a:t>
                      </a:r>
                      <a:r>
                        <a:rPr sz="2000" b="1"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1＋1＋3</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＋1－1－3－1－1</a:t>
                      </a:r>
                      <a:r>
                        <a:rPr sz="20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sz="2000" b="1"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C无发送</a:t>
                      </a:r>
                      <a:endParaRPr sz="2000" dirty="0">
                        <a:latin typeface="微软雅黑" panose="020B0503020204020204" charset="-122"/>
                        <a:ea typeface="微软雅黑" panose="020B0503020204020204" charset="-122"/>
                        <a:cs typeface="微软雅黑" panose="020B0503020204020204" charset="-122"/>
                      </a:endParaRPr>
                    </a:p>
                    <a:p>
                      <a:pPr marL="118110" algn="l" rtl="0" eaLnBrk="0">
                        <a:lnSpc>
                          <a:spcPts val="3640"/>
                        </a:lnSpc>
                      </a:pP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S·D</a:t>
                      </a:r>
                      <a:r>
                        <a:rPr sz="2000" b="1"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1＋1＋3</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－1＋1＋3＋1－1</a:t>
                      </a:r>
                      <a:r>
                        <a:rPr sz="20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sz="2000" b="1"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D发送1</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sp>
        <p:nvSpPr>
          <p:cNvPr id="530" name="textbox 530"/>
          <p:cNvSpPr/>
          <p:nvPr/>
        </p:nvSpPr>
        <p:spPr>
          <a:xfrm>
            <a:off x="336984" y="3114511"/>
            <a:ext cx="7103744" cy="1499235"/>
          </a:xfrm>
          <a:prstGeom prst="rect">
            <a:avLst/>
          </a:prstGeom>
          <a:noFill/>
          <a:ln w="0" cap="flat">
            <a:noFill/>
            <a:prstDash val="solid"/>
            <a:miter lim="0"/>
          </a:ln>
        </p:spPr>
        <p:txBody>
          <a:bodyPr vert="horz" wrap="square" lIns="0" tIns="0" rIns="0" bIns="0"/>
          <a:lstStyle/>
          <a:p>
            <a:pPr algn="l" rtl="0" eaLnBrk="0">
              <a:lnSpc>
                <a:spcPct val="83000"/>
              </a:lnSpc>
            </a:pPr>
            <a:r>
              <a:rPr sz="2000" kern="0" spc="-80" dirty="0">
                <a:solidFill>
                  <a:srgbClr val="0066CC">
                    <a:alpha val="100000"/>
                  </a:srgbClr>
                </a:solidFill>
                <a:latin typeface="Wingdings" panose="05000000000000000000"/>
                <a:ea typeface="Wingdings" panose="05000000000000000000"/>
                <a:cs typeface="Wingdings" panose="05000000000000000000"/>
              </a:rPr>
              <a:t>l</a:t>
            </a:r>
            <a:r>
              <a:rPr sz="2000" kern="0" spc="-690" dirty="0">
                <a:solidFill>
                  <a:srgbClr val="0066CC">
                    <a:alpha val="100000"/>
                  </a:srgbClr>
                </a:solidFill>
                <a:latin typeface="Wingdings" panose="05000000000000000000"/>
                <a:ea typeface="Wingdings" panose="05000000000000000000"/>
                <a:cs typeface="Wingdings" panose="05000000000000000000"/>
              </a:rPr>
              <a:t> </a:t>
            </a:r>
            <a:r>
              <a:rPr sz="20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将每一个比特时间划分为</a:t>
            </a:r>
            <a:r>
              <a:rPr sz="2000" b="1"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m 个短的间隔 ，称为</a:t>
            </a:r>
            <a:r>
              <a:rPr sz="2000" b="1" kern="0" spc="-80" dirty="0">
                <a:solidFill>
                  <a:srgbClr val="C00000">
                    <a:alpha val="100000"/>
                  </a:srgbClr>
                </a:solidFill>
                <a:latin typeface="微软雅黑" panose="020B0503020204020204" charset="-122"/>
                <a:ea typeface="微软雅黑" panose="020B0503020204020204" charset="-122"/>
                <a:cs typeface="微软雅黑" panose="020B0503020204020204" charset="-122"/>
              </a:rPr>
              <a:t>码片</a:t>
            </a:r>
            <a:r>
              <a:rPr sz="2000" b="1" kern="0" spc="16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0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(chip)。</a:t>
            </a:r>
            <a:endParaRPr sz="2000" dirty="0">
              <a:latin typeface="微软雅黑" panose="020B0503020204020204" charset="-122"/>
              <a:ea typeface="微软雅黑" panose="020B0503020204020204" charset="-122"/>
              <a:cs typeface="微软雅黑" panose="020B0503020204020204" charset="-122"/>
            </a:endParaRPr>
          </a:p>
          <a:p>
            <a:pPr marL="12700" algn="l" rtl="0" eaLnBrk="0">
              <a:lnSpc>
                <a:spcPts val="2645"/>
              </a:lnSpc>
              <a:spcBef>
                <a:spcPts val="355"/>
              </a:spcBef>
            </a:pPr>
            <a:r>
              <a:rPr sz="2000" kern="0" spc="-10" dirty="0">
                <a:solidFill>
                  <a:srgbClr val="0066CC">
                    <a:alpha val="100000"/>
                  </a:srgbClr>
                </a:solidFill>
                <a:latin typeface="Wingdings" panose="05000000000000000000"/>
                <a:ea typeface="Wingdings" panose="05000000000000000000"/>
                <a:cs typeface="Wingdings" panose="05000000000000000000"/>
              </a:rPr>
              <a:t>l</a:t>
            </a:r>
            <a:r>
              <a:rPr sz="2000" kern="0" spc="-760" dirty="0">
                <a:solidFill>
                  <a:srgbClr val="0066CC">
                    <a:alpha val="100000"/>
                  </a:srgbClr>
                </a:solidFill>
                <a:latin typeface="Wingdings" panose="05000000000000000000"/>
                <a:ea typeface="Wingdings" panose="05000000000000000000"/>
                <a:cs typeface="Wingdings" panose="05000000000000000000"/>
              </a:rPr>
              <a:t> </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为每个站指派一个</a:t>
            </a:r>
            <a:r>
              <a:rPr sz="2000" b="1" kern="0" spc="-10" dirty="0">
                <a:solidFill>
                  <a:srgbClr val="C00000">
                    <a:alpha val="100000"/>
                  </a:srgbClr>
                </a:solidFill>
                <a:latin typeface="微软雅黑" panose="020B0503020204020204" charset="-122"/>
                <a:ea typeface="微软雅黑" panose="020B0503020204020204" charset="-122"/>
                <a:cs typeface="微软雅黑" panose="020B0503020204020204" charset="-122"/>
              </a:rPr>
              <a:t>唯一的 </a:t>
            </a: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m bit 码片序列。</a:t>
            </a:r>
            <a:endParaRPr sz="2000" dirty="0">
              <a:latin typeface="微软雅黑" panose="020B0503020204020204" charset="-122"/>
              <a:ea typeface="微软雅黑" panose="020B0503020204020204" charset="-122"/>
              <a:cs typeface="微软雅黑" panose="020B0503020204020204" charset="-122"/>
            </a:endParaRPr>
          </a:p>
          <a:p>
            <a:pPr marL="467360" algn="l" rtl="0" eaLnBrk="0">
              <a:lnSpc>
                <a:spcPts val="2375"/>
              </a:lnSpc>
              <a:spcBef>
                <a:spcPts val="580"/>
              </a:spcBef>
            </a:pPr>
            <a:r>
              <a:rPr sz="1700" kern="0" spc="70" dirty="0">
                <a:solidFill>
                  <a:srgbClr val="044559">
                    <a:alpha val="100000"/>
                  </a:srgbClr>
                </a:solidFill>
                <a:latin typeface="Wingdings" panose="05000000000000000000"/>
                <a:ea typeface="Wingdings" panose="05000000000000000000"/>
                <a:cs typeface="Wingdings" panose="05000000000000000000"/>
              </a:rPr>
              <a:t>u</a:t>
            </a:r>
            <a:r>
              <a:rPr sz="1700" b="1" kern="0" spc="70" dirty="0">
                <a:solidFill>
                  <a:srgbClr val="0000FF">
                    <a:alpha val="100000"/>
                  </a:srgbClr>
                </a:solidFill>
                <a:latin typeface="微软雅黑" panose="020B0503020204020204" charset="-122"/>
                <a:ea typeface="微软雅黑" panose="020B0503020204020204" charset="-122"/>
                <a:cs typeface="微软雅黑" panose="020B0503020204020204" charset="-122"/>
              </a:rPr>
              <a:t>发送比特</a:t>
            </a:r>
            <a:r>
              <a:rPr sz="1700" b="1" kern="0" spc="19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700" b="1" kern="0" spc="70" dirty="0">
                <a:solidFill>
                  <a:srgbClr val="C00000">
                    <a:alpha val="100000"/>
                  </a:srgbClr>
                </a:solidFill>
                <a:latin typeface="微软雅黑" panose="020B0503020204020204" charset="-122"/>
                <a:ea typeface="微软雅黑" panose="020B0503020204020204" charset="-122"/>
                <a:cs typeface="微软雅黑" panose="020B0503020204020204" charset="-122"/>
              </a:rPr>
              <a:t>1 </a:t>
            </a:r>
            <a:r>
              <a:rPr sz="1700" b="1" kern="0" spc="70" dirty="0">
                <a:solidFill>
                  <a:srgbClr val="0000FF">
                    <a:alpha val="100000"/>
                  </a:srgbClr>
                </a:solidFill>
                <a:latin typeface="微软雅黑" panose="020B0503020204020204" charset="-122"/>
                <a:ea typeface="微软雅黑" panose="020B0503020204020204" charset="-122"/>
                <a:cs typeface="微软雅黑" panose="020B0503020204020204" charset="-122"/>
              </a:rPr>
              <a:t>：</a:t>
            </a:r>
            <a:r>
              <a:rPr sz="1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发送自己的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r>
              <a:rPr sz="1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bit</a:t>
            </a:r>
            <a:r>
              <a:rPr sz="1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码片序列。</a:t>
            </a:r>
            <a:endParaRPr sz="17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500" dirty="0">
              <a:latin typeface="Arial" panose="020B0604020202020204"/>
              <a:ea typeface="Arial" panose="020B0604020202020204"/>
              <a:cs typeface="Arial" panose="020B0604020202020204"/>
            </a:endParaRPr>
          </a:p>
          <a:p>
            <a:pPr marL="467360" algn="l" rtl="0" eaLnBrk="0">
              <a:lnSpc>
                <a:spcPts val="2375"/>
              </a:lnSpc>
              <a:spcBef>
                <a:spcPts val="0"/>
              </a:spcBef>
            </a:pPr>
            <a:r>
              <a:rPr sz="1700" kern="0" spc="80" dirty="0">
                <a:solidFill>
                  <a:srgbClr val="044559">
                    <a:alpha val="100000"/>
                  </a:srgbClr>
                </a:solidFill>
                <a:latin typeface="Wingdings" panose="05000000000000000000"/>
                <a:ea typeface="Wingdings" panose="05000000000000000000"/>
                <a:cs typeface="Wingdings" panose="05000000000000000000"/>
              </a:rPr>
              <a:t>u</a:t>
            </a:r>
            <a:r>
              <a:rPr sz="1700" b="1" kern="0" spc="80" dirty="0">
                <a:solidFill>
                  <a:srgbClr val="0000FF">
                    <a:alpha val="100000"/>
                  </a:srgbClr>
                </a:solidFill>
                <a:latin typeface="微软雅黑" panose="020B0503020204020204" charset="-122"/>
                <a:ea typeface="微软雅黑" panose="020B0503020204020204" charset="-122"/>
                <a:cs typeface="微软雅黑" panose="020B0503020204020204" charset="-122"/>
              </a:rPr>
              <a:t>发送比特 </a:t>
            </a:r>
            <a:r>
              <a:rPr sz="1700" b="1" kern="0" spc="80" dirty="0">
                <a:solidFill>
                  <a:srgbClr val="C00000">
                    <a:alpha val="100000"/>
                  </a:srgbClr>
                </a:solidFill>
                <a:latin typeface="微软雅黑" panose="020B0503020204020204" charset="-122"/>
                <a:ea typeface="微软雅黑" panose="020B0503020204020204" charset="-122"/>
                <a:cs typeface="微软雅黑" panose="020B0503020204020204" charset="-122"/>
              </a:rPr>
              <a:t>0 </a:t>
            </a:r>
            <a:r>
              <a:rPr sz="1700" b="1" kern="0" spc="80" dirty="0">
                <a:solidFill>
                  <a:srgbClr val="0000FF">
                    <a:alpha val="100000"/>
                  </a:srgbClr>
                </a:solidFill>
                <a:latin typeface="微软雅黑" panose="020B0503020204020204" charset="-122"/>
                <a:ea typeface="微软雅黑" panose="020B0503020204020204" charset="-122"/>
                <a:cs typeface="微软雅黑" panose="020B0503020204020204" charset="-122"/>
              </a:rPr>
              <a:t>：</a:t>
            </a:r>
            <a:r>
              <a: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发送该码片序列的</a:t>
            </a:r>
            <a:r>
              <a:rPr sz="17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二进制</a:t>
            </a:r>
            <a:r>
              <a:rPr sz="1700" b="1" kern="0" spc="70" dirty="0">
                <a:solidFill>
                  <a:srgbClr val="C00000">
                    <a:alpha val="100000"/>
                  </a:srgbClr>
                </a:solidFill>
                <a:latin typeface="微软雅黑" panose="020B0503020204020204" charset="-122"/>
                <a:ea typeface="微软雅黑" panose="020B0503020204020204" charset="-122"/>
                <a:cs typeface="微软雅黑" panose="020B0503020204020204" charset="-122"/>
              </a:rPr>
              <a:t>反码。</a:t>
            </a:r>
            <a:endParaRPr sz="1700" dirty="0">
              <a:latin typeface="微软雅黑" panose="020B0503020204020204" charset="-122"/>
              <a:ea typeface="微软雅黑" panose="020B0503020204020204" charset="-122"/>
              <a:cs typeface="微软雅黑" panose="020B0503020204020204" charset="-122"/>
            </a:endParaRPr>
          </a:p>
        </p:txBody>
      </p:sp>
      <p:grpSp>
        <p:nvGrpSpPr>
          <p:cNvPr id="36" name="group 36"/>
          <p:cNvGrpSpPr/>
          <p:nvPr/>
        </p:nvGrpSpPr>
        <p:grpSpPr>
          <a:xfrm rot="21600000">
            <a:off x="7637286" y="3128302"/>
            <a:ext cx="4811746" cy="1469579"/>
            <a:chOff x="0" y="0"/>
            <a:chExt cx="4811746" cy="1469579"/>
          </a:xfrm>
        </p:grpSpPr>
        <p:pic>
          <p:nvPicPr>
            <p:cNvPr id="532" name="picture 532"/>
            <p:cNvPicPr>
              <a:picLocks noChangeAspect="1"/>
            </p:cNvPicPr>
            <p:nvPr/>
          </p:nvPicPr>
          <p:blipFill>
            <a:blip r:embed="rId2"/>
            <a:stretch>
              <a:fillRect/>
            </a:stretch>
          </p:blipFill>
          <p:spPr>
            <a:xfrm rot="21600000">
              <a:off x="0" y="0"/>
              <a:ext cx="4811746" cy="1469579"/>
            </a:xfrm>
            <a:prstGeom prst="rect">
              <a:avLst/>
            </a:prstGeom>
          </p:spPr>
        </p:pic>
        <p:sp>
          <p:nvSpPr>
            <p:cNvPr id="534" name="textbox 534"/>
            <p:cNvSpPr/>
            <p:nvPr/>
          </p:nvSpPr>
          <p:spPr>
            <a:xfrm>
              <a:off x="-12700" y="-12700"/>
              <a:ext cx="4837429" cy="1495425"/>
            </a:xfrm>
            <a:prstGeom prst="rect">
              <a:avLst/>
            </a:prstGeom>
            <a:noFill/>
            <a:ln w="0" cap="flat">
              <a:noFill/>
              <a:prstDash val="solid"/>
              <a:miter lim="0"/>
            </a:ln>
          </p:spPr>
          <p:txBody>
            <a:bodyPr vert="horz" wrap="square" lIns="0" tIns="0" rIns="0" bIns="0"/>
            <a:lstStyle/>
            <a:p>
              <a:pPr algn="l" rtl="0" eaLnBrk="0">
                <a:lnSpc>
                  <a:spcPct val="103000"/>
                </a:lnSpc>
              </a:pPr>
              <a:endParaRPr sz="600" dirty="0">
                <a:latin typeface="Arial" panose="020B0604020202020204"/>
                <a:ea typeface="Arial" panose="020B0604020202020204"/>
                <a:cs typeface="Arial" panose="020B0604020202020204"/>
              </a:endParaRPr>
            </a:p>
            <a:p>
              <a:pPr marL="123190" algn="l" rtl="0" eaLnBrk="0">
                <a:lnSpc>
                  <a:spcPts val="2375"/>
                </a:lnSpc>
                <a:spcBef>
                  <a:spcPts val="5"/>
                </a:spcBef>
              </a:pPr>
              <a:r>
                <a:rPr sz="17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例如 ：S 站的 </a:t>
              </a:r>
              <a:r>
                <a:rPr sz="17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sz="1700" b="1"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bit</a:t>
              </a:r>
              <a:r>
                <a:rPr sz="17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码片序列是 00011011。</a:t>
              </a:r>
              <a:endParaRPr sz="1700" dirty="0">
                <a:latin typeface="微软雅黑" panose="020B0503020204020204" charset="-122"/>
                <a:ea typeface="微软雅黑" panose="020B0503020204020204" charset="-122"/>
                <a:cs typeface="微软雅黑" panose="020B0503020204020204" charset="-122"/>
              </a:endParaRPr>
            </a:p>
            <a:p>
              <a:pPr marL="139065" algn="l" rtl="0" eaLnBrk="0">
                <a:lnSpc>
                  <a:spcPts val="2375"/>
                </a:lnSpc>
                <a:spcBef>
                  <a:spcPts val="225"/>
                </a:spcBef>
              </a:pPr>
              <a:r>
                <a:rPr sz="1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00011011</a:t>
              </a:r>
              <a:endParaRPr sz="1700" dirty="0">
                <a:latin typeface="微软雅黑" panose="020B0503020204020204" charset="-122"/>
                <a:ea typeface="微软雅黑" panose="020B0503020204020204" charset="-122"/>
                <a:cs typeface="微软雅黑" panose="020B0503020204020204" charset="-122"/>
              </a:endParaRPr>
            </a:p>
            <a:p>
              <a:pPr marL="128270" algn="l" rtl="0" eaLnBrk="0">
                <a:lnSpc>
                  <a:spcPts val="2375"/>
                </a:lnSpc>
                <a:spcBef>
                  <a:spcPts val="225"/>
                </a:spcBef>
              </a:pPr>
              <a:r>
                <a:rPr sz="1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sz="1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11100100</a:t>
              </a:r>
              <a:endParaRPr sz="1700" dirty="0">
                <a:latin typeface="微软雅黑" panose="020B0503020204020204" charset="-122"/>
                <a:ea typeface="微软雅黑" panose="020B0503020204020204" charset="-122"/>
                <a:cs typeface="微软雅黑" panose="020B0503020204020204" charset="-122"/>
              </a:endParaRPr>
            </a:p>
            <a:p>
              <a:pPr marL="122555" algn="l" rtl="0" eaLnBrk="0">
                <a:lnSpc>
                  <a:spcPts val="2375"/>
                </a:lnSpc>
                <a:spcBef>
                  <a:spcPts val="225"/>
                </a:spcBef>
              </a:pPr>
              <a:r>
                <a:rPr sz="1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码片序列 ：(–1 –1 –1</a:t>
              </a:r>
              <a:r>
                <a:rPr sz="1700" b="1"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7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 –1</a:t>
              </a:r>
              <a:r>
                <a:rPr sz="17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700" b="1"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endParaRPr sz="1700" dirty="0">
                <a:latin typeface="微软雅黑" panose="020B0503020204020204" charset="-122"/>
                <a:ea typeface="微软雅黑" panose="020B0503020204020204" charset="-122"/>
                <a:cs typeface="微软雅黑" panose="020B0503020204020204" charset="-122"/>
              </a:endParaRPr>
            </a:p>
          </p:txBody>
        </p:sp>
        <p:pic>
          <p:nvPicPr>
            <p:cNvPr id="536" name="picture 536"/>
            <p:cNvPicPr>
              <a:picLocks noChangeAspect="1"/>
            </p:cNvPicPr>
            <p:nvPr/>
          </p:nvPicPr>
          <p:blipFill>
            <a:blip r:embed="rId3"/>
            <a:stretch>
              <a:fillRect/>
            </a:stretch>
          </p:blipFill>
          <p:spPr>
            <a:xfrm rot="21600000">
              <a:off x="408265" y="779309"/>
              <a:ext cx="224713" cy="253288"/>
            </a:xfrm>
            <a:prstGeom prst="rect">
              <a:avLst/>
            </a:prstGeom>
          </p:spPr>
        </p:pic>
        <p:pic>
          <p:nvPicPr>
            <p:cNvPr id="538" name="picture 538"/>
            <p:cNvPicPr>
              <a:picLocks noChangeAspect="1"/>
            </p:cNvPicPr>
            <p:nvPr/>
          </p:nvPicPr>
          <p:blipFill>
            <a:blip r:embed="rId4"/>
            <a:stretch>
              <a:fillRect/>
            </a:stretch>
          </p:blipFill>
          <p:spPr>
            <a:xfrm rot="21600000">
              <a:off x="419009" y="449109"/>
              <a:ext cx="224713" cy="253288"/>
            </a:xfrm>
            <a:prstGeom prst="rect">
              <a:avLst/>
            </a:prstGeom>
          </p:spPr>
        </p:pic>
      </p:grpSp>
      <p:pic>
        <p:nvPicPr>
          <p:cNvPr id="542" name="picture 542"/>
          <p:cNvPicPr>
            <a:picLocks noChangeAspect="1"/>
          </p:cNvPicPr>
          <p:nvPr/>
        </p:nvPicPr>
        <p:blipFill>
          <a:blip r:embed="rId5"/>
          <a:stretch>
            <a:fillRect/>
          </a:stretch>
        </p:blipFill>
        <p:spPr>
          <a:xfrm rot="21600000">
            <a:off x="25390" y="455581"/>
            <a:ext cx="5966700" cy="165803"/>
          </a:xfrm>
          <a:prstGeom prst="rect">
            <a:avLst/>
          </a:prstGeom>
        </p:spPr>
      </p:pic>
      <p:pic>
        <p:nvPicPr>
          <p:cNvPr id="544" name="picture 544"/>
          <p:cNvPicPr>
            <a:picLocks noChangeAspect="1"/>
          </p:cNvPicPr>
          <p:nvPr/>
        </p:nvPicPr>
        <p:blipFill>
          <a:blip r:embed="rId6"/>
          <a:stretch>
            <a:fillRect/>
          </a:stretch>
        </p:blipFill>
        <p:spPr>
          <a:xfrm rot="21600000">
            <a:off x="7016265" y="444979"/>
            <a:ext cx="5829811" cy="155341"/>
          </a:xfrm>
          <a:prstGeom prst="rect">
            <a:avLst/>
          </a:prstGeom>
        </p:spPr>
      </p:pic>
      <p:pic>
        <p:nvPicPr>
          <p:cNvPr id="546" name="picture 546"/>
          <p:cNvPicPr>
            <a:picLocks noChangeAspect="1"/>
          </p:cNvPicPr>
          <p:nvPr/>
        </p:nvPicPr>
        <p:blipFill>
          <a:blip r:embed="rId7"/>
          <a:stretch>
            <a:fillRect/>
          </a:stretch>
        </p:blipFill>
        <p:spPr>
          <a:xfrm rot="21600000">
            <a:off x="6193535" y="160019"/>
            <a:ext cx="660741" cy="662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 198"/>
          <p:cNvSpPr/>
          <p:nvPr/>
        </p:nvSpPr>
        <p:spPr>
          <a:xfrm>
            <a:off x="0" y="0"/>
            <a:ext cx="12858750" cy="7232650"/>
          </a:xfrm>
          <a:prstGeom prst="rect">
            <a:avLst/>
          </a:prstGeom>
          <a:solidFill>
            <a:srgbClr val="FFFFFF">
              <a:alpha val="14509"/>
            </a:srgbClr>
          </a:solidFill>
          <a:ln w="0" cap="flat">
            <a:noFill/>
            <a:prstDash val="solid"/>
            <a:miter lim="0"/>
          </a:ln>
        </p:spPr>
        <p:txBody>
          <a:bodyPr rtlCol="0"/>
          <a:lstStyle/>
          <a:p>
            <a:pPr algn="ctr"/>
            <a:endParaRPr lang="zh-CN" altLang="en-US"/>
          </a:p>
        </p:txBody>
      </p:sp>
      <p:pic>
        <p:nvPicPr>
          <p:cNvPr id="200" name="picture 200"/>
          <p:cNvPicPr>
            <a:picLocks noChangeAspect="1"/>
          </p:cNvPicPr>
          <p:nvPr/>
        </p:nvPicPr>
        <p:blipFill>
          <a:blip r:embed="rId1"/>
          <a:stretch>
            <a:fillRect/>
          </a:stretch>
        </p:blipFill>
        <p:spPr>
          <a:xfrm rot="21600000">
            <a:off x="201593" y="6530513"/>
            <a:ext cx="12329023" cy="106504"/>
          </a:xfrm>
          <a:prstGeom prst="rect">
            <a:avLst/>
          </a:prstGeom>
        </p:spPr>
      </p:pic>
      <p:pic>
        <p:nvPicPr>
          <p:cNvPr id="202" name="picture 202"/>
          <p:cNvPicPr>
            <a:picLocks noChangeAspect="1"/>
          </p:cNvPicPr>
          <p:nvPr/>
        </p:nvPicPr>
        <p:blipFill>
          <a:blip r:embed="rId2"/>
          <a:stretch>
            <a:fillRect/>
          </a:stretch>
        </p:blipFill>
        <p:spPr>
          <a:xfrm rot="21600000">
            <a:off x="770890" y="2334260"/>
            <a:ext cx="9734550" cy="3213735"/>
          </a:xfrm>
          <a:prstGeom prst="rect">
            <a:avLst/>
          </a:prstGeom>
        </p:spPr>
      </p:pic>
      <p:sp>
        <p:nvSpPr>
          <p:cNvPr id="210" name="textbox 210"/>
          <p:cNvSpPr/>
          <p:nvPr/>
        </p:nvSpPr>
        <p:spPr>
          <a:xfrm>
            <a:off x="373814" y="812636"/>
            <a:ext cx="11894184" cy="716280"/>
          </a:xfrm>
          <a:prstGeom prst="rect">
            <a:avLst/>
          </a:prstGeom>
          <a:noFill/>
          <a:ln w="0" cap="flat">
            <a:noFill/>
            <a:prstDash val="solid"/>
            <a:miter lim="0"/>
          </a:ln>
        </p:spPr>
        <p:txBody>
          <a:bodyPr vert="horz" wrap="square" lIns="0" tIns="0" rIns="0" bIns="0"/>
          <a:lstStyle/>
          <a:p>
            <a:pPr algn="l" rtl="0" eaLnBrk="0">
              <a:lnSpc>
                <a:spcPct val="17000"/>
              </a:lnSpc>
            </a:pPr>
            <a:endParaRPr sz="100" dirty="0">
              <a:latin typeface="Arial" panose="020B0604020202020204"/>
              <a:ea typeface="Arial" panose="020B0604020202020204"/>
              <a:cs typeface="Arial" panose="020B0604020202020204"/>
            </a:endParaRPr>
          </a:p>
          <a:p>
            <a:pPr marL="396240" indent="-383540" algn="l" rtl="0" eaLnBrk="0">
              <a:lnSpc>
                <a:spcPct val="115000"/>
              </a:lnSpc>
            </a:pPr>
            <a:r>
              <a:rPr sz="2000" kern="0" spc="-20" dirty="0">
                <a:solidFill>
                  <a:srgbClr val="0070C0">
                    <a:alpha val="100000"/>
                  </a:srgbClr>
                </a:solidFill>
                <a:latin typeface="Wingdings" panose="05000000000000000000"/>
                <a:ea typeface="Wingdings" panose="05000000000000000000"/>
                <a:cs typeface="Wingdings" panose="05000000000000000000"/>
              </a:rPr>
              <a:t>l </a:t>
            </a:r>
            <a:r>
              <a:rPr lang="en-US" sz="2000" b="1" kern="0" spc="-20" dirty="0">
                <a:solidFill>
                  <a:srgbClr val="0070C0">
                    <a:alpha val="100000"/>
                  </a:srgbClr>
                </a:solidFill>
                <a:latin typeface="宋体" panose="02010600030101010101" pitchFamily="2" charset="-122"/>
                <a:ea typeface="宋体" panose="02010600030101010101" pitchFamily="2" charset="-122"/>
                <a:cs typeface="Wingdings" panose="05000000000000000000"/>
              </a:rPr>
              <a:t>4.</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要发送的数据为</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1101011011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。采用</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CRC</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的生成多项式是</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P(x)=x</a:t>
            </a:r>
            <a:r>
              <a:rPr lang="en-US" altLang="zh-CN" sz="2000" b="1" kern="0" spc="-10" baseline="3000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+x+1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。试求应添加在数据后面的余数。数据在传输过程中最后一个</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变成了</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，问接收端能否发现？若数据在传输过程中最后两个</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都变成了</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，问接收端能否发现？</a:t>
            </a:r>
            <a:endParaRPr sz="2000" dirty="0">
              <a:latin typeface="微软雅黑" panose="020B0503020204020204" charset="-122"/>
              <a:ea typeface="微软雅黑" panose="020B0503020204020204" charset="-122"/>
              <a:cs typeface="微软雅黑" panose="020B0503020204020204" charset="-122"/>
            </a:endParaRPr>
          </a:p>
        </p:txBody>
      </p:sp>
      <p:pic>
        <p:nvPicPr>
          <p:cNvPr id="216" name="picture 216"/>
          <p:cNvPicPr>
            <a:picLocks noChangeAspect="1"/>
          </p:cNvPicPr>
          <p:nvPr/>
        </p:nvPicPr>
        <p:blipFill>
          <a:blip r:embed="rId3"/>
          <a:stretch>
            <a:fillRect/>
          </a:stretch>
        </p:blipFill>
        <p:spPr>
          <a:xfrm rot="21600000">
            <a:off x="25390" y="455581"/>
            <a:ext cx="5966700" cy="165803"/>
          </a:xfrm>
          <a:prstGeom prst="rect">
            <a:avLst/>
          </a:prstGeom>
        </p:spPr>
      </p:pic>
      <p:pic>
        <p:nvPicPr>
          <p:cNvPr id="218" name="picture 218"/>
          <p:cNvPicPr>
            <a:picLocks noChangeAspect="1"/>
          </p:cNvPicPr>
          <p:nvPr/>
        </p:nvPicPr>
        <p:blipFill>
          <a:blip r:embed="rId4"/>
          <a:stretch>
            <a:fillRect/>
          </a:stretch>
        </p:blipFill>
        <p:spPr>
          <a:xfrm rot="21600000">
            <a:off x="7016265" y="444979"/>
            <a:ext cx="5829811" cy="155341"/>
          </a:xfrm>
          <a:prstGeom prst="rect">
            <a:avLst/>
          </a:prstGeom>
        </p:spPr>
      </p:pic>
      <p:pic>
        <p:nvPicPr>
          <p:cNvPr id="222" name="picture 222"/>
          <p:cNvPicPr>
            <a:picLocks noChangeAspect="1"/>
          </p:cNvPicPr>
          <p:nvPr/>
        </p:nvPicPr>
        <p:blipFill>
          <a:blip r:embed="rId5"/>
          <a:stretch>
            <a:fillRect/>
          </a:stretch>
        </p:blipFill>
        <p:spPr>
          <a:xfrm rot="21600000">
            <a:off x="6193535" y="160019"/>
            <a:ext cx="660741" cy="662940"/>
          </a:xfrm>
          <a:prstGeom prst="rect">
            <a:avLst/>
          </a:prstGeom>
        </p:spPr>
      </p:pic>
      <p:sp>
        <p:nvSpPr>
          <p:cNvPr id="2" name="文本框 1"/>
          <p:cNvSpPr txBox="1"/>
          <p:nvPr/>
        </p:nvSpPr>
        <p:spPr>
          <a:xfrm>
            <a:off x="1040765" y="2484755"/>
            <a:ext cx="9091295" cy="2997835"/>
          </a:xfrm>
          <a:prstGeom prst="rect">
            <a:avLst/>
          </a:prstGeom>
        </p:spPr>
        <p:txBody>
          <a:bodyPr>
            <a:noAutofit/>
          </a:bodyPr>
          <a:p>
            <a:pPr indent="0" algn="l" fontAlgn="auto">
              <a:lnSpc>
                <a:spcPct val="150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）添加的检验序列为1110 （11010110110000除以10011）模</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除　　</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）数据在传输过程中最后一个1变成了0，11010110101110除以10011，余数为011，不为0，接收端可以发现差错。　　</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数据在传输过程中最后两个1都变成了0，11010110001110除以10011，余数为101，不为0，接收端可以发现差错。</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 198"/>
          <p:cNvSpPr/>
          <p:nvPr/>
        </p:nvSpPr>
        <p:spPr>
          <a:xfrm>
            <a:off x="0" y="0"/>
            <a:ext cx="12858750" cy="7232650"/>
          </a:xfrm>
          <a:prstGeom prst="rect">
            <a:avLst/>
          </a:prstGeom>
          <a:solidFill>
            <a:srgbClr val="FFFFFF">
              <a:alpha val="14509"/>
            </a:srgbClr>
          </a:solidFill>
          <a:ln w="0" cap="flat">
            <a:noFill/>
            <a:prstDash val="solid"/>
            <a:miter lim="0"/>
          </a:ln>
        </p:spPr>
        <p:txBody>
          <a:bodyPr rtlCol="0"/>
          <a:lstStyle/>
          <a:p>
            <a:pPr algn="ctr"/>
            <a:endParaRPr lang="zh-CN" altLang="en-US"/>
          </a:p>
        </p:txBody>
      </p:sp>
      <p:pic>
        <p:nvPicPr>
          <p:cNvPr id="200" name="picture 200"/>
          <p:cNvPicPr>
            <a:picLocks noChangeAspect="1"/>
          </p:cNvPicPr>
          <p:nvPr/>
        </p:nvPicPr>
        <p:blipFill>
          <a:blip r:embed="rId1"/>
          <a:stretch>
            <a:fillRect/>
          </a:stretch>
        </p:blipFill>
        <p:spPr>
          <a:xfrm rot="21600000">
            <a:off x="201593" y="6542578"/>
            <a:ext cx="12329023" cy="106504"/>
          </a:xfrm>
          <a:prstGeom prst="rect">
            <a:avLst/>
          </a:prstGeom>
        </p:spPr>
      </p:pic>
      <p:pic>
        <p:nvPicPr>
          <p:cNvPr id="202" name="picture 202"/>
          <p:cNvPicPr>
            <a:picLocks noChangeAspect="1"/>
          </p:cNvPicPr>
          <p:nvPr/>
        </p:nvPicPr>
        <p:blipFill>
          <a:blip r:embed="rId2"/>
          <a:stretch>
            <a:fillRect/>
          </a:stretch>
        </p:blipFill>
        <p:spPr>
          <a:xfrm rot="21600000">
            <a:off x="770890" y="2334260"/>
            <a:ext cx="9734550" cy="2620010"/>
          </a:xfrm>
          <a:prstGeom prst="rect">
            <a:avLst/>
          </a:prstGeom>
        </p:spPr>
      </p:pic>
      <p:sp>
        <p:nvSpPr>
          <p:cNvPr id="210" name="textbox 210"/>
          <p:cNvSpPr/>
          <p:nvPr/>
        </p:nvSpPr>
        <p:spPr>
          <a:xfrm>
            <a:off x="374015" y="812800"/>
            <a:ext cx="11894185" cy="1124585"/>
          </a:xfrm>
          <a:prstGeom prst="rect">
            <a:avLst/>
          </a:prstGeom>
          <a:noFill/>
          <a:ln w="0" cap="flat">
            <a:noFill/>
            <a:prstDash val="solid"/>
            <a:miter lim="0"/>
          </a:ln>
        </p:spPr>
        <p:txBody>
          <a:bodyPr vert="horz" wrap="square" lIns="0" tIns="0" rIns="0" bIns="0"/>
          <a:lstStyle/>
          <a:p>
            <a:pPr algn="l" rtl="0" eaLnBrk="0">
              <a:lnSpc>
                <a:spcPct val="17000"/>
              </a:lnSpc>
            </a:pPr>
            <a:endParaRPr sz="100" dirty="0">
              <a:latin typeface="Arial" panose="020B0604020202020204"/>
              <a:ea typeface="Arial" panose="020B0604020202020204"/>
              <a:cs typeface="Arial" panose="020B0604020202020204"/>
            </a:endParaRPr>
          </a:p>
          <a:p>
            <a:pPr marL="396240" indent="-383540" algn="l" rtl="0" eaLnBrk="0">
              <a:lnSpc>
                <a:spcPct val="115000"/>
              </a:lnSpc>
            </a:pPr>
            <a:r>
              <a:rPr sz="2000" kern="0" spc="-20" dirty="0">
                <a:solidFill>
                  <a:srgbClr val="0070C0">
                    <a:alpha val="100000"/>
                  </a:srgbClr>
                </a:solidFill>
                <a:latin typeface="Wingdings" panose="05000000000000000000"/>
                <a:ea typeface="Wingdings" panose="05000000000000000000"/>
                <a:cs typeface="Wingdings" panose="05000000000000000000"/>
              </a:rPr>
              <a:t>l</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一个PPP帧的数据部分（用十六进制写出）是7D 5E FE 27 7D 5D 7D 5D 65 7D 5E。试问真正的数据是什么（用十六进制写出）？</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16" name="picture 216"/>
          <p:cNvPicPr>
            <a:picLocks noChangeAspect="1"/>
          </p:cNvPicPr>
          <p:nvPr/>
        </p:nvPicPr>
        <p:blipFill>
          <a:blip r:embed="rId3"/>
          <a:stretch>
            <a:fillRect/>
          </a:stretch>
        </p:blipFill>
        <p:spPr>
          <a:xfrm rot="21600000">
            <a:off x="25390" y="455581"/>
            <a:ext cx="5966700" cy="165803"/>
          </a:xfrm>
          <a:prstGeom prst="rect">
            <a:avLst/>
          </a:prstGeom>
        </p:spPr>
      </p:pic>
      <p:pic>
        <p:nvPicPr>
          <p:cNvPr id="218" name="picture 218"/>
          <p:cNvPicPr>
            <a:picLocks noChangeAspect="1"/>
          </p:cNvPicPr>
          <p:nvPr/>
        </p:nvPicPr>
        <p:blipFill>
          <a:blip r:embed="rId4"/>
          <a:stretch>
            <a:fillRect/>
          </a:stretch>
        </p:blipFill>
        <p:spPr>
          <a:xfrm rot="21600000">
            <a:off x="7016265" y="444979"/>
            <a:ext cx="5829811" cy="155341"/>
          </a:xfrm>
          <a:prstGeom prst="rect">
            <a:avLst/>
          </a:prstGeom>
        </p:spPr>
      </p:pic>
      <p:pic>
        <p:nvPicPr>
          <p:cNvPr id="222" name="picture 222"/>
          <p:cNvPicPr>
            <a:picLocks noChangeAspect="1"/>
          </p:cNvPicPr>
          <p:nvPr/>
        </p:nvPicPr>
        <p:blipFill>
          <a:blip r:embed="rId5"/>
          <a:stretch>
            <a:fillRect/>
          </a:stretch>
        </p:blipFill>
        <p:spPr>
          <a:xfrm rot="21600000">
            <a:off x="6193535" y="160019"/>
            <a:ext cx="660741" cy="662940"/>
          </a:xfrm>
          <a:prstGeom prst="rect">
            <a:avLst/>
          </a:prstGeom>
        </p:spPr>
      </p:pic>
      <p:sp>
        <p:nvSpPr>
          <p:cNvPr id="2" name="文本框 1"/>
          <p:cNvSpPr txBox="1"/>
          <p:nvPr/>
        </p:nvSpPr>
        <p:spPr>
          <a:xfrm>
            <a:off x="1040765" y="2484755"/>
            <a:ext cx="9210040" cy="2356485"/>
          </a:xfrm>
          <a:prstGeom prst="rect">
            <a:avLst/>
          </a:prstGeom>
        </p:spPr>
        <p:txBody>
          <a:bodyPr>
            <a:noAutofit/>
          </a:bodyPr>
          <a:p>
            <a:pPr indent="0" algn="l" fontAlgn="auto">
              <a:lnSpc>
                <a:spcPct val="150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答：分析</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PPP</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帧的数据部分</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即信息字段</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):7D 5E  FE 27 7D 5D 7D 5D 65 7D 5E</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spcBef>
                <a:spcPts val="700"/>
              </a:spcBef>
            </a:pP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1.7D 5E </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转换为</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7E;</a:t>
            </a:r>
            <a:endPar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spcBef>
                <a:spcPts val="700"/>
              </a:spcBef>
            </a:pP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2.7D 5D</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转换为</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7D</a:t>
            </a: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spcBef>
                <a:spcPts val="700"/>
              </a:spcBef>
            </a:pPr>
            <a:r>
              <a:rPr lang="zh-CN" altLang="en-US"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所以真正的数据为</a:t>
            </a:r>
            <a:r>
              <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:7E  FE  27  7D  7D  65  7E</a:t>
            </a:r>
            <a:endParaRPr lang="en-US" altLang="zh-CN"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102679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6.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1km</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长的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CSMA/CD</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网络的数据率为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1Gb/s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。设信号在网络上的传播速率为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200000km/s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。求能够使用此协议的最短帧长</a:t>
            </a:r>
            <a:r>
              <a:rPr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30513"/>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5"/>
          <a:stretch>
            <a:fillRect/>
          </a:stretch>
        </p:blipFill>
        <p:spPr>
          <a:xfrm rot="21600000">
            <a:off x="1200785" y="2052320"/>
            <a:ext cx="9734550" cy="3213735"/>
          </a:xfrm>
          <a:prstGeom prst="rect">
            <a:avLst/>
          </a:prstGeom>
        </p:spPr>
      </p:pic>
      <p:sp>
        <p:nvSpPr>
          <p:cNvPr id="2" name="文本框 1"/>
          <p:cNvSpPr txBox="1"/>
          <p:nvPr/>
        </p:nvSpPr>
        <p:spPr>
          <a:xfrm>
            <a:off x="1355725" y="2202815"/>
            <a:ext cx="9552940" cy="2538095"/>
          </a:xfrm>
          <a:prstGeom prst="rect">
            <a:avLst/>
          </a:prstGeom>
          <a:noFill/>
        </p:spPr>
        <p:txBody>
          <a:bodyPr wrap="square" rtlCol="0">
            <a:noAutofit/>
          </a:bodyPr>
          <a:p>
            <a:pPr indent="0" fontAlgn="auto">
              <a:lnSpc>
                <a:spcPct val="115000"/>
              </a:lnSpc>
              <a:spcBef>
                <a:spcPts val="700"/>
              </a:spcBef>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答：对于1km电缆，单程传播时间为1÷200000=5×10</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-6</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s，即5us，来回路程传播时间为10us。为了能够按照CSMA/CD工作，最短帧的发射时间不能小于10us。以1Gb/s速率工作，10us可以发送的比特数等于：</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spcBef>
                <a:spcPts val="700"/>
              </a:spcBef>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1GB*10us=1*10</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9</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*10*10</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-6</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=10000bit=1250byte</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spcBef>
                <a:spcPts val="700"/>
              </a:spcBef>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因此，最短帧是10000位或1250字节长。</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102679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7.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现有五个站分别连接在三个局域网上，并且用两个透明网桥连接起来，如下图所示。每一个网桥的两个端口号都标明在图上。在一开始，两个网桥中的转发表都是空的。以后有以下各站向其他的站发送了数据帧，即</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发送给</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发送给</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发送给</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发送给</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。试将有关数据填写在下表中。</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graphicFrame>
        <p:nvGraphicFramePr>
          <p:cNvPr id="3" name="表格 2"/>
          <p:cNvGraphicFramePr/>
          <p:nvPr>
            <p:custDataLst>
              <p:tags r:id="rId4"/>
            </p:custDataLst>
          </p:nvPr>
        </p:nvGraphicFramePr>
        <p:xfrm>
          <a:off x="329565" y="2425700"/>
          <a:ext cx="6686550" cy="3797300"/>
        </p:xfrm>
        <a:graphic>
          <a:graphicData uri="http://schemas.openxmlformats.org/drawingml/2006/table">
            <a:tbl>
              <a:tblPr/>
              <a:tblGrid>
                <a:gridCol w="965835"/>
                <a:gridCol w="837565"/>
                <a:gridCol w="648970"/>
                <a:gridCol w="946150"/>
                <a:gridCol w="684530"/>
                <a:gridCol w="1181735"/>
                <a:gridCol w="1421765"/>
              </a:tblGrid>
              <a:tr h="354330">
                <a:tc rowSpan="2">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发送的帧</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2">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网桥</a:t>
                      </a:r>
                      <a:r>
                        <a:rPr lang="en-US" altLang="zh-CN" sz="1400" b="1">
                          <a:latin typeface="微软雅黑" panose="020B0503020204020204" charset="-122"/>
                          <a:ea typeface="微软雅黑" panose="020B0503020204020204" charset="-122"/>
                          <a:cs typeface="微软雅黑" panose="020B0503020204020204" charset="-122"/>
                        </a:rPr>
                        <a:t>1</a:t>
                      </a:r>
                      <a:r>
                        <a:rPr lang="zh-CN" altLang="en-US" sz="1400" b="1">
                          <a:latin typeface="微软雅黑" panose="020B0503020204020204" charset="-122"/>
                          <a:ea typeface="微软雅黑" panose="020B0503020204020204" charset="-122"/>
                          <a:cs typeface="微软雅黑" panose="020B0503020204020204" charset="-122"/>
                        </a:rPr>
                        <a:t>的转发表</a:t>
                      </a:r>
                      <a:endParaRPr lang="zh-CN" altLang="en-US" sz="1400" b="1">
                        <a:latin typeface="微软雅黑" panose="020B0503020204020204" charset="-122"/>
                        <a:ea typeface="微软雅黑" panose="020B0503020204020204" charset="-122"/>
                        <a:cs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2">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网桥</a:t>
                      </a:r>
                      <a:r>
                        <a:rPr lang="en-US" altLang="zh-CN" sz="1400" b="1">
                          <a:latin typeface="微软雅黑" panose="020B0503020204020204" charset="-122"/>
                          <a:ea typeface="微软雅黑" panose="020B0503020204020204" charset="-122"/>
                          <a:cs typeface="微软雅黑" panose="020B0503020204020204" charset="-122"/>
                        </a:rPr>
                        <a:t>2</a:t>
                      </a:r>
                      <a:r>
                        <a:rPr lang="zh-CN" altLang="en-US" sz="1400" b="1">
                          <a:latin typeface="微软雅黑" panose="020B0503020204020204" charset="-122"/>
                          <a:ea typeface="微软雅黑" panose="020B0503020204020204" charset="-122"/>
                          <a:cs typeface="微软雅黑" panose="020B0503020204020204" charset="-122"/>
                        </a:rPr>
                        <a:t>的转发表</a:t>
                      </a:r>
                      <a:endParaRPr lang="zh-CN" altLang="en-US" sz="1400" b="1">
                        <a:latin typeface="微软雅黑" panose="020B0503020204020204" charset="-122"/>
                        <a:ea typeface="微软雅黑" panose="020B0503020204020204" charset="-122"/>
                        <a:cs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rowSpan="2">
                  <a:txBody>
                    <a:bodyPr/>
                    <a:p>
                      <a:pPr marL="114935" indent="-182880" algn="ctr">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网桥</a:t>
                      </a:r>
                      <a:r>
                        <a:rPr lang="en-US" altLang="zh-CN" sz="1400" b="1">
                          <a:latin typeface="微软雅黑" panose="020B0503020204020204" charset="-122"/>
                          <a:ea typeface="微软雅黑" panose="020B0503020204020204" charset="-122"/>
                          <a:cs typeface="微软雅黑" panose="020B0503020204020204" charset="-122"/>
                        </a:rPr>
                        <a:t>1</a:t>
                      </a:r>
                      <a:r>
                        <a:rPr lang="zh-CN" altLang="en-US" sz="1400" b="1">
                          <a:latin typeface="微软雅黑" panose="020B0503020204020204" charset="-122"/>
                          <a:ea typeface="微软雅黑" panose="020B0503020204020204" charset="-122"/>
                          <a:cs typeface="微软雅黑" panose="020B0503020204020204" charset="-122"/>
                        </a:rPr>
                        <a:t>的处理</a:t>
                      </a:r>
                      <a:endParaRPr lang="zh-CN" altLang="en-US" sz="1400" b="1">
                        <a:latin typeface="微软雅黑" panose="020B0503020204020204" charset="-122"/>
                        <a:ea typeface="微软雅黑" panose="020B0503020204020204" charset="-122"/>
                        <a:cs typeface="微软雅黑" panose="020B0503020204020204" charset="-122"/>
                      </a:endParaRPr>
                    </a:p>
                    <a:p>
                      <a:pPr marL="114935" indent="-182880" algn="ctr">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（转发？丢弃？登记？）</a:t>
                      </a:r>
                      <a:endParaRPr lang="zh-CN" sz="1400" b="1">
                        <a:latin typeface="微软雅黑" panose="020B0503020204020204" charset="-122"/>
                        <a:ea typeface="微软雅黑" panose="020B0503020204020204" charset="-122"/>
                        <a:cs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网桥</a:t>
                      </a:r>
                      <a:r>
                        <a:rPr lang="en-US" altLang="zh-CN" sz="1400" b="1">
                          <a:latin typeface="微软雅黑" panose="020B0503020204020204" charset="-122"/>
                          <a:ea typeface="微软雅黑" panose="020B0503020204020204" charset="-122"/>
                          <a:cs typeface="微软雅黑" panose="020B0503020204020204" charset="-122"/>
                        </a:rPr>
                        <a:t>2</a:t>
                      </a:r>
                      <a:r>
                        <a:rPr lang="zh-CN" altLang="en-US" sz="1400" b="1">
                          <a:latin typeface="微软雅黑" panose="020B0503020204020204" charset="-122"/>
                          <a:ea typeface="微软雅黑" panose="020B0503020204020204" charset="-122"/>
                          <a:cs typeface="微软雅黑" panose="020B0503020204020204" charset="-122"/>
                        </a:rPr>
                        <a:t>的处理</a:t>
                      </a:r>
                      <a:endParaRPr lang="zh-CN" altLang="en-US" sz="1400" b="1">
                        <a:latin typeface="微软雅黑" panose="020B0503020204020204" charset="-122"/>
                        <a:ea typeface="微软雅黑" panose="020B0503020204020204" charset="-122"/>
                        <a:cs typeface="微软雅黑" panose="020B0503020204020204" charset="-122"/>
                      </a:endParaRPr>
                    </a:p>
                    <a:p>
                      <a:pPr marL="133350" indent="0" algn="just">
                        <a:lnSpc>
                          <a:spcPct val="150000"/>
                        </a:lnSpc>
                        <a:spcBef>
                          <a:spcPct val="0"/>
                        </a:spcBef>
                        <a:spcAft>
                          <a:spcPct val="0"/>
                        </a:spcAft>
                      </a:pPr>
                      <a:r>
                        <a:rPr lang="zh-CN" sz="1400" b="1">
                          <a:latin typeface="微软雅黑" panose="020B0503020204020204" charset="-122"/>
                          <a:ea typeface="微软雅黑" panose="020B0503020204020204" charset="-122"/>
                          <a:cs typeface="微软雅黑" panose="020B0503020204020204" charset="-122"/>
                        </a:rPr>
                        <a:t>（转发？丢弃？登记？）</a:t>
                      </a:r>
                      <a:endParaRPr lang="zh-CN" sz="1400" b="1">
                        <a:latin typeface="微软雅黑" panose="020B0503020204020204" charset="-122"/>
                        <a:ea typeface="微软雅黑" panose="020B0503020204020204" charset="-122"/>
                        <a:cs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0045">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站地址</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端口</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站地址</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端口</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0">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H1→H5</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转发，写入转发表</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转发，写入转发表</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0045">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H3→H2</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MAC3</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2</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MAC3</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转发，写入转发表</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转发，写入转发表</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0045">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H4→H3</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MAC4</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2</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MAC4</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2</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写入转发表，丢弃不转发</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转发，写入转发表</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916940">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H2→H1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MAC2</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1</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 </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en-US" altLang="zh-CN" sz="1400" b="1">
                          <a:latin typeface="微软雅黑" panose="020B0503020204020204" charset="-122"/>
                          <a:ea typeface="微软雅黑" panose="020B0503020204020204" charset="-122"/>
                          <a:cs typeface="+mj-lt"/>
                        </a:rPr>
                        <a:t> </a:t>
                      </a:r>
                      <a:endParaRPr lang="en-US" altLang="zh-CN" sz="1400" b="1">
                        <a:latin typeface="微软雅黑" panose="020B0503020204020204" charset="-122"/>
                        <a:ea typeface="微软雅黑" panose="020B0503020204020204" charset="-122"/>
                        <a:cs typeface="+mj-lt"/>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写入转发表，丢弃不转发</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ct val="150000"/>
                        </a:lnSpc>
                        <a:spcBef>
                          <a:spcPct val="0"/>
                        </a:spcBef>
                        <a:spcAft>
                          <a:spcPct val="0"/>
                        </a:spcAft>
                      </a:pPr>
                      <a:r>
                        <a:rPr lang="zh-CN" sz="1400" b="1">
                          <a:latin typeface="微软雅黑" panose="020B0503020204020204" charset="-122"/>
                          <a:ea typeface="微软雅黑" panose="020B0503020204020204" charset="-122"/>
                        </a:rPr>
                        <a:t>接收不到这个帧</a:t>
                      </a:r>
                      <a:endParaRPr lang="zh-CN" sz="1400" b="1">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pic>
        <p:nvPicPr>
          <p:cNvPr id="4" name="图片 3"/>
          <p:cNvPicPr>
            <a:picLocks noChangeAspect="1"/>
          </p:cNvPicPr>
          <p:nvPr/>
        </p:nvPicPr>
        <p:blipFill>
          <a:blip r:embed="rId5"/>
          <a:stretch>
            <a:fillRect/>
          </a:stretch>
        </p:blipFill>
        <p:spPr>
          <a:xfrm>
            <a:off x="7221855" y="2232660"/>
            <a:ext cx="5419090" cy="1936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540448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8.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设某路由器建立了如下路由表（这三列分别是目的网络、子网掩码和下一跳路由器，若直接交付则最后一列表示应当从哪一个接口转发出去）：</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目的网络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子网掩码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下一跳</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128.96.39.0 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255.255.255.128           接口0</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128.96.39.128 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255.255.255.128  　      接口1</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128.96.40.0  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255.255.255.128             R2</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192.4.153.0 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255.255.255.192             R3</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*（默　认）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R4</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现共收到5个分组，其目的站IP地址分别为：</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（1）128.96.39.10</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（2）128.96.40.12</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（3）128.96.40.151</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（4）192.4.153.17</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（5）192.4.153.90</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试分别计算其下一跳。</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496951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）分组的目的站</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128.96.39.10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。先与子网掩码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128.96.39.0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，可见该分组经接口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转发。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）分组的目的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①</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，不等于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128.96.39.0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②</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，经查路由表可知，该项分组经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转发。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）分组的目的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128.96.40.151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255.255.255.192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128.96.40.128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，经查路由表知，该分组转发选择默认路由，经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转发。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）分组的目的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192.4.153.17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255.255.255.192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，经查路由表知，该分组经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转发。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）分组的目的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192.4.153.90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。与子网掩码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255.255.255.192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相与后得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192.4.153.64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，经查路由表知，该分组转发选择默认路由，经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转发。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5"/>
          <a:stretch>
            <a:fillRect/>
          </a:stretch>
        </p:blipFill>
        <p:spPr>
          <a:xfrm rot="21600000">
            <a:off x="374015" y="1364615"/>
            <a:ext cx="12402185" cy="44773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133794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9.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某单位分配到一个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类</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地址，其</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net-id</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。该单位有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台机器，平均分布在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个不同的地点。如选用子网掩码为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255.255.255.0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，试给每一地点分配一个子网号码，并计算出每个地点主机号码的最小值和最大值。</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5"/>
          <a:stretch>
            <a:fillRect/>
          </a:stretch>
        </p:blipFill>
        <p:spPr>
          <a:xfrm rot="21600000">
            <a:off x="1376045" y="2873375"/>
            <a:ext cx="8563610" cy="1813560"/>
          </a:xfrm>
          <a:prstGeom prst="rect">
            <a:avLst/>
          </a:prstGeom>
        </p:spPr>
      </p:pic>
      <p:sp>
        <p:nvSpPr>
          <p:cNvPr id="3" name="文本框 2"/>
          <p:cNvSpPr txBox="1"/>
          <p:nvPr/>
        </p:nvSpPr>
        <p:spPr>
          <a:xfrm>
            <a:off x="1584325" y="2954020"/>
            <a:ext cx="8355965" cy="1476375"/>
          </a:xfrm>
          <a:prstGeom prst="rect">
            <a:avLst/>
          </a:prstGeom>
          <a:noFill/>
        </p:spPr>
        <p:txBody>
          <a:bodyPr wrap="square" rtlCol="0">
            <a:spAutoFit/>
          </a:bodyPr>
          <a:p>
            <a:pPr indent="0" fontAlgn="auto">
              <a:lnSpc>
                <a:spcPct val="150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4000/16=250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，平均每个地点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台机器。</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如选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255.255.255.0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为掩码，则每个网络所连主机数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sym typeface="+mn-ea"/>
              </a:rPr>
              <a:t>8</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-2=254&gt;250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共有子网数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sym typeface="+mn-ea"/>
              </a:rPr>
              <a:t>8</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-2=254&gt;16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，能满足实际需求。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1574165" y="1009650"/>
            <a:ext cx="9157335" cy="651573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可给每个地点分配如下子网号码</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子网号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子网网络号</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的最小值和最大值</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00000001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29.250.1.0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129.250.1.1---129.250.1.254</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00000010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129.250.2.0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129.250.2.1---129.250.2.254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00000011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129.250.3.0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129.250.3.1---129.250.3.254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00000100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129.250.4.0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129.250.4.1---129.250.4.254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00000101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129.250.5.0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129.250.5.1---129.250.5.254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00000110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129.250.6.0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129.250.6.1---129.250.6.254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00000111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129.250.7.0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129.250.7.1---129.250.7.254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00001000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129.250.8.0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129.250.8.1---129.250.8.254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9</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00001001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129.250.9.0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129.250.9.1---129.250.9.254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00001010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129.250.10.0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129.250.10.1---129.250.10.254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00001011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129.250.11.0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129.250.11.1---129.250.11.254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00001100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129.250.12.0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129.250.12.1---129.250.12.254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00001101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129.250.13.0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129.250.13.1---129.250.13.254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00001110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129.250.14.0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129.250.14.1---129.250.14.254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00001111</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129.250.15.0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129.250.15.1---129.250.15.254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00010000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129.250.16.0</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129.250.16.1---129.250.16.254</a:t>
            </a:r>
            <a:endParaRPr lang="en-US" altLang="zh-CN"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212850" y="871220"/>
            <a:ext cx="8990330" cy="62337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122872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10.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一具数据报长度为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字节（固定首部长度）。现在经过一个网络传送，但此网络能够传送的最大数据长度为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字节。试问应当划分为几个短些的数据报片？各数据报片的数据字段长度、片偏移字段和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标志应为何数值？</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数据报固定首部长度为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graphicFrame>
        <p:nvGraphicFramePr>
          <p:cNvPr id="2" name="表格 1"/>
          <p:cNvGraphicFramePr/>
          <p:nvPr>
            <p:custDataLst>
              <p:tags r:id="rId5"/>
            </p:custDataLst>
          </p:nvPr>
        </p:nvGraphicFramePr>
        <p:xfrm>
          <a:off x="1623060" y="2776855"/>
          <a:ext cx="6757670" cy="2955925"/>
        </p:xfrm>
        <a:graphic>
          <a:graphicData uri="http://schemas.openxmlformats.org/drawingml/2006/table">
            <a:tbl>
              <a:tblPr/>
              <a:tblGrid>
                <a:gridCol w="1941195"/>
                <a:gridCol w="1210310"/>
                <a:gridCol w="1244600"/>
                <a:gridCol w="1010285"/>
                <a:gridCol w="1351280"/>
              </a:tblGrid>
              <a:tr h="963930">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 </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总长度</a:t>
                      </a:r>
                      <a:r>
                        <a:rPr lang="en-US" altLang="zh-CN" sz="1800" b="1">
                          <a:latin typeface="宋体" panose="02010600030101010101" pitchFamily="2" charset="-122"/>
                          <a:ea typeface="宋体" panose="02010600030101010101" pitchFamily="2" charset="-122"/>
                        </a:rPr>
                        <a:t>(</a:t>
                      </a:r>
                      <a:r>
                        <a:rPr lang="zh-CN" altLang="en-US" sz="1800" b="1">
                          <a:latin typeface="宋体" panose="02010600030101010101" pitchFamily="2" charset="-122"/>
                          <a:ea typeface="宋体" panose="02010600030101010101" pitchFamily="2" charset="-122"/>
                        </a:rPr>
                        <a:t>字节</a:t>
                      </a:r>
                      <a:r>
                        <a:rPr lang="en-US" altLang="zh-CN" sz="1800" b="1">
                          <a:latin typeface="宋体" panose="02010600030101010101" pitchFamily="2" charset="-122"/>
                          <a:ea typeface="宋体" panose="02010600030101010101" pitchFamily="2" charset="-122"/>
                        </a:rPr>
                        <a:t>)</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数据长度</a:t>
                      </a:r>
                      <a:r>
                        <a:rPr lang="en-US" altLang="zh-CN" sz="1800" b="1">
                          <a:latin typeface="宋体" panose="02010600030101010101" pitchFamily="2" charset="-122"/>
                          <a:ea typeface="宋体" panose="02010600030101010101" pitchFamily="2" charset="-122"/>
                        </a:rPr>
                        <a:t>(</a:t>
                      </a:r>
                      <a:r>
                        <a:rPr lang="zh-CN" altLang="en-US" sz="1800" b="1">
                          <a:latin typeface="宋体" panose="02010600030101010101" pitchFamily="2" charset="-122"/>
                          <a:ea typeface="宋体" panose="02010600030101010101" pitchFamily="2" charset="-122"/>
                        </a:rPr>
                        <a:t>字节</a:t>
                      </a:r>
                      <a:r>
                        <a:rPr lang="en-US" altLang="zh-CN" sz="1800" b="1">
                          <a:latin typeface="宋体" panose="02010600030101010101" pitchFamily="2" charset="-122"/>
                          <a:ea typeface="宋体" panose="02010600030101010101" pitchFamily="2" charset="-122"/>
                        </a:rPr>
                        <a:t>)</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MF</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片偏移</a:t>
                      </a:r>
                      <a:endParaRPr 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r h="497840">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原始数据报</a:t>
                      </a:r>
                      <a:endParaRPr 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4000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3980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r h="497840">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数据报片</a:t>
                      </a:r>
                      <a:r>
                        <a:rPr lang="en-US" altLang="zh-CN" sz="1800" b="1">
                          <a:latin typeface="宋体" panose="02010600030101010101" pitchFamily="2" charset="-122"/>
                          <a:ea typeface="宋体" panose="02010600030101010101" pitchFamily="2" charset="-122"/>
                        </a:rPr>
                        <a:t>1</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1500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1480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r h="498475">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数据报片</a:t>
                      </a:r>
                      <a:r>
                        <a:rPr lang="en-US" altLang="zh-CN" sz="1800" b="1">
                          <a:latin typeface="宋体" panose="02010600030101010101" pitchFamily="2" charset="-122"/>
                          <a:ea typeface="宋体" panose="02010600030101010101" pitchFamily="2" charset="-122"/>
                        </a:rPr>
                        <a:t>2</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1500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1480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185</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r h="497840">
                <a:tc>
                  <a:txBody>
                    <a:bodyPr/>
                    <a:p>
                      <a:pPr marL="0" indent="266700" algn="just">
                        <a:lnSpc>
                          <a:spcPct val="150000"/>
                        </a:lnSpc>
                        <a:spcBef>
                          <a:spcPct val="0"/>
                        </a:spcBef>
                        <a:spcAft>
                          <a:spcPct val="0"/>
                        </a:spcAft>
                      </a:pPr>
                      <a:r>
                        <a:rPr lang="zh-CN" sz="1800" b="1">
                          <a:latin typeface="宋体" panose="02010600030101010101" pitchFamily="2" charset="-122"/>
                          <a:ea typeface="宋体" panose="02010600030101010101" pitchFamily="2" charset="-122"/>
                        </a:rPr>
                        <a:t>数据报片</a:t>
                      </a:r>
                      <a:r>
                        <a:rPr lang="en-US" altLang="zh-CN" sz="1800" b="1">
                          <a:latin typeface="宋体" panose="02010600030101010101" pitchFamily="2" charset="-122"/>
                          <a:ea typeface="宋体" panose="02010600030101010101" pitchFamily="2" charset="-122"/>
                        </a:rPr>
                        <a:t>3</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1040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1020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266700" algn="just">
                        <a:lnSpc>
                          <a:spcPct val="150000"/>
                        </a:lnSpc>
                        <a:spcBef>
                          <a:spcPct val="0"/>
                        </a:spcBef>
                        <a:spcAft>
                          <a:spcPct val="0"/>
                        </a:spcAft>
                      </a:pPr>
                      <a:r>
                        <a:rPr lang="en-US" altLang="zh-CN" sz="1800" b="1">
                          <a:latin typeface="宋体" panose="02010600030101010101" pitchFamily="2" charset="-122"/>
                          <a:ea typeface="宋体" panose="02010600030101010101" pitchFamily="2" charset="-122"/>
                        </a:rPr>
                        <a:t>370</a:t>
                      </a:r>
                      <a:endParaRPr lang="en-US" altLang="zh-CN" sz="1800" b="1">
                        <a:latin typeface="宋体" panose="02010600030101010101" pitchFamily="2" charset="-122"/>
                        <a:ea typeface="宋体" panose="02010600030101010101" pitchFamily="2" charset="-122"/>
                      </a:endParaRPr>
                    </a:p>
                  </a:txBody>
                  <a:tcPr marL="0" marR="0" marT="0" marB="0" anchor="t" anchorCtr="0">
                    <a:lnL w="9525" cap="flat" cmpd="sng">
                      <a:solidFill>
                        <a:srgbClr val="000008"/>
                      </a:solidFill>
                      <a:prstDash val="solid"/>
                      <a:headEnd type="none" w="med" len="med"/>
                      <a:tailEnd type="none" w="med" len="med"/>
                    </a:lnL>
                    <a:lnR w="9525" cap="flat" cmpd="sng">
                      <a:solidFill>
                        <a:srgbClr val="000008"/>
                      </a:solidFill>
                      <a:prstDash val="solid"/>
                      <a:headEnd type="none" w="med" len="med"/>
                      <a:tailEnd type="none" w="med" len="med"/>
                    </a:lnR>
                    <a:lnT w="9525"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bl>
          </a:graphicData>
        </a:graphic>
      </p:graphicFrame>
      <p:pic>
        <p:nvPicPr>
          <p:cNvPr id="202" name="picture 202"/>
          <p:cNvPicPr>
            <a:picLocks noChangeAspect="1"/>
          </p:cNvPicPr>
          <p:nvPr/>
        </p:nvPicPr>
        <p:blipFill>
          <a:blip r:embed="rId6"/>
          <a:stretch>
            <a:fillRect/>
          </a:stretch>
        </p:blipFill>
        <p:spPr>
          <a:xfrm rot="21600000">
            <a:off x="1148080" y="2041525"/>
            <a:ext cx="7708265" cy="39871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374015" y="812800"/>
            <a:ext cx="12162790" cy="192468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11.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有如下的四个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地址块，试进行最大可能的聚合。</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212.56.132.0/24</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212.56.133.0/24</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212.56.134.0/24</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212.56.135.0/24</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5"/>
          <a:stretch>
            <a:fillRect/>
          </a:stretch>
        </p:blipFill>
        <p:spPr>
          <a:xfrm rot="21600000">
            <a:off x="4550410" y="2801620"/>
            <a:ext cx="7708265" cy="3564255"/>
          </a:xfrm>
          <a:prstGeom prst="rect">
            <a:avLst/>
          </a:prstGeom>
        </p:spPr>
      </p:pic>
      <p:sp>
        <p:nvSpPr>
          <p:cNvPr id="3" name="文本框 2"/>
          <p:cNvSpPr txBox="1"/>
          <p:nvPr/>
        </p:nvSpPr>
        <p:spPr>
          <a:xfrm>
            <a:off x="4721225" y="3150870"/>
            <a:ext cx="7395845" cy="3085465"/>
          </a:xfrm>
          <a:prstGeom prst="rect">
            <a:avLst/>
          </a:prstGeom>
          <a:noFill/>
        </p:spPr>
        <p:txBody>
          <a:bodyPr wrap="square" rtlCol="0">
            <a:noAutofit/>
          </a:bodyPr>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答：212=（11010100)</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，56=（00111000)</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132=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10000100)</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133=</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10000101)</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134=</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10000110)</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135=</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10000111)</a:t>
            </a:r>
            <a:r>
              <a:rPr lang="en-US" altLang="zh-CN" sz="2000" b="1"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所以共同的前缀有22位，即11010100 00111000 100001，</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聚合的CIDR地址块是：212.56.132.0/22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193802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12.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一个自治系统有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个局域网，其连接图如图</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至</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上的主机数分别为：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91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该自治系统分配到的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地址块为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30.138.118/23.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试给出每一个局域网的地址块（包括前缀）。</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 name="图片 1"/>
          <p:cNvPicPr>
            <a:picLocks noChangeAspect="1"/>
          </p:cNvPicPr>
          <p:nvPr/>
        </p:nvPicPr>
        <p:blipFill>
          <a:blip r:embed="rId5"/>
          <a:stretch>
            <a:fillRect/>
          </a:stretch>
        </p:blipFill>
        <p:spPr>
          <a:xfrm>
            <a:off x="892810" y="2218055"/>
            <a:ext cx="9269095" cy="22440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448310" y="2479675"/>
            <a:ext cx="11900535" cy="4342765"/>
          </a:xfrm>
          <a:prstGeom prst="rect">
            <a:avLst/>
          </a:prstGeom>
        </p:spPr>
      </p:pic>
      <p:sp>
        <p:nvSpPr>
          <p:cNvPr id="3" name="文本框 2"/>
          <p:cNvSpPr txBox="1"/>
          <p:nvPr/>
        </p:nvSpPr>
        <p:spPr>
          <a:xfrm>
            <a:off x="788035" y="2717800"/>
            <a:ext cx="11243945" cy="3814445"/>
          </a:xfrm>
          <a:prstGeom prst="rect">
            <a:avLst/>
          </a:prstGeom>
          <a:noFill/>
        </p:spPr>
        <p:txBody>
          <a:bodyPr wrap="square" rtlCol="0">
            <a:noAutofit/>
          </a:bodyPr>
          <a:p>
            <a:pPr marL="394970" indent="-382270" algn="l" eaLnBrk="0">
              <a:lnSpc>
                <a:spcPct val="118000"/>
              </a:lnSpc>
              <a:buClrTx/>
              <a:buSzTx/>
              <a:buNone/>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7</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&lt;150+1&lt;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8</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），所以主机位为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8bit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，网络前缀为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，分配地址块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30.138.118.0/24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91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6</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&lt;91+1&lt;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7</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），所以主机位为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7bit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，网络前缀为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，分配地址块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30.138.119.0/25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4</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&lt;15+1&lt;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5</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），所以主机位为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5bit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，网络前缀为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，分配地址块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30.138.119.192/27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&lt;3+1&lt;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3</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），所以主机位为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3bit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，网络前缀为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，分配地址块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30.138.119.232/29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111101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eaLnBrk="0">
              <a:lnSpc>
                <a:spcPct val="118000"/>
              </a:lnSpc>
              <a:buClrTx/>
              <a:buSzTx/>
              <a:buNone/>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LAN4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2</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&lt;3+1&lt;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3</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），所以主机位为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3bit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，网络前缀为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，分配地址块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30.138.119.240/29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111110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5"/>
          <a:stretch>
            <a:fillRect/>
          </a:stretch>
        </p:blipFill>
        <p:spPr>
          <a:xfrm>
            <a:off x="788035" y="908050"/>
            <a:ext cx="6489065" cy="15709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122745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已知地址块中的一个地址是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140.120.84.24/20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。试求这个地址块中的最小地址和最大地址。地址掩码是什么？地址块中共有多少个地址？相当于多少个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类地址？</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28" name="picture 228"/>
          <p:cNvPicPr>
            <a:picLocks noChangeAspect="1"/>
          </p:cNvPicPr>
          <p:nvPr/>
        </p:nvPicPr>
        <p:blipFill>
          <a:blip r:embed="rId1"/>
          <a:stretch>
            <a:fillRect/>
          </a:stretch>
        </p:blipFill>
        <p:spPr>
          <a:xfrm rot="21600000">
            <a:off x="201593" y="6542578"/>
            <a:ext cx="12329023" cy="106504"/>
          </a:xfrm>
          <a:prstGeom prst="rect">
            <a:avLst/>
          </a:prstGeom>
        </p:spPr>
      </p:pic>
      <p:pic>
        <p:nvPicPr>
          <p:cNvPr id="280" name="picture 280"/>
          <p:cNvPicPr>
            <a:picLocks noChangeAspect="1"/>
          </p:cNvPicPr>
          <p:nvPr/>
        </p:nvPicPr>
        <p:blipFill>
          <a:blip r:embed="rId2"/>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3"/>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4"/>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5"/>
          <a:stretch>
            <a:fillRect/>
          </a:stretch>
        </p:blipFill>
        <p:spPr>
          <a:xfrm rot="21600000">
            <a:off x="915670" y="1907540"/>
            <a:ext cx="9551035" cy="3485515"/>
          </a:xfrm>
          <a:prstGeom prst="rect">
            <a:avLst/>
          </a:prstGeom>
        </p:spPr>
      </p:pic>
      <p:sp>
        <p:nvSpPr>
          <p:cNvPr id="3" name="文本框 2"/>
          <p:cNvSpPr txBox="1"/>
          <p:nvPr/>
        </p:nvSpPr>
        <p:spPr>
          <a:xfrm>
            <a:off x="1028700" y="2019300"/>
            <a:ext cx="9283700" cy="3106420"/>
          </a:xfrm>
          <a:prstGeom prst="rect">
            <a:avLst/>
          </a:prstGeom>
          <a:noFill/>
        </p:spPr>
        <p:txBody>
          <a:bodyPr wrap="square" rtlCol="0">
            <a:noAutofit/>
          </a:bodyPr>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140.120.84.24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140.120.(0101 0100).24</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最小地址是 ：140.120.(0101 0000).0/20  (80)</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最大地址是 ：140.120.(0101 1111).255/20 (95)</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地址掩码：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255.255.240.0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地址数是4096，相当于16个C类地址。</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5" name="右箭头 4"/>
          <p:cNvSpPr/>
          <p:nvPr/>
        </p:nvSpPr>
        <p:spPr>
          <a:xfrm>
            <a:off x="3139440" y="2273935"/>
            <a:ext cx="281940" cy="1422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122745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某单位分配到一个地址块</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136.23.12.64/26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。现在需要进一步划分</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个一样大的子网。试问：</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）每个子网的前缀有多长？</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）每一个子网中有多少个地址？</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）每一个子网的地址块是什么？</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）每一个子网可分配给主机使用的最小地址和最大地址是什么？</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39065" y="2910205"/>
            <a:ext cx="12299950" cy="3498215"/>
          </a:xfrm>
          <a:prstGeom prst="rect">
            <a:avLst/>
          </a:prstGeom>
        </p:spPr>
      </p:pic>
      <p:sp>
        <p:nvSpPr>
          <p:cNvPr id="3" name="文本框 2"/>
          <p:cNvSpPr txBox="1"/>
          <p:nvPr/>
        </p:nvSpPr>
        <p:spPr>
          <a:xfrm>
            <a:off x="138430" y="2943225"/>
            <a:ext cx="12378055" cy="3777615"/>
          </a:xfrm>
          <a:prstGeom prst="rect">
            <a:avLst/>
          </a:prstGeom>
          <a:noFill/>
        </p:spPr>
        <p:txBody>
          <a:bodyPr wrap="square" rtlCol="0">
            <a:noAutofit/>
          </a:bodyPr>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）每个子网的前缀是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位</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）每个子网有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个地址</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个子网地址块分别是：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136.23.12.64/28,136.23.12.80/28 136.23.12.96/28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136.23.12.112/28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）第一个子网的最大最小地址分别是：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136.23.12.78, 136.23.12.65</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第二个子网的最大最小地址分别是：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136.23.12.94, 136.23.12.81</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第三个子网的最大最小地址分别是：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136.23.12.110, 136.23.12.97</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第四个个子网的最大最小地址分别是：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136.23.12.126, 136.23.12.113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981075"/>
            <a:ext cx="10586085" cy="122745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以下地址中的哪一个和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86.32/12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匹配？请说明理由。</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86.33.224.123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86.79.65.216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86.58.119.74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86.68.206.154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39065" y="2769870"/>
            <a:ext cx="12299950" cy="2286635"/>
          </a:xfrm>
          <a:prstGeom prst="rect">
            <a:avLst/>
          </a:prstGeom>
        </p:spPr>
      </p:pic>
      <p:sp>
        <p:nvSpPr>
          <p:cNvPr id="3" name="文本框 2"/>
          <p:cNvSpPr txBox="1"/>
          <p:nvPr/>
        </p:nvSpPr>
        <p:spPr>
          <a:xfrm>
            <a:off x="138430" y="2807335"/>
            <a:ext cx="12378055" cy="2137410"/>
          </a:xfrm>
          <a:prstGeom prst="rect">
            <a:avLst/>
          </a:prstGeom>
          <a:noFill/>
        </p:spPr>
        <p:txBody>
          <a:bodyPr wrap="square" rtlCol="0">
            <a:noAutofit/>
          </a:bodyPr>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11111111 11110000 00000000 00000000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逐比特相</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86.32/12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匹配</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11111111 11110000 00000000 00000000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逐比特相</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86.32/12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不匹配</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11111111 11110000 00000000 00000000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逐比特相</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86.32/12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不匹配</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11111111 11110000 00000000 00000000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逐比特相</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86.32/12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不匹配</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554037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16.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假定网络中的路由器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的路由表有如下的项目（这三列分别表示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目的网络</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距离</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下一跳路由器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F</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E</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F</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现在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收到从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发来的路由信息（这两列分别表示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目的网络</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距离</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试求出路由器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更新后的路由表。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418590" y="1891030"/>
            <a:ext cx="8347710" cy="3562350"/>
          </a:xfrm>
          <a:prstGeom prst="rect">
            <a:avLst/>
          </a:prstGeom>
        </p:spPr>
      </p:pic>
      <p:sp>
        <p:nvSpPr>
          <p:cNvPr id="3" name="文本框 2"/>
          <p:cNvSpPr txBox="1"/>
          <p:nvPr/>
        </p:nvSpPr>
        <p:spPr>
          <a:xfrm>
            <a:off x="1757680" y="1928495"/>
            <a:ext cx="7103110" cy="3613150"/>
          </a:xfrm>
          <a:prstGeom prst="rect">
            <a:avLst/>
          </a:prstGeom>
          <a:noFill/>
        </p:spPr>
        <p:txBody>
          <a:bodyPr wrap="square" rtlCol="0">
            <a:noAutofit/>
          </a:bodyPr>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路由器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更新后的路由表如下：</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无新信息，不改变</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相同的下一跳，更新</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新的项目，添加进来</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C</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不同的下一跳，距离更短，更新</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E</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不同的下一跳，距离一样，不改变</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不同的下一跳，距离更大，不改变</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122745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17.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用户数据的数据字段为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8192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季节。在数据链路层要使用以太网来传送。试问应当划分为几个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数据报片？说明每一个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数据报字段长度和片偏移字段的值。</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171575" y="2715260"/>
            <a:ext cx="8511540" cy="1894840"/>
          </a:xfrm>
          <a:prstGeom prst="rect">
            <a:avLst/>
          </a:prstGeom>
        </p:spPr>
      </p:pic>
      <p:sp>
        <p:nvSpPr>
          <p:cNvPr id="3" name="文本框 2"/>
          <p:cNvSpPr txBox="1"/>
          <p:nvPr/>
        </p:nvSpPr>
        <p:spPr>
          <a:xfrm>
            <a:off x="1478915" y="2769870"/>
            <a:ext cx="7617460" cy="1630680"/>
          </a:xfrm>
          <a:prstGeom prst="rect">
            <a:avLst/>
          </a:prstGeom>
          <a:noFill/>
        </p:spPr>
        <p:txBody>
          <a:bodyPr wrap="square" rtlCol="0">
            <a:noAutofit/>
          </a:bodyPr>
          <a:p>
            <a:pPr indent="0" fontAlgn="auto">
              <a:lnSpc>
                <a:spcPct val="150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数据字段的长度：前</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1480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字节，最后一个是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片偏移字段的值分别是：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1480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2960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4440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5920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7400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0586085" cy="122745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18.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用户数据报的首部十六进制表示是：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06 32 00 45 00 1C E2 17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，试求源端口、目的端口、用户数据报的总长度、数据部分长度。这个用户数据报是从客户发送给服务器发送给客户？使用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的这个服务器程序是什么？</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040130" y="2366010"/>
            <a:ext cx="9225915" cy="2346325"/>
          </a:xfrm>
          <a:prstGeom prst="rect">
            <a:avLst/>
          </a:prstGeom>
        </p:spPr>
      </p:pic>
      <p:sp>
        <p:nvSpPr>
          <p:cNvPr id="3" name="文本框 2"/>
          <p:cNvSpPr txBox="1"/>
          <p:nvPr/>
        </p:nvSpPr>
        <p:spPr>
          <a:xfrm>
            <a:off x="1280160" y="2559050"/>
            <a:ext cx="8119110" cy="2286000"/>
          </a:xfrm>
          <a:prstGeom prst="rect">
            <a:avLst/>
          </a:prstGeom>
          <a:noFill/>
        </p:spPr>
        <p:txBody>
          <a:bodyPr wrap="square" rtlCol="0">
            <a:noAutofit/>
          </a:bodyPr>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源端口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1586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，目的端口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用户数据报总长度</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字节，数据部分长度</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此</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用户数据报是从客户发给服务器（因为目的端口号</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&lt;1023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，是熟知端口）、服务器程序是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TFTP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545465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19.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的拥塞窗口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cwnd</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大小与传输轮次</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的关系如下所示：</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）试画出如图</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5-25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所示的拥塞窗口与传输轮次的关系曲线。</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1 6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23 26</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）指明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工作在慢开始阶段的时间间隔。</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）指明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工作在拥塞避免阶段的时间间隔。</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轮次和第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轮次之后发送方是通过收到三个重复的确认还是通过超市检测到丢失了报文段？</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轮次和第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轮次发送时，门限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分别被设置为多大？</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）在第几轮次发送出第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个报文段？</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轮次之后收到了三个重复的确认，因而检测出了报文段的丢失，那么拥塞窗口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cwnd</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应设置为多大？</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graphicFrame>
        <p:nvGraphicFramePr>
          <p:cNvPr id="2" name="表格 1"/>
          <p:cNvGraphicFramePr/>
          <p:nvPr/>
        </p:nvGraphicFramePr>
        <p:xfrm>
          <a:off x="1041717" y="1311275"/>
          <a:ext cx="9576000" cy="1097280"/>
        </p:xfrm>
        <a:graphic>
          <a:graphicData uri="http://schemas.openxmlformats.org/drawingml/2006/table">
            <a:tbl>
              <a:tblPr/>
              <a:tblGrid>
                <a:gridCol w="684000"/>
                <a:gridCol w="684000"/>
                <a:gridCol w="684000"/>
                <a:gridCol w="684000"/>
                <a:gridCol w="684000"/>
                <a:gridCol w="684000"/>
                <a:gridCol w="684000"/>
                <a:gridCol w="684000"/>
                <a:gridCol w="684000"/>
                <a:gridCol w="684000"/>
                <a:gridCol w="684000"/>
                <a:gridCol w="684000"/>
                <a:gridCol w="684000"/>
                <a:gridCol w="684000"/>
              </a:tblGrid>
              <a:tr h="547200">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cwnd</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 n</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8</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16</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5</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32</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6</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33</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7</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34</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8</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35</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9</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36</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10</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37</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11</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38</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12</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39</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13</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47200">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cwnd</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 n</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40</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14</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41</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15</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42</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16</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21</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17</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22</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18</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23</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19</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24</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20</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25</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21</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26</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22</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1</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23</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24</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4</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25</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8</a:t>
                      </a:r>
                      <a:endParaRPr lang="en-US" altLang="zh-CN" sz="1400" b="1">
                        <a:latin typeface="+mj-lt"/>
                        <a:ea typeface="宋体" panose="02010600030101010101" pitchFamily="2" charset="-122"/>
                        <a:cs typeface="+mj-lt"/>
                      </a:endParaRPr>
                    </a:p>
                    <a:p>
                      <a:pPr marL="401320" indent="-535305" algn="just" defTabSz="914400">
                        <a:lnSpc>
                          <a:spcPct val="150000"/>
                        </a:lnSpc>
                        <a:spcBef>
                          <a:spcPct val="0"/>
                        </a:spcBef>
                        <a:spcAft>
                          <a:spcPct val="0"/>
                        </a:spcAft>
                        <a:tabLst>
                          <a:tab pos="2637155" algn="l"/>
                          <a:tab pos="5274310" algn="l"/>
                        </a:tabLst>
                      </a:pPr>
                      <a:r>
                        <a:rPr lang="en-US" altLang="zh-CN" sz="1400" b="1">
                          <a:latin typeface="+mj-lt"/>
                          <a:ea typeface="宋体" panose="02010600030101010101" pitchFamily="2" charset="-122"/>
                          <a:cs typeface="+mj-lt"/>
                        </a:rPr>
                        <a:t>26</a:t>
                      </a:r>
                      <a:endParaRPr lang="en-US" altLang="zh-CN" sz="1400" b="1">
                        <a:latin typeface="+mj-lt"/>
                        <a:ea typeface="宋体" panose="02010600030101010101" pitchFamily="2" charset="-122"/>
                        <a:cs typeface="+mj-lt"/>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607377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）拥塞窗口与传输轮次的关系曲线如图所示。</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慢开始时间间隔：【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拥塞避免时间间隔：【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轮次之后发送方通过收到三个重复的确认检测到丢失的报文段。在第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轮次之后发送方是通过超时检测到丢失的报文段。</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轮次发送时，门限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被设置为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轮次发送时，门限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被设置为发生拥塞时的一半，即</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轮次发送时，门限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轮次发送时设置的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报文段在第</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轮次发送出。</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拥塞窗口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cwnd</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和门限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ssthresh</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应设置为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的一半，即</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3" name="图片 2" descr="微信图片_2025-05-29_171120_339"/>
          <p:cNvPicPr>
            <a:picLocks noChangeAspect="1"/>
          </p:cNvPicPr>
          <p:nvPr/>
        </p:nvPicPr>
        <p:blipFill>
          <a:blip r:embed="rId4"/>
          <a:srcRect l="6420" t="30729" r="11141" b="46374"/>
          <a:stretch>
            <a:fillRect/>
          </a:stretch>
        </p:blipFill>
        <p:spPr>
          <a:xfrm>
            <a:off x="5991860" y="716915"/>
            <a:ext cx="6468110" cy="3658870"/>
          </a:xfrm>
          <a:prstGeom prst="rect">
            <a:avLst/>
          </a:prstGeom>
        </p:spPr>
      </p:pic>
      <p:pic>
        <p:nvPicPr>
          <p:cNvPr id="4" name="picture 202"/>
          <p:cNvPicPr>
            <a:picLocks noChangeAspect="1"/>
          </p:cNvPicPr>
          <p:nvPr/>
        </p:nvPicPr>
        <p:blipFill>
          <a:blip r:embed="rId5"/>
          <a:stretch>
            <a:fillRect/>
          </a:stretch>
        </p:blipFill>
        <p:spPr>
          <a:xfrm rot="21600000">
            <a:off x="220345" y="716915"/>
            <a:ext cx="12148185" cy="63976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228536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20.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假定在运输层使用停止等待协议。发送发在发送报文段</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后再设定的时间内未收到确认，于是重传</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，但</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又迟迟不能到达接收方。不久，发送方收到了迟到的对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的确认，于是发送下一个报文段</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，不久就收到了对</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的确认。接着发送方发送新的报文段</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，但这个新的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在传送过程中丢失了。正巧，一开始就滞留在网络中的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现在到达接收方。接收方无法分辨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是旧的。于是收下</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，并发送确认。显然，接收方后来收到的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是重复的，协议失败了。试画出类似于图</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所示的双方交换报文段的过程。</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sp>
        <p:nvSpPr>
          <p:cNvPr id="3" name="文本框 2"/>
          <p:cNvSpPr txBox="1"/>
          <p:nvPr/>
        </p:nvSpPr>
        <p:spPr>
          <a:xfrm>
            <a:off x="7329805" y="5588635"/>
            <a:ext cx="3453130" cy="398780"/>
          </a:xfrm>
          <a:prstGeom prst="rect">
            <a:avLst/>
          </a:prstGeom>
          <a:noFill/>
        </p:spPr>
        <p:txBody>
          <a:bodyPr wrap="square" rtlCol="0">
            <a:spAutoFit/>
          </a:bodyPr>
          <a:p>
            <a:r>
              <a:rPr lang="zh-CN" altLang="en-US" sz="2000" b="1">
                <a:latin typeface="微软雅黑" panose="020B0503020204020204" charset="-122"/>
                <a:ea typeface="微软雅黑" panose="020B0503020204020204" charset="-122"/>
                <a:cs typeface="微软雅黑" panose="020B0503020204020204" charset="-122"/>
              </a:rPr>
              <a:t>旧的</a:t>
            </a:r>
            <a:r>
              <a:rPr lang="en-US" altLang="zh-CN" sz="2000" b="1">
                <a:latin typeface="微软雅黑" panose="020B0503020204020204" charset="-122"/>
                <a:ea typeface="微软雅黑" panose="020B0503020204020204" charset="-122"/>
                <a:cs typeface="微软雅黑" panose="020B0503020204020204" charset="-122"/>
              </a:rPr>
              <a:t>M0</a:t>
            </a:r>
            <a:r>
              <a:rPr lang="zh-CN" altLang="en-US" sz="2000" b="1">
                <a:latin typeface="微软雅黑" panose="020B0503020204020204" charset="-122"/>
                <a:ea typeface="微软雅黑" panose="020B0503020204020204" charset="-122"/>
                <a:cs typeface="微软雅黑" panose="020B0503020204020204" charset="-122"/>
              </a:rPr>
              <a:t>被当成新的</a:t>
            </a:r>
            <a:r>
              <a:rPr lang="en-US" altLang="zh-CN" sz="2000" b="1">
                <a:latin typeface="微软雅黑" panose="020B0503020204020204" charset="-122"/>
                <a:ea typeface="微软雅黑" panose="020B0503020204020204" charset="-122"/>
                <a:cs typeface="微软雅黑" panose="020B0503020204020204" charset="-122"/>
              </a:rPr>
              <a:t>M0</a:t>
            </a:r>
            <a:endParaRPr lang="zh-CN" altLang="en-US" sz="2000" b="1">
              <a:latin typeface="微软雅黑" panose="020B0503020204020204" charset="-122"/>
              <a:ea typeface="微软雅黑" panose="020B0503020204020204" charset="-122"/>
              <a:cs typeface="微软雅黑" panose="020B0503020204020204" charset="-122"/>
            </a:endParaRPr>
          </a:p>
        </p:txBody>
      </p:sp>
      <p:pic>
        <p:nvPicPr>
          <p:cNvPr id="5" name="图片 4" descr="qqq"/>
          <p:cNvPicPr>
            <a:picLocks noChangeAspect="1"/>
          </p:cNvPicPr>
          <p:nvPr/>
        </p:nvPicPr>
        <p:blipFill>
          <a:blip r:embed="rId4"/>
          <a:srcRect l="25151" t="36172" r="25990" b="42441"/>
          <a:stretch>
            <a:fillRect/>
          </a:stretch>
        </p:blipFill>
        <p:spPr>
          <a:xfrm>
            <a:off x="3788410" y="3397250"/>
            <a:ext cx="3541395" cy="3445510"/>
          </a:xfrm>
          <a:prstGeom prst="rect">
            <a:avLst/>
          </a:prstGeom>
        </p:spPr>
      </p:pic>
      <p:pic>
        <p:nvPicPr>
          <p:cNvPr id="202" name="picture 202"/>
          <p:cNvPicPr>
            <a:picLocks noChangeAspect="1"/>
          </p:cNvPicPr>
          <p:nvPr/>
        </p:nvPicPr>
        <p:blipFill>
          <a:blip r:embed="rId5"/>
          <a:stretch>
            <a:fillRect/>
          </a:stretch>
        </p:blipFill>
        <p:spPr>
          <a:xfrm rot="21600000">
            <a:off x="2745105" y="3364865"/>
            <a:ext cx="8246745" cy="34772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435864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21.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向主机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发送一个很长的文件，其长度为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字节。假定</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MSS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1460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的序号不重复使用的条件下，</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的最大值是多少？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）假定使用上面计算出文件长度，而运输层、网络层和数据链路层所使用的首部开销共</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字节，链路的数据率为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10Mb/s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，试求这个文件所需的最短发送时间。</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L_max</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的最大值是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2^32=4GB,G=2^30.</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(2)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满载分片数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Q={L_max/MSS}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取整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=2941758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发送的总报文数</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N=Q*(MSS+66)+{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L_max-Q*MSS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+66}=4489122708+682=4489123390</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总字节数是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N=4489123390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字节，发送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4489123390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字节需时间为：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10*10^6</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=3591.3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秒，即</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59.85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分，约</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小时</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600" dirty="0">
              <a:latin typeface="Arial" panose="020B0604020202020204"/>
              <a:ea typeface="Arial" panose="020B0604020202020204"/>
              <a:cs typeface="Arial" panose="020B0604020202020204"/>
            </a:endParaRPr>
          </a:p>
          <a:p>
            <a:pPr marL="568325" algn="l" rtl="0" eaLnBrk="0">
              <a:lnSpc>
                <a:spcPts val="1580"/>
              </a:lnSpc>
              <a:spcBef>
                <a:spcPts val="0"/>
              </a:spcBef>
            </a:pPr>
            <a:r>
              <a:rPr sz="1200" b="1" kern="0" spc="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r>
              <a:rPr sz="1200" b="1" kern="0" spc="-10" dirty="0">
                <a:solidFill>
                  <a:srgbClr val="0000FF">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273050" y="3102610"/>
            <a:ext cx="11294745" cy="23545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106807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22.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在停止等待协议中，如果收到重复的报文段时不予理睬（即悄悄地丢弃它而其他什么也没做）是否可行？试举出具体的例子说明理由。</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2205990" y="2868930"/>
            <a:ext cx="8877935" cy="3665855"/>
          </a:xfrm>
          <a:prstGeom prst="rect">
            <a:avLst/>
          </a:prstGeom>
        </p:spPr>
      </p:pic>
      <p:pic>
        <p:nvPicPr>
          <p:cNvPr id="2" name="图片 1"/>
          <p:cNvPicPr>
            <a:picLocks noChangeAspect="1"/>
          </p:cNvPicPr>
          <p:nvPr/>
        </p:nvPicPr>
        <p:blipFill>
          <a:blip r:embed="rId5"/>
          <a:stretch>
            <a:fillRect/>
          </a:stretch>
        </p:blipFill>
        <p:spPr>
          <a:xfrm>
            <a:off x="2482850" y="3075305"/>
            <a:ext cx="3638550" cy="3248025"/>
          </a:xfrm>
          <a:prstGeom prst="rect">
            <a:avLst/>
          </a:prstGeom>
        </p:spPr>
      </p:pic>
      <p:sp>
        <p:nvSpPr>
          <p:cNvPr id="3" name="文本框 2"/>
          <p:cNvSpPr txBox="1"/>
          <p:nvPr/>
        </p:nvSpPr>
        <p:spPr>
          <a:xfrm>
            <a:off x="6675755" y="5761990"/>
            <a:ext cx="4508500" cy="398780"/>
          </a:xfrm>
          <a:prstGeom prst="rect">
            <a:avLst/>
          </a:prstGeom>
          <a:noFill/>
        </p:spPr>
        <p:txBody>
          <a:bodyPr wrap="square" rtlCol="0">
            <a:spAutoFit/>
          </a:bodyPr>
          <a:p>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收到重复帧不确认相当于确认丢失</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2802890"/>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23.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向主机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连续发送了两个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报文段，其序号分别为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。试问：</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）第一个报文段携带了多少个字节的数据？</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收到第一个报文段后发回的确认中的确认号应当是多少？</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）如果主机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收到第二个报文段后发回的确认中的确认号是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180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，试问</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发送的第二个报文段中的数据有多少字节？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发送的第一个报文段丢失了，但第二个报文段到达了</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在第二个报文段到达后向</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发送确认。试问这个确认号应为多少？</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1496695" y="3742055"/>
            <a:ext cx="8138795" cy="2522855"/>
          </a:xfrm>
          <a:prstGeom prst="rect">
            <a:avLst/>
          </a:prstGeom>
        </p:spPr>
      </p:pic>
      <p:sp>
        <p:nvSpPr>
          <p:cNvPr id="3" name="文本框 2"/>
          <p:cNvSpPr txBox="1"/>
          <p:nvPr/>
        </p:nvSpPr>
        <p:spPr>
          <a:xfrm>
            <a:off x="1920875" y="3904615"/>
            <a:ext cx="7714615" cy="2248535"/>
          </a:xfrm>
          <a:prstGeom prst="rect">
            <a:avLst/>
          </a:prstGeom>
          <a:noFill/>
        </p:spPr>
        <p:txBody>
          <a:bodyPr wrap="square" rtlCol="0">
            <a:noAutofit/>
          </a:bodyPr>
          <a:p>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）第一个报文段的数据序号是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70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99</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，共</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字节的数据。</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）确认号应为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70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107886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24.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连接下面使用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256kb/s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的链路，其端到端时延为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128ms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。经测试，发现吞吐量只有</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120kb/s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。试问发送窗口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是多少？（提示：可以有两种答案，取决于接收等发出确认的时机）。</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889635" y="2420620"/>
            <a:ext cx="10645775" cy="3829050"/>
          </a:xfrm>
          <a:prstGeom prst="rect">
            <a:avLst/>
          </a:prstGeom>
        </p:spPr>
      </p:pic>
      <p:sp>
        <p:nvSpPr>
          <p:cNvPr id="3" name="文本框 2"/>
          <p:cNvSpPr txBox="1"/>
          <p:nvPr/>
        </p:nvSpPr>
        <p:spPr>
          <a:xfrm>
            <a:off x="1270635" y="2830195"/>
            <a:ext cx="9977120" cy="3073400"/>
          </a:xfrm>
          <a:prstGeom prst="rect">
            <a:avLst/>
          </a:prstGeom>
          <a:noFill/>
        </p:spPr>
        <p:txBody>
          <a:bodyPr wrap="square" rtlCol="0">
            <a:noAutofit/>
          </a:bodyPr>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解：来回路程的时延等于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256ms(=128ms</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设窗口值为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X(</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注意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以字节为单位</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假定一次最大发送量等于窗口值</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且发射时间等于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256ms,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那么</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每发送一次都得停下来期待再次得到下一窗口的确认</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以得到新的发送许可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这样</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发射时间等于停止等待应答的时间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结果</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测到的平均吞吐率就等于发送速率的一半</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即</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8X</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(256</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1000)=256</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0.001</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X=8192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所以</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窗口值为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8192.</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107886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25.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通信信道带宽为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1Gb</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，端到端时延为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10ms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的发送窗口为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65535</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字节。试问</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可能达到的最大吞吐量是多少</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信道的利用率是多少</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889635" y="2420620"/>
            <a:ext cx="10079990" cy="3829050"/>
          </a:xfrm>
          <a:prstGeom prst="rect">
            <a:avLst/>
          </a:prstGeom>
        </p:spPr>
      </p:pic>
      <p:sp>
        <p:nvSpPr>
          <p:cNvPr id="3" name="文本框 2"/>
          <p:cNvSpPr txBox="1"/>
          <p:nvPr/>
        </p:nvSpPr>
        <p:spPr>
          <a:xfrm>
            <a:off x="1270635" y="2830195"/>
            <a:ext cx="9977120" cy="3073400"/>
          </a:xfrm>
          <a:prstGeom prst="rect">
            <a:avLst/>
          </a:prstGeom>
          <a:noFill/>
        </p:spPr>
        <p:txBody>
          <a:bodyPr wrap="square" rtlCol="0">
            <a:noAutofit/>
          </a:bodyPr>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发送最大比特数：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L=65536</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8+40</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8(</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运输层首部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网络层首部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字节）</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=524600bit</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发送速率：</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C=1Gb/s=10</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9</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b/s</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发送最大窗口数据所需时间：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L/C=0.0005246s</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端到端时延：</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a:t>
            </a:r>
            <a:r>
              <a:rPr lang="en-US" altLang="zh-CN" sz="2000" b="1" kern="0" spc="-30" baseline="-25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d</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a:t>
            </a:r>
            <a:r>
              <a:rPr lang="en-US" altLang="zh-CN" sz="2000" b="1" kern="0" spc="-30" baseline="30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-3</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最大吞吐量：</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Throughput=L/(L/C+2</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a:t>
            </a:r>
            <a:r>
              <a:rPr lang="en-US" altLang="zh-CN" sz="2000" b="1" kern="0" spc="-30" baseline="-25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d</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)=524600/0.0205246=25.5Mb/s</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信道利用率：</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Efficiency=(L/C)/(L/C+2</a:t>
            </a:r>
            <a:r>
              <a:rPr lang="en-US"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a:t>
            </a:r>
            <a:r>
              <a:rPr lang="en-US" altLang="zh-CN" sz="2000" b="1" kern="0" spc="-30" baseline="-25000" dirty="0">
                <a:solidFill>
                  <a:srgbClr val="000000">
                    <a:alpha val="100000"/>
                  </a:srgbClr>
                </a:solidFill>
                <a:uFillTx/>
                <a:latin typeface="微软雅黑" panose="020B0503020204020204" charset="-122"/>
                <a:ea typeface="微软雅黑" panose="020B0503020204020204" charset="-122"/>
                <a:cs typeface="微软雅黑" panose="020B0503020204020204" charset="-122"/>
              </a:rPr>
              <a:t>d</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)=0.0255</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最大吞吐量为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25.5Mb/s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。信道利用率为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25.5/1000=2.55%</a:t>
            </a:r>
            <a:endPar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107886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26.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当使用鼠标点取一个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WWW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文档时，若该文档除了有文本外，还有一个本地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.gif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图像和两个远地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.gif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图像。试问：需要使用哪个应用程序，以及需要建立几次</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连接和几次</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889635" y="2420620"/>
            <a:ext cx="10645775" cy="1860550"/>
          </a:xfrm>
          <a:prstGeom prst="rect">
            <a:avLst/>
          </a:prstGeom>
        </p:spPr>
      </p:pic>
      <p:sp>
        <p:nvSpPr>
          <p:cNvPr id="3" name="文本框 2"/>
          <p:cNvSpPr txBox="1"/>
          <p:nvPr/>
        </p:nvSpPr>
        <p:spPr>
          <a:xfrm>
            <a:off x="1270635" y="2830195"/>
            <a:ext cx="9977120" cy="1571625"/>
          </a:xfrm>
          <a:prstGeom prst="rect">
            <a:avLst/>
          </a:prstGeom>
          <a:noFill/>
        </p:spPr>
        <p:txBody>
          <a:bodyPr wrap="square" rtlCol="0">
            <a:noAutofit/>
          </a:bodyPr>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使用支持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协议的应用程序。不需要建立</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UDP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连接。需要建立</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次</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连接，一次读取整个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WWW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文档，然后读取三个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.gif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图像文件。由于</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是一种分布式协议，对本地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.gif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图像文件和远地</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.gif</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图像文件同样看待。</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12800"/>
            <a:ext cx="11596370" cy="107886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27.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假定你在浏览器上点击一个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URL,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但是这个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URL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地址以前并没有缓存在本地主机上。因此需要用</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DNS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自动查找和解析。假定要解析到所有要找到的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URL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经过</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DNS</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服务器，所经过的时间分别为</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RTT1,RTT2,…,RTTn</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。假定从要找的网页上只需读取一个很小的图片</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即忽略这个小图片的传输时间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。从本地主机到这个网页的往返时间是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。试问从点击这个</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URL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开始，一直到本地主机的屏幕上出现所读取的小图片，一共要经过多少时间？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847725" y="3365500"/>
            <a:ext cx="10645775" cy="1381125"/>
          </a:xfrm>
          <a:prstGeom prst="rect">
            <a:avLst/>
          </a:prstGeom>
        </p:spPr>
      </p:pic>
      <p:sp>
        <p:nvSpPr>
          <p:cNvPr id="3" name="文本框 2"/>
          <p:cNvSpPr txBox="1"/>
          <p:nvPr/>
        </p:nvSpPr>
        <p:spPr>
          <a:xfrm>
            <a:off x="1082675" y="3569335"/>
            <a:ext cx="9977120" cy="1571625"/>
          </a:xfrm>
          <a:prstGeom prst="rect">
            <a:avLst/>
          </a:prstGeom>
          <a:noFill/>
        </p:spPr>
        <p:txBody>
          <a:bodyPr wrap="square" rtlCol="0">
            <a:noAutofit/>
          </a:bodyPr>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答：</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解析</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IP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地址需要时间是：</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RTT1+RTT2+…+RTTn</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连接和请求万维网文档需要</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2RTTw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273050" y="829310"/>
            <a:ext cx="11596370" cy="1873885"/>
          </a:xfrm>
          <a:prstGeom prst="rect">
            <a:avLst/>
          </a:prstGeom>
          <a:noFill/>
          <a:ln w="0" cap="flat">
            <a:noFill/>
            <a:prstDash val="solid"/>
            <a:miter lim="0"/>
          </a:ln>
        </p:spPr>
        <p:txBody>
          <a:bodyPr vert="horz" wrap="square" lIns="0" tIns="0" rIns="0" bIns="0"/>
          <a:lstStyle/>
          <a:p>
            <a:pPr algn="l" rtl="0" eaLnBrk="0">
              <a:lnSpc>
                <a:spcPct val="65000"/>
              </a:lnSpc>
            </a:pPr>
            <a:endParaRPr sz="100" dirty="0">
              <a:latin typeface="Arial" panose="020B0604020202020204"/>
              <a:ea typeface="Arial" panose="020B0604020202020204"/>
              <a:cs typeface="Arial" panose="020B0604020202020204"/>
            </a:endParaRPr>
          </a:p>
          <a:p>
            <a:pPr marL="394970" indent="-382270" algn="l" rtl="0" eaLnBrk="0">
              <a:lnSpc>
                <a:spcPct val="118000"/>
              </a:lnSpc>
            </a:pPr>
            <a:r>
              <a:rPr sz="2000" kern="0" spc="-30" dirty="0">
                <a:solidFill>
                  <a:srgbClr val="0070C0">
                    <a:alpha val="100000"/>
                  </a:srgbClr>
                </a:solidFill>
                <a:latin typeface="Wingdings" panose="05000000000000000000"/>
                <a:ea typeface="Wingdings" panose="05000000000000000000"/>
                <a:cs typeface="Wingdings" panose="05000000000000000000"/>
              </a:rPr>
              <a:t>l </a:t>
            </a:r>
            <a:r>
              <a:rPr lang="en-US" sz="2000" kern="0" spc="-30" dirty="0">
                <a:solidFill>
                  <a:srgbClr val="0070C0">
                    <a:alpha val="100000"/>
                  </a:srgbClr>
                </a:solidFill>
                <a:latin typeface="微软雅黑" panose="020B0503020204020204" charset="-122"/>
                <a:ea typeface="微软雅黑" panose="020B0503020204020204" charset="-122"/>
                <a:cs typeface="Wingdings" panose="05000000000000000000"/>
              </a:rPr>
              <a:t>28.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在上题中假定同一台服务器的</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HTML</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文件中</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又链接了三个份非常小的对象。若忽略这些对象的发送时间，试计算客户点击读取这些对象所需的时间。</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(1)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没有并行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连接的非持续</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使用并行</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TCP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连接的非持续</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4970" indent="-382270" algn="l" rtl="0" eaLnBrk="0">
              <a:lnSpc>
                <a:spcPct val="118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流水线方式的持续</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HTTP</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2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1"/>
          <a:stretch>
            <a:fillRect/>
          </a:stretch>
        </p:blipFill>
        <p:spPr>
          <a:xfrm rot="21600000">
            <a:off x="25390" y="455581"/>
            <a:ext cx="5966700" cy="165803"/>
          </a:xfrm>
          <a:prstGeom prst="rect">
            <a:avLst/>
          </a:prstGeom>
        </p:spPr>
      </p:pic>
      <p:pic>
        <p:nvPicPr>
          <p:cNvPr id="282" name="picture 282"/>
          <p:cNvPicPr>
            <a:picLocks noChangeAspect="1"/>
          </p:cNvPicPr>
          <p:nvPr/>
        </p:nvPicPr>
        <p:blipFill>
          <a:blip r:embed="rId2"/>
          <a:stretch>
            <a:fillRect/>
          </a:stretch>
        </p:blipFill>
        <p:spPr>
          <a:xfrm rot="21600000">
            <a:off x="7016265" y="444979"/>
            <a:ext cx="5829811" cy="155341"/>
          </a:xfrm>
          <a:prstGeom prst="rect">
            <a:avLst/>
          </a:prstGeom>
        </p:spPr>
      </p:pic>
      <p:pic>
        <p:nvPicPr>
          <p:cNvPr id="286" name="picture 286"/>
          <p:cNvPicPr>
            <a:picLocks noChangeAspect="1"/>
          </p:cNvPicPr>
          <p:nvPr/>
        </p:nvPicPr>
        <p:blipFill>
          <a:blip r:embed="rId3"/>
          <a:stretch>
            <a:fillRect/>
          </a:stretch>
        </p:blipFill>
        <p:spPr>
          <a:xfrm rot="21600000">
            <a:off x="6193535" y="160019"/>
            <a:ext cx="660741" cy="662940"/>
          </a:xfrm>
          <a:prstGeom prst="rect">
            <a:avLst/>
          </a:prstGeom>
        </p:spPr>
      </p:pic>
      <p:pic>
        <p:nvPicPr>
          <p:cNvPr id="202" name="picture 202"/>
          <p:cNvPicPr>
            <a:picLocks noChangeAspect="1"/>
          </p:cNvPicPr>
          <p:nvPr/>
        </p:nvPicPr>
        <p:blipFill>
          <a:blip r:embed="rId4"/>
          <a:stretch>
            <a:fillRect/>
          </a:stretch>
        </p:blipFill>
        <p:spPr>
          <a:xfrm rot="21600000">
            <a:off x="847725" y="2886075"/>
            <a:ext cx="10645775" cy="1860550"/>
          </a:xfrm>
          <a:prstGeom prst="rect">
            <a:avLst/>
          </a:prstGeom>
        </p:spPr>
      </p:pic>
      <p:sp>
        <p:nvSpPr>
          <p:cNvPr id="3" name="文本框 2"/>
          <p:cNvSpPr txBox="1"/>
          <p:nvPr/>
        </p:nvSpPr>
        <p:spPr>
          <a:xfrm>
            <a:off x="1182370" y="2932430"/>
            <a:ext cx="9977120" cy="1571625"/>
          </a:xfrm>
          <a:prstGeom prst="rect">
            <a:avLst/>
          </a:prstGeom>
          <a:noFill/>
        </p:spPr>
        <p:txBody>
          <a:bodyPr wrap="square" rtlCol="0">
            <a:noAutofit/>
          </a:bodyPr>
          <a:p>
            <a:pPr indent="0" fontAlgn="auto">
              <a:lnSpc>
                <a:spcPct val="115000"/>
              </a:lnSpc>
            </a:pP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解：（</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）所需时间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=RTT1+RTT2+…+RTTn+8RTTw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）所需时间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=RTT1+RTT2+…+RTTn+4RTTw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indent="0" fontAlgn="auto">
              <a:lnSpc>
                <a:spcPct val="115000"/>
              </a:lnSpc>
            </a:pP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）所需时间</a:t>
            </a:r>
            <a:r>
              <a:rPr lang="en-US" altLang="zh-CN"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=RTT1+RTT2+…+RTTn+3RTTw</a:t>
            </a:r>
            <a:r>
              <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sz="20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783539" y="1349103"/>
            <a:ext cx="11317970" cy="466137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a:p>
        </p:txBody>
      </p:sp>
      <p:sp>
        <p:nvSpPr>
          <p:cNvPr id="56" name="Line 20"/>
          <p:cNvSpPr>
            <a:spLocks noChangeShapeType="1"/>
          </p:cNvSpPr>
          <p:nvPr/>
        </p:nvSpPr>
        <p:spPr bwMode="auto">
          <a:xfrm flipH="1">
            <a:off x="3685182" y="3752582"/>
            <a:ext cx="4598" cy="865885"/>
          </a:xfrm>
          <a:prstGeom prst="line">
            <a:avLst/>
          </a:prstGeom>
          <a:noFill/>
          <a:ln w="1270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57" name="Rectangle 25"/>
          <p:cNvSpPr>
            <a:spLocks noChangeArrowheads="1"/>
          </p:cNvSpPr>
          <p:nvPr/>
        </p:nvSpPr>
        <p:spPr bwMode="auto">
          <a:xfrm>
            <a:off x="3427680" y="4066677"/>
            <a:ext cx="499675" cy="2433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970" b="1">
              <a:latin typeface="微软雅黑" panose="020B0503020204020204" charset="-122"/>
              <a:ea typeface="微软雅黑" panose="020B0503020204020204" charset="-122"/>
            </a:endParaRPr>
          </a:p>
        </p:txBody>
      </p:sp>
      <p:sp>
        <p:nvSpPr>
          <p:cNvPr id="58" name="Text Box 26"/>
          <p:cNvSpPr txBox="1">
            <a:spLocks noChangeArrowheads="1"/>
          </p:cNvSpPr>
          <p:nvPr/>
        </p:nvSpPr>
        <p:spPr bwMode="auto">
          <a:xfrm>
            <a:off x="3383794" y="4008349"/>
            <a:ext cx="600075" cy="350520"/>
          </a:xfrm>
          <a:prstGeom prst="rect">
            <a:avLst/>
          </a:prstGeom>
          <a:solidFill>
            <a:srgbClr val="C3E3F9"/>
          </a:solid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85" b="1">
                <a:solidFill>
                  <a:srgbClr val="0000FF"/>
                </a:solidFill>
                <a:latin typeface="微软雅黑" panose="020B0503020204020204" charset="-122"/>
                <a:ea typeface="微软雅黑" panose="020B0503020204020204" charset="-122"/>
              </a:rPr>
              <a:t>RTT</a:t>
            </a:r>
            <a:endParaRPr kumimoji="1" lang="en-US" altLang="zh-CN" sz="1685" b="1">
              <a:solidFill>
                <a:srgbClr val="0000FF"/>
              </a:solidFill>
              <a:latin typeface="微软雅黑" panose="020B0503020204020204" charset="-122"/>
              <a:ea typeface="微软雅黑" panose="020B0503020204020204" charset="-122"/>
            </a:endParaRPr>
          </a:p>
        </p:txBody>
      </p:sp>
      <p:sp>
        <p:nvSpPr>
          <p:cNvPr id="59" name="Line 19"/>
          <p:cNvSpPr>
            <a:spLocks noChangeShapeType="1"/>
          </p:cNvSpPr>
          <p:nvPr/>
        </p:nvSpPr>
        <p:spPr bwMode="auto">
          <a:xfrm flipH="1">
            <a:off x="3689779" y="2882453"/>
            <a:ext cx="6131" cy="864470"/>
          </a:xfrm>
          <a:prstGeom prst="line">
            <a:avLst/>
          </a:prstGeom>
          <a:noFill/>
          <a:ln w="1270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60" name="Rectangle 22"/>
          <p:cNvSpPr>
            <a:spLocks noChangeArrowheads="1"/>
          </p:cNvSpPr>
          <p:nvPr/>
        </p:nvSpPr>
        <p:spPr bwMode="auto">
          <a:xfrm>
            <a:off x="3427680" y="3219185"/>
            <a:ext cx="499675" cy="2447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970" b="1">
              <a:latin typeface="微软雅黑" panose="020B0503020204020204" charset="-122"/>
              <a:ea typeface="微软雅黑" panose="020B0503020204020204" charset="-122"/>
            </a:endParaRPr>
          </a:p>
        </p:txBody>
      </p:sp>
      <p:sp>
        <p:nvSpPr>
          <p:cNvPr id="61" name="Text Box 23"/>
          <p:cNvSpPr txBox="1">
            <a:spLocks noChangeArrowheads="1"/>
          </p:cNvSpPr>
          <p:nvPr/>
        </p:nvSpPr>
        <p:spPr bwMode="auto">
          <a:xfrm>
            <a:off x="3388547" y="3159286"/>
            <a:ext cx="600075" cy="350520"/>
          </a:xfrm>
          <a:prstGeom prst="rect">
            <a:avLst/>
          </a:prstGeom>
          <a:solidFill>
            <a:srgbClr val="C3E3F9"/>
          </a:solid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685" b="1" dirty="0">
                <a:solidFill>
                  <a:srgbClr val="0000FF"/>
                </a:solidFill>
                <a:latin typeface="微软雅黑" panose="020B0503020204020204" charset="-122"/>
                <a:ea typeface="微软雅黑" panose="020B0503020204020204" charset="-122"/>
              </a:rPr>
              <a:t>RTT</a:t>
            </a:r>
            <a:endParaRPr kumimoji="1" lang="en-US" altLang="zh-CN" sz="1685" b="1" dirty="0">
              <a:solidFill>
                <a:srgbClr val="0000FF"/>
              </a:solidFill>
              <a:latin typeface="微软雅黑" panose="020B0503020204020204" charset="-122"/>
              <a:ea typeface="微软雅黑" panose="020B0503020204020204" charset="-122"/>
            </a:endParaRPr>
          </a:p>
        </p:txBody>
      </p:sp>
      <p:sp>
        <p:nvSpPr>
          <p:cNvPr id="62" name="Freeform 4"/>
          <p:cNvSpPr/>
          <p:nvPr/>
        </p:nvSpPr>
        <p:spPr bwMode="auto">
          <a:xfrm>
            <a:off x="3944216" y="4198257"/>
            <a:ext cx="3088484" cy="730060"/>
          </a:xfrm>
          <a:custGeom>
            <a:avLst/>
            <a:gdLst>
              <a:gd name="T0" fmla="*/ 0 w 1679"/>
              <a:gd name="T1" fmla="*/ 2147483646 h 408"/>
              <a:gd name="T2" fmla="*/ 0 w 1679"/>
              <a:gd name="T3" fmla="*/ 2147483646 h 408"/>
              <a:gd name="T4" fmla="*/ 2147483646 w 1679"/>
              <a:gd name="T5" fmla="*/ 0 h 408"/>
              <a:gd name="T6" fmla="*/ 2147483646 w 1679"/>
              <a:gd name="T7" fmla="*/ 2147483646 h 408"/>
              <a:gd name="T8" fmla="*/ 0 w 1679"/>
              <a:gd name="T9" fmla="*/ 2147483646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0099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64" name="Rectangle 6"/>
          <p:cNvSpPr>
            <a:spLocks noChangeArrowheads="1"/>
          </p:cNvSpPr>
          <p:nvPr/>
        </p:nvSpPr>
        <p:spPr bwMode="auto">
          <a:xfrm>
            <a:off x="6177912" y="1561937"/>
            <a:ext cx="1541780" cy="332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pPr algn="ctr">
              <a:lnSpc>
                <a:spcPct val="80000"/>
              </a:lnSpc>
            </a:pPr>
            <a:r>
              <a:rPr kumimoji="1" lang="zh-CN" altLang="en-US" sz="1685" b="1" dirty="0">
                <a:latin typeface="微软雅黑" panose="020B0503020204020204" charset="-122"/>
                <a:ea typeface="微软雅黑" panose="020B0503020204020204" charset="-122"/>
              </a:rPr>
              <a:t>万维网服务器</a:t>
            </a:r>
            <a:endParaRPr kumimoji="1" lang="zh-CN" altLang="en-US" sz="1685" b="1" dirty="0">
              <a:latin typeface="微软雅黑" panose="020B0503020204020204" charset="-122"/>
              <a:ea typeface="微软雅黑" panose="020B0503020204020204" charset="-122"/>
            </a:endParaRPr>
          </a:p>
        </p:txBody>
      </p:sp>
      <p:sp>
        <p:nvSpPr>
          <p:cNvPr id="65" name="Rectangle 7"/>
          <p:cNvSpPr>
            <a:spLocks noChangeArrowheads="1"/>
          </p:cNvSpPr>
          <p:nvPr/>
        </p:nvSpPr>
        <p:spPr bwMode="auto">
          <a:xfrm>
            <a:off x="3311192" y="1629850"/>
            <a:ext cx="132715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万维网客户</a:t>
            </a:r>
            <a:endParaRPr kumimoji="1" lang="zh-CN" altLang="en-US" sz="1685" b="1" dirty="0">
              <a:latin typeface="微软雅黑" panose="020B0503020204020204" charset="-122"/>
              <a:ea typeface="微软雅黑" panose="020B0503020204020204" charset="-122"/>
            </a:endParaRPr>
          </a:p>
        </p:txBody>
      </p:sp>
      <p:sp>
        <p:nvSpPr>
          <p:cNvPr id="67" name="Line 9"/>
          <p:cNvSpPr>
            <a:spLocks noChangeShapeType="1"/>
          </p:cNvSpPr>
          <p:nvPr/>
        </p:nvSpPr>
        <p:spPr bwMode="auto">
          <a:xfrm>
            <a:off x="3945748" y="2813126"/>
            <a:ext cx="0" cy="2662737"/>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68" name="Text Box 10"/>
          <p:cNvSpPr txBox="1">
            <a:spLocks noChangeArrowheads="1"/>
          </p:cNvSpPr>
          <p:nvPr/>
        </p:nvSpPr>
        <p:spPr bwMode="auto">
          <a:xfrm>
            <a:off x="1517295" y="2701352"/>
            <a:ext cx="1811020" cy="393700"/>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970" b="1" dirty="0">
                <a:solidFill>
                  <a:schemeClr val="bg1"/>
                </a:solidFill>
                <a:latin typeface="微软雅黑" panose="020B0503020204020204" charset="-122"/>
                <a:ea typeface="微软雅黑" panose="020B0503020204020204" charset="-122"/>
              </a:rPr>
              <a:t>发起 </a:t>
            </a:r>
            <a:r>
              <a:rPr kumimoji="1" lang="en-US" altLang="zh-CN" sz="1970" b="1" dirty="0">
                <a:solidFill>
                  <a:schemeClr val="bg1"/>
                </a:solidFill>
                <a:latin typeface="微软雅黑" panose="020B0503020204020204" charset="-122"/>
                <a:ea typeface="微软雅黑" panose="020B0503020204020204" charset="-122"/>
              </a:rPr>
              <a:t>TCP </a:t>
            </a:r>
            <a:r>
              <a:rPr kumimoji="1" lang="zh-CN" altLang="en-US" sz="1970" b="1" dirty="0">
                <a:solidFill>
                  <a:schemeClr val="bg1"/>
                </a:solidFill>
                <a:latin typeface="微软雅黑" panose="020B0503020204020204" charset="-122"/>
                <a:ea typeface="微软雅黑" panose="020B0503020204020204" charset="-122"/>
              </a:rPr>
              <a:t>连接</a:t>
            </a:r>
            <a:endParaRPr kumimoji="1" lang="zh-CN" altLang="en-US" sz="1970" b="1" dirty="0">
              <a:solidFill>
                <a:schemeClr val="bg1"/>
              </a:solidFill>
              <a:latin typeface="微软雅黑" panose="020B0503020204020204" charset="-122"/>
              <a:ea typeface="微软雅黑" panose="020B0503020204020204" charset="-122"/>
            </a:endParaRPr>
          </a:p>
        </p:txBody>
      </p:sp>
      <p:sp>
        <p:nvSpPr>
          <p:cNvPr id="69" name="Text Box 11"/>
          <p:cNvSpPr txBox="1">
            <a:spLocks noChangeArrowheads="1"/>
          </p:cNvSpPr>
          <p:nvPr/>
        </p:nvSpPr>
        <p:spPr bwMode="auto">
          <a:xfrm>
            <a:off x="1427090" y="3540357"/>
            <a:ext cx="1945640" cy="393700"/>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970" b="1" dirty="0">
                <a:solidFill>
                  <a:schemeClr val="bg1"/>
                </a:solidFill>
                <a:latin typeface="微软雅黑" panose="020B0503020204020204" charset="-122"/>
                <a:ea typeface="微软雅黑" panose="020B0503020204020204" charset="-122"/>
              </a:rPr>
              <a:t>HTTP </a:t>
            </a:r>
            <a:r>
              <a:rPr kumimoji="1" lang="zh-CN" altLang="en-US" sz="1970" b="1" dirty="0">
                <a:solidFill>
                  <a:schemeClr val="bg1"/>
                </a:solidFill>
                <a:latin typeface="微软雅黑" panose="020B0503020204020204" charset="-122"/>
                <a:ea typeface="微软雅黑" panose="020B0503020204020204" charset="-122"/>
              </a:rPr>
              <a:t>请求报文</a:t>
            </a:r>
            <a:endParaRPr kumimoji="1" lang="zh-CN" altLang="en-US" sz="1970" b="1" dirty="0">
              <a:solidFill>
                <a:schemeClr val="bg1"/>
              </a:solidFill>
              <a:latin typeface="微软雅黑" panose="020B0503020204020204" charset="-122"/>
              <a:ea typeface="微软雅黑" panose="020B0503020204020204" charset="-122"/>
            </a:endParaRPr>
          </a:p>
        </p:txBody>
      </p:sp>
      <p:sp>
        <p:nvSpPr>
          <p:cNvPr id="70" name="Line 12"/>
          <p:cNvSpPr>
            <a:spLocks noChangeShapeType="1"/>
          </p:cNvSpPr>
          <p:nvPr/>
        </p:nvSpPr>
        <p:spPr bwMode="auto">
          <a:xfrm>
            <a:off x="3945748" y="2882452"/>
            <a:ext cx="3088483" cy="404646"/>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1" name="Line 13"/>
          <p:cNvSpPr>
            <a:spLocks noChangeShapeType="1"/>
          </p:cNvSpPr>
          <p:nvPr/>
        </p:nvSpPr>
        <p:spPr bwMode="auto">
          <a:xfrm flipH="1">
            <a:off x="3935020" y="3325299"/>
            <a:ext cx="3088484" cy="406061"/>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2" name="Line 14"/>
          <p:cNvSpPr>
            <a:spLocks noChangeShapeType="1"/>
          </p:cNvSpPr>
          <p:nvPr/>
        </p:nvSpPr>
        <p:spPr bwMode="auto">
          <a:xfrm>
            <a:off x="3945748" y="3769561"/>
            <a:ext cx="3088483" cy="404646"/>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3" name="Line 15"/>
          <p:cNvSpPr>
            <a:spLocks noChangeShapeType="1"/>
          </p:cNvSpPr>
          <p:nvPr/>
        </p:nvSpPr>
        <p:spPr bwMode="auto">
          <a:xfrm>
            <a:off x="3530374" y="2882452"/>
            <a:ext cx="415375" cy="0"/>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4" name="Line 16"/>
          <p:cNvSpPr>
            <a:spLocks noChangeShapeType="1"/>
          </p:cNvSpPr>
          <p:nvPr/>
        </p:nvSpPr>
        <p:spPr bwMode="auto">
          <a:xfrm>
            <a:off x="3536505" y="3746922"/>
            <a:ext cx="415375" cy="0"/>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5" name="Line 17"/>
          <p:cNvSpPr>
            <a:spLocks noChangeShapeType="1"/>
          </p:cNvSpPr>
          <p:nvPr/>
        </p:nvSpPr>
        <p:spPr bwMode="auto">
          <a:xfrm>
            <a:off x="3519645" y="4931146"/>
            <a:ext cx="415374" cy="0"/>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6" name="Line 18"/>
          <p:cNvSpPr>
            <a:spLocks noChangeShapeType="1"/>
          </p:cNvSpPr>
          <p:nvPr/>
        </p:nvSpPr>
        <p:spPr bwMode="auto">
          <a:xfrm>
            <a:off x="3519645" y="4607148"/>
            <a:ext cx="415374" cy="0"/>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77" name="Text Box 27"/>
          <p:cNvSpPr txBox="1">
            <a:spLocks noChangeArrowheads="1"/>
          </p:cNvSpPr>
          <p:nvPr/>
        </p:nvSpPr>
        <p:spPr bwMode="auto">
          <a:xfrm>
            <a:off x="7381763" y="4123747"/>
            <a:ext cx="1934210" cy="393700"/>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970" b="1" dirty="0">
                <a:solidFill>
                  <a:schemeClr val="bg1"/>
                </a:solidFill>
                <a:latin typeface="微软雅黑" panose="020B0503020204020204" charset="-122"/>
                <a:ea typeface="微软雅黑" panose="020B0503020204020204" charset="-122"/>
              </a:rPr>
              <a:t>传输文档的时间</a:t>
            </a:r>
            <a:endParaRPr kumimoji="1" lang="zh-CN" altLang="en-US" sz="1970" b="1" dirty="0">
              <a:solidFill>
                <a:schemeClr val="bg1"/>
              </a:solidFill>
              <a:latin typeface="微软雅黑" panose="020B0503020204020204" charset="-122"/>
              <a:ea typeface="微软雅黑" panose="020B0503020204020204" charset="-122"/>
            </a:endParaRPr>
          </a:p>
        </p:txBody>
      </p:sp>
      <p:sp>
        <p:nvSpPr>
          <p:cNvPr id="78" name="Text Box 28"/>
          <p:cNvSpPr txBox="1">
            <a:spLocks noChangeArrowheads="1"/>
          </p:cNvSpPr>
          <p:nvPr/>
        </p:nvSpPr>
        <p:spPr bwMode="auto">
          <a:xfrm>
            <a:off x="1644968" y="4754293"/>
            <a:ext cx="1684020" cy="393700"/>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970" b="1" dirty="0">
                <a:solidFill>
                  <a:schemeClr val="bg1"/>
                </a:solidFill>
                <a:latin typeface="微软雅黑" panose="020B0503020204020204" charset="-122"/>
                <a:ea typeface="微软雅黑" panose="020B0503020204020204" charset="-122"/>
              </a:rPr>
              <a:t>整个文档收到</a:t>
            </a:r>
            <a:endParaRPr kumimoji="1" lang="zh-CN" altLang="en-US" sz="1970" b="1" dirty="0">
              <a:solidFill>
                <a:schemeClr val="bg1"/>
              </a:solidFill>
              <a:latin typeface="微软雅黑" panose="020B0503020204020204" charset="-122"/>
              <a:ea typeface="微软雅黑" panose="020B0503020204020204" charset="-122"/>
            </a:endParaRPr>
          </a:p>
        </p:txBody>
      </p:sp>
      <p:sp>
        <p:nvSpPr>
          <p:cNvPr id="79" name="AutoShape 29"/>
          <p:cNvSpPr>
            <a:spLocks noChangeArrowheads="1"/>
          </p:cNvSpPr>
          <p:nvPr/>
        </p:nvSpPr>
        <p:spPr bwMode="auto">
          <a:xfrm rot="21154273">
            <a:off x="5090710" y="4437367"/>
            <a:ext cx="918116" cy="243354"/>
          </a:xfrm>
          <a:prstGeom prst="leftArrow">
            <a:avLst>
              <a:gd name="adj1" fmla="val 50000"/>
              <a:gd name="adj2" fmla="val 87064"/>
            </a:avLst>
          </a:prstGeom>
          <a:solidFill>
            <a:srgbClr val="00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970" b="1">
              <a:latin typeface="微软雅黑" panose="020B0503020204020204" charset="-122"/>
              <a:ea typeface="微软雅黑" panose="020B0503020204020204" charset="-122"/>
            </a:endParaRPr>
          </a:p>
        </p:txBody>
      </p:sp>
      <p:sp>
        <p:nvSpPr>
          <p:cNvPr id="80" name="Line 30"/>
          <p:cNvSpPr>
            <a:spLocks noChangeShapeType="1"/>
          </p:cNvSpPr>
          <p:nvPr/>
        </p:nvSpPr>
        <p:spPr bwMode="auto">
          <a:xfrm>
            <a:off x="7025034" y="2808879"/>
            <a:ext cx="0" cy="2661323"/>
          </a:xfrm>
          <a:prstGeom prst="line">
            <a:avLst/>
          </a:prstGeom>
          <a:noFill/>
          <a:ln w="127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81" name="Text Box 31"/>
          <p:cNvSpPr txBox="1">
            <a:spLocks noChangeArrowheads="1"/>
          </p:cNvSpPr>
          <p:nvPr/>
        </p:nvSpPr>
        <p:spPr bwMode="auto">
          <a:xfrm>
            <a:off x="3648395" y="5423048"/>
            <a:ext cx="612140" cy="3505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85" b="1">
                <a:latin typeface="微软雅黑" panose="020B0503020204020204" charset="-122"/>
                <a:ea typeface="微软雅黑" panose="020B0503020204020204" charset="-122"/>
              </a:rPr>
              <a:t>时间</a:t>
            </a:r>
            <a:endParaRPr kumimoji="1" lang="zh-CN" altLang="en-US" sz="1685" b="1">
              <a:latin typeface="微软雅黑" panose="020B0503020204020204" charset="-122"/>
              <a:ea typeface="微软雅黑" panose="020B0503020204020204" charset="-122"/>
            </a:endParaRPr>
          </a:p>
        </p:txBody>
      </p:sp>
      <p:sp>
        <p:nvSpPr>
          <p:cNvPr id="82" name="Text Box 32"/>
          <p:cNvSpPr txBox="1">
            <a:spLocks noChangeArrowheads="1"/>
          </p:cNvSpPr>
          <p:nvPr/>
        </p:nvSpPr>
        <p:spPr bwMode="auto">
          <a:xfrm>
            <a:off x="6720020" y="5423048"/>
            <a:ext cx="612140" cy="3505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85" b="1">
                <a:latin typeface="微软雅黑" panose="020B0503020204020204" charset="-122"/>
                <a:ea typeface="微软雅黑" panose="020B0503020204020204" charset="-122"/>
              </a:rPr>
              <a:t>时间</a:t>
            </a:r>
            <a:endParaRPr kumimoji="1" lang="zh-CN" altLang="en-US" sz="1685" b="1">
              <a:latin typeface="微软雅黑" panose="020B0503020204020204" charset="-122"/>
              <a:ea typeface="微软雅黑" panose="020B0503020204020204" charset="-122"/>
            </a:endParaRPr>
          </a:p>
        </p:txBody>
      </p:sp>
      <p:sp>
        <p:nvSpPr>
          <p:cNvPr id="83" name="Text Box 33"/>
          <p:cNvSpPr txBox="1">
            <a:spLocks noChangeArrowheads="1"/>
          </p:cNvSpPr>
          <p:nvPr/>
        </p:nvSpPr>
        <p:spPr bwMode="auto">
          <a:xfrm rot="21159151">
            <a:off x="4539404" y="4690458"/>
            <a:ext cx="194564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970" b="1" dirty="0">
                <a:solidFill>
                  <a:srgbClr val="0000FF"/>
                </a:solidFill>
                <a:latin typeface="微软雅黑" panose="020B0503020204020204" charset="-122"/>
                <a:ea typeface="微软雅黑" panose="020B0503020204020204" charset="-122"/>
              </a:rPr>
              <a:t>HTTP </a:t>
            </a:r>
            <a:r>
              <a:rPr kumimoji="1" lang="zh-CN" altLang="en-US" sz="1970" b="1" dirty="0">
                <a:solidFill>
                  <a:srgbClr val="0000FF"/>
                </a:solidFill>
                <a:latin typeface="微软雅黑" panose="020B0503020204020204" charset="-122"/>
                <a:ea typeface="微软雅黑" panose="020B0503020204020204" charset="-122"/>
              </a:rPr>
              <a:t>响应报文</a:t>
            </a:r>
            <a:endParaRPr kumimoji="1" lang="zh-CN" altLang="en-US" sz="1970" b="1" dirty="0">
              <a:solidFill>
                <a:srgbClr val="0000FF"/>
              </a:solidFill>
              <a:latin typeface="微软雅黑" panose="020B0503020204020204" charset="-122"/>
              <a:ea typeface="微软雅黑" panose="020B0503020204020204" charset="-122"/>
            </a:endParaRPr>
          </a:p>
        </p:txBody>
      </p:sp>
      <p:sp>
        <p:nvSpPr>
          <p:cNvPr id="84" name="AutoShape 34"/>
          <p:cNvSpPr/>
          <p:nvPr/>
        </p:nvSpPr>
        <p:spPr bwMode="auto">
          <a:xfrm>
            <a:off x="7069485" y="4179866"/>
            <a:ext cx="84300" cy="325414"/>
          </a:xfrm>
          <a:prstGeom prst="rightBracket">
            <a:avLst>
              <a:gd name="adj" fmla="val 34849"/>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970" b="1">
              <a:latin typeface="微软雅黑" panose="020B0503020204020204" charset="-122"/>
              <a:ea typeface="微软雅黑" panose="020B0503020204020204" charset="-122"/>
            </a:endParaRPr>
          </a:p>
        </p:txBody>
      </p:sp>
      <p:sp>
        <p:nvSpPr>
          <p:cNvPr id="85" name="Line 35"/>
          <p:cNvSpPr>
            <a:spLocks noChangeShapeType="1"/>
          </p:cNvSpPr>
          <p:nvPr/>
        </p:nvSpPr>
        <p:spPr bwMode="auto">
          <a:xfrm>
            <a:off x="7153785" y="4342571"/>
            <a:ext cx="22797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pic>
        <p:nvPicPr>
          <p:cNvPr id="87" name="图片 8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62386" y="1875324"/>
            <a:ext cx="719377" cy="1007128"/>
          </a:xfrm>
          <a:prstGeom prst="rect">
            <a:avLst/>
          </a:prstGeom>
        </p:spPr>
      </p:pic>
      <p:pic>
        <p:nvPicPr>
          <p:cNvPr id="88" name="Picture 197"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4058" y="1965174"/>
            <a:ext cx="726509" cy="726510"/>
          </a:xfrm>
          <a:prstGeom prst="rect">
            <a:avLst/>
          </a:prstGeom>
          <a:noFill/>
          <a:extLst>
            <a:ext uri="{909E8E84-426E-40DD-AFC4-6F175D3DCCD1}">
              <a14:hiddenFill xmlns:a14="http://schemas.microsoft.com/office/drawing/2010/main">
                <a:solidFill>
                  <a:srgbClr val="FFFFFF"/>
                </a:solidFill>
              </a14:hiddenFill>
            </a:ext>
          </a:extLst>
        </p:spPr>
      </p:pic>
      <p:sp>
        <p:nvSpPr>
          <p:cNvPr id="89" name="AutoShape 5"/>
          <p:cNvSpPr>
            <a:spLocks noChangeArrowheads="1"/>
          </p:cNvSpPr>
          <p:nvPr/>
        </p:nvSpPr>
        <p:spPr bwMode="auto">
          <a:xfrm>
            <a:off x="783539" y="860786"/>
            <a:ext cx="11317970" cy="434422"/>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530"/>
          </a:p>
        </p:txBody>
      </p:sp>
      <p:sp>
        <p:nvSpPr>
          <p:cNvPr id="90" name="矩形 89"/>
          <p:cNvSpPr/>
          <p:nvPr/>
        </p:nvSpPr>
        <p:spPr>
          <a:xfrm>
            <a:off x="907711" y="801389"/>
            <a:ext cx="5179060" cy="52324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10" b="1" dirty="0">
                <a:latin typeface="微软雅黑" panose="020B0503020204020204" charset="-122"/>
                <a:ea typeface="微软雅黑" panose="020B0503020204020204" charset="-122"/>
              </a:rPr>
              <a:t>请求一个万维网文档所需的时间</a:t>
            </a:r>
            <a:endParaRPr lang="zh-CN" altLang="en-US" sz="2810" b="1" dirty="0">
              <a:latin typeface="微软雅黑" panose="020B0503020204020204" charset="-122"/>
              <a:ea typeface="微软雅黑" panose="020B0503020204020204" charset="-122"/>
            </a:endParaRPr>
          </a:p>
        </p:txBody>
      </p:sp>
      <p:sp>
        <p:nvSpPr>
          <p:cNvPr id="3" name="矩形 2"/>
          <p:cNvSpPr/>
          <p:nvPr/>
        </p:nvSpPr>
        <p:spPr>
          <a:xfrm>
            <a:off x="7498672" y="2055321"/>
            <a:ext cx="4369818" cy="1373505"/>
          </a:xfrm>
          <a:prstGeom prst="rect">
            <a:avLst/>
          </a:prstGeom>
          <a:solidFill>
            <a:schemeClr val="bg1"/>
          </a:solidFill>
        </p:spPr>
        <p:txBody>
          <a:bodyPr wrap="square">
            <a:spAutoFit/>
          </a:bodyPr>
          <a:lstStyle/>
          <a:p>
            <a:pPr>
              <a:lnSpc>
                <a:spcPts val="2000"/>
              </a:lnSpc>
            </a:pPr>
            <a:r>
              <a:rPr lang="zh-CN" altLang="en-US" sz="1970" b="1" dirty="0">
                <a:latin typeface="微软雅黑" panose="020B0503020204020204" charset="-122"/>
                <a:ea typeface="微软雅黑" panose="020B0503020204020204" charset="-122"/>
              </a:rPr>
              <a:t>所需的</a:t>
            </a:r>
            <a:r>
              <a:rPr lang="zh-CN" altLang="en-US" sz="1970" b="1" dirty="0" smtClean="0">
                <a:latin typeface="微软雅黑" panose="020B0503020204020204" charset="-122"/>
                <a:ea typeface="微软雅黑" panose="020B0503020204020204" charset="-122"/>
              </a:rPr>
              <a:t>时间 </a:t>
            </a:r>
            <a:r>
              <a:rPr lang="en-US" altLang="zh-CN" sz="1970" b="1" dirty="0" smtClean="0">
                <a:latin typeface="微软雅黑" panose="020B0503020204020204" charset="-122"/>
                <a:ea typeface="微软雅黑" panose="020B0503020204020204" charset="-122"/>
              </a:rPr>
              <a:t>&gt;=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a:latin typeface="微软雅黑" panose="020B0503020204020204" charset="-122"/>
                <a:ea typeface="微软雅黑" panose="020B0503020204020204" charset="-122"/>
              </a:rPr>
              <a:t> </a:t>
            </a:r>
            <a:r>
              <a:rPr lang="en-US" altLang="zh-CN" sz="1970" b="1" dirty="0" smtClean="0">
                <a:latin typeface="微软雅黑" panose="020B0503020204020204" charset="-122"/>
                <a:ea typeface="微软雅黑" panose="020B0503020204020204" charset="-122"/>
              </a:rPr>
              <a:t>  RTT</a:t>
            </a:r>
            <a:r>
              <a:rPr lang="zh-CN" altLang="en-US" sz="1970" b="1" dirty="0">
                <a:latin typeface="微软雅黑" panose="020B0503020204020204" charset="-122"/>
                <a:ea typeface="微软雅黑" panose="020B0503020204020204" charset="-122"/>
              </a:rPr>
              <a:t>（三报文</a:t>
            </a:r>
            <a:r>
              <a:rPr lang="zh-CN" altLang="en-US" sz="1970" b="1" dirty="0" smtClean="0">
                <a:latin typeface="微软雅黑" panose="020B0503020204020204" charset="-122"/>
                <a:ea typeface="微软雅黑" panose="020B0503020204020204" charset="-122"/>
              </a:rPr>
              <a:t>握手建立 </a:t>
            </a:r>
            <a:r>
              <a:rPr lang="en-US" altLang="zh-CN" sz="1970" b="1" dirty="0" smtClean="0">
                <a:latin typeface="微软雅黑" panose="020B0503020204020204" charset="-122"/>
                <a:ea typeface="微软雅黑" panose="020B0503020204020204" charset="-122"/>
              </a:rPr>
              <a:t>TCP </a:t>
            </a:r>
            <a:r>
              <a:rPr lang="zh-CN" altLang="en-US" sz="1970" b="1" dirty="0" smtClean="0">
                <a:latin typeface="微软雅黑" panose="020B0503020204020204" charset="-122"/>
                <a:ea typeface="微软雅黑" panose="020B0503020204020204" charset="-122"/>
              </a:rPr>
              <a:t>连接</a:t>
            </a:r>
            <a:r>
              <a:rPr lang="zh-CN" altLang="en-US" sz="1970" b="1" dirty="0">
                <a:latin typeface="微软雅黑" panose="020B0503020204020204" charset="-122"/>
                <a:ea typeface="微软雅黑" panose="020B0503020204020204" charset="-122"/>
              </a:rPr>
              <a:t>）</a:t>
            </a:r>
            <a:r>
              <a:rPr lang="en-US" altLang="zh-CN" sz="1970" b="1" dirty="0" smtClean="0">
                <a:latin typeface="微软雅黑" panose="020B0503020204020204" charset="-122"/>
                <a:ea typeface="微软雅黑" panose="020B0503020204020204" charset="-122"/>
              </a:rPr>
              <a: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RTT</a:t>
            </a:r>
            <a:r>
              <a:rPr lang="zh-CN" altLang="en-US" sz="1970" b="1" dirty="0">
                <a:latin typeface="微软雅黑" panose="020B0503020204020204" charset="-122"/>
                <a:ea typeface="微软雅黑" panose="020B0503020204020204" charset="-122"/>
              </a:rPr>
              <a:t>（请求和</a:t>
            </a:r>
            <a:r>
              <a:rPr lang="zh-CN" altLang="en-US" sz="1970" b="1" dirty="0" smtClean="0">
                <a:latin typeface="微软雅黑" panose="020B0503020204020204" charset="-122"/>
                <a:ea typeface="微软雅黑" panose="020B0503020204020204" charset="-122"/>
              </a:rPr>
              <a:t>接收文档</a:t>
            </a:r>
            <a:r>
              <a:rPr lang="zh-CN" altLang="en-US" sz="1970" b="1" dirty="0">
                <a:latin typeface="微软雅黑" panose="020B0503020204020204" charset="-122"/>
                <a:ea typeface="微软雅黑" panose="020B0503020204020204" charset="-122"/>
              </a:rPr>
              <a:t>）</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a:t>
            </a:r>
            <a:r>
              <a:rPr lang="zh-CN" altLang="en-US" sz="1970" b="1" dirty="0" smtClean="0">
                <a:latin typeface="微软雅黑" panose="020B0503020204020204" charset="-122"/>
                <a:ea typeface="微软雅黑" panose="020B0503020204020204" charset="-122"/>
              </a:rPr>
              <a:t>文档</a:t>
            </a:r>
            <a:r>
              <a:rPr lang="zh-CN" altLang="en-US" sz="1970" b="1" dirty="0">
                <a:latin typeface="微软雅黑" panose="020B0503020204020204" charset="-122"/>
                <a:ea typeface="微软雅黑" panose="020B0503020204020204" charset="-122"/>
              </a:rPr>
              <a:t>的传输</a:t>
            </a:r>
            <a:r>
              <a:rPr lang="zh-CN" altLang="en-US" sz="1970" b="1" dirty="0" smtClean="0">
                <a:latin typeface="微软雅黑" panose="020B0503020204020204" charset="-122"/>
                <a:ea typeface="微软雅黑" panose="020B0503020204020204" charset="-122"/>
              </a:rPr>
              <a:t>时间</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2 RTT +</a:t>
            </a:r>
            <a:r>
              <a:rPr lang="zh-CN" altLang="en-US" sz="1970" b="1" dirty="0">
                <a:latin typeface="微软雅黑" panose="020B0503020204020204" charset="-122"/>
                <a:ea typeface="微软雅黑" panose="020B0503020204020204" charset="-122"/>
              </a:rPr>
              <a:t>文档的传输时间</a:t>
            </a:r>
            <a:endParaRPr lang="zh-CN" altLang="en-US" sz="197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8"/>
          <p:cNvSpPr>
            <a:spLocks noChangeArrowheads="1"/>
          </p:cNvSpPr>
          <p:nvPr/>
        </p:nvSpPr>
        <p:spPr bwMode="auto">
          <a:xfrm>
            <a:off x="783539" y="1296157"/>
            <a:ext cx="4180709" cy="3053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eaLnBrk="0" hangingPunct="0">
              <a:lnSpc>
                <a:spcPts val="3300"/>
              </a:lnSpc>
              <a:buClr>
                <a:srgbClr val="0070C0"/>
              </a:buClr>
              <a:buFont typeface="Wingdings" panose="05000000000000000000" pitchFamily="2" charset="2"/>
              <a:buChar char="l"/>
            </a:pPr>
            <a:r>
              <a:rPr lang="zh-CN" altLang="en-US" sz="2810" b="1" dirty="0">
                <a:latin typeface="微软雅黑" panose="020B0503020204020204" charset="-122"/>
                <a:ea typeface="微软雅黑" panose="020B0503020204020204" charset="-122"/>
              </a:rPr>
              <a:t>每请求一个文档就要有</a:t>
            </a:r>
            <a:r>
              <a:rPr lang="zh-CN" altLang="en-US" sz="2810" b="1" dirty="0" smtClean="0">
                <a:latin typeface="微软雅黑" panose="020B0503020204020204" charset="-122"/>
                <a:ea typeface="微软雅黑" panose="020B0503020204020204" charset="-122"/>
              </a:rPr>
              <a:t>两倍 </a:t>
            </a:r>
            <a:r>
              <a:rPr lang="en-US" altLang="zh-CN" sz="2810" b="1" dirty="0" smtClean="0">
                <a:latin typeface="微软雅黑" panose="020B0503020204020204" charset="-122"/>
                <a:ea typeface="微软雅黑" panose="020B0503020204020204" charset="-122"/>
              </a:rPr>
              <a:t>RTT </a:t>
            </a:r>
            <a:r>
              <a:rPr lang="zh-CN" altLang="en-US" sz="2810" b="1" dirty="0" smtClean="0">
                <a:latin typeface="微软雅黑" panose="020B0503020204020204" charset="-122"/>
                <a:ea typeface="微软雅黑" panose="020B0503020204020204" charset="-122"/>
              </a:rPr>
              <a:t>的</a:t>
            </a:r>
            <a:r>
              <a:rPr lang="zh-CN" altLang="en-US" sz="2810" b="1" dirty="0">
                <a:latin typeface="微软雅黑" panose="020B0503020204020204" charset="-122"/>
                <a:ea typeface="微软雅黑" panose="020B0503020204020204" charset="-122"/>
              </a:rPr>
              <a:t>开销</a:t>
            </a:r>
            <a:r>
              <a:rPr lang="zh-CN" altLang="en-US" sz="2810" b="1" dirty="0" smtClean="0">
                <a:latin typeface="微软雅黑" panose="020B0503020204020204" charset="-122"/>
                <a:ea typeface="微软雅黑" panose="020B0503020204020204" charset="-122"/>
              </a:rPr>
              <a:t>。</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a:latin typeface="微软雅黑" panose="020B0503020204020204" charset="-122"/>
                <a:ea typeface="微软雅黑" panose="020B0503020204020204" charset="-122"/>
              </a:rPr>
              <a:t>客户和服务器每一次建立新</a:t>
            </a:r>
            <a:r>
              <a:rPr lang="zh-CN" altLang="en-US" sz="2810" b="1" dirty="0" smtClean="0">
                <a:latin typeface="微软雅黑" panose="020B0503020204020204" charset="-122"/>
                <a:ea typeface="微软雅黑" panose="020B0503020204020204" charset="-122"/>
              </a:rPr>
              <a:t>的 </a:t>
            </a:r>
            <a:r>
              <a:rPr lang="en-US" altLang="zh-CN" sz="2810" b="1" dirty="0" smtClean="0">
                <a:latin typeface="微软雅黑" panose="020B0503020204020204" charset="-122"/>
                <a:ea typeface="微软雅黑" panose="020B0503020204020204" charset="-122"/>
              </a:rPr>
              <a:t>TCP </a:t>
            </a:r>
            <a:r>
              <a:rPr lang="zh-CN" altLang="en-US" sz="2810" b="1" dirty="0" smtClean="0">
                <a:latin typeface="微软雅黑" panose="020B0503020204020204" charset="-122"/>
                <a:ea typeface="微软雅黑" panose="020B0503020204020204" charset="-122"/>
              </a:rPr>
              <a:t>连接</a:t>
            </a:r>
            <a:r>
              <a:rPr lang="zh-CN" altLang="en-US" sz="2810" b="1" dirty="0">
                <a:latin typeface="微软雅黑" panose="020B0503020204020204" charset="-122"/>
                <a:ea typeface="微软雅黑" panose="020B0503020204020204" charset="-122"/>
              </a:rPr>
              <a:t>都要分配缓存和变量</a:t>
            </a:r>
            <a:r>
              <a:rPr lang="zh-CN" altLang="en-US" sz="2810" b="1" dirty="0" smtClean="0">
                <a:latin typeface="微软雅黑" panose="020B0503020204020204" charset="-122"/>
                <a:ea typeface="微软雅黑" panose="020B0503020204020204" charset="-122"/>
              </a:rPr>
              <a:t>。</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a:latin typeface="微软雅黑" panose="020B0503020204020204" charset="-122"/>
                <a:ea typeface="微软雅黑" panose="020B0503020204020204" charset="-122"/>
              </a:rPr>
              <a:t>这种</a:t>
            </a:r>
            <a:r>
              <a:rPr lang="zh-CN" altLang="en-US" sz="2810" b="1" dirty="0">
                <a:solidFill>
                  <a:srgbClr val="C00000"/>
                </a:solidFill>
                <a:latin typeface="微软雅黑" panose="020B0503020204020204" charset="-122"/>
                <a:ea typeface="微软雅黑" panose="020B0503020204020204" charset="-122"/>
              </a:rPr>
              <a:t>非持续</a:t>
            </a:r>
            <a:r>
              <a:rPr lang="zh-CN" altLang="en-US" sz="2810" b="1" dirty="0" smtClean="0">
                <a:solidFill>
                  <a:srgbClr val="C00000"/>
                </a:solidFill>
                <a:latin typeface="微软雅黑" panose="020B0503020204020204" charset="-122"/>
                <a:ea typeface="微软雅黑" panose="020B0503020204020204" charset="-122"/>
              </a:rPr>
              <a:t>连接</a:t>
            </a:r>
            <a:r>
              <a:rPr lang="zh-CN" altLang="en-US" sz="2810" b="1" dirty="0" smtClean="0">
                <a:latin typeface="微软雅黑" panose="020B0503020204020204" charset="-122"/>
                <a:ea typeface="微软雅黑" panose="020B0503020204020204" charset="-122"/>
              </a:rPr>
              <a:t>使服务器</a:t>
            </a:r>
            <a:r>
              <a:rPr lang="zh-CN" altLang="en-US" sz="2810" b="1" dirty="0">
                <a:latin typeface="微软雅黑" panose="020B0503020204020204" charset="-122"/>
                <a:ea typeface="微软雅黑" panose="020B0503020204020204" charset="-122"/>
              </a:rPr>
              <a:t>的负担很重。</a:t>
            </a:r>
            <a:endParaRPr lang="en-US" altLang="zh-CN" sz="2810" b="1" dirty="0" smtClean="0">
              <a:latin typeface="微软雅黑" panose="020B0503020204020204" charset="-122"/>
              <a:ea typeface="微软雅黑" panose="020B0503020204020204" charset="-122"/>
            </a:endParaRPr>
          </a:p>
        </p:txBody>
      </p:sp>
      <p:sp>
        <p:nvSpPr>
          <p:cNvPr id="5" name="AutoShape 5"/>
          <p:cNvSpPr>
            <a:spLocks noChangeArrowheads="1"/>
          </p:cNvSpPr>
          <p:nvPr/>
        </p:nvSpPr>
        <p:spPr bwMode="auto">
          <a:xfrm>
            <a:off x="783539" y="860786"/>
            <a:ext cx="11317970" cy="434422"/>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530"/>
          </a:p>
        </p:txBody>
      </p:sp>
      <p:sp>
        <p:nvSpPr>
          <p:cNvPr id="6" name="矩形 5"/>
          <p:cNvSpPr/>
          <p:nvPr/>
        </p:nvSpPr>
        <p:spPr>
          <a:xfrm>
            <a:off x="907711" y="801389"/>
            <a:ext cx="4586605" cy="52324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10" b="1" dirty="0" smtClean="0">
                <a:latin typeface="微软雅黑" panose="020B0503020204020204" charset="-122"/>
                <a:ea typeface="微软雅黑" panose="020B0503020204020204" charset="-122"/>
              </a:rPr>
              <a:t>协议 </a:t>
            </a:r>
            <a:r>
              <a:rPr lang="en-US" altLang="zh-CN" sz="2810" b="1" dirty="0" smtClean="0">
                <a:latin typeface="微软雅黑" panose="020B0503020204020204" charset="-122"/>
                <a:ea typeface="微软雅黑" panose="020B0503020204020204" charset="-122"/>
              </a:rPr>
              <a:t>HTTP/1.0 </a:t>
            </a:r>
            <a:r>
              <a:rPr lang="zh-CN" altLang="en-US" sz="2810" b="1" dirty="0" smtClean="0">
                <a:latin typeface="微软雅黑" panose="020B0503020204020204" charset="-122"/>
                <a:ea typeface="微软雅黑" panose="020B0503020204020204" charset="-122"/>
              </a:rPr>
              <a:t>的</a:t>
            </a:r>
            <a:r>
              <a:rPr lang="zh-CN" altLang="en-US" sz="2810" b="1" dirty="0">
                <a:latin typeface="微软雅黑" panose="020B0503020204020204" charset="-122"/>
                <a:ea typeface="微软雅黑" panose="020B0503020204020204" charset="-122"/>
              </a:rPr>
              <a:t>主要缺点</a:t>
            </a:r>
            <a:endParaRPr lang="zh-CN" altLang="en-US" sz="2810" b="1" dirty="0">
              <a:latin typeface="微软雅黑" panose="020B0503020204020204" charset="-122"/>
              <a:ea typeface="微软雅黑" panose="020B0503020204020204" charset="-122"/>
            </a:endParaRPr>
          </a:p>
        </p:txBody>
      </p:sp>
      <p:sp>
        <p:nvSpPr>
          <p:cNvPr id="7" name="Text Box 4"/>
          <p:cNvSpPr txBox="1">
            <a:spLocks noChangeArrowheads="1"/>
          </p:cNvSpPr>
          <p:nvPr/>
        </p:nvSpPr>
        <p:spPr bwMode="auto">
          <a:xfrm>
            <a:off x="9714462" y="1578856"/>
            <a:ext cx="2849079" cy="206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pPr>
              <a:lnSpc>
                <a:spcPts val="2200"/>
              </a:lnSpc>
            </a:pPr>
            <a:r>
              <a:rPr lang="zh-CN" altLang="en-US" sz="2250" b="1" dirty="0">
                <a:latin typeface="微软雅黑" panose="020B0503020204020204" charset="-122"/>
                <a:ea typeface="微软雅黑" panose="020B0503020204020204" charset="-122"/>
              </a:rPr>
              <a:t>假设</a:t>
            </a:r>
            <a:r>
              <a:rPr lang="zh-CN" altLang="en-US" sz="2250" b="1" dirty="0" smtClean="0">
                <a:latin typeface="微软雅黑" panose="020B0503020204020204" charset="-122"/>
                <a:ea typeface="微软雅黑" panose="020B0503020204020204" charset="-122"/>
              </a:rPr>
              <a:t>一</a:t>
            </a:r>
            <a:r>
              <a:rPr lang="zh-CN" altLang="en-US" sz="2250" b="1" dirty="0">
                <a:latin typeface="微软雅黑" panose="020B0503020204020204" charset="-122"/>
                <a:ea typeface="微软雅黑" panose="020B0503020204020204" charset="-122"/>
              </a:rPr>
              <a:t>个</a:t>
            </a:r>
            <a:r>
              <a:rPr lang="zh-CN" altLang="en-US" sz="2250" b="1" dirty="0" smtClean="0">
                <a:latin typeface="微软雅黑" panose="020B0503020204020204" charset="-122"/>
                <a:ea typeface="微软雅黑" panose="020B0503020204020204" charset="-122"/>
              </a:rPr>
              <a:t>主页</a:t>
            </a:r>
            <a:r>
              <a:rPr lang="en-US" altLang="zh-CN" sz="2250" b="1" dirty="0" smtClean="0">
                <a:latin typeface="微软雅黑" panose="020B0503020204020204" charset="-122"/>
                <a:ea typeface="微软雅黑" panose="020B0503020204020204" charset="-122"/>
              </a:rPr>
              <a:t>page.html </a:t>
            </a:r>
            <a:r>
              <a:rPr lang="zh-CN" altLang="en-US" sz="2250" b="1" dirty="0" smtClean="0">
                <a:latin typeface="微软雅黑" panose="020B0503020204020204" charset="-122"/>
                <a:ea typeface="微软雅黑" panose="020B0503020204020204" charset="-122"/>
              </a:rPr>
              <a:t>上有 </a:t>
            </a:r>
            <a:r>
              <a:rPr lang="en-US" altLang="zh-CN" sz="2250" b="1" dirty="0" smtClean="0">
                <a:latin typeface="微软雅黑" panose="020B0503020204020204" charset="-122"/>
                <a:ea typeface="微软雅黑" panose="020B0503020204020204" charset="-122"/>
              </a:rPr>
              <a:t>10 </a:t>
            </a:r>
            <a:r>
              <a:rPr lang="zh-CN" altLang="en-US" sz="2250" b="1" dirty="0" smtClean="0">
                <a:latin typeface="微软雅黑" panose="020B0503020204020204" charset="-122"/>
                <a:ea typeface="微软雅黑" panose="020B0503020204020204" charset="-122"/>
              </a:rPr>
              <a:t>个链接的图片：</a:t>
            </a:r>
            <a:r>
              <a:rPr lang="en-US" altLang="zh-CN" sz="2250" b="1" dirty="0" smtClean="0">
                <a:latin typeface="微软雅黑" panose="020B0503020204020204" charset="-122"/>
                <a:ea typeface="微软雅黑" panose="020B0503020204020204" charset="-122"/>
              </a:rPr>
              <a:t>page1.jpg</a:t>
            </a:r>
            <a:r>
              <a:rPr lang="en-US" altLang="zh-CN" sz="2250" b="1" dirty="0">
                <a:latin typeface="微软雅黑" panose="020B0503020204020204" charset="-122"/>
                <a:ea typeface="微软雅黑" panose="020B0503020204020204" charset="-122"/>
              </a:rPr>
              <a:t>, page2.jpg, </a:t>
            </a:r>
            <a:r>
              <a:rPr lang="en-US" altLang="zh-CN" sz="2250" b="1" dirty="0" smtClean="0">
                <a:latin typeface="微软雅黑" panose="020B0503020204020204" charset="-122"/>
                <a:ea typeface="微软雅黑" panose="020B0503020204020204" charset="-122"/>
              </a:rPr>
              <a:t>page3.jpg,</a:t>
            </a:r>
            <a:endParaRPr lang="en-US" altLang="zh-CN" sz="2250" b="1" dirty="0" smtClean="0">
              <a:latin typeface="微软雅黑" panose="020B0503020204020204" charset="-122"/>
              <a:ea typeface="微软雅黑" panose="020B0503020204020204" charset="-122"/>
            </a:endParaRPr>
          </a:p>
          <a:p>
            <a:pPr>
              <a:lnSpc>
                <a:spcPts val="2200"/>
              </a:lnSpc>
            </a:pPr>
            <a:r>
              <a:rPr lang="en-US" altLang="zh-CN" sz="2250" b="1" dirty="0" smtClean="0">
                <a:latin typeface="微软雅黑" panose="020B0503020204020204" charset="-122"/>
                <a:ea typeface="微软雅黑" panose="020B0503020204020204" charset="-122"/>
              </a:rPr>
              <a:t>…</a:t>
            </a:r>
            <a:endParaRPr lang="en-US" altLang="zh-CN" sz="2250" b="1" dirty="0">
              <a:latin typeface="微软雅黑" panose="020B0503020204020204" charset="-122"/>
              <a:ea typeface="微软雅黑" panose="020B0503020204020204" charset="-122"/>
            </a:endParaRPr>
          </a:p>
        </p:txBody>
      </p:sp>
      <p:sp>
        <p:nvSpPr>
          <p:cNvPr id="8" name="Line 5"/>
          <p:cNvSpPr>
            <a:spLocks noChangeShapeType="1"/>
          </p:cNvSpPr>
          <p:nvPr/>
        </p:nvSpPr>
        <p:spPr bwMode="auto">
          <a:xfrm>
            <a:off x="6630889" y="1802473"/>
            <a:ext cx="8977" cy="4584526"/>
          </a:xfrm>
          <a:prstGeom prst="line">
            <a:avLst/>
          </a:prstGeom>
          <a:noFill/>
          <a:ln w="12700">
            <a:solidFill>
              <a:schemeClr val="tx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9" name="Line 6"/>
          <p:cNvSpPr>
            <a:spLocks noChangeShapeType="1"/>
          </p:cNvSpPr>
          <p:nvPr/>
        </p:nvSpPr>
        <p:spPr bwMode="auto">
          <a:xfrm flipH="1">
            <a:off x="8206266" y="1796379"/>
            <a:ext cx="17953" cy="4595191"/>
          </a:xfrm>
          <a:prstGeom prst="line">
            <a:avLst/>
          </a:prstGeom>
          <a:noFill/>
          <a:ln w="12700">
            <a:solidFill>
              <a:schemeClr val="tx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nvGrpSpPr>
          <p:cNvPr id="52" name="组合 51"/>
          <p:cNvGrpSpPr/>
          <p:nvPr/>
        </p:nvGrpSpPr>
        <p:grpSpPr>
          <a:xfrm>
            <a:off x="4694163" y="1780530"/>
            <a:ext cx="5056059" cy="2180686"/>
            <a:chOff x="3338004" y="1266224"/>
            <a:chExt cx="3595617" cy="1550795"/>
          </a:xfrm>
        </p:grpSpPr>
        <p:sp>
          <p:nvSpPr>
            <p:cNvPr id="18" name="Text Box 12"/>
            <p:cNvSpPr txBox="1">
              <a:spLocks noChangeArrowheads="1"/>
            </p:cNvSpPr>
            <p:nvPr/>
          </p:nvSpPr>
          <p:spPr bwMode="auto">
            <a:xfrm>
              <a:off x="5902120" y="2198103"/>
              <a:ext cx="1031501" cy="61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smtClean="0">
                  <a:solidFill>
                    <a:srgbClr val="0000CC"/>
                  </a:solidFill>
                  <a:latin typeface="微软雅黑" panose="020B0503020204020204" charset="-122"/>
                  <a:ea typeface="微软雅黑" panose="020B0503020204020204" charset="-122"/>
                </a:rPr>
                <a:t>传输 </a:t>
              </a:r>
              <a:r>
                <a:rPr lang="en-US" altLang="zh-CN" sz="1685" b="1" dirty="0" smtClean="0">
                  <a:solidFill>
                    <a:srgbClr val="0000CC"/>
                  </a:solidFill>
                  <a:latin typeface="微软雅黑" panose="020B0503020204020204" charset="-122"/>
                  <a:ea typeface="微软雅黑" panose="020B0503020204020204" charset="-122"/>
                </a:rPr>
                <a:t>page.html </a:t>
              </a:r>
              <a:r>
                <a:rPr lang="zh-CN" altLang="en-US" sz="1685" b="1" dirty="0" smtClean="0">
                  <a:solidFill>
                    <a:srgbClr val="0000CC"/>
                  </a:solidFill>
                  <a:latin typeface="微软雅黑" panose="020B0503020204020204" charset="-122"/>
                  <a:ea typeface="微软雅黑" panose="020B0503020204020204" charset="-122"/>
                </a:rPr>
                <a:t>的时间</a:t>
              </a:r>
              <a:endParaRPr lang="zh-CN" altLang="en-US" sz="1685" b="1" dirty="0">
                <a:solidFill>
                  <a:srgbClr val="0000CC"/>
                </a:solidFill>
                <a:latin typeface="微软雅黑" panose="020B0503020204020204" charset="-122"/>
                <a:ea typeface="微软雅黑" panose="020B0503020204020204" charset="-122"/>
              </a:endParaRPr>
            </a:p>
          </p:txBody>
        </p:sp>
        <p:grpSp>
          <p:nvGrpSpPr>
            <p:cNvPr id="3" name="组合 2"/>
            <p:cNvGrpSpPr/>
            <p:nvPr/>
          </p:nvGrpSpPr>
          <p:grpSpPr>
            <a:xfrm>
              <a:off x="3338004" y="1266224"/>
              <a:ext cx="2613601" cy="1550795"/>
              <a:chOff x="3338004" y="1266224"/>
              <a:chExt cx="2613601" cy="1550795"/>
            </a:xfrm>
          </p:grpSpPr>
          <p:sp>
            <p:nvSpPr>
              <p:cNvPr id="13" name="Line 7"/>
              <p:cNvSpPr>
                <a:spLocks noChangeShapeType="1"/>
              </p:cNvSpPr>
              <p:nvPr/>
            </p:nvSpPr>
            <p:spPr bwMode="auto">
              <a:xfrm>
                <a:off x="4724883" y="1440021"/>
                <a:ext cx="1128840" cy="266544"/>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14" name="Line 8"/>
              <p:cNvSpPr>
                <a:spLocks noChangeShapeType="1"/>
              </p:cNvSpPr>
              <p:nvPr/>
            </p:nvSpPr>
            <p:spPr bwMode="auto">
              <a:xfrm flipH="1">
                <a:off x="4715307" y="1739071"/>
                <a:ext cx="1121392" cy="275212"/>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15" name="Line 9"/>
              <p:cNvSpPr>
                <a:spLocks noChangeShapeType="1"/>
              </p:cNvSpPr>
              <p:nvPr/>
            </p:nvSpPr>
            <p:spPr bwMode="auto">
              <a:xfrm>
                <a:off x="4720627" y="2085794"/>
                <a:ext cx="1128840" cy="266544"/>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16" name="Line 10"/>
              <p:cNvSpPr>
                <a:spLocks noChangeShapeType="1"/>
              </p:cNvSpPr>
              <p:nvPr/>
            </p:nvSpPr>
            <p:spPr bwMode="auto">
              <a:xfrm flipH="1">
                <a:off x="4731266" y="2432938"/>
                <a:ext cx="1121392" cy="258959"/>
              </a:xfrm>
              <a:prstGeom prst="line">
                <a:avLst/>
              </a:prstGeom>
              <a:noFill/>
              <a:ln w="1270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17" name="AutoShape 11"/>
              <p:cNvSpPr/>
              <p:nvPr/>
            </p:nvSpPr>
            <p:spPr bwMode="auto">
              <a:xfrm>
                <a:off x="5901600" y="2366634"/>
                <a:ext cx="50005" cy="124604"/>
              </a:xfrm>
              <a:prstGeom prst="rightBrace">
                <a:avLst>
                  <a:gd name="adj1" fmla="val 2039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19" name="Text Box 14"/>
              <p:cNvSpPr txBox="1">
                <a:spLocks noChangeArrowheads="1"/>
              </p:cNvSpPr>
              <p:nvPr/>
            </p:nvSpPr>
            <p:spPr bwMode="auto">
              <a:xfrm>
                <a:off x="3338004" y="1266224"/>
                <a:ext cx="1188479"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a:solidFill>
                      <a:srgbClr val="0000CC"/>
                    </a:solidFill>
                    <a:latin typeface="微软雅黑" panose="020B0503020204020204" charset="-122"/>
                    <a:ea typeface="微软雅黑" panose="020B0503020204020204" charset="-122"/>
                  </a:rPr>
                  <a:t>发起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sp>
            <p:nvSpPr>
              <p:cNvPr id="20" name="Text Box 17"/>
              <p:cNvSpPr txBox="1">
                <a:spLocks noChangeArrowheads="1"/>
              </p:cNvSpPr>
              <p:nvPr/>
            </p:nvSpPr>
            <p:spPr bwMode="auto">
              <a:xfrm>
                <a:off x="4738206" y="1926570"/>
                <a:ext cx="1097986" cy="43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dirty="0">
                    <a:solidFill>
                      <a:srgbClr val="C00000"/>
                    </a:solidFill>
                    <a:latin typeface="微软雅黑" panose="020B0503020204020204" charset="-122"/>
                    <a:ea typeface="微软雅黑" panose="020B0503020204020204" charset="-122"/>
                  </a:rPr>
                  <a:t>GET </a:t>
                </a:r>
                <a:r>
                  <a:rPr lang="en-US" altLang="zh-CN" sz="1685" b="1" dirty="0" smtClean="0">
                    <a:solidFill>
                      <a:srgbClr val="C00000"/>
                    </a:solidFill>
                    <a:latin typeface="微软雅黑" panose="020B0503020204020204" charset="-122"/>
                    <a:ea typeface="微软雅黑" panose="020B0503020204020204" charset="-122"/>
                  </a:rPr>
                  <a:t>page.html</a:t>
                </a:r>
                <a:endParaRPr lang="en-US" altLang="zh-CN" sz="1685" b="1" dirty="0">
                  <a:solidFill>
                    <a:srgbClr val="C00000"/>
                  </a:solidFill>
                  <a:latin typeface="微软雅黑" panose="020B0503020204020204" charset="-122"/>
                  <a:ea typeface="微软雅黑" panose="020B0503020204020204" charset="-122"/>
                </a:endParaRPr>
              </a:p>
            </p:txBody>
          </p:sp>
          <p:sp>
            <p:nvSpPr>
              <p:cNvPr id="21" name="Text Box 21"/>
              <p:cNvSpPr txBox="1">
                <a:spLocks noChangeArrowheads="1"/>
              </p:cNvSpPr>
              <p:nvPr/>
            </p:nvSpPr>
            <p:spPr bwMode="auto">
              <a:xfrm>
                <a:off x="3751375" y="2567747"/>
                <a:ext cx="793702"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charset="-122"/>
                    <a:ea typeface="微软雅黑" panose="020B0503020204020204" charset="-122"/>
                  </a:defRPr>
                </a:lvl1pPr>
                <a:lvl2pPr marL="742950" indent="-285750">
                  <a:defRPr>
                    <a:latin typeface="Tahoma" panose="020B0604030504040204" pitchFamily="34" charset="0"/>
                    <a:ea typeface="黑体" panose="02010609060101010101" pitchFamily="49" charset="-122"/>
                  </a:defRPr>
                </a:lvl2pPr>
                <a:lvl3pPr marL="1143000" indent="-228600">
                  <a:defRPr>
                    <a:latin typeface="Tahoma" panose="020B0604030504040204" pitchFamily="34" charset="0"/>
                    <a:ea typeface="黑体" panose="02010609060101010101" pitchFamily="49" charset="-122"/>
                  </a:defRPr>
                </a:lvl3pPr>
                <a:lvl4pPr marL="1600200" indent="-228600">
                  <a:defRPr>
                    <a:latin typeface="Tahoma" panose="020B0604030504040204" pitchFamily="34" charset="0"/>
                    <a:ea typeface="黑体" panose="02010609060101010101" pitchFamily="49" charset="-122"/>
                  </a:defRPr>
                </a:lvl4pPr>
                <a:lvl5pPr marL="2057400" indent="-228600">
                  <a:defRPr>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latin typeface="Tahoma" panose="020B0604030504040204" pitchFamily="34" charset="0"/>
                    <a:ea typeface="黑体" panose="02010609060101010101" pitchFamily="49" charset="-122"/>
                  </a:defRPr>
                </a:lvl9pPr>
              </a:lstStyle>
              <a:p>
                <a:r>
                  <a:rPr lang="zh-CN" altLang="en-US" sz="1685" dirty="0" smtClean="0"/>
                  <a:t>收到文档</a:t>
                </a:r>
                <a:endParaRPr lang="zh-CN" altLang="en-US" sz="1685" dirty="0"/>
              </a:p>
            </p:txBody>
          </p:sp>
          <p:sp>
            <p:nvSpPr>
              <p:cNvPr id="24" name="Line 13"/>
              <p:cNvSpPr>
                <a:spLocks noChangeShapeType="1"/>
              </p:cNvSpPr>
              <p:nvPr/>
            </p:nvSpPr>
            <p:spPr bwMode="auto">
              <a:xfrm>
                <a:off x="4453578" y="1422685"/>
                <a:ext cx="261729" cy="10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25" name="AutoShape 15"/>
              <p:cNvSpPr/>
              <p:nvPr/>
            </p:nvSpPr>
            <p:spPr bwMode="auto">
              <a:xfrm>
                <a:off x="4544013" y="1457357"/>
                <a:ext cx="86179" cy="548257"/>
              </a:xfrm>
              <a:prstGeom prst="leftBrace">
                <a:avLst>
                  <a:gd name="adj1" fmla="val 5205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26" name="Text Box 16"/>
              <p:cNvSpPr txBox="1">
                <a:spLocks noChangeArrowheads="1"/>
              </p:cNvSpPr>
              <p:nvPr/>
            </p:nvSpPr>
            <p:spPr bwMode="auto">
              <a:xfrm>
                <a:off x="4115245" y="1596047"/>
                <a:ext cx="426743"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dirty="0">
                    <a:latin typeface="微软雅黑" panose="020B0503020204020204" charset="-122"/>
                    <a:ea typeface="微软雅黑" panose="020B0503020204020204" charset="-122"/>
                  </a:rPr>
                  <a:t>RTT</a:t>
                </a:r>
                <a:endParaRPr lang="en-US" altLang="zh-CN" sz="1685" b="1" dirty="0">
                  <a:latin typeface="微软雅黑" panose="020B0503020204020204" charset="-122"/>
                  <a:ea typeface="微软雅黑" panose="020B0503020204020204" charset="-122"/>
                </a:endParaRPr>
              </a:p>
            </p:txBody>
          </p:sp>
          <p:sp>
            <p:nvSpPr>
              <p:cNvPr id="27" name="AutoShape 18"/>
              <p:cNvSpPr/>
              <p:nvPr/>
            </p:nvSpPr>
            <p:spPr bwMode="auto">
              <a:xfrm>
                <a:off x="4548268" y="2078210"/>
                <a:ext cx="86179" cy="548257"/>
              </a:xfrm>
              <a:prstGeom prst="leftBrace">
                <a:avLst>
                  <a:gd name="adj1" fmla="val 5205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28" name="Text Box 19"/>
              <p:cNvSpPr txBox="1">
                <a:spLocks noChangeArrowheads="1"/>
              </p:cNvSpPr>
              <p:nvPr/>
            </p:nvSpPr>
            <p:spPr bwMode="auto">
              <a:xfrm>
                <a:off x="4128013" y="2225568"/>
                <a:ext cx="426743"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a:latin typeface="微软雅黑" panose="020B0503020204020204" charset="-122"/>
                    <a:ea typeface="微软雅黑" panose="020B0503020204020204" charset="-122"/>
                  </a:rPr>
                  <a:t>RTT</a:t>
                </a:r>
                <a:endParaRPr lang="en-US" altLang="zh-CN" sz="1685" b="1">
                  <a:latin typeface="微软雅黑" panose="020B0503020204020204" charset="-122"/>
                  <a:ea typeface="微软雅黑" panose="020B0503020204020204" charset="-122"/>
                </a:endParaRPr>
              </a:p>
            </p:txBody>
          </p:sp>
          <p:sp>
            <p:nvSpPr>
              <p:cNvPr id="29" name="Line 20"/>
              <p:cNvSpPr>
                <a:spLocks noChangeShapeType="1"/>
              </p:cNvSpPr>
              <p:nvPr/>
            </p:nvSpPr>
            <p:spPr bwMode="auto">
              <a:xfrm flipH="1">
                <a:off x="4494007" y="2733070"/>
                <a:ext cx="229811" cy="10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0" name="Line 23"/>
              <p:cNvSpPr>
                <a:spLocks noChangeShapeType="1"/>
              </p:cNvSpPr>
              <p:nvPr/>
            </p:nvSpPr>
            <p:spPr bwMode="auto">
              <a:xfrm flipH="1">
                <a:off x="4480176" y="2077126"/>
                <a:ext cx="229811" cy="10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grpSp>
      <p:grpSp>
        <p:nvGrpSpPr>
          <p:cNvPr id="53" name="组合 52"/>
          <p:cNvGrpSpPr/>
          <p:nvPr/>
        </p:nvGrpSpPr>
        <p:grpSpPr>
          <a:xfrm>
            <a:off x="7387907" y="5986629"/>
            <a:ext cx="95751" cy="384979"/>
            <a:chOff x="5253660" y="4257392"/>
            <a:chExt cx="68093" cy="273778"/>
          </a:xfrm>
        </p:grpSpPr>
        <p:sp>
          <p:nvSpPr>
            <p:cNvPr id="37" name="Oval 30"/>
            <p:cNvSpPr>
              <a:spLocks noChangeArrowheads="1"/>
            </p:cNvSpPr>
            <p:nvPr/>
          </p:nvSpPr>
          <p:spPr bwMode="auto">
            <a:xfrm>
              <a:off x="5262172" y="4257392"/>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8" name="Oval 31"/>
            <p:cNvSpPr>
              <a:spLocks noChangeArrowheads="1"/>
            </p:cNvSpPr>
            <p:nvPr/>
          </p:nvSpPr>
          <p:spPr bwMode="auto">
            <a:xfrm>
              <a:off x="5257916" y="4364484"/>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9" name="Oval 32"/>
            <p:cNvSpPr>
              <a:spLocks noChangeArrowheads="1"/>
            </p:cNvSpPr>
            <p:nvPr/>
          </p:nvSpPr>
          <p:spPr bwMode="auto">
            <a:xfrm>
              <a:off x="5253660" y="4470493"/>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grpSp>
        <p:nvGrpSpPr>
          <p:cNvPr id="51" name="组合 50"/>
          <p:cNvGrpSpPr/>
          <p:nvPr/>
        </p:nvGrpSpPr>
        <p:grpSpPr>
          <a:xfrm>
            <a:off x="4725867" y="3865838"/>
            <a:ext cx="4988596" cy="2080797"/>
            <a:chOff x="3360550" y="2749191"/>
            <a:chExt cx="3547641" cy="1479759"/>
          </a:xfrm>
        </p:grpSpPr>
        <p:grpSp>
          <p:nvGrpSpPr>
            <p:cNvPr id="4" name="组合 3"/>
            <p:cNvGrpSpPr/>
            <p:nvPr/>
          </p:nvGrpSpPr>
          <p:grpSpPr>
            <a:xfrm>
              <a:off x="3751375" y="2885392"/>
              <a:ext cx="3156816" cy="1343558"/>
              <a:chOff x="3751375" y="2841002"/>
              <a:chExt cx="3156816" cy="1343558"/>
            </a:xfrm>
          </p:grpSpPr>
          <p:sp>
            <p:nvSpPr>
              <p:cNvPr id="22" name="Line 22"/>
              <p:cNvSpPr>
                <a:spLocks noChangeShapeType="1"/>
              </p:cNvSpPr>
              <p:nvPr/>
            </p:nvSpPr>
            <p:spPr bwMode="auto">
              <a:xfrm>
                <a:off x="4723818" y="2843169"/>
                <a:ext cx="1128840" cy="266544"/>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1" name="Line 24"/>
              <p:cNvSpPr>
                <a:spLocks noChangeShapeType="1"/>
              </p:cNvSpPr>
              <p:nvPr/>
            </p:nvSpPr>
            <p:spPr bwMode="auto">
              <a:xfrm flipH="1">
                <a:off x="4695092" y="3143302"/>
                <a:ext cx="1121392" cy="275212"/>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2" name="Line 25"/>
              <p:cNvSpPr>
                <a:spLocks noChangeShapeType="1"/>
              </p:cNvSpPr>
              <p:nvPr/>
            </p:nvSpPr>
            <p:spPr bwMode="auto">
              <a:xfrm>
                <a:off x="4716371" y="3466188"/>
                <a:ext cx="1128840" cy="266544"/>
              </a:xfrm>
              <a:prstGeom prst="line">
                <a:avLst/>
              </a:prstGeom>
              <a:noFill/>
              <a:ln w="19050">
                <a:solidFill>
                  <a:srgbClr val="99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3" name="Line 26"/>
              <p:cNvSpPr>
                <a:spLocks noChangeShapeType="1"/>
              </p:cNvSpPr>
              <p:nvPr/>
            </p:nvSpPr>
            <p:spPr bwMode="auto">
              <a:xfrm flipH="1">
                <a:off x="4704667" y="3785824"/>
                <a:ext cx="1121392" cy="258960"/>
              </a:xfrm>
              <a:prstGeom prst="line">
                <a:avLst/>
              </a:prstGeom>
              <a:noFill/>
              <a:ln w="127000">
                <a:solidFill>
                  <a:srgbClr val="00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34" name="Text Box 27"/>
              <p:cNvSpPr txBox="1">
                <a:spLocks noChangeArrowheads="1"/>
              </p:cNvSpPr>
              <p:nvPr/>
            </p:nvSpPr>
            <p:spPr bwMode="auto">
              <a:xfrm>
                <a:off x="4741906" y="3285853"/>
                <a:ext cx="1078833" cy="43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C00000"/>
                    </a:solidFill>
                    <a:latin typeface="微软雅黑" panose="020B0503020204020204" charset="-122"/>
                    <a:ea typeface="微软雅黑" panose="020B0503020204020204" charset="-122"/>
                  </a:defRPr>
                </a:lvl1pPr>
                <a:lvl2pPr marL="742950" indent="-285750">
                  <a:defRPr>
                    <a:latin typeface="Tahoma" panose="020B0604030504040204" pitchFamily="34" charset="0"/>
                    <a:ea typeface="黑体" panose="02010609060101010101" pitchFamily="49" charset="-122"/>
                  </a:defRPr>
                </a:lvl2pPr>
                <a:lvl3pPr marL="1143000" indent="-228600">
                  <a:defRPr>
                    <a:latin typeface="Tahoma" panose="020B0604030504040204" pitchFamily="34" charset="0"/>
                    <a:ea typeface="黑体" panose="02010609060101010101" pitchFamily="49" charset="-122"/>
                  </a:defRPr>
                </a:lvl3pPr>
                <a:lvl4pPr marL="1600200" indent="-228600">
                  <a:defRPr>
                    <a:latin typeface="Tahoma" panose="020B0604030504040204" pitchFamily="34" charset="0"/>
                    <a:ea typeface="黑体" panose="02010609060101010101" pitchFamily="49" charset="-122"/>
                  </a:defRPr>
                </a:lvl4pPr>
                <a:lvl5pPr marL="2057400" indent="-228600">
                  <a:defRPr>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latin typeface="Tahoma" panose="020B0604030504040204" pitchFamily="34" charset="0"/>
                    <a:ea typeface="黑体" panose="02010609060101010101" pitchFamily="49" charset="-122"/>
                  </a:defRPr>
                </a:lvl9pPr>
              </a:lstStyle>
              <a:p>
                <a:r>
                  <a:rPr lang="en-US" altLang="zh-CN" sz="1685" dirty="0"/>
                  <a:t>GET page1.jpg</a:t>
                </a:r>
                <a:endParaRPr lang="en-US" altLang="zh-CN" sz="1685" dirty="0"/>
              </a:p>
            </p:txBody>
          </p:sp>
          <p:sp>
            <p:nvSpPr>
              <p:cNvPr id="35" name="Text Box 28"/>
              <p:cNvSpPr txBox="1">
                <a:spLocks noChangeArrowheads="1"/>
              </p:cNvSpPr>
              <p:nvPr/>
            </p:nvSpPr>
            <p:spPr bwMode="auto">
              <a:xfrm>
                <a:off x="5902121" y="3550702"/>
                <a:ext cx="1006070" cy="61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charset="-122"/>
                    <a:ea typeface="微软雅黑" panose="020B0503020204020204" charset="-122"/>
                  </a:defRPr>
                </a:lvl1pPr>
                <a:lvl2pPr marL="742950" indent="-285750">
                  <a:defRPr>
                    <a:latin typeface="Tahoma" panose="020B0604030504040204" pitchFamily="34" charset="0"/>
                    <a:ea typeface="黑体" panose="02010609060101010101" pitchFamily="49" charset="-122"/>
                  </a:defRPr>
                </a:lvl2pPr>
                <a:lvl3pPr marL="1143000" indent="-228600">
                  <a:defRPr>
                    <a:latin typeface="Tahoma" panose="020B0604030504040204" pitchFamily="34" charset="0"/>
                    <a:ea typeface="黑体" panose="02010609060101010101" pitchFamily="49" charset="-122"/>
                  </a:defRPr>
                </a:lvl3pPr>
                <a:lvl4pPr marL="1600200" indent="-228600">
                  <a:defRPr>
                    <a:latin typeface="Tahoma" panose="020B0604030504040204" pitchFamily="34" charset="0"/>
                    <a:ea typeface="黑体" panose="02010609060101010101" pitchFamily="49" charset="-122"/>
                  </a:defRPr>
                </a:lvl4pPr>
                <a:lvl5pPr marL="2057400" indent="-228600">
                  <a:defRPr>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latin typeface="Tahoma" panose="020B0604030504040204" pitchFamily="34" charset="0"/>
                    <a:ea typeface="黑体" panose="02010609060101010101" pitchFamily="49" charset="-122"/>
                  </a:defRPr>
                </a:lvl9pPr>
              </a:lstStyle>
              <a:p>
                <a:r>
                  <a:rPr lang="zh-CN" altLang="en-US" sz="1685" dirty="0" smtClean="0"/>
                  <a:t>传输 </a:t>
                </a:r>
                <a:r>
                  <a:rPr lang="en-US" altLang="zh-CN" sz="1685" dirty="0" smtClean="0"/>
                  <a:t>page1.jpg</a:t>
                </a:r>
                <a:endParaRPr lang="en-US" altLang="zh-CN" sz="1685" dirty="0"/>
              </a:p>
              <a:p>
                <a:r>
                  <a:rPr lang="zh-CN" altLang="en-US" sz="1685" dirty="0"/>
                  <a:t>的时间</a:t>
                </a:r>
                <a:endParaRPr lang="zh-CN" altLang="en-US" sz="1685" dirty="0"/>
              </a:p>
            </p:txBody>
          </p:sp>
          <p:sp>
            <p:nvSpPr>
              <p:cNvPr id="36" name="AutoShape 29"/>
              <p:cNvSpPr/>
              <p:nvPr/>
            </p:nvSpPr>
            <p:spPr bwMode="auto">
              <a:xfrm>
                <a:off x="5875001" y="3735982"/>
                <a:ext cx="50005" cy="124604"/>
              </a:xfrm>
              <a:prstGeom prst="rightBrace">
                <a:avLst>
                  <a:gd name="adj1" fmla="val 2039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1" name="Line 13"/>
              <p:cNvSpPr>
                <a:spLocks noChangeShapeType="1"/>
              </p:cNvSpPr>
              <p:nvPr/>
            </p:nvSpPr>
            <p:spPr bwMode="auto">
              <a:xfrm>
                <a:off x="4453578" y="2841002"/>
                <a:ext cx="261729" cy="10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2" name="AutoShape 15"/>
              <p:cNvSpPr/>
              <p:nvPr/>
            </p:nvSpPr>
            <p:spPr bwMode="auto">
              <a:xfrm>
                <a:off x="4544013" y="2875659"/>
                <a:ext cx="86179" cy="548017"/>
              </a:xfrm>
              <a:prstGeom prst="leftBrace">
                <a:avLst>
                  <a:gd name="adj1" fmla="val 5205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3" name="Text Box 16"/>
              <p:cNvSpPr txBox="1">
                <a:spLocks noChangeArrowheads="1"/>
              </p:cNvSpPr>
              <p:nvPr/>
            </p:nvSpPr>
            <p:spPr bwMode="auto">
              <a:xfrm>
                <a:off x="4115245" y="3014288"/>
                <a:ext cx="426743"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a:latin typeface="微软雅黑" panose="020B0503020204020204" charset="-122"/>
                    <a:ea typeface="微软雅黑" panose="020B0503020204020204" charset="-122"/>
                  </a:rPr>
                  <a:t>RTT</a:t>
                </a:r>
                <a:endParaRPr lang="en-US" altLang="zh-CN" sz="1685" b="1">
                  <a:latin typeface="微软雅黑" panose="020B0503020204020204" charset="-122"/>
                  <a:ea typeface="微软雅黑" panose="020B0503020204020204" charset="-122"/>
                </a:endParaRPr>
              </a:p>
            </p:txBody>
          </p:sp>
          <p:sp>
            <p:nvSpPr>
              <p:cNvPr id="44" name="AutoShape 18"/>
              <p:cNvSpPr/>
              <p:nvPr/>
            </p:nvSpPr>
            <p:spPr bwMode="auto">
              <a:xfrm>
                <a:off x="4548268" y="3444768"/>
                <a:ext cx="86179" cy="548017"/>
              </a:xfrm>
              <a:prstGeom prst="leftBrace">
                <a:avLst>
                  <a:gd name="adj1" fmla="val 5205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5" name="Text Box 19"/>
              <p:cNvSpPr txBox="1">
                <a:spLocks noChangeArrowheads="1"/>
              </p:cNvSpPr>
              <p:nvPr/>
            </p:nvSpPr>
            <p:spPr bwMode="auto">
              <a:xfrm>
                <a:off x="4128013" y="3592061"/>
                <a:ext cx="426743"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a:latin typeface="微软雅黑" panose="020B0503020204020204" charset="-122"/>
                    <a:ea typeface="微软雅黑" panose="020B0503020204020204" charset="-122"/>
                  </a:rPr>
                  <a:t>RTT</a:t>
                </a:r>
                <a:endParaRPr lang="en-US" altLang="zh-CN" sz="1685" b="1">
                  <a:latin typeface="微软雅黑" panose="020B0503020204020204" charset="-122"/>
                  <a:ea typeface="微软雅黑" panose="020B0503020204020204" charset="-122"/>
                </a:endParaRPr>
              </a:p>
            </p:txBody>
          </p:sp>
          <p:sp>
            <p:nvSpPr>
              <p:cNvPr id="47" name="Line 23"/>
              <p:cNvSpPr>
                <a:spLocks noChangeShapeType="1"/>
              </p:cNvSpPr>
              <p:nvPr/>
            </p:nvSpPr>
            <p:spPr bwMode="auto">
              <a:xfrm flipH="1">
                <a:off x="4480176" y="3443685"/>
                <a:ext cx="229811" cy="10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8" name="Text Box 21"/>
              <p:cNvSpPr txBox="1">
                <a:spLocks noChangeArrowheads="1"/>
              </p:cNvSpPr>
              <p:nvPr/>
            </p:nvSpPr>
            <p:spPr bwMode="auto">
              <a:xfrm>
                <a:off x="3751375" y="3935288"/>
                <a:ext cx="793702"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charset="-122"/>
                    <a:ea typeface="微软雅黑" panose="020B0503020204020204" charset="-122"/>
                  </a:defRPr>
                </a:lvl1pPr>
                <a:lvl2pPr marL="742950" indent="-285750">
                  <a:defRPr>
                    <a:latin typeface="Tahoma" panose="020B0604030504040204" pitchFamily="34" charset="0"/>
                    <a:ea typeface="黑体" panose="02010609060101010101" pitchFamily="49" charset="-122"/>
                  </a:defRPr>
                </a:lvl2pPr>
                <a:lvl3pPr marL="1143000" indent="-228600">
                  <a:defRPr>
                    <a:latin typeface="Tahoma" panose="020B0604030504040204" pitchFamily="34" charset="0"/>
                    <a:ea typeface="黑体" panose="02010609060101010101" pitchFamily="49" charset="-122"/>
                  </a:defRPr>
                </a:lvl3pPr>
                <a:lvl4pPr marL="1600200" indent="-228600">
                  <a:defRPr>
                    <a:latin typeface="Tahoma" panose="020B0604030504040204" pitchFamily="34" charset="0"/>
                    <a:ea typeface="黑体" panose="02010609060101010101" pitchFamily="49" charset="-122"/>
                  </a:defRPr>
                </a:lvl4pPr>
                <a:lvl5pPr marL="2057400" indent="-228600">
                  <a:defRPr>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latin typeface="Tahoma" panose="020B0604030504040204" pitchFamily="34" charset="0"/>
                    <a:ea typeface="黑体" panose="02010609060101010101" pitchFamily="49" charset="-122"/>
                  </a:defRPr>
                </a:lvl9pPr>
              </a:lstStyle>
              <a:p>
                <a:r>
                  <a:rPr lang="zh-CN" altLang="en-US" sz="1685" dirty="0" smtClean="0"/>
                  <a:t>收到</a:t>
                </a:r>
                <a:r>
                  <a:rPr lang="zh-CN" altLang="en-US" sz="1685" dirty="0"/>
                  <a:t>文档</a:t>
                </a:r>
                <a:endParaRPr lang="zh-CN" altLang="en-US" sz="1685" dirty="0"/>
              </a:p>
            </p:txBody>
          </p:sp>
          <p:sp>
            <p:nvSpPr>
              <p:cNvPr id="49" name="Line 20"/>
              <p:cNvSpPr>
                <a:spLocks noChangeShapeType="1"/>
              </p:cNvSpPr>
              <p:nvPr/>
            </p:nvSpPr>
            <p:spPr bwMode="auto">
              <a:xfrm flipH="1">
                <a:off x="4494007" y="4100611"/>
                <a:ext cx="229811" cy="10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sp>
          <p:nvSpPr>
            <p:cNvPr id="50" name="Text Box 14"/>
            <p:cNvSpPr txBox="1">
              <a:spLocks noChangeArrowheads="1"/>
            </p:cNvSpPr>
            <p:nvPr/>
          </p:nvSpPr>
          <p:spPr bwMode="auto">
            <a:xfrm>
              <a:off x="3360550" y="2749191"/>
              <a:ext cx="1188479"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a:solidFill>
                    <a:srgbClr val="0000CC"/>
                  </a:solidFill>
                  <a:latin typeface="微软雅黑" panose="020B0503020204020204" charset="-122"/>
                  <a:ea typeface="微软雅黑" panose="020B0503020204020204" charset="-122"/>
                </a:rPr>
                <a:t>发起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grpSp>
      <p:sp>
        <p:nvSpPr>
          <p:cNvPr id="54" name="Rectangle 6"/>
          <p:cNvSpPr>
            <a:spLocks noChangeArrowheads="1"/>
          </p:cNvSpPr>
          <p:nvPr/>
        </p:nvSpPr>
        <p:spPr bwMode="auto">
          <a:xfrm>
            <a:off x="7535674" y="1429491"/>
            <a:ext cx="154178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万维网服务器</a:t>
            </a:r>
            <a:endParaRPr kumimoji="1" lang="zh-CN" altLang="en-US" sz="1685" b="1" dirty="0">
              <a:latin typeface="微软雅黑" panose="020B0503020204020204" charset="-122"/>
              <a:ea typeface="微软雅黑" panose="020B0503020204020204" charset="-122"/>
            </a:endParaRPr>
          </a:p>
        </p:txBody>
      </p:sp>
      <p:sp>
        <p:nvSpPr>
          <p:cNvPr id="55" name="Rectangle 7"/>
          <p:cNvSpPr>
            <a:spLocks noChangeArrowheads="1"/>
          </p:cNvSpPr>
          <p:nvPr/>
        </p:nvSpPr>
        <p:spPr bwMode="auto">
          <a:xfrm>
            <a:off x="5961420" y="1429491"/>
            <a:ext cx="132715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万维网客户</a:t>
            </a:r>
            <a:endParaRPr kumimoji="1" lang="zh-CN" altLang="en-US" sz="1685" b="1" dirty="0">
              <a:latin typeface="微软雅黑" panose="020B0503020204020204" charset="-122"/>
              <a:ea typeface="微软雅黑" panose="020B0503020204020204" charset="-122"/>
            </a:endParaRPr>
          </a:p>
        </p:txBody>
      </p:sp>
      <p:sp>
        <p:nvSpPr>
          <p:cNvPr id="56" name="矩形 55"/>
          <p:cNvSpPr/>
          <p:nvPr/>
        </p:nvSpPr>
        <p:spPr>
          <a:xfrm>
            <a:off x="9602651" y="4572662"/>
            <a:ext cx="2960891" cy="860425"/>
          </a:xfrm>
          <a:prstGeom prst="rect">
            <a:avLst/>
          </a:prstGeom>
          <a:solidFill>
            <a:srgbClr val="FFFF99"/>
          </a:solidFill>
        </p:spPr>
        <p:txBody>
          <a:bodyPr wrap="square">
            <a:spAutoFit/>
          </a:bodyPr>
          <a:lstStyle/>
          <a:p>
            <a:pPr>
              <a:lnSpc>
                <a:spcPts val="2000"/>
              </a:lnSpc>
            </a:pPr>
            <a:r>
              <a:rPr lang="zh-CN" altLang="en-US" sz="1970" b="1" dirty="0">
                <a:latin typeface="微软雅黑" panose="020B0503020204020204" charset="-122"/>
                <a:ea typeface="微软雅黑" panose="020B0503020204020204" charset="-122"/>
              </a:rPr>
              <a:t>所需的</a:t>
            </a:r>
            <a:r>
              <a:rPr lang="zh-CN" altLang="en-US" sz="1970" b="1" dirty="0" smtClean="0">
                <a:latin typeface="微软雅黑" panose="020B0503020204020204" charset="-122"/>
                <a:ea typeface="微软雅黑" panose="020B0503020204020204" charset="-122"/>
              </a:rPr>
              <a:t>时间 </a:t>
            </a:r>
            <a:r>
              <a:rPr lang="en-US" altLang="zh-CN" sz="1970" b="1" dirty="0">
                <a:latin typeface="微软雅黑" panose="020B0503020204020204" charset="-122"/>
                <a:ea typeface="微软雅黑" panose="020B0503020204020204" charset="-122"/>
              </a:rPr>
              <a:t>&gt;</a:t>
            </a:r>
            <a:r>
              <a:rPr lang="en-US" altLang="zh-CN" sz="1970" b="1" dirty="0" smtClean="0">
                <a:latin typeface="微软雅黑" panose="020B0503020204020204" charset="-122"/>
                <a:ea typeface="微软雅黑" panose="020B0503020204020204" charset="-122"/>
              </a:rPr>
              <a: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22 RTT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+ 11 </a:t>
            </a:r>
            <a:r>
              <a:rPr lang="zh-CN" altLang="en-US" sz="1970" b="1" dirty="0" smtClean="0">
                <a:latin typeface="微软雅黑" panose="020B0503020204020204" charset="-122"/>
                <a:ea typeface="微软雅黑" panose="020B0503020204020204" charset="-122"/>
              </a:rPr>
              <a:t>个文档</a:t>
            </a:r>
            <a:r>
              <a:rPr lang="zh-CN" altLang="en-US" sz="1970" b="1" dirty="0">
                <a:latin typeface="微软雅黑" panose="020B0503020204020204" charset="-122"/>
                <a:ea typeface="微软雅黑" panose="020B0503020204020204" charset="-122"/>
              </a:rPr>
              <a:t>的传输时间</a:t>
            </a:r>
            <a:endParaRPr lang="zh-CN" altLang="en-US" sz="197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up)">
                                      <p:cBhvr>
                                        <p:cTn id="7" dur="10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up)">
                                      <p:cBhvr>
                                        <p:cTn id="12" dur="1000"/>
                                        <p:tgtEl>
                                          <p:spTgt spid="51"/>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wipe(up)">
                                      <p:cBhvr>
                                        <p:cTn id="16" dur="1000"/>
                                        <p:tgtEl>
                                          <p:spTgt spid="5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8"/>
          <p:cNvSpPr>
            <a:spLocks noChangeArrowheads="1"/>
          </p:cNvSpPr>
          <p:nvPr/>
        </p:nvSpPr>
        <p:spPr bwMode="auto">
          <a:xfrm>
            <a:off x="783539" y="1296157"/>
            <a:ext cx="11317970" cy="33997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eaLnBrk="0" hangingPunct="0">
              <a:lnSpc>
                <a:spcPts val="3300"/>
              </a:lnSpc>
              <a:buClr>
                <a:srgbClr val="0070C0"/>
              </a:buClr>
              <a:buFont typeface="Wingdings" panose="05000000000000000000" pitchFamily="2" charset="2"/>
              <a:buChar char="l"/>
            </a:pPr>
            <a:r>
              <a:rPr lang="zh-CN" altLang="en-US" sz="2810" b="1" dirty="0">
                <a:solidFill>
                  <a:srgbClr val="C00000"/>
                </a:solidFill>
                <a:latin typeface="微软雅黑" panose="020B0503020204020204" charset="-122"/>
                <a:ea typeface="微软雅黑" panose="020B0503020204020204" charset="-122"/>
              </a:rPr>
              <a:t>持续</a:t>
            </a:r>
            <a:r>
              <a:rPr lang="zh-CN" altLang="en-US" sz="2810" b="1" dirty="0" smtClean="0">
                <a:solidFill>
                  <a:srgbClr val="C00000"/>
                </a:solidFill>
                <a:latin typeface="微软雅黑" panose="020B0503020204020204" charset="-122"/>
                <a:ea typeface="微软雅黑" panose="020B0503020204020204" charset="-122"/>
              </a:rPr>
              <a:t>连接</a:t>
            </a:r>
            <a:r>
              <a:rPr lang="zh-CN" altLang="en-US" sz="2810" b="1" dirty="0" smtClean="0">
                <a:latin typeface="微软雅黑" panose="020B0503020204020204" charset="-122"/>
                <a:ea typeface="微软雅黑" panose="020B0503020204020204" charset="-122"/>
              </a:rPr>
              <a:t>（</a:t>
            </a:r>
            <a:r>
              <a:rPr lang="en-US" altLang="zh-CN" sz="2810" b="1" dirty="0">
                <a:latin typeface="微软雅黑" panose="020B0503020204020204" charset="-122"/>
                <a:ea typeface="微软雅黑" panose="020B0503020204020204" charset="-122"/>
              </a:rPr>
              <a:t>persistent connection</a:t>
            </a:r>
            <a:r>
              <a:rPr lang="zh-CN" altLang="en-US" sz="2810" b="1" dirty="0" smtClean="0">
                <a:latin typeface="微软雅黑" panose="020B0503020204020204" charset="-122"/>
                <a:ea typeface="微软雅黑" panose="020B0503020204020204" charset="-122"/>
              </a:rPr>
              <a:t>）：服务器</a:t>
            </a:r>
            <a:r>
              <a:rPr lang="zh-CN" altLang="en-US" sz="2810" b="1" dirty="0">
                <a:latin typeface="微软雅黑" panose="020B0503020204020204" charset="-122"/>
                <a:ea typeface="微软雅黑" panose="020B0503020204020204" charset="-122"/>
              </a:rPr>
              <a:t>在发送响应后仍然在一段时间内</a:t>
            </a:r>
            <a:r>
              <a:rPr lang="zh-CN" altLang="en-US" sz="2810" b="1" dirty="0">
                <a:solidFill>
                  <a:srgbClr val="0000FF"/>
                </a:solidFill>
                <a:latin typeface="微软雅黑" panose="020B0503020204020204" charset="-122"/>
                <a:ea typeface="微软雅黑" panose="020B0503020204020204" charset="-122"/>
              </a:rPr>
              <a:t>保持</a:t>
            </a:r>
            <a:r>
              <a:rPr lang="zh-CN" altLang="en-US" sz="2810" b="1" dirty="0">
                <a:latin typeface="微软雅黑" panose="020B0503020204020204" charset="-122"/>
                <a:ea typeface="微软雅黑" panose="020B0503020204020204" charset="-122"/>
              </a:rPr>
              <a:t>这条</a:t>
            </a:r>
            <a:r>
              <a:rPr lang="zh-CN" altLang="en-US" sz="2810" b="1" dirty="0" smtClean="0">
                <a:latin typeface="微软雅黑" panose="020B0503020204020204" charset="-122"/>
                <a:ea typeface="微软雅黑" panose="020B0503020204020204" charset="-122"/>
              </a:rPr>
              <a:t>连接（不释放），</a:t>
            </a:r>
            <a:r>
              <a:rPr lang="zh-CN" altLang="en-US" sz="2810" b="1" dirty="0">
                <a:latin typeface="微软雅黑" panose="020B0503020204020204" charset="-122"/>
                <a:ea typeface="微软雅黑" panose="020B0503020204020204" charset="-122"/>
              </a:rPr>
              <a:t>使同一个客户（浏览器）和该服务器可以继续在这条连接上传送后续</a:t>
            </a:r>
            <a:r>
              <a:rPr lang="zh-CN" altLang="en-US" sz="2810" b="1" dirty="0" smtClean="0">
                <a:latin typeface="微软雅黑" panose="020B0503020204020204" charset="-122"/>
                <a:ea typeface="微软雅黑" panose="020B0503020204020204" charset="-122"/>
              </a:rPr>
              <a:t>的 </a:t>
            </a:r>
            <a:r>
              <a:rPr lang="en-US" altLang="zh-CN" sz="2810" b="1" dirty="0" smtClean="0">
                <a:latin typeface="微软雅黑" panose="020B0503020204020204" charset="-122"/>
                <a:ea typeface="微软雅黑" panose="020B0503020204020204" charset="-122"/>
              </a:rPr>
              <a:t>HTTP </a:t>
            </a:r>
            <a:r>
              <a:rPr lang="zh-CN" altLang="en-US" sz="2810" b="1" dirty="0" smtClean="0">
                <a:latin typeface="微软雅黑" panose="020B0503020204020204" charset="-122"/>
                <a:ea typeface="微软雅黑" panose="020B0503020204020204" charset="-122"/>
              </a:rPr>
              <a:t>请求</a:t>
            </a:r>
            <a:r>
              <a:rPr lang="zh-CN" altLang="en-US" sz="2810" b="1" dirty="0">
                <a:latin typeface="微软雅黑" panose="020B0503020204020204" charset="-122"/>
                <a:ea typeface="微软雅黑" panose="020B0503020204020204" charset="-122"/>
              </a:rPr>
              <a:t>报文和响应报文</a:t>
            </a:r>
            <a:r>
              <a:rPr lang="zh-CN" altLang="en-US" sz="2810" b="1" dirty="0" smtClean="0">
                <a:latin typeface="微软雅黑" panose="020B0503020204020204" charset="-122"/>
                <a:ea typeface="微软雅黑" panose="020B0503020204020204" charset="-122"/>
              </a:rPr>
              <a:t>。</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smtClean="0">
                <a:latin typeface="微软雅黑" panose="020B0503020204020204" charset="-122"/>
                <a:ea typeface="微软雅黑" panose="020B0503020204020204" charset="-122"/>
              </a:rPr>
              <a:t>只要文档</a:t>
            </a:r>
            <a:r>
              <a:rPr lang="zh-CN" altLang="en-US" sz="2810" b="1" dirty="0">
                <a:latin typeface="微软雅黑" panose="020B0503020204020204" charset="-122"/>
                <a:ea typeface="微软雅黑" panose="020B0503020204020204" charset="-122"/>
              </a:rPr>
              <a:t>都在同一个服务器</a:t>
            </a:r>
            <a:r>
              <a:rPr lang="zh-CN" altLang="en-US" sz="2810" b="1" dirty="0" smtClean="0">
                <a:latin typeface="微软雅黑" panose="020B0503020204020204" charset="-122"/>
                <a:ea typeface="微软雅黑" panose="020B0503020204020204" charset="-122"/>
              </a:rPr>
              <a:t>上，就可以继续使用该 </a:t>
            </a:r>
            <a:r>
              <a:rPr lang="en-US" altLang="zh-CN" sz="2810" b="1" dirty="0" smtClean="0">
                <a:latin typeface="微软雅黑" panose="020B0503020204020204" charset="-122"/>
                <a:ea typeface="微软雅黑" panose="020B0503020204020204" charset="-122"/>
              </a:rPr>
              <a:t>TCP </a:t>
            </a:r>
            <a:r>
              <a:rPr lang="zh-CN" altLang="en-US" sz="2810" b="1" dirty="0" smtClean="0">
                <a:latin typeface="微软雅黑" panose="020B0503020204020204" charset="-122"/>
                <a:ea typeface="微软雅黑" panose="020B0503020204020204" charset="-122"/>
              </a:rPr>
              <a:t>连接。</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a:solidFill>
                  <a:srgbClr val="0000FF"/>
                </a:solidFill>
                <a:latin typeface="微软雅黑" panose="020B0503020204020204" charset="-122"/>
                <a:ea typeface="微软雅黑" panose="020B0503020204020204" charset="-122"/>
              </a:rPr>
              <a:t>两种工作</a:t>
            </a:r>
            <a:r>
              <a:rPr lang="zh-CN" altLang="en-US" sz="2810" b="1" dirty="0" smtClean="0">
                <a:solidFill>
                  <a:srgbClr val="0000FF"/>
                </a:solidFill>
                <a:latin typeface="微软雅黑" panose="020B0503020204020204" charset="-122"/>
                <a:ea typeface="微软雅黑" panose="020B0503020204020204" charset="-122"/>
              </a:rPr>
              <a:t>方式：</a:t>
            </a:r>
            <a:endParaRPr lang="en-US" altLang="zh-CN" sz="2810" b="1" dirty="0" smtClean="0">
              <a:solidFill>
                <a:srgbClr val="0000FF"/>
              </a:solidFill>
              <a:latin typeface="微软雅黑" panose="020B0503020204020204" charset="-122"/>
              <a:ea typeface="微软雅黑" panose="020B0503020204020204" charset="-122"/>
            </a:endParaRPr>
          </a:p>
          <a:p>
            <a:pPr marL="631825" lvl="1" indent="-342900">
              <a:lnSpc>
                <a:spcPts val="3000"/>
              </a:lnSpc>
              <a:buClr>
                <a:srgbClr val="9900CC"/>
              </a:buClr>
              <a:buSzPct val="85000"/>
              <a:buFont typeface="Wingdings" panose="05000000000000000000" pitchFamily="2" charset="2"/>
              <a:buChar char="u"/>
            </a:pPr>
            <a:r>
              <a:rPr lang="zh-CN" altLang="en-US" sz="2810" b="1" dirty="0">
                <a:latin typeface="微软雅黑" panose="020B0503020204020204" charset="-122"/>
                <a:ea typeface="微软雅黑" panose="020B0503020204020204" charset="-122"/>
              </a:rPr>
              <a:t>非流水线方式 </a:t>
            </a:r>
            <a:r>
              <a:rPr lang="en-US" altLang="zh-CN" sz="2810" b="1" dirty="0">
                <a:latin typeface="微软雅黑" panose="020B0503020204020204" charset="-122"/>
                <a:ea typeface="微软雅黑" panose="020B0503020204020204" charset="-122"/>
              </a:rPr>
              <a:t>(without pipelining)</a:t>
            </a:r>
            <a:endParaRPr lang="en-US" altLang="zh-CN" sz="2810" b="1" dirty="0">
              <a:latin typeface="微软雅黑" panose="020B0503020204020204" charset="-122"/>
              <a:ea typeface="微软雅黑" panose="020B0503020204020204" charset="-122"/>
            </a:endParaRPr>
          </a:p>
          <a:p>
            <a:pPr marL="631825" lvl="1" indent="-342900">
              <a:lnSpc>
                <a:spcPts val="3000"/>
              </a:lnSpc>
              <a:buClr>
                <a:srgbClr val="9900CC"/>
              </a:buClr>
              <a:buSzPct val="85000"/>
              <a:buFont typeface="Wingdings" panose="05000000000000000000" pitchFamily="2" charset="2"/>
              <a:buChar char="u"/>
            </a:pPr>
            <a:r>
              <a:rPr lang="zh-CN" altLang="en-US" sz="2810" b="1" dirty="0">
                <a:latin typeface="微软雅黑" panose="020B0503020204020204" charset="-122"/>
                <a:ea typeface="微软雅黑" panose="020B0503020204020204" charset="-122"/>
              </a:rPr>
              <a:t>流水线方式 </a:t>
            </a:r>
            <a:r>
              <a:rPr lang="en-US" altLang="zh-CN" sz="2810" b="1" dirty="0">
                <a:latin typeface="微软雅黑" panose="020B0503020204020204" charset="-122"/>
                <a:ea typeface="微软雅黑" panose="020B0503020204020204" charset="-122"/>
              </a:rPr>
              <a:t>(with pipelining)</a:t>
            </a:r>
            <a:r>
              <a:rPr lang="zh-CN" altLang="en-US" sz="2810" b="1" dirty="0">
                <a:latin typeface="微软雅黑" panose="020B0503020204020204" charset="-122"/>
                <a:ea typeface="微软雅黑" panose="020B0503020204020204" charset="-122"/>
              </a:rPr>
              <a:t>。</a:t>
            </a:r>
            <a:endParaRPr lang="zh-CN" altLang="en-US" sz="2810" b="1" dirty="0">
              <a:latin typeface="微软雅黑" panose="020B0503020204020204" charset="-122"/>
              <a:ea typeface="微软雅黑" panose="020B0503020204020204" charset="-122"/>
            </a:endParaRPr>
          </a:p>
        </p:txBody>
      </p:sp>
      <p:sp>
        <p:nvSpPr>
          <p:cNvPr id="11" name="AutoShape 5"/>
          <p:cNvSpPr>
            <a:spLocks noChangeArrowheads="1"/>
          </p:cNvSpPr>
          <p:nvPr/>
        </p:nvSpPr>
        <p:spPr bwMode="auto">
          <a:xfrm>
            <a:off x="783539" y="866374"/>
            <a:ext cx="11317970" cy="434422"/>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530"/>
          </a:p>
        </p:txBody>
      </p:sp>
      <p:sp>
        <p:nvSpPr>
          <p:cNvPr id="12" name="矩形 11"/>
          <p:cNvSpPr/>
          <p:nvPr/>
        </p:nvSpPr>
        <p:spPr>
          <a:xfrm>
            <a:off x="907711" y="794119"/>
            <a:ext cx="4943475" cy="52324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10" b="1" dirty="0" smtClean="0">
                <a:latin typeface="微软雅黑" panose="020B0503020204020204" charset="-122"/>
                <a:ea typeface="微软雅黑" panose="020B0503020204020204" charset="-122"/>
              </a:rPr>
              <a:t>协议 </a:t>
            </a:r>
            <a:r>
              <a:rPr lang="en-US" altLang="zh-CN" sz="2810" b="1" dirty="0" smtClean="0">
                <a:latin typeface="微软雅黑" panose="020B0503020204020204" charset="-122"/>
                <a:ea typeface="微软雅黑" panose="020B0503020204020204" charset="-122"/>
              </a:rPr>
              <a:t>HTTP/1.1 </a:t>
            </a:r>
            <a:r>
              <a:rPr lang="zh-CN" altLang="en-US" sz="2810" b="1" dirty="0" smtClean="0">
                <a:latin typeface="微软雅黑" panose="020B0503020204020204" charset="-122"/>
                <a:ea typeface="微软雅黑" panose="020B0503020204020204" charset="-122"/>
              </a:rPr>
              <a:t>使用</a:t>
            </a:r>
            <a:r>
              <a:rPr lang="zh-CN" altLang="en-US" sz="2810" b="1" dirty="0" smtClean="0">
                <a:solidFill>
                  <a:srgbClr val="0000CC"/>
                </a:solidFill>
                <a:latin typeface="微软雅黑" panose="020B0503020204020204" charset="-122"/>
                <a:ea typeface="微软雅黑" panose="020B0503020204020204" charset="-122"/>
              </a:rPr>
              <a:t>持续连接</a:t>
            </a:r>
            <a:endParaRPr lang="zh-CN" altLang="en-US" sz="2810" b="1" dirty="0">
              <a:solidFill>
                <a:srgbClr val="0000CC"/>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8"/>
          <p:cNvSpPr>
            <a:spLocks noChangeArrowheads="1"/>
          </p:cNvSpPr>
          <p:nvPr/>
        </p:nvSpPr>
        <p:spPr bwMode="auto">
          <a:xfrm>
            <a:off x="783539" y="1296157"/>
            <a:ext cx="4282883" cy="2207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eaLnBrk="0" hangingPunct="0">
              <a:lnSpc>
                <a:spcPts val="3300"/>
              </a:lnSpc>
              <a:buClr>
                <a:srgbClr val="0070C0"/>
              </a:buClr>
              <a:buFont typeface="Wingdings" panose="05000000000000000000" pitchFamily="2" charset="2"/>
              <a:buChar char="l"/>
            </a:pPr>
            <a:r>
              <a:rPr lang="zh-CN" altLang="en-US" sz="2810" b="1" dirty="0">
                <a:latin typeface="微软雅黑" panose="020B0503020204020204" charset="-122"/>
                <a:ea typeface="微软雅黑" panose="020B0503020204020204" charset="-122"/>
              </a:rPr>
              <a:t>客户在收到前一个</a:t>
            </a:r>
            <a:r>
              <a:rPr lang="zh-CN" altLang="en-US" sz="2810" b="1" dirty="0" smtClean="0">
                <a:latin typeface="微软雅黑" panose="020B0503020204020204" charset="-122"/>
                <a:ea typeface="微软雅黑" panose="020B0503020204020204" charset="-122"/>
              </a:rPr>
              <a:t>响应</a:t>
            </a:r>
            <a:r>
              <a:rPr lang="zh-CN" altLang="en-US" sz="2810" b="1" dirty="0" smtClean="0">
                <a:solidFill>
                  <a:srgbClr val="C00000"/>
                </a:solidFill>
                <a:latin typeface="微软雅黑" panose="020B0503020204020204" charset="-122"/>
                <a:ea typeface="微软雅黑" panose="020B0503020204020204" charset="-122"/>
              </a:rPr>
              <a:t>之后</a:t>
            </a:r>
            <a:r>
              <a:rPr lang="zh-CN" altLang="en-US" sz="2810" b="1" dirty="0">
                <a:latin typeface="微软雅黑" panose="020B0503020204020204" charset="-122"/>
                <a:ea typeface="微软雅黑" panose="020B0503020204020204" charset="-122"/>
              </a:rPr>
              <a:t>才能发出下一个</a:t>
            </a:r>
            <a:r>
              <a:rPr lang="zh-CN" altLang="en-US" sz="2810" b="1" dirty="0" smtClean="0">
                <a:latin typeface="微软雅黑" panose="020B0503020204020204" charset="-122"/>
                <a:ea typeface="微软雅黑" panose="020B0503020204020204" charset="-122"/>
              </a:rPr>
              <a:t>请求。</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smtClean="0">
                <a:solidFill>
                  <a:srgbClr val="0000FF"/>
                </a:solidFill>
                <a:latin typeface="微软雅黑" panose="020B0503020204020204" charset="-122"/>
                <a:ea typeface="微软雅黑" panose="020B0503020204020204" charset="-122"/>
              </a:rPr>
              <a:t>缺点：</a:t>
            </a:r>
            <a:r>
              <a:rPr lang="en-US" altLang="zh-CN" sz="2810" b="1" dirty="0" smtClean="0">
                <a:latin typeface="微软雅黑" panose="020B0503020204020204" charset="-122"/>
                <a:ea typeface="微软雅黑" panose="020B0503020204020204" charset="-122"/>
              </a:rPr>
              <a:t>TCP </a:t>
            </a:r>
            <a:r>
              <a:rPr lang="zh-CN" altLang="en-US" sz="2810" b="1" dirty="0" smtClean="0">
                <a:latin typeface="微软雅黑" panose="020B0503020204020204" charset="-122"/>
                <a:ea typeface="微软雅黑" panose="020B0503020204020204" charset="-122"/>
              </a:rPr>
              <a:t>连接空闲状态。</a:t>
            </a:r>
            <a:endParaRPr lang="zh-CN" altLang="en-US" sz="2810" b="1" dirty="0">
              <a:latin typeface="微软雅黑" panose="020B0503020204020204" charset="-122"/>
              <a:ea typeface="微软雅黑" panose="020B0503020204020204" charset="-122"/>
            </a:endParaRPr>
          </a:p>
        </p:txBody>
      </p:sp>
      <p:sp>
        <p:nvSpPr>
          <p:cNvPr id="11" name="AutoShape 5"/>
          <p:cNvSpPr>
            <a:spLocks noChangeArrowheads="1"/>
          </p:cNvSpPr>
          <p:nvPr/>
        </p:nvSpPr>
        <p:spPr bwMode="auto">
          <a:xfrm>
            <a:off x="783539" y="866374"/>
            <a:ext cx="11317970" cy="434422"/>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530"/>
          </a:p>
        </p:txBody>
      </p:sp>
      <p:sp>
        <p:nvSpPr>
          <p:cNvPr id="12" name="矩形 11"/>
          <p:cNvSpPr/>
          <p:nvPr/>
        </p:nvSpPr>
        <p:spPr>
          <a:xfrm>
            <a:off x="907711" y="794119"/>
            <a:ext cx="4214495" cy="52324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10" b="1" dirty="0" smtClean="0">
                <a:latin typeface="微软雅黑" panose="020B0503020204020204" charset="-122"/>
                <a:ea typeface="微软雅黑" panose="020B0503020204020204" charset="-122"/>
              </a:rPr>
              <a:t>持续</a:t>
            </a:r>
            <a:r>
              <a:rPr lang="zh-CN" altLang="en-US" sz="2810" b="1" dirty="0">
                <a:latin typeface="微软雅黑" panose="020B0503020204020204" charset="-122"/>
                <a:ea typeface="微软雅黑" panose="020B0503020204020204" charset="-122"/>
              </a:rPr>
              <a:t>连接：非流水线方式 </a:t>
            </a:r>
            <a:endParaRPr lang="zh-CN" altLang="en-US" sz="2810" b="1" dirty="0">
              <a:latin typeface="微软雅黑" panose="020B0503020204020204" charset="-122"/>
              <a:ea typeface="微软雅黑" panose="020B0503020204020204" charset="-122"/>
            </a:endParaRPr>
          </a:p>
        </p:txBody>
      </p:sp>
      <p:sp>
        <p:nvSpPr>
          <p:cNvPr id="5" name="Line 2"/>
          <p:cNvSpPr>
            <a:spLocks noChangeShapeType="1"/>
          </p:cNvSpPr>
          <p:nvPr/>
        </p:nvSpPr>
        <p:spPr bwMode="auto">
          <a:xfrm>
            <a:off x="7020960" y="1759046"/>
            <a:ext cx="0" cy="46059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6" name="Line 3"/>
          <p:cNvSpPr>
            <a:spLocks noChangeShapeType="1"/>
          </p:cNvSpPr>
          <p:nvPr/>
        </p:nvSpPr>
        <p:spPr bwMode="auto">
          <a:xfrm>
            <a:off x="9204347" y="1743743"/>
            <a:ext cx="0" cy="46059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40" name="Rectangle 6"/>
          <p:cNvSpPr>
            <a:spLocks noChangeArrowheads="1"/>
          </p:cNvSpPr>
          <p:nvPr/>
        </p:nvSpPr>
        <p:spPr bwMode="auto">
          <a:xfrm>
            <a:off x="8405380" y="1341264"/>
            <a:ext cx="154178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万维网服务器</a:t>
            </a:r>
            <a:endParaRPr kumimoji="1" lang="zh-CN" altLang="en-US" sz="1685" b="1" dirty="0">
              <a:latin typeface="微软雅黑" panose="020B0503020204020204" charset="-122"/>
              <a:ea typeface="微软雅黑" panose="020B0503020204020204" charset="-122"/>
            </a:endParaRPr>
          </a:p>
        </p:txBody>
      </p:sp>
      <p:sp>
        <p:nvSpPr>
          <p:cNvPr id="41" name="Rectangle 7"/>
          <p:cNvSpPr>
            <a:spLocks noChangeArrowheads="1"/>
          </p:cNvSpPr>
          <p:nvPr/>
        </p:nvSpPr>
        <p:spPr bwMode="auto">
          <a:xfrm>
            <a:off x="6331767" y="1341264"/>
            <a:ext cx="132715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万维网客户</a:t>
            </a:r>
            <a:endParaRPr kumimoji="1" lang="zh-CN" altLang="en-US" sz="1685" b="1" dirty="0">
              <a:latin typeface="微软雅黑" panose="020B0503020204020204" charset="-122"/>
              <a:ea typeface="微软雅黑" panose="020B0503020204020204" charset="-122"/>
            </a:endParaRPr>
          </a:p>
        </p:txBody>
      </p:sp>
      <p:grpSp>
        <p:nvGrpSpPr>
          <p:cNvPr id="54" name="组合 53"/>
          <p:cNvGrpSpPr/>
          <p:nvPr/>
        </p:nvGrpSpPr>
        <p:grpSpPr>
          <a:xfrm>
            <a:off x="5309566" y="1756189"/>
            <a:ext cx="3894781" cy="1211329"/>
            <a:chOff x="3775648" y="1248914"/>
            <a:chExt cx="2769774" cy="861437"/>
          </a:xfrm>
        </p:grpSpPr>
        <p:grpSp>
          <p:nvGrpSpPr>
            <p:cNvPr id="49" name="组合 48"/>
            <p:cNvGrpSpPr/>
            <p:nvPr/>
          </p:nvGrpSpPr>
          <p:grpSpPr>
            <a:xfrm>
              <a:off x="5016247" y="1762124"/>
              <a:ext cx="1503604" cy="348227"/>
              <a:chOff x="5442383" y="1762124"/>
              <a:chExt cx="1503604" cy="348227"/>
            </a:xfrm>
          </p:grpSpPr>
          <p:sp>
            <p:nvSpPr>
              <p:cNvPr id="26" name="Rectangle 21"/>
              <p:cNvSpPr>
                <a:spLocks noChangeArrowheads="1"/>
              </p:cNvSpPr>
              <p:nvPr/>
            </p:nvSpPr>
            <p:spPr bwMode="auto">
              <a:xfrm rot="21230751">
                <a:off x="5442383" y="1762124"/>
                <a:ext cx="1503604" cy="348227"/>
              </a:xfrm>
              <a:prstGeom prst="rect">
                <a:avLst/>
              </a:prstGeom>
              <a:solidFill>
                <a:srgbClr val="009900"/>
              </a:solidFill>
              <a:ln w="9525">
                <a:noFill/>
                <a:miter lim="800000"/>
              </a:ln>
              <a:effec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28" name="Text Box 23"/>
              <p:cNvSpPr txBox="1">
                <a:spLocks noChangeArrowheads="1"/>
              </p:cNvSpPr>
              <p:nvPr/>
            </p:nvSpPr>
            <p:spPr bwMode="auto">
              <a:xfrm>
                <a:off x="5552340" y="1785702"/>
                <a:ext cx="1271140" cy="279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solidFill>
                      <a:schemeClr val="bg1"/>
                    </a:solidFill>
                    <a:latin typeface="微软雅黑" panose="020B0503020204020204" charset="-122"/>
                    <a:ea typeface="微软雅黑" panose="020B0503020204020204" charset="-122"/>
                  </a:rPr>
                  <a:t>page.html</a:t>
                </a:r>
                <a:endParaRPr lang="en-CA" altLang="zh-CN" sz="1970" b="1" dirty="0">
                  <a:solidFill>
                    <a:schemeClr val="bg1"/>
                  </a:solidFill>
                  <a:latin typeface="微软雅黑" panose="020B0503020204020204" charset="-122"/>
                  <a:ea typeface="微软雅黑" panose="020B0503020204020204" charset="-122"/>
                </a:endParaRPr>
              </a:p>
            </p:txBody>
          </p:sp>
        </p:grpSp>
        <p:grpSp>
          <p:nvGrpSpPr>
            <p:cNvPr id="4" name="组合 3"/>
            <p:cNvGrpSpPr/>
            <p:nvPr/>
          </p:nvGrpSpPr>
          <p:grpSpPr>
            <a:xfrm>
              <a:off x="3775648" y="1248914"/>
              <a:ext cx="2769774" cy="414600"/>
              <a:chOff x="4201784" y="1248914"/>
              <a:chExt cx="2769774" cy="414600"/>
            </a:xfrm>
          </p:grpSpPr>
          <p:sp>
            <p:nvSpPr>
              <p:cNvPr id="23" name="Line 18"/>
              <p:cNvSpPr>
                <a:spLocks noChangeShapeType="1"/>
              </p:cNvSpPr>
              <p:nvPr/>
            </p:nvSpPr>
            <p:spPr bwMode="auto">
              <a:xfrm>
                <a:off x="5411697" y="1371510"/>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24" name="Line 19"/>
              <p:cNvSpPr>
                <a:spLocks noChangeShapeType="1"/>
              </p:cNvSpPr>
              <p:nvPr/>
            </p:nvSpPr>
            <p:spPr bwMode="auto">
              <a:xfrm flipH="1">
                <a:off x="5427040" y="1491214"/>
                <a:ext cx="1488261"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25" name="Line 20"/>
              <p:cNvSpPr>
                <a:spLocks noChangeShapeType="1"/>
              </p:cNvSpPr>
              <p:nvPr/>
            </p:nvSpPr>
            <p:spPr bwMode="auto">
              <a:xfrm>
                <a:off x="5437268" y="1576457"/>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42" name="Text Box 14"/>
              <p:cNvSpPr txBox="1">
                <a:spLocks noChangeArrowheads="1"/>
              </p:cNvSpPr>
              <p:nvPr/>
            </p:nvSpPr>
            <p:spPr bwMode="auto">
              <a:xfrm>
                <a:off x="4201784" y="1248914"/>
                <a:ext cx="1252865"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a:solidFill>
                      <a:srgbClr val="0000CC"/>
                    </a:solidFill>
                    <a:latin typeface="微软雅黑" panose="020B0503020204020204" charset="-122"/>
                    <a:ea typeface="微软雅黑" panose="020B0503020204020204" charset="-122"/>
                  </a:rPr>
                  <a:t>发起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grpSp>
      </p:grpSp>
      <p:grpSp>
        <p:nvGrpSpPr>
          <p:cNvPr id="44" name="组合 43"/>
          <p:cNvGrpSpPr/>
          <p:nvPr/>
        </p:nvGrpSpPr>
        <p:grpSpPr>
          <a:xfrm>
            <a:off x="8016903" y="5075203"/>
            <a:ext cx="95751" cy="384979"/>
            <a:chOff x="5253660" y="4257392"/>
            <a:chExt cx="68093" cy="273778"/>
          </a:xfrm>
        </p:grpSpPr>
        <p:sp>
          <p:nvSpPr>
            <p:cNvPr id="45" name="Oval 30"/>
            <p:cNvSpPr>
              <a:spLocks noChangeArrowheads="1"/>
            </p:cNvSpPr>
            <p:nvPr/>
          </p:nvSpPr>
          <p:spPr bwMode="auto">
            <a:xfrm>
              <a:off x="5262172" y="4257392"/>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6" name="Oval 31"/>
            <p:cNvSpPr>
              <a:spLocks noChangeArrowheads="1"/>
            </p:cNvSpPr>
            <p:nvPr/>
          </p:nvSpPr>
          <p:spPr bwMode="auto">
            <a:xfrm>
              <a:off x="5257916" y="4364484"/>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7" name="Oval 32"/>
            <p:cNvSpPr>
              <a:spLocks noChangeArrowheads="1"/>
            </p:cNvSpPr>
            <p:nvPr/>
          </p:nvSpPr>
          <p:spPr bwMode="auto">
            <a:xfrm>
              <a:off x="5253660" y="4470493"/>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grpSp>
        <p:nvGrpSpPr>
          <p:cNvPr id="52" name="组合 51"/>
          <p:cNvGrpSpPr/>
          <p:nvPr/>
        </p:nvGrpSpPr>
        <p:grpSpPr>
          <a:xfrm>
            <a:off x="5302634" y="5720272"/>
            <a:ext cx="3858298" cy="508745"/>
            <a:chOff x="4196854" y="4067972"/>
            <a:chExt cx="2743829" cy="361794"/>
          </a:xfrm>
        </p:grpSpPr>
        <p:grpSp>
          <p:nvGrpSpPr>
            <p:cNvPr id="3" name="组合 2"/>
            <p:cNvGrpSpPr/>
            <p:nvPr/>
          </p:nvGrpSpPr>
          <p:grpSpPr>
            <a:xfrm>
              <a:off x="5429646" y="4067972"/>
              <a:ext cx="1511037" cy="272914"/>
              <a:chOff x="5474036" y="4254409"/>
              <a:chExt cx="1511037" cy="272914"/>
            </a:xfrm>
          </p:grpSpPr>
          <p:sp>
            <p:nvSpPr>
              <p:cNvPr id="13" name="Line 8"/>
              <p:cNvSpPr>
                <a:spLocks noChangeShapeType="1"/>
              </p:cNvSpPr>
              <p:nvPr/>
            </p:nvSpPr>
            <p:spPr bwMode="auto">
              <a:xfrm flipH="1">
                <a:off x="5480596" y="4254409"/>
                <a:ext cx="1497522"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14" name="Line 9"/>
              <p:cNvSpPr>
                <a:spLocks noChangeShapeType="1"/>
              </p:cNvSpPr>
              <p:nvPr/>
            </p:nvSpPr>
            <p:spPr bwMode="auto">
              <a:xfrm>
                <a:off x="5496035" y="4330583"/>
                <a:ext cx="1489038" cy="10882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15" name="Line 10"/>
              <p:cNvSpPr>
                <a:spLocks noChangeShapeType="1"/>
              </p:cNvSpPr>
              <p:nvPr/>
            </p:nvSpPr>
            <p:spPr bwMode="auto">
              <a:xfrm flipH="1">
                <a:off x="5474036" y="4483795"/>
                <a:ext cx="1497522"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grpSp>
        <p:sp>
          <p:nvSpPr>
            <p:cNvPr id="48" name="Text Box 14"/>
            <p:cNvSpPr txBox="1">
              <a:spLocks noChangeArrowheads="1"/>
            </p:cNvSpPr>
            <p:nvPr/>
          </p:nvSpPr>
          <p:spPr bwMode="auto">
            <a:xfrm>
              <a:off x="4196854" y="4180494"/>
              <a:ext cx="1252865"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smtClean="0">
                  <a:solidFill>
                    <a:srgbClr val="0000CC"/>
                  </a:solidFill>
                  <a:latin typeface="微软雅黑" panose="020B0503020204020204" charset="-122"/>
                  <a:ea typeface="微软雅黑" panose="020B0503020204020204" charset="-122"/>
                </a:rPr>
                <a:t>释放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grpSp>
      <p:sp>
        <p:nvSpPr>
          <p:cNvPr id="53" name="矩形 52"/>
          <p:cNvSpPr/>
          <p:nvPr/>
        </p:nvSpPr>
        <p:spPr>
          <a:xfrm>
            <a:off x="9366988" y="2646316"/>
            <a:ext cx="2960891" cy="1630045"/>
          </a:xfrm>
          <a:prstGeom prst="rect">
            <a:avLst/>
          </a:prstGeom>
          <a:solidFill>
            <a:srgbClr val="FFFF99"/>
          </a:solidFill>
        </p:spPr>
        <p:txBody>
          <a:bodyPr wrap="square">
            <a:spAutoFit/>
          </a:bodyPr>
          <a:lstStyle/>
          <a:p>
            <a:pPr>
              <a:lnSpc>
                <a:spcPts val="2000"/>
              </a:lnSpc>
            </a:pPr>
            <a:r>
              <a:rPr lang="zh-CN" altLang="en-US" sz="1970" b="1" dirty="0">
                <a:latin typeface="微软雅黑" panose="020B0503020204020204" charset="-122"/>
                <a:ea typeface="微软雅黑" panose="020B0503020204020204" charset="-122"/>
              </a:rPr>
              <a:t>所需的</a:t>
            </a:r>
            <a:r>
              <a:rPr lang="zh-CN" altLang="en-US" sz="1970" b="1" dirty="0" smtClean="0">
                <a:latin typeface="微软雅黑" panose="020B0503020204020204" charset="-122"/>
                <a:ea typeface="微软雅黑" panose="020B0503020204020204" charset="-122"/>
              </a:rPr>
              <a:t>时间 </a:t>
            </a:r>
            <a:r>
              <a:rPr lang="en-US" altLang="zh-CN" sz="1970" b="1" dirty="0">
                <a:latin typeface="微软雅黑" panose="020B0503020204020204" charset="-122"/>
                <a:ea typeface="微软雅黑" panose="020B0503020204020204" charset="-122"/>
              </a:rPr>
              <a:t>&gt;</a:t>
            </a:r>
            <a:r>
              <a:rPr lang="en-US" altLang="zh-CN" sz="1970" b="1" dirty="0" smtClean="0">
                <a:latin typeface="微软雅黑" panose="020B0503020204020204" charset="-122"/>
                <a:ea typeface="微软雅黑" panose="020B0503020204020204" charset="-122"/>
              </a:rPr>
              <a: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2 RTT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page.html </a:t>
            </a:r>
            <a:r>
              <a:rPr lang="zh-CN" altLang="en-US" sz="1970" b="1" dirty="0" smtClean="0">
                <a:latin typeface="微软雅黑" panose="020B0503020204020204" charset="-122"/>
                <a:ea typeface="微软雅黑" panose="020B0503020204020204" charset="-122"/>
              </a:rPr>
              <a:t>传输时间</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+ 10 RTT</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+ 10 </a:t>
            </a:r>
            <a:r>
              <a:rPr lang="zh-CN" altLang="en-US" sz="1970" b="1" dirty="0" smtClean="0">
                <a:latin typeface="微软雅黑" panose="020B0503020204020204" charset="-122"/>
                <a:ea typeface="微软雅黑" panose="020B0503020204020204" charset="-122"/>
              </a:rPr>
              <a:t>个文档</a:t>
            </a:r>
            <a:r>
              <a:rPr lang="zh-CN" altLang="en-US" sz="1970" b="1" dirty="0">
                <a:latin typeface="微软雅黑" panose="020B0503020204020204" charset="-122"/>
                <a:ea typeface="微软雅黑" panose="020B0503020204020204" charset="-122"/>
              </a:rPr>
              <a:t>的传输</a:t>
            </a:r>
            <a:r>
              <a:rPr lang="zh-CN" altLang="en-US" sz="1970" b="1" dirty="0" smtClean="0">
                <a:latin typeface="微软雅黑" panose="020B0503020204020204" charset="-122"/>
                <a:ea typeface="微软雅黑" panose="020B0503020204020204" charset="-122"/>
              </a:rPr>
              <a:t>时间</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a:t>
            </a:r>
            <a:r>
              <a:rPr lang="zh-CN" altLang="en-US" sz="1970" b="1" dirty="0" smtClean="0">
                <a:latin typeface="微软雅黑" panose="020B0503020204020204" charset="-122"/>
                <a:ea typeface="微软雅黑" panose="020B0503020204020204" charset="-122"/>
              </a:rPr>
              <a:t>空闲时间</a:t>
            </a:r>
            <a:endParaRPr lang="zh-CN" altLang="en-US" sz="1970" dirty="0"/>
          </a:p>
        </p:txBody>
      </p:sp>
      <p:grpSp>
        <p:nvGrpSpPr>
          <p:cNvPr id="63" name="组合 62"/>
          <p:cNvGrpSpPr/>
          <p:nvPr/>
        </p:nvGrpSpPr>
        <p:grpSpPr>
          <a:xfrm>
            <a:off x="6058529" y="2911108"/>
            <a:ext cx="3098821" cy="1135604"/>
            <a:chOff x="4308273" y="2070235"/>
            <a:chExt cx="2203727" cy="807585"/>
          </a:xfrm>
        </p:grpSpPr>
        <p:grpSp>
          <p:nvGrpSpPr>
            <p:cNvPr id="50" name="组合 49"/>
            <p:cNvGrpSpPr/>
            <p:nvPr/>
          </p:nvGrpSpPr>
          <p:grpSpPr>
            <a:xfrm>
              <a:off x="4308273" y="2070235"/>
              <a:ext cx="2201256" cy="723594"/>
              <a:chOff x="4734409" y="1919309"/>
              <a:chExt cx="2201256" cy="723594"/>
            </a:xfrm>
          </p:grpSpPr>
          <p:grpSp>
            <p:nvGrpSpPr>
              <p:cNvPr id="31" name="Group 26"/>
              <p:cNvGrpSpPr/>
              <p:nvPr/>
            </p:nvGrpSpPr>
            <p:grpSpPr bwMode="auto">
              <a:xfrm>
                <a:off x="5443288" y="2294674"/>
                <a:ext cx="1492377" cy="348229"/>
                <a:chOff x="1159" y="2266"/>
                <a:chExt cx="1160" cy="384"/>
              </a:xfrm>
            </p:grpSpPr>
            <p:sp>
              <p:nvSpPr>
                <p:cNvPr id="33" name="Rectangle 27"/>
                <p:cNvSpPr>
                  <a:spLocks noChangeArrowheads="1"/>
                </p:cNvSpPr>
                <p:nvPr/>
              </p:nvSpPr>
              <p:spPr bwMode="auto">
                <a:xfrm rot="21395996">
                  <a:off x="1159" y="2266"/>
                  <a:ext cx="1160" cy="384"/>
                </a:xfrm>
                <a:prstGeom prst="rect">
                  <a:avLst/>
                </a:prstGeom>
                <a:solidFill>
                  <a:srgbClr val="0099FF"/>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34" name="Text Box 28"/>
                <p:cNvSpPr txBox="1">
                  <a:spLocks noChangeArrowheads="1"/>
                </p:cNvSpPr>
                <p:nvPr/>
              </p:nvSpPr>
              <p:spPr bwMode="auto">
                <a:xfrm>
                  <a:off x="1255" y="2277"/>
                  <a:ext cx="97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latin typeface="微软雅黑" panose="020B0503020204020204" charset="-122"/>
                      <a:ea typeface="微软雅黑" panose="020B0503020204020204" charset="-122"/>
                    </a:rPr>
                    <a:t>page1.jpg</a:t>
                  </a:r>
                  <a:endParaRPr lang="en-CA" altLang="zh-CN" sz="1970" b="1" dirty="0">
                    <a:latin typeface="微软雅黑" panose="020B0503020204020204" charset="-122"/>
                    <a:ea typeface="微软雅黑" panose="020B0503020204020204" charset="-122"/>
                  </a:endParaRPr>
                </a:p>
              </p:txBody>
            </p:sp>
          </p:grpSp>
          <p:sp>
            <p:nvSpPr>
              <p:cNvPr id="32" name="Text Box 29"/>
              <p:cNvSpPr txBox="1">
                <a:spLocks noChangeArrowheads="1"/>
              </p:cNvSpPr>
              <p:nvPr/>
            </p:nvSpPr>
            <p:spPr bwMode="auto">
              <a:xfrm>
                <a:off x="4734409" y="1919309"/>
                <a:ext cx="604670" cy="279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970" b="1" dirty="0" smtClean="0">
                    <a:latin typeface="微软雅黑" panose="020B0503020204020204" charset="-122"/>
                    <a:ea typeface="微软雅黑" panose="020B0503020204020204" charset="-122"/>
                  </a:rPr>
                  <a:t>空闲</a:t>
                </a:r>
                <a:endParaRPr lang="en-CA" altLang="zh-CN" sz="1970" b="1" dirty="0">
                  <a:latin typeface="微软雅黑" panose="020B0503020204020204" charset="-122"/>
                  <a:ea typeface="微软雅黑" panose="020B0503020204020204" charset="-122"/>
                </a:endParaRPr>
              </a:p>
            </p:txBody>
          </p:sp>
        </p:grpSp>
        <p:sp>
          <p:nvSpPr>
            <p:cNvPr id="55" name="Line 18"/>
            <p:cNvSpPr>
              <a:spLocks noChangeShapeType="1"/>
            </p:cNvSpPr>
            <p:nvPr/>
          </p:nvSpPr>
          <p:spPr bwMode="auto">
            <a:xfrm>
              <a:off x="4977710" y="2261337"/>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cxnSp>
          <p:nvCxnSpPr>
            <p:cNvPr id="58" name="直接连接符 57"/>
            <p:cNvCxnSpPr/>
            <p:nvPr/>
          </p:nvCxnSpPr>
          <p:spPr>
            <a:xfrm>
              <a:off x="4785064" y="2223945"/>
              <a:ext cx="192646"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a:off x="4785064" y="2877820"/>
              <a:ext cx="192646"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flipV="1">
              <a:off x="4986740" y="2175669"/>
              <a:ext cx="0" cy="120318"/>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grpSp>
      <p:grpSp>
        <p:nvGrpSpPr>
          <p:cNvPr id="64" name="组合 63"/>
          <p:cNvGrpSpPr/>
          <p:nvPr/>
        </p:nvGrpSpPr>
        <p:grpSpPr>
          <a:xfrm>
            <a:off x="6058529" y="3846379"/>
            <a:ext cx="3108006" cy="1044644"/>
            <a:chOff x="4308273" y="2735353"/>
            <a:chExt cx="2210259" cy="742899"/>
          </a:xfrm>
        </p:grpSpPr>
        <p:grpSp>
          <p:nvGrpSpPr>
            <p:cNvPr id="51" name="组合 50"/>
            <p:cNvGrpSpPr/>
            <p:nvPr/>
          </p:nvGrpSpPr>
          <p:grpSpPr>
            <a:xfrm>
              <a:off x="4308273" y="2735353"/>
              <a:ext cx="2210259" cy="742899"/>
              <a:chOff x="4734409" y="2531159"/>
              <a:chExt cx="2210259" cy="742899"/>
            </a:xfrm>
          </p:grpSpPr>
          <p:grpSp>
            <p:nvGrpSpPr>
              <p:cNvPr id="36" name="Group 31"/>
              <p:cNvGrpSpPr/>
              <p:nvPr/>
            </p:nvGrpSpPr>
            <p:grpSpPr bwMode="auto">
              <a:xfrm>
                <a:off x="5440713" y="2925831"/>
                <a:ext cx="1503955" cy="348227"/>
                <a:chOff x="1145" y="3634"/>
                <a:chExt cx="1169" cy="384"/>
              </a:xfrm>
            </p:grpSpPr>
            <p:sp>
              <p:nvSpPr>
                <p:cNvPr id="38" name="Rectangle 32"/>
                <p:cNvSpPr>
                  <a:spLocks noChangeArrowheads="1"/>
                </p:cNvSpPr>
                <p:nvPr/>
              </p:nvSpPr>
              <p:spPr bwMode="auto">
                <a:xfrm rot="21347042">
                  <a:off x="1145" y="3634"/>
                  <a:ext cx="1169" cy="384"/>
                </a:xfrm>
                <a:prstGeom prst="rect">
                  <a:avLst/>
                </a:prstGeom>
                <a:solidFill>
                  <a:srgbClr val="0099FF"/>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39" name="Text Box 33"/>
                <p:cNvSpPr txBox="1">
                  <a:spLocks noChangeArrowheads="1"/>
                </p:cNvSpPr>
                <p:nvPr/>
              </p:nvSpPr>
              <p:spPr bwMode="auto">
                <a:xfrm>
                  <a:off x="1251" y="3637"/>
                  <a:ext cx="99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latin typeface="微软雅黑" panose="020B0503020204020204" charset="-122"/>
                      <a:ea typeface="微软雅黑" panose="020B0503020204020204" charset="-122"/>
                    </a:rPr>
                    <a:t>page2.jpg</a:t>
                  </a:r>
                  <a:endParaRPr lang="en-CA" altLang="zh-CN" sz="1970" b="1" dirty="0">
                    <a:latin typeface="微软雅黑" panose="020B0503020204020204" charset="-122"/>
                    <a:ea typeface="微软雅黑" panose="020B0503020204020204" charset="-122"/>
                  </a:endParaRPr>
                </a:p>
              </p:txBody>
            </p:sp>
          </p:grpSp>
          <p:sp>
            <p:nvSpPr>
              <p:cNvPr id="43" name="Text Box 29"/>
              <p:cNvSpPr txBox="1">
                <a:spLocks noChangeArrowheads="1"/>
              </p:cNvSpPr>
              <p:nvPr/>
            </p:nvSpPr>
            <p:spPr bwMode="auto">
              <a:xfrm>
                <a:off x="4734409" y="2531159"/>
                <a:ext cx="604670" cy="279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970" b="1" dirty="0" smtClean="0">
                    <a:latin typeface="微软雅黑" panose="020B0503020204020204" charset="-122"/>
                    <a:ea typeface="微软雅黑" panose="020B0503020204020204" charset="-122"/>
                  </a:rPr>
                  <a:t>空闲</a:t>
                </a:r>
                <a:endParaRPr lang="en-CA" altLang="zh-CN" sz="1970" b="1" dirty="0">
                  <a:latin typeface="微软雅黑" panose="020B0503020204020204" charset="-122"/>
                  <a:ea typeface="微软雅黑" panose="020B0503020204020204" charset="-122"/>
                </a:endParaRPr>
              </a:p>
            </p:txBody>
          </p:sp>
        </p:grpSp>
        <p:sp>
          <p:nvSpPr>
            <p:cNvPr id="56" name="Line 18"/>
            <p:cNvSpPr>
              <a:spLocks noChangeShapeType="1"/>
            </p:cNvSpPr>
            <p:nvPr/>
          </p:nvSpPr>
          <p:spPr bwMode="auto">
            <a:xfrm>
              <a:off x="4977710" y="2935942"/>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cxnSp>
          <p:nvCxnSpPr>
            <p:cNvPr id="62" name="直接连接符 61"/>
            <p:cNvCxnSpPr/>
            <p:nvPr/>
          </p:nvCxnSpPr>
          <p:spPr>
            <a:xfrm flipV="1">
              <a:off x="4986740" y="2815624"/>
              <a:ext cx="0" cy="120318"/>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10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wipe(up)">
                                      <p:cBhvr>
                                        <p:cTn id="12" dur="10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up)">
                                      <p:cBhvr>
                                        <p:cTn id="17" dur="1000"/>
                                        <p:tgtEl>
                                          <p:spTgt spid="64"/>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wipe(up)">
                                      <p:cBhvr>
                                        <p:cTn id="21" dur="10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up)">
                                      <p:cBhvr>
                                        <p:cTn id="26" dur="10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8"/>
          <p:cNvSpPr>
            <a:spLocks noChangeArrowheads="1"/>
          </p:cNvSpPr>
          <p:nvPr/>
        </p:nvSpPr>
        <p:spPr bwMode="auto">
          <a:xfrm>
            <a:off x="783539" y="1296157"/>
            <a:ext cx="4282883" cy="3053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eaLnBrk="0" hangingPunct="0">
              <a:lnSpc>
                <a:spcPts val="3300"/>
              </a:lnSpc>
              <a:buClr>
                <a:srgbClr val="0070C0"/>
              </a:buClr>
              <a:buFont typeface="Wingdings" panose="05000000000000000000" pitchFamily="2" charset="2"/>
              <a:buChar char="l"/>
            </a:pPr>
            <a:r>
              <a:rPr lang="zh-CN" altLang="en-US" sz="2810" b="1" dirty="0" smtClean="0">
                <a:latin typeface="微软雅黑" panose="020B0503020204020204" charset="-122"/>
                <a:ea typeface="微软雅黑" panose="020B0503020204020204" charset="-122"/>
              </a:rPr>
              <a:t>客户</a:t>
            </a:r>
            <a:r>
              <a:rPr lang="zh-CN" altLang="en-US" sz="2810" b="1" dirty="0">
                <a:latin typeface="微软雅黑" panose="020B0503020204020204" charset="-122"/>
                <a:ea typeface="微软雅黑" panose="020B0503020204020204" charset="-122"/>
              </a:rPr>
              <a:t>在</a:t>
            </a:r>
            <a:r>
              <a:rPr lang="zh-CN" altLang="en-US" sz="2810" b="1" dirty="0" smtClean="0">
                <a:latin typeface="微软雅黑" panose="020B0503020204020204" charset="-122"/>
                <a:ea typeface="微软雅黑" panose="020B0503020204020204" charset="-122"/>
              </a:rPr>
              <a:t>收到响应</a:t>
            </a:r>
            <a:r>
              <a:rPr lang="zh-CN" altLang="en-US" sz="2810" b="1" dirty="0">
                <a:latin typeface="微软雅黑" panose="020B0503020204020204" charset="-122"/>
                <a:ea typeface="微软雅黑" panose="020B0503020204020204" charset="-122"/>
              </a:rPr>
              <a:t>报文</a:t>
            </a:r>
            <a:r>
              <a:rPr lang="zh-CN" altLang="en-US" sz="2810" b="1" dirty="0">
                <a:solidFill>
                  <a:srgbClr val="C00000"/>
                </a:solidFill>
                <a:latin typeface="微软雅黑" panose="020B0503020204020204" charset="-122"/>
                <a:ea typeface="微软雅黑" panose="020B0503020204020204" charset="-122"/>
              </a:rPr>
              <a:t>之前</a:t>
            </a:r>
            <a:r>
              <a:rPr lang="zh-CN" altLang="en-US" sz="2810" b="1" dirty="0">
                <a:latin typeface="微软雅黑" panose="020B0503020204020204" charset="-122"/>
                <a:ea typeface="微软雅黑" panose="020B0503020204020204" charset="-122"/>
              </a:rPr>
              <a:t>就能够接着发送新的请求报文</a:t>
            </a:r>
            <a:r>
              <a:rPr lang="zh-CN" altLang="en-US" sz="2810" b="1" dirty="0" smtClean="0">
                <a:latin typeface="微软雅黑" panose="020B0503020204020204" charset="-122"/>
                <a:ea typeface="微软雅黑" panose="020B0503020204020204" charset="-122"/>
              </a:rPr>
              <a:t>。</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smtClean="0">
                <a:latin typeface="微软雅黑" panose="020B0503020204020204" charset="-122"/>
                <a:ea typeface="微软雅黑" panose="020B0503020204020204" charset="-122"/>
              </a:rPr>
              <a:t>连续的多个请求</a:t>
            </a:r>
            <a:r>
              <a:rPr lang="zh-CN" altLang="en-US" sz="2810" b="1" dirty="0">
                <a:latin typeface="微软雅黑" panose="020B0503020204020204" charset="-122"/>
                <a:ea typeface="微软雅黑" panose="020B0503020204020204" charset="-122"/>
              </a:rPr>
              <a:t>报文到达服务器后，服务器就可连续发回响应报文</a:t>
            </a:r>
            <a:r>
              <a:rPr lang="zh-CN" altLang="en-US" sz="2810" b="1" dirty="0" smtClean="0">
                <a:latin typeface="微软雅黑" panose="020B0503020204020204" charset="-122"/>
                <a:ea typeface="微软雅黑" panose="020B0503020204020204" charset="-122"/>
              </a:rPr>
              <a:t>。</a:t>
            </a:r>
            <a:endParaRPr lang="en-US" altLang="zh-CN" sz="2810" b="1" dirty="0" smtClean="0">
              <a:latin typeface="微软雅黑" panose="020B0503020204020204" charset="-122"/>
              <a:ea typeface="微软雅黑" panose="020B0503020204020204" charset="-122"/>
            </a:endParaRPr>
          </a:p>
          <a:p>
            <a:pPr marL="285750" indent="-285750" eaLnBrk="0" hangingPunct="0">
              <a:lnSpc>
                <a:spcPts val="3300"/>
              </a:lnSpc>
              <a:buClr>
                <a:srgbClr val="0070C0"/>
              </a:buClr>
              <a:buFont typeface="Wingdings" panose="05000000000000000000" pitchFamily="2" charset="2"/>
              <a:buChar char="l"/>
            </a:pPr>
            <a:r>
              <a:rPr lang="zh-CN" altLang="en-US" sz="2810" b="1" dirty="0" smtClean="0">
                <a:latin typeface="微软雅黑" panose="020B0503020204020204" charset="-122"/>
                <a:ea typeface="微软雅黑" panose="020B0503020204020204" charset="-122"/>
              </a:rPr>
              <a:t>下载效率</a:t>
            </a:r>
            <a:r>
              <a:rPr lang="zh-CN" altLang="en-US" sz="2810" b="1" dirty="0">
                <a:latin typeface="微软雅黑" panose="020B0503020204020204" charset="-122"/>
                <a:ea typeface="微软雅黑" panose="020B0503020204020204" charset="-122"/>
              </a:rPr>
              <a:t>提高</a:t>
            </a:r>
            <a:r>
              <a:rPr lang="zh-CN" altLang="en-US" sz="2810" b="1" dirty="0" smtClean="0">
                <a:latin typeface="微软雅黑" panose="020B0503020204020204" charset="-122"/>
                <a:ea typeface="微软雅黑" panose="020B0503020204020204" charset="-122"/>
              </a:rPr>
              <a:t>。</a:t>
            </a:r>
            <a:endParaRPr lang="zh-CN" altLang="en-US" sz="2810" b="1" dirty="0">
              <a:latin typeface="微软雅黑" panose="020B0503020204020204" charset="-122"/>
              <a:ea typeface="微软雅黑" panose="020B0503020204020204" charset="-122"/>
            </a:endParaRPr>
          </a:p>
        </p:txBody>
      </p:sp>
      <p:sp>
        <p:nvSpPr>
          <p:cNvPr id="11" name="AutoShape 5"/>
          <p:cNvSpPr>
            <a:spLocks noChangeArrowheads="1"/>
          </p:cNvSpPr>
          <p:nvPr/>
        </p:nvSpPr>
        <p:spPr bwMode="auto">
          <a:xfrm>
            <a:off x="783539" y="866374"/>
            <a:ext cx="11317970" cy="434422"/>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530"/>
          </a:p>
        </p:txBody>
      </p:sp>
      <p:sp>
        <p:nvSpPr>
          <p:cNvPr id="12" name="矩形 11"/>
          <p:cNvSpPr/>
          <p:nvPr/>
        </p:nvSpPr>
        <p:spPr>
          <a:xfrm>
            <a:off x="907711" y="794119"/>
            <a:ext cx="3857625" cy="52324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10" b="1" dirty="0" smtClean="0">
                <a:latin typeface="微软雅黑" panose="020B0503020204020204" charset="-122"/>
                <a:ea typeface="微软雅黑" panose="020B0503020204020204" charset="-122"/>
              </a:rPr>
              <a:t>持续</a:t>
            </a:r>
            <a:r>
              <a:rPr lang="zh-CN" altLang="en-US" sz="2810" b="1" dirty="0">
                <a:latin typeface="微软雅黑" panose="020B0503020204020204" charset="-122"/>
                <a:ea typeface="微软雅黑" panose="020B0503020204020204" charset="-122"/>
              </a:rPr>
              <a:t>连接</a:t>
            </a:r>
            <a:r>
              <a:rPr lang="zh-CN" altLang="en-US" sz="2810" b="1" dirty="0" smtClean="0">
                <a:latin typeface="微软雅黑" panose="020B0503020204020204" charset="-122"/>
                <a:ea typeface="微软雅黑" panose="020B0503020204020204" charset="-122"/>
              </a:rPr>
              <a:t>：流水线</a:t>
            </a:r>
            <a:r>
              <a:rPr lang="zh-CN" altLang="en-US" sz="2810" b="1" dirty="0">
                <a:latin typeface="微软雅黑" panose="020B0503020204020204" charset="-122"/>
                <a:ea typeface="微软雅黑" panose="020B0503020204020204" charset="-122"/>
              </a:rPr>
              <a:t>方式 </a:t>
            </a:r>
            <a:endParaRPr lang="zh-CN" altLang="en-US" sz="2810" b="1" dirty="0">
              <a:latin typeface="微软雅黑" panose="020B0503020204020204" charset="-122"/>
              <a:ea typeface="微软雅黑" panose="020B0503020204020204" charset="-122"/>
            </a:endParaRPr>
          </a:p>
        </p:txBody>
      </p:sp>
      <p:sp>
        <p:nvSpPr>
          <p:cNvPr id="5" name="Line 2"/>
          <p:cNvSpPr>
            <a:spLocks noChangeShapeType="1"/>
          </p:cNvSpPr>
          <p:nvPr/>
        </p:nvSpPr>
        <p:spPr bwMode="auto">
          <a:xfrm>
            <a:off x="7020960" y="1759046"/>
            <a:ext cx="0" cy="46059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6" name="Line 3"/>
          <p:cNvSpPr>
            <a:spLocks noChangeShapeType="1"/>
          </p:cNvSpPr>
          <p:nvPr/>
        </p:nvSpPr>
        <p:spPr bwMode="auto">
          <a:xfrm>
            <a:off x="9204347" y="1743743"/>
            <a:ext cx="0" cy="46059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40" name="Rectangle 6"/>
          <p:cNvSpPr>
            <a:spLocks noChangeArrowheads="1"/>
          </p:cNvSpPr>
          <p:nvPr/>
        </p:nvSpPr>
        <p:spPr bwMode="auto">
          <a:xfrm>
            <a:off x="8405380" y="1341264"/>
            <a:ext cx="154178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万维网服务器</a:t>
            </a:r>
            <a:endParaRPr kumimoji="1" lang="zh-CN" altLang="en-US" sz="1685" b="1" dirty="0">
              <a:latin typeface="微软雅黑" panose="020B0503020204020204" charset="-122"/>
              <a:ea typeface="微软雅黑" panose="020B0503020204020204" charset="-122"/>
            </a:endParaRPr>
          </a:p>
        </p:txBody>
      </p:sp>
      <p:sp>
        <p:nvSpPr>
          <p:cNvPr id="41" name="Rectangle 7"/>
          <p:cNvSpPr>
            <a:spLocks noChangeArrowheads="1"/>
          </p:cNvSpPr>
          <p:nvPr/>
        </p:nvSpPr>
        <p:spPr bwMode="auto">
          <a:xfrm>
            <a:off x="6331767" y="1341264"/>
            <a:ext cx="1327150" cy="38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241" tIns="62504" rIns="127241" bIns="62504">
            <a:spAutoFit/>
          </a:bodyPr>
          <a:lstStyle/>
          <a:p>
            <a:r>
              <a:rPr kumimoji="1" lang="zh-CN" altLang="en-US" sz="1685" b="1" dirty="0">
                <a:latin typeface="微软雅黑" panose="020B0503020204020204" charset="-122"/>
                <a:ea typeface="微软雅黑" panose="020B0503020204020204" charset="-122"/>
              </a:rPr>
              <a:t>万维网客户</a:t>
            </a:r>
            <a:endParaRPr kumimoji="1" lang="zh-CN" altLang="en-US" sz="1685" b="1" dirty="0">
              <a:latin typeface="微软雅黑" panose="020B0503020204020204" charset="-122"/>
              <a:ea typeface="微软雅黑" panose="020B0503020204020204" charset="-122"/>
            </a:endParaRPr>
          </a:p>
        </p:txBody>
      </p:sp>
      <p:grpSp>
        <p:nvGrpSpPr>
          <p:cNvPr id="4" name="组合 3"/>
          <p:cNvGrpSpPr/>
          <p:nvPr/>
        </p:nvGrpSpPr>
        <p:grpSpPr>
          <a:xfrm>
            <a:off x="5309566" y="1756189"/>
            <a:ext cx="3894781" cy="582999"/>
            <a:chOff x="4201784" y="1248914"/>
            <a:chExt cx="2769774" cy="414600"/>
          </a:xfrm>
        </p:grpSpPr>
        <p:sp>
          <p:nvSpPr>
            <p:cNvPr id="23" name="Line 18"/>
            <p:cNvSpPr>
              <a:spLocks noChangeShapeType="1"/>
            </p:cNvSpPr>
            <p:nvPr/>
          </p:nvSpPr>
          <p:spPr bwMode="auto">
            <a:xfrm>
              <a:off x="5411697" y="1371510"/>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24" name="Line 19"/>
            <p:cNvSpPr>
              <a:spLocks noChangeShapeType="1"/>
            </p:cNvSpPr>
            <p:nvPr/>
          </p:nvSpPr>
          <p:spPr bwMode="auto">
            <a:xfrm flipH="1">
              <a:off x="5427040" y="1491214"/>
              <a:ext cx="1488261"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25" name="Line 20"/>
            <p:cNvSpPr>
              <a:spLocks noChangeShapeType="1"/>
            </p:cNvSpPr>
            <p:nvPr/>
          </p:nvSpPr>
          <p:spPr bwMode="auto">
            <a:xfrm>
              <a:off x="5437268" y="1576457"/>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42" name="Text Box 14"/>
            <p:cNvSpPr txBox="1">
              <a:spLocks noChangeArrowheads="1"/>
            </p:cNvSpPr>
            <p:nvPr/>
          </p:nvSpPr>
          <p:spPr bwMode="auto">
            <a:xfrm>
              <a:off x="4201784" y="1248914"/>
              <a:ext cx="1252865"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a:solidFill>
                    <a:srgbClr val="0000CC"/>
                  </a:solidFill>
                  <a:latin typeface="微软雅黑" panose="020B0503020204020204" charset="-122"/>
                  <a:ea typeface="微软雅黑" panose="020B0503020204020204" charset="-122"/>
                </a:rPr>
                <a:t>发起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grpSp>
      <p:grpSp>
        <p:nvGrpSpPr>
          <p:cNvPr id="52" name="组合 51"/>
          <p:cNvGrpSpPr/>
          <p:nvPr/>
        </p:nvGrpSpPr>
        <p:grpSpPr>
          <a:xfrm>
            <a:off x="5302634" y="5720272"/>
            <a:ext cx="3858298" cy="508745"/>
            <a:chOff x="4196854" y="4067972"/>
            <a:chExt cx="2743829" cy="361794"/>
          </a:xfrm>
        </p:grpSpPr>
        <p:grpSp>
          <p:nvGrpSpPr>
            <p:cNvPr id="3" name="组合 2"/>
            <p:cNvGrpSpPr/>
            <p:nvPr/>
          </p:nvGrpSpPr>
          <p:grpSpPr>
            <a:xfrm>
              <a:off x="5429646" y="4067972"/>
              <a:ext cx="1511037" cy="272914"/>
              <a:chOff x="5474036" y="4254409"/>
              <a:chExt cx="1511037" cy="272914"/>
            </a:xfrm>
          </p:grpSpPr>
          <p:sp>
            <p:nvSpPr>
              <p:cNvPr id="13" name="Line 8"/>
              <p:cNvSpPr>
                <a:spLocks noChangeShapeType="1"/>
              </p:cNvSpPr>
              <p:nvPr/>
            </p:nvSpPr>
            <p:spPr bwMode="auto">
              <a:xfrm flipH="1">
                <a:off x="5480596" y="4254409"/>
                <a:ext cx="1497522"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14" name="Line 9"/>
              <p:cNvSpPr>
                <a:spLocks noChangeShapeType="1"/>
              </p:cNvSpPr>
              <p:nvPr/>
            </p:nvSpPr>
            <p:spPr bwMode="auto">
              <a:xfrm>
                <a:off x="5496035" y="4330583"/>
                <a:ext cx="1489038" cy="10882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15" name="Line 10"/>
              <p:cNvSpPr>
                <a:spLocks noChangeShapeType="1"/>
              </p:cNvSpPr>
              <p:nvPr/>
            </p:nvSpPr>
            <p:spPr bwMode="auto">
              <a:xfrm flipH="1">
                <a:off x="5474036" y="4483795"/>
                <a:ext cx="1497522" cy="43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grpSp>
        <p:sp>
          <p:nvSpPr>
            <p:cNvPr id="48" name="Text Box 14"/>
            <p:cNvSpPr txBox="1">
              <a:spLocks noChangeArrowheads="1"/>
            </p:cNvSpPr>
            <p:nvPr/>
          </p:nvSpPr>
          <p:spPr bwMode="auto">
            <a:xfrm>
              <a:off x="4196854" y="4180494"/>
              <a:ext cx="1252865"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zh-CN" altLang="en-US" sz="1685" b="1" dirty="0" smtClean="0">
                  <a:solidFill>
                    <a:srgbClr val="0000CC"/>
                  </a:solidFill>
                  <a:latin typeface="微软雅黑" panose="020B0503020204020204" charset="-122"/>
                  <a:ea typeface="微软雅黑" panose="020B0503020204020204" charset="-122"/>
                </a:rPr>
                <a:t>释放 </a:t>
              </a:r>
              <a:r>
                <a:rPr lang="en-US" altLang="zh-CN" sz="1685" b="1" dirty="0">
                  <a:solidFill>
                    <a:srgbClr val="0000CC"/>
                  </a:solidFill>
                  <a:latin typeface="微软雅黑" panose="020B0503020204020204" charset="-122"/>
                  <a:ea typeface="微软雅黑" panose="020B0503020204020204" charset="-122"/>
                </a:rPr>
                <a:t>TCP </a:t>
              </a:r>
              <a:r>
                <a:rPr lang="zh-CN" altLang="en-US" sz="1685" b="1" dirty="0">
                  <a:solidFill>
                    <a:srgbClr val="0000CC"/>
                  </a:solidFill>
                  <a:latin typeface="微软雅黑" panose="020B0503020204020204" charset="-122"/>
                  <a:ea typeface="微软雅黑" panose="020B0503020204020204" charset="-122"/>
                </a:rPr>
                <a:t>连接</a:t>
              </a:r>
              <a:endParaRPr lang="zh-CN" altLang="en-US" sz="1685" b="1" dirty="0">
                <a:solidFill>
                  <a:srgbClr val="0000CC"/>
                </a:solidFill>
                <a:latin typeface="微软雅黑" panose="020B0503020204020204" charset="-122"/>
                <a:ea typeface="微软雅黑" panose="020B0503020204020204" charset="-122"/>
              </a:endParaRPr>
            </a:p>
          </p:txBody>
        </p:sp>
      </p:grpSp>
      <p:sp>
        <p:nvSpPr>
          <p:cNvPr id="53" name="矩形 52"/>
          <p:cNvSpPr/>
          <p:nvPr/>
        </p:nvSpPr>
        <p:spPr>
          <a:xfrm>
            <a:off x="9366988" y="2646316"/>
            <a:ext cx="2960891" cy="860425"/>
          </a:xfrm>
          <a:prstGeom prst="rect">
            <a:avLst/>
          </a:prstGeom>
          <a:solidFill>
            <a:srgbClr val="FFFF99"/>
          </a:solidFill>
        </p:spPr>
        <p:txBody>
          <a:bodyPr wrap="square">
            <a:spAutoFit/>
          </a:bodyPr>
          <a:lstStyle/>
          <a:p>
            <a:pPr>
              <a:lnSpc>
                <a:spcPts val="2000"/>
              </a:lnSpc>
            </a:pPr>
            <a:r>
              <a:rPr lang="zh-CN" altLang="en-US" sz="1970" b="1" dirty="0">
                <a:latin typeface="微软雅黑" panose="020B0503020204020204" charset="-122"/>
                <a:ea typeface="微软雅黑" panose="020B0503020204020204" charset="-122"/>
              </a:rPr>
              <a:t>所需的</a:t>
            </a:r>
            <a:r>
              <a:rPr lang="zh-CN" altLang="en-US" sz="1970" b="1" dirty="0" smtClean="0">
                <a:latin typeface="微软雅黑" panose="020B0503020204020204" charset="-122"/>
                <a:ea typeface="微软雅黑" panose="020B0503020204020204" charset="-122"/>
              </a:rPr>
              <a:t>时间 </a:t>
            </a:r>
            <a:r>
              <a:rPr lang="en-US" altLang="zh-CN" sz="1970" b="1" dirty="0">
                <a:latin typeface="微软雅黑" panose="020B0503020204020204" charset="-122"/>
                <a:ea typeface="微软雅黑" panose="020B0503020204020204" charset="-122"/>
              </a:rPr>
              <a:t>&gt;</a:t>
            </a:r>
            <a:r>
              <a:rPr lang="en-US" altLang="zh-CN" sz="1970" b="1" dirty="0" smtClean="0">
                <a:latin typeface="微软雅黑" panose="020B0503020204020204" charset="-122"/>
                <a:ea typeface="微软雅黑" panose="020B0503020204020204" charset="-122"/>
              </a:rPr>
              <a: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1 RTT </a:t>
            </a:r>
            <a:endParaRPr lang="en-US" altLang="zh-CN" sz="1970" b="1" dirty="0" smtClean="0">
              <a:latin typeface="微软雅黑" panose="020B0503020204020204" charset="-122"/>
              <a:ea typeface="微软雅黑" panose="020B0503020204020204" charset="-122"/>
            </a:endParaRPr>
          </a:p>
          <a:p>
            <a:pPr>
              <a:lnSpc>
                <a:spcPts val="2000"/>
              </a:lnSpc>
            </a:pPr>
            <a:r>
              <a:rPr lang="en-US" altLang="zh-CN" sz="1970" b="1" dirty="0" smtClean="0">
                <a:latin typeface="微软雅黑" panose="020B0503020204020204" charset="-122"/>
                <a:ea typeface="微软雅黑" panose="020B0503020204020204" charset="-122"/>
              </a:rPr>
              <a:t>+ 11 </a:t>
            </a:r>
            <a:r>
              <a:rPr lang="zh-CN" altLang="en-US" sz="1970" b="1" dirty="0" smtClean="0">
                <a:latin typeface="微软雅黑" panose="020B0503020204020204" charset="-122"/>
                <a:ea typeface="微软雅黑" panose="020B0503020204020204" charset="-122"/>
              </a:rPr>
              <a:t>个文档</a:t>
            </a:r>
            <a:r>
              <a:rPr lang="zh-CN" altLang="en-US" sz="1970" b="1" dirty="0">
                <a:latin typeface="微软雅黑" panose="020B0503020204020204" charset="-122"/>
                <a:ea typeface="微软雅黑" panose="020B0503020204020204" charset="-122"/>
              </a:rPr>
              <a:t>的传输</a:t>
            </a:r>
            <a:r>
              <a:rPr lang="zh-CN" altLang="en-US" sz="1970" b="1" dirty="0" smtClean="0">
                <a:latin typeface="微软雅黑" panose="020B0503020204020204" charset="-122"/>
                <a:ea typeface="微软雅黑" panose="020B0503020204020204" charset="-122"/>
              </a:rPr>
              <a:t>时间</a:t>
            </a:r>
            <a:endParaRPr lang="en-US" altLang="zh-CN" sz="1970" b="1" dirty="0" smtClean="0">
              <a:latin typeface="微软雅黑" panose="020B0503020204020204" charset="-122"/>
              <a:ea typeface="微软雅黑" panose="020B0503020204020204" charset="-122"/>
            </a:endParaRPr>
          </a:p>
        </p:txBody>
      </p:sp>
      <p:grpSp>
        <p:nvGrpSpPr>
          <p:cNvPr id="8" name="组合 7"/>
          <p:cNvGrpSpPr/>
          <p:nvPr/>
        </p:nvGrpSpPr>
        <p:grpSpPr>
          <a:xfrm>
            <a:off x="6160916" y="2235611"/>
            <a:ext cx="2996435" cy="1284997"/>
            <a:chOff x="4381085" y="1589855"/>
            <a:chExt cx="2130915" cy="913826"/>
          </a:xfrm>
        </p:grpSpPr>
        <p:grpSp>
          <p:nvGrpSpPr>
            <p:cNvPr id="44" name="组合 43"/>
            <p:cNvGrpSpPr/>
            <p:nvPr/>
          </p:nvGrpSpPr>
          <p:grpSpPr>
            <a:xfrm>
              <a:off x="5700971" y="1922931"/>
              <a:ext cx="68093" cy="273778"/>
              <a:chOff x="5253660" y="4257392"/>
              <a:chExt cx="68093" cy="273778"/>
            </a:xfrm>
          </p:grpSpPr>
          <p:sp>
            <p:nvSpPr>
              <p:cNvPr id="45" name="Oval 30"/>
              <p:cNvSpPr>
                <a:spLocks noChangeArrowheads="1"/>
              </p:cNvSpPr>
              <p:nvPr/>
            </p:nvSpPr>
            <p:spPr bwMode="auto">
              <a:xfrm>
                <a:off x="5262172" y="4257392"/>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6" name="Oval 31"/>
              <p:cNvSpPr>
                <a:spLocks noChangeArrowheads="1"/>
              </p:cNvSpPr>
              <p:nvPr/>
            </p:nvSpPr>
            <p:spPr bwMode="auto">
              <a:xfrm>
                <a:off x="5257916" y="4364484"/>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47" name="Oval 32"/>
              <p:cNvSpPr>
                <a:spLocks noChangeArrowheads="1"/>
              </p:cNvSpPr>
              <p:nvPr/>
            </p:nvSpPr>
            <p:spPr bwMode="auto">
              <a:xfrm>
                <a:off x="5253660" y="4470493"/>
                <a:ext cx="59581" cy="60677"/>
              </a:xfrm>
              <a:prstGeom prst="ellipse">
                <a:avLst/>
              </a:prstGeom>
              <a:solidFill>
                <a:schemeClr val="tx1"/>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grpSp>
        <p:sp>
          <p:nvSpPr>
            <p:cNvPr id="55" name="Line 18"/>
            <p:cNvSpPr>
              <a:spLocks noChangeShapeType="1"/>
            </p:cNvSpPr>
            <p:nvPr/>
          </p:nvSpPr>
          <p:spPr bwMode="auto">
            <a:xfrm>
              <a:off x="4977710" y="1694559"/>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56" name="Line 18"/>
            <p:cNvSpPr>
              <a:spLocks noChangeShapeType="1"/>
            </p:cNvSpPr>
            <p:nvPr/>
          </p:nvSpPr>
          <p:spPr bwMode="auto">
            <a:xfrm>
              <a:off x="4977710" y="1809694"/>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sp>
          <p:nvSpPr>
            <p:cNvPr id="57" name="AutoShape 15"/>
            <p:cNvSpPr/>
            <p:nvPr/>
          </p:nvSpPr>
          <p:spPr bwMode="auto">
            <a:xfrm>
              <a:off x="4827118" y="1589855"/>
              <a:ext cx="101751" cy="893911"/>
            </a:xfrm>
            <a:prstGeom prst="leftBrace">
              <a:avLst>
                <a:gd name="adj1" fmla="val 52058"/>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61" name="Text Box 16"/>
            <p:cNvSpPr txBox="1">
              <a:spLocks noChangeArrowheads="1"/>
            </p:cNvSpPr>
            <p:nvPr/>
          </p:nvSpPr>
          <p:spPr bwMode="auto">
            <a:xfrm>
              <a:off x="4381085" y="1878640"/>
              <a:ext cx="426743" cy="24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685" b="1" dirty="0">
                  <a:latin typeface="微软雅黑" panose="020B0503020204020204" charset="-122"/>
                  <a:ea typeface="微软雅黑" panose="020B0503020204020204" charset="-122"/>
                </a:rPr>
                <a:t>RTT</a:t>
              </a:r>
              <a:endParaRPr lang="en-US" altLang="zh-CN" sz="1685" b="1" dirty="0">
                <a:latin typeface="微软雅黑" panose="020B0503020204020204" charset="-122"/>
                <a:ea typeface="微软雅黑" panose="020B0503020204020204" charset="-122"/>
              </a:endParaRPr>
            </a:p>
          </p:txBody>
        </p:sp>
        <p:sp>
          <p:nvSpPr>
            <p:cNvPr id="65" name="Line 23"/>
            <p:cNvSpPr>
              <a:spLocks noChangeShapeType="1"/>
            </p:cNvSpPr>
            <p:nvPr/>
          </p:nvSpPr>
          <p:spPr bwMode="auto">
            <a:xfrm flipH="1">
              <a:off x="4763281" y="2502598"/>
              <a:ext cx="229811" cy="10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66" name="Line 18"/>
            <p:cNvSpPr>
              <a:spLocks noChangeShapeType="1"/>
            </p:cNvSpPr>
            <p:nvPr/>
          </p:nvSpPr>
          <p:spPr bwMode="auto">
            <a:xfrm>
              <a:off x="4977710" y="2252651"/>
              <a:ext cx="1534290" cy="8705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70" b="1">
                <a:latin typeface="微软雅黑" panose="020B0503020204020204" charset="-122"/>
                <a:ea typeface="微软雅黑" panose="020B0503020204020204" charset="-122"/>
              </a:endParaRPr>
            </a:p>
          </p:txBody>
        </p:sp>
      </p:grpSp>
      <p:grpSp>
        <p:nvGrpSpPr>
          <p:cNvPr id="9" name="组合 8"/>
          <p:cNvGrpSpPr/>
          <p:nvPr/>
        </p:nvGrpSpPr>
        <p:grpSpPr>
          <a:xfrm>
            <a:off x="5418120" y="3462547"/>
            <a:ext cx="3748951" cy="1409791"/>
            <a:chOff x="3852846" y="2462391"/>
            <a:chExt cx="2666067" cy="1002573"/>
          </a:xfrm>
        </p:grpSpPr>
        <p:grpSp>
          <p:nvGrpSpPr>
            <p:cNvPr id="49" name="组合 48"/>
            <p:cNvGrpSpPr/>
            <p:nvPr/>
          </p:nvGrpSpPr>
          <p:grpSpPr>
            <a:xfrm>
              <a:off x="5007753" y="2462391"/>
              <a:ext cx="1503604" cy="315710"/>
              <a:chOff x="5442383" y="1762124"/>
              <a:chExt cx="1503604" cy="348227"/>
            </a:xfrm>
          </p:grpSpPr>
          <p:sp>
            <p:nvSpPr>
              <p:cNvPr id="26" name="Rectangle 21"/>
              <p:cNvSpPr>
                <a:spLocks noChangeArrowheads="1"/>
              </p:cNvSpPr>
              <p:nvPr/>
            </p:nvSpPr>
            <p:spPr bwMode="auto">
              <a:xfrm rot="21373145">
                <a:off x="5442383" y="1762124"/>
                <a:ext cx="1503604" cy="348227"/>
              </a:xfrm>
              <a:prstGeom prst="rect">
                <a:avLst/>
              </a:prstGeom>
              <a:solidFill>
                <a:srgbClr val="009900"/>
              </a:solidFill>
              <a:ln w="9525">
                <a:noFill/>
                <a:miter lim="800000"/>
              </a:ln>
              <a:effec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28" name="Text Box 23"/>
              <p:cNvSpPr txBox="1">
                <a:spLocks noChangeArrowheads="1"/>
              </p:cNvSpPr>
              <p:nvPr/>
            </p:nvSpPr>
            <p:spPr bwMode="auto">
              <a:xfrm>
                <a:off x="5552340" y="1785702"/>
                <a:ext cx="1271140" cy="3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solidFill>
                      <a:schemeClr val="bg1"/>
                    </a:solidFill>
                    <a:latin typeface="微软雅黑" panose="020B0503020204020204" charset="-122"/>
                    <a:ea typeface="微软雅黑" panose="020B0503020204020204" charset="-122"/>
                  </a:rPr>
                  <a:t>page.html</a:t>
                </a:r>
                <a:endParaRPr lang="en-CA" altLang="zh-CN" sz="1970" b="1" dirty="0">
                  <a:solidFill>
                    <a:schemeClr val="bg1"/>
                  </a:solidFill>
                  <a:latin typeface="微软雅黑" panose="020B0503020204020204" charset="-122"/>
                  <a:ea typeface="微软雅黑" panose="020B0503020204020204" charset="-122"/>
                </a:endParaRPr>
              </a:p>
            </p:txBody>
          </p:sp>
        </p:grpSp>
        <p:grpSp>
          <p:nvGrpSpPr>
            <p:cNvPr id="31" name="Group 26"/>
            <p:cNvGrpSpPr/>
            <p:nvPr/>
          </p:nvGrpSpPr>
          <p:grpSpPr bwMode="auto">
            <a:xfrm>
              <a:off x="5017533" y="2782838"/>
              <a:ext cx="1492377" cy="315712"/>
              <a:chOff x="1159" y="2266"/>
              <a:chExt cx="1160" cy="384"/>
            </a:xfrm>
          </p:grpSpPr>
          <p:sp>
            <p:nvSpPr>
              <p:cNvPr id="33" name="Rectangle 27"/>
              <p:cNvSpPr>
                <a:spLocks noChangeArrowheads="1"/>
              </p:cNvSpPr>
              <p:nvPr/>
            </p:nvSpPr>
            <p:spPr bwMode="auto">
              <a:xfrm rot="21395996">
                <a:off x="1159" y="2266"/>
                <a:ext cx="1160" cy="384"/>
              </a:xfrm>
              <a:prstGeom prst="rect">
                <a:avLst/>
              </a:prstGeom>
              <a:solidFill>
                <a:srgbClr val="0099FF"/>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34" name="Text Box 28"/>
              <p:cNvSpPr txBox="1">
                <a:spLocks noChangeArrowheads="1"/>
              </p:cNvSpPr>
              <p:nvPr/>
            </p:nvSpPr>
            <p:spPr bwMode="auto">
              <a:xfrm>
                <a:off x="1255" y="2277"/>
                <a:ext cx="970"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latin typeface="微软雅黑" panose="020B0503020204020204" charset="-122"/>
                    <a:ea typeface="微软雅黑" panose="020B0503020204020204" charset="-122"/>
                  </a:rPr>
                  <a:t>page1.jpg</a:t>
                </a:r>
                <a:endParaRPr lang="en-CA" altLang="zh-CN" sz="1970" b="1" dirty="0">
                  <a:latin typeface="微软雅黑" panose="020B0503020204020204" charset="-122"/>
                  <a:ea typeface="微软雅黑" panose="020B0503020204020204" charset="-122"/>
                </a:endParaRPr>
              </a:p>
            </p:txBody>
          </p:sp>
        </p:grpSp>
        <p:grpSp>
          <p:nvGrpSpPr>
            <p:cNvPr id="36" name="Group 31"/>
            <p:cNvGrpSpPr/>
            <p:nvPr/>
          </p:nvGrpSpPr>
          <p:grpSpPr bwMode="auto">
            <a:xfrm>
              <a:off x="5014958" y="3094398"/>
              <a:ext cx="1503955" cy="315710"/>
              <a:chOff x="1145" y="3634"/>
              <a:chExt cx="1169" cy="384"/>
            </a:xfrm>
            <a:solidFill>
              <a:schemeClr val="accent6">
                <a:lumMod val="60000"/>
                <a:lumOff val="40000"/>
              </a:schemeClr>
            </a:solidFill>
          </p:grpSpPr>
          <p:sp>
            <p:nvSpPr>
              <p:cNvPr id="38" name="Rectangle 32"/>
              <p:cNvSpPr>
                <a:spLocks noChangeArrowheads="1"/>
              </p:cNvSpPr>
              <p:nvPr/>
            </p:nvSpPr>
            <p:spPr bwMode="auto">
              <a:xfrm rot="21347042">
                <a:off x="1145" y="3634"/>
                <a:ext cx="1169" cy="384"/>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sz="1970" b="1">
                  <a:latin typeface="微软雅黑" panose="020B0503020204020204" charset="-122"/>
                  <a:ea typeface="微软雅黑" panose="020B0503020204020204" charset="-122"/>
                </a:endParaRPr>
              </a:p>
            </p:txBody>
          </p:sp>
          <p:sp>
            <p:nvSpPr>
              <p:cNvPr id="39" name="Text Box 33"/>
              <p:cNvSpPr txBox="1">
                <a:spLocks noChangeArrowheads="1"/>
              </p:cNvSpPr>
              <p:nvPr/>
            </p:nvSpPr>
            <p:spPr bwMode="auto">
              <a:xfrm>
                <a:off x="1251" y="3637"/>
                <a:ext cx="994" cy="34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r>
                  <a:rPr lang="en-US" altLang="zh-CN" sz="1970" b="1" dirty="0" smtClean="0">
                    <a:latin typeface="微软雅黑" panose="020B0503020204020204" charset="-122"/>
                    <a:ea typeface="微软雅黑" panose="020B0503020204020204" charset="-122"/>
                  </a:rPr>
                  <a:t>page2.jpg</a:t>
                </a:r>
                <a:endParaRPr lang="en-CA" altLang="zh-CN" sz="1970" b="1" dirty="0">
                  <a:latin typeface="微软雅黑" panose="020B0503020204020204" charset="-122"/>
                  <a:ea typeface="微软雅黑" panose="020B0503020204020204" charset="-122"/>
                </a:endParaRPr>
              </a:p>
            </p:txBody>
          </p:sp>
        </p:grpSp>
        <p:sp>
          <p:nvSpPr>
            <p:cNvPr id="67" name="AutoShape 15"/>
            <p:cNvSpPr/>
            <p:nvPr/>
          </p:nvSpPr>
          <p:spPr bwMode="auto">
            <a:xfrm>
              <a:off x="4827118" y="2530936"/>
              <a:ext cx="105522" cy="934028"/>
            </a:xfrm>
            <a:prstGeom prst="leftBrace">
              <a:avLst>
                <a:gd name="adj1" fmla="val 52058"/>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85" b="1">
                <a:latin typeface="微软雅黑" panose="020B0503020204020204" charset="-122"/>
                <a:ea typeface="微软雅黑" panose="020B0503020204020204" charset="-122"/>
              </a:endParaRPr>
            </a:p>
          </p:txBody>
        </p:sp>
        <p:sp>
          <p:nvSpPr>
            <p:cNvPr id="69" name="Text Box 12"/>
            <p:cNvSpPr txBox="1">
              <a:spLocks noChangeArrowheads="1"/>
            </p:cNvSpPr>
            <p:nvPr/>
          </p:nvSpPr>
          <p:spPr bwMode="auto">
            <a:xfrm>
              <a:off x="3852846" y="2757571"/>
              <a:ext cx="1031501" cy="43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pPr algn="r"/>
              <a:r>
                <a:rPr lang="zh-CN" altLang="en-US" sz="1685" b="1" dirty="0" smtClean="0">
                  <a:solidFill>
                    <a:srgbClr val="0000CC"/>
                  </a:solidFill>
                  <a:latin typeface="微软雅黑" panose="020B0503020204020204" charset="-122"/>
                  <a:ea typeface="微软雅黑" panose="020B0503020204020204" charset="-122"/>
                </a:rPr>
                <a:t>传输文档的时间</a:t>
              </a:r>
              <a:endParaRPr lang="zh-CN" altLang="en-US" sz="1685" b="1" dirty="0">
                <a:solidFill>
                  <a:srgbClr val="0000CC"/>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1000"/>
                                        <p:tgtEl>
                                          <p:spTgt spid="8"/>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1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wipe(up)">
                                      <p:cBhvr>
                                        <p:cTn id="20" dur="1000"/>
                                        <p:tgtEl>
                                          <p:spTgt spid="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Lst>
  </p:timing>
</p:sld>
</file>

<file path=ppt/tags/tag1.xml><?xml version="1.0" encoding="utf-8"?>
<p:tagLst xmlns:p="http://schemas.openxmlformats.org/presentationml/2006/main">
  <p:tag name="TABLE_ENDDRAG_ORIGIN_RECT" val="820*332"/>
  <p:tag name="TABLE_ENDDRAG_RECT" val="82*141*820*332"/>
</p:tagLst>
</file>

<file path=ppt/tags/tag2.xml><?xml version="1.0" encoding="utf-8"?>
<p:tagLst xmlns:p="http://schemas.openxmlformats.org/presentationml/2006/main">
  <p:tag name="TABLE_ENDDRAG_ORIGIN_RECT" val="820*194"/>
  <p:tag name="TABLE_ENDDRAG_RECT" val="82*141*820*194"/>
</p:tagLst>
</file>

<file path=ppt/tags/tag3.xml><?xml version="1.0" encoding="utf-8"?>
<p:tagLst xmlns:p="http://schemas.openxmlformats.org/presentationml/2006/main">
  <p:tag name="TABLE_ENDDRAG_ORIGIN_RECT" val="879*241"/>
  <p:tag name="TABLE_ENDDRAG_RECT" val="64*141*879*241"/>
</p:tagLst>
</file>

<file path=ppt/tags/tag4.xml><?xml version="1.0" encoding="utf-8"?>
<p:tagLst xmlns:p="http://schemas.openxmlformats.org/presentationml/2006/main">
  <p:tag name="TABLE_ENDDRAG_ORIGIN_RECT" val="514*330"/>
  <p:tag name="TABLE_ENDDRAG_RECT" val="38*183*514*330"/>
</p:tagLst>
</file>

<file path=ppt/tags/tag5.xml><?xml version="1.0" encoding="utf-8"?>
<p:tagLst xmlns:p="http://schemas.openxmlformats.org/presentationml/2006/main">
  <p:tag name="TABLE_ENDDRAG_ORIGIN_RECT" val="532*235"/>
  <p:tag name="TABLE_ENDDRAG_RECT" val="152*219*532*23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14376</Words>
  <Application>WPS 演示</Application>
  <PresentationFormat/>
  <Paragraphs>723</Paragraphs>
  <Slides>39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Arial</vt:lpstr>
      <vt:lpstr>宋体</vt:lpstr>
      <vt:lpstr>Wingdings</vt:lpstr>
      <vt:lpstr>Arial</vt:lpstr>
      <vt:lpstr>Wingdings</vt:lpstr>
      <vt:lpstr>微软雅黑</vt:lpstr>
      <vt:lpstr>Wingdings</vt:lpstr>
      <vt:lpstr>Arial Unicode MS</vt:lpstr>
      <vt:lpstr>Calibri</vt:lpstr>
      <vt:lpstr>Tahoma</vt:lpstr>
      <vt:lpstr>黑体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池栩.</cp:lastModifiedBy>
  <cp:revision>11</cp:revision>
  <dcterms:created xsi:type="dcterms:W3CDTF">2025-05-29T07:24:00Z</dcterms:created>
  <dcterms:modified xsi:type="dcterms:W3CDTF">2025-06-15T09:33:35Z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wqlLaW5nc29mdCBQREYgdG8gV1BTIDExMA</vt:lpwstr>
  </property>
  <property fmtid="{D5CDD505-2E9C-101B-9397-08002B2CF9AE}" pid="3" name="Created">
    <vt:filetime>2025-05-31T07:18:50Z</vt:filetime>
  </property>
  <property fmtid="{D5CDD505-2E9C-101B-9397-08002B2CF9AE}" pid="4" name="ICV">
    <vt:lpwstr>88D40BDFE20544F38BCC2E2ED1A27782</vt:lpwstr>
  </property>
  <property fmtid="{D5CDD505-2E9C-101B-9397-08002B2CF9AE}" pid="5" name="KSOProductBuildVer">
    <vt:lpwstr>2052-12.1.0.21541</vt:lpwstr>
  </property>
</Properties>
</file>