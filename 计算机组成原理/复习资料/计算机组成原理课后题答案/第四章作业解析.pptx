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1" r:id="rId3"/>
    <p:sldId id="275" r:id="rId4"/>
    <p:sldId id="273" r:id="rId5"/>
    <p:sldId id="272" r:id="rId6"/>
    <p:sldId id="276" r:id="rId7"/>
    <p:sldId id="277" r:id="rId8"/>
  </p:sldIdLst>
  <p:sldSz cx="5715000" cy="9144000" type="screen16x10"/>
  <p:notesSz cx="6858000" cy="9144000"/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6080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6080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608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60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/>
              <a:t>第四章作业解析</a:t>
            </a:r>
            <a:endParaRPr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71500" y="1118235"/>
            <a:ext cx="4572000" cy="235394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执行指令的过程中，指令的地址由（ 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）给出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57250" y="31432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A.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程序计数器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57250" y="42862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B.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指令的地址码字段  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57250" y="54292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C.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操作系统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857250" y="65722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D.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指令的操作码字段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693" y="4135491"/>
            <a:ext cx="5105462" cy="130628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1656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 lvl="0"/>
            <a:r>
              <a:rPr lang="zh-TW" altLang="zh-CN" sz="2000" dirty="0"/>
              <a:t>指令格式结构如下所示，试分析指令格式及寻址方式特点。</a:t>
            </a:r>
            <a:endParaRPr lang="zh-CN" altLang="zh-CN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74" y="2947416"/>
            <a:ext cx="4042311" cy="102076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440" y="2057111"/>
            <a:ext cx="3924300" cy="71388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2590" y="5725795"/>
            <a:ext cx="51104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从以下方面分析：</a:t>
            </a:r>
            <a:endParaRPr lang="zh-CN" altLang="en-US" sz="2000"/>
          </a:p>
          <a:p>
            <a:r>
              <a:rPr lang="en-US" altLang="zh-CN" sz="2000"/>
              <a:t>1</a:t>
            </a:r>
            <a:r>
              <a:rPr lang="zh-CN" altLang="en-US" sz="2000"/>
              <a:t>、指令字长度，是几地址指令？</a:t>
            </a:r>
            <a:endParaRPr lang="zh-CN" altLang="en-US" sz="2000"/>
          </a:p>
          <a:p>
            <a:r>
              <a:rPr lang="en-US" altLang="zh-CN" sz="2000"/>
              <a:t>2</a:t>
            </a:r>
            <a:r>
              <a:rPr lang="zh-CN" altLang="en-US" sz="2000"/>
              <a:t>、操作码字段长度，可以有多少条指令？</a:t>
            </a:r>
            <a:endParaRPr lang="zh-CN" altLang="en-US" sz="2000"/>
          </a:p>
          <a:p>
            <a:r>
              <a:rPr lang="en-US" altLang="zh-CN" sz="2000"/>
              <a:t>3</a:t>
            </a:r>
            <a:r>
              <a:rPr lang="zh-CN" altLang="en-US" sz="2000"/>
              <a:t>、寻址方式字段长度，寻址方式有几种？</a:t>
            </a:r>
            <a:endParaRPr lang="zh-CN" altLang="en-US" sz="2000"/>
          </a:p>
          <a:p>
            <a:r>
              <a:rPr lang="en-US" altLang="zh-CN" sz="2000"/>
              <a:t>4</a:t>
            </a:r>
            <a:r>
              <a:rPr lang="zh-CN" altLang="en-US" sz="2000"/>
              <a:t>、可用的寄存器数目？</a:t>
            </a:r>
            <a:endParaRPr lang="zh-CN" altLang="en-US" sz="2000"/>
          </a:p>
          <a:p>
            <a:r>
              <a:rPr lang="en-US" altLang="zh-CN" sz="2000"/>
              <a:t>5</a:t>
            </a:r>
            <a:r>
              <a:rPr lang="zh-CN" altLang="en-US" sz="2000"/>
              <a:t>、寻址方式的说明</a:t>
            </a:r>
            <a:endParaRPr lang="zh-CN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72943" y="1111250"/>
            <a:ext cx="4572000" cy="677396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 lvl="0"/>
            <a:r>
              <a:rPr lang="zh-TW" altLang="zh-CN" sz="2000" dirty="0"/>
              <a:t>一种单地址指令格式如下所示，其中I为间接特征，X为寻址模式，</a:t>
            </a:r>
            <a:r>
              <a:rPr lang="en-US" altLang="zh-CN" sz="2000" dirty="0"/>
              <a:t>D</a:t>
            </a:r>
            <a:r>
              <a:rPr lang="zh-TW" altLang="zh-CN" sz="2000" dirty="0"/>
              <a:t>为形式地址。</a:t>
            </a:r>
            <a:r>
              <a:rPr lang="en-US" altLang="zh-CN" sz="2000" dirty="0"/>
              <a:t>I, </a:t>
            </a:r>
            <a:r>
              <a:rPr lang="zh-TW" altLang="zh-CN" sz="2000" dirty="0"/>
              <a:t>X, </a:t>
            </a:r>
            <a:r>
              <a:rPr lang="en-US" altLang="zh-CN" sz="2000" dirty="0"/>
              <a:t>D</a:t>
            </a:r>
            <a:r>
              <a:rPr lang="zh-TW" altLang="zh-CN" sz="2000" dirty="0"/>
              <a:t>组成 该指令的操作数有效地址</a:t>
            </a:r>
            <a:r>
              <a:rPr lang="en-US" altLang="zh-CN" sz="2000" dirty="0"/>
              <a:t>E</a:t>
            </a:r>
            <a:r>
              <a:rPr lang="zh-CN" altLang="zh-CN" sz="2000" dirty="0"/>
              <a:t>。</a:t>
            </a:r>
            <a:r>
              <a:rPr lang="zh-TW" altLang="zh-CN" sz="2000" dirty="0"/>
              <a:t>设</a:t>
            </a:r>
            <a:r>
              <a:rPr lang="en-US" altLang="zh-CN" sz="2000" dirty="0"/>
              <a:t>R</a:t>
            </a:r>
            <a:r>
              <a:rPr lang="zh-TW" altLang="zh-CN" sz="2000" dirty="0"/>
              <a:t>为变址寄存器，</a:t>
            </a:r>
            <a:r>
              <a:rPr lang="en-US" altLang="zh-CN" sz="2000" dirty="0"/>
              <a:t>R,</a:t>
            </a:r>
            <a:r>
              <a:rPr lang="zh-TW" altLang="zh-CN" sz="2000" dirty="0"/>
              <a:t>为基址寄存器，</a:t>
            </a:r>
            <a:r>
              <a:rPr lang="en-US" altLang="zh-CN" sz="2000" dirty="0"/>
              <a:t>PC</a:t>
            </a:r>
            <a:r>
              <a:rPr lang="zh-TW" altLang="zh-CN" sz="2000" dirty="0"/>
              <a:t>为程序计数器，请</a:t>
            </a:r>
            <a:r>
              <a:rPr lang="zh-CN" altLang="en-US" sz="2000" dirty="0"/>
              <a:t>按序号写出相应的</a:t>
            </a:r>
            <a:r>
              <a:rPr lang="zh-TW" altLang="zh-CN" sz="2000" dirty="0"/>
              <a:t>寻址方式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0"/>
            <a:endParaRPr lang="en-US" altLang="zh-TW" sz="2000" dirty="0"/>
          </a:p>
          <a:p>
            <a:pPr lvl="0"/>
            <a:endParaRPr lang="en-US" altLang="zh-TW" sz="2000" dirty="0"/>
          </a:p>
          <a:p>
            <a:pPr lvl="0"/>
            <a:endParaRPr lang="en-US" altLang="zh-TW" sz="2000" dirty="0"/>
          </a:p>
          <a:p>
            <a:pPr lvl="0"/>
            <a:endParaRPr lang="en-US" altLang="zh-TW" sz="2000" dirty="0"/>
          </a:p>
          <a:p>
            <a:pPr lvl="0"/>
            <a:endParaRPr lang="en-US" altLang="zh-TW" sz="2000" dirty="0"/>
          </a:p>
          <a:p>
            <a:pPr lvl="0"/>
            <a:endParaRPr lang="en-US" altLang="zh-TW" sz="2000" dirty="0"/>
          </a:p>
          <a:p>
            <a:pPr lvl="0"/>
            <a:endParaRPr lang="en-US" altLang="zh-TW" sz="2000" dirty="0"/>
          </a:p>
          <a:p>
            <a:pPr lvl="0"/>
            <a:endParaRPr lang="en-US" altLang="zh-TW" sz="2000" dirty="0"/>
          </a:p>
          <a:p>
            <a:pPr lvl="0"/>
            <a:r>
              <a:rPr lang="zh-CN" altLang="en-US" sz="2000" dirty="0"/>
              <a:t>①</a:t>
            </a:r>
            <a:r>
              <a:rPr lang="zh-CN" altLang="en-US" sz="2000" dirty="0">
                <a:solidFill>
                  <a:srgbClr val="639EF4"/>
                </a:solidFill>
              </a:rPr>
              <a:t> </a:t>
            </a:r>
            <a:r>
              <a:rPr lang="en-US" altLang="zh-CN" sz="2000" dirty="0">
                <a:solidFill>
                  <a:srgbClr val="639EF4"/>
                </a:solidFill>
              </a:rPr>
              <a:t>[</a:t>
            </a:r>
            <a:r>
              <a:rPr lang="zh-CN" altLang="en-US" sz="2000" dirty="0">
                <a:solidFill>
                  <a:srgbClr val="639EF4"/>
                </a:solidFill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</a:rPr>
              <a:t>1]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直接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lvl="0"/>
            <a:r>
              <a:rPr lang="zh-CN" altLang="en-US" sz="2000" dirty="0"/>
              <a:t>②</a:t>
            </a:r>
            <a:r>
              <a:rPr lang="zh-CN" altLang="en-US" sz="2000" dirty="0">
                <a:solidFill>
                  <a:srgbClr val="639EF4"/>
                </a:solidFill>
              </a:rPr>
              <a:t> </a:t>
            </a:r>
            <a:r>
              <a:rPr lang="en-US" altLang="zh-CN" sz="2000" dirty="0">
                <a:solidFill>
                  <a:srgbClr val="639EF4"/>
                </a:solidFill>
              </a:rPr>
              <a:t>[</a:t>
            </a:r>
            <a:r>
              <a:rPr lang="zh-CN" altLang="en-US" sz="2000" dirty="0">
                <a:solidFill>
                  <a:srgbClr val="639EF4"/>
                </a:solidFill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</a:rPr>
              <a:t>2]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相对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lvl="0"/>
            <a:r>
              <a:rPr lang="zh-CN" altLang="en-US" sz="2000" dirty="0"/>
              <a:t>③</a:t>
            </a:r>
            <a:r>
              <a:rPr lang="zh-CN" altLang="en-US" sz="2000" dirty="0">
                <a:solidFill>
                  <a:srgbClr val="639EF4"/>
                </a:solidFill>
              </a:rPr>
              <a:t> </a:t>
            </a:r>
            <a:r>
              <a:rPr lang="en-US" altLang="zh-CN" sz="2000" dirty="0">
                <a:solidFill>
                  <a:srgbClr val="639EF4"/>
                </a:solidFill>
              </a:rPr>
              <a:t>[</a:t>
            </a:r>
            <a:r>
              <a:rPr lang="zh-CN" altLang="en-US" sz="2000" dirty="0">
                <a:solidFill>
                  <a:srgbClr val="639EF4"/>
                </a:solidFill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</a:rPr>
              <a:t>3]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变址寻址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lvl="0"/>
            <a:r>
              <a:rPr lang="zh-CN" altLang="en-US" sz="2000" dirty="0"/>
              <a:t>④</a:t>
            </a:r>
            <a:r>
              <a:rPr lang="zh-CN" altLang="en-US" sz="2000" dirty="0">
                <a:solidFill>
                  <a:srgbClr val="639EF4"/>
                </a:solidFill>
              </a:rPr>
              <a:t> </a:t>
            </a:r>
            <a:r>
              <a:rPr lang="en-US" altLang="zh-CN" sz="2000" dirty="0">
                <a:solidFill>
                  <a:srgbClr val="639EF4"/>
                </a:solidFill>
              </a:rPr>
              <a:t>[</a:t>
            </a:r>
            <a:r>
              <a:rPr lang="zh-CN" altLang="en-US" sz="2000" dirty="0">
                <a:solidFill>
                  <a:srgbClr val="639EF4"/>
                </a:solidFill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</a:rPr>
              <a:t>4]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基址寻址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lvl="0"/>
            <a:r>
              <a:rPr lang="zh-CN" altLang="en-US" sz="2000" dirty="0"/>
              <a:t>⑤</a:t>
            </a:r>
            <a:r>
              <a:rPr lang="zh-CN" altLang="en-US" sz="2000" dirty="0">
                <a:solidFill>
                  <a:srgbClr val="639EF4"/>
                </a:solidFill>
              </a:rPr>
              <a:t> </a:t>
            </a:r>
            <a:r>
              <a:rPr lang="en-US" altLang="zh-CN" sz="2000" dirty="0">
                <a:solidFill>
                  <a:srgbClr val="639EF4"/>
                </a:solidFill>
              </a:rPr>
              <a:t>[</a:t>
            </a:r>
            <a:r>
              <a:rPr lang="zh-CN" altLang="en-US" sz="2000" dirty="0">
                <a:solidFill>
                  <a:srgbClr val="639EF4"/>
                </a:solidFill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</a:rPr>
              <a:t>5]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存储器间接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lvl="0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⑥</a:t>
            </a:r>
            <a:r>
              <a:rPr lang="en-US" altLang="zh-CN" sz="2000" dirty="0">
                <a:solidFill>
                  <a:srgbClr val="639E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zh-CN" altLang="en-US" sz="2000" dirty="0">
                <a:solidFill>
                  <a:srgbClr val="639E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6]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sym typeface="+mn-ea"/>
              </a:rPr>
              <a:t>基址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间接寻址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8563" y="3910013"/>
            <a:ext cx="5357874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8425" y="635000"/>
            <a:ext cx="5501640" cy="763333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２、某模型机字长32位，主存容量为4M字，该机指令系统的单字长指令具备129种操作，操作码长度固定，且具有直接、间接、立即、相对、基址、变址六种寻址方式。（1）一地址指令格式如下图所示，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则OP字段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【8】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位；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0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&gt;129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M字段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【3】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位；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0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&gt;6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A字段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【21】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位；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(32-8-3)=21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（2）该指令直接寻址的最大范围是  （由小到大）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: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0-2</a:t>
            </a:r>
            <a:r>
              <a:rPr lang="en-US" altLang="zh-CN" sz="20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21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-1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（3）一次间址的寻址范围是</a:t>
            </a:r>
            <a:r>
              <a:rPr 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: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</a:t>
            </a:r>
            <a:r>
              <a:rPr lang="en-US" sz="2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微软雅黑" panose="020B0503020204020204" pitchFamily="34" charset="-122"/>
              </a:rPr>
              <a:t>～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4M-1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相对寻址的位移量范围是 </a:t>
            </a:r>
            <a:r>
              <a:rPr 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: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-2</a:t>
            </a:r>
            <a:r>
              <a:rPr lang="en-US" sz="20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en-US" sz="2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微软雅黑" panose="020B0503020204020204" pitchFamily="34" charset="-122"/>
              </a:rPr>
              <a:t>～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sz="20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21位补码表示的数据范围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/>
          <a:srcRect t="28583"/>
          <a:stretch>
            <a:fillRect/>
          </a:stretch>
        </p:blipFill>
        <p:spPr>
          <a:xfrm>
            <a:off x="697865" y="3058604"/>
            <a:ext cx="41656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1500" y="1833561"/>
            <a:ext cx="4572000" cy="505412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 lvl="0">
              <a:lnSpc>
                <a:spcPct val="150000"/>
              </a:lnSpc>
            </a:pPr>
            <a:r>
              <a:rPr lang="zh-TW" altLang="zh-CN" sz="2000" dirty="0"/>
              <a:t>根据操作数所在位置，指出其寻址方式：</a:t>
            </a:r>
            <a:endParaRPr lang="zh-CN" altLang="zh-CN" sz="2000" dirty="0"/>
          </a:p>
          <a:p>
            <a:pPr lvl="0">
              <a:lnSpc>
                <a:spcPct val="150000"/>
              </a:lnSpc>
            </a:pPr>
            <a:r>
              <a:rPr lang="zh-TW" altLang="zh-CN" sz="2000" dirty="0"/>
              <a:t>操作数在寄存器中，为</a:t>
            </a:r>
            <a:r>
              <a:rPr lang="zh-TW" altLang="en-US" sz="2000" dirty="0">
                <a:solidFill>
                  <a:srgbClr val="639EF4"/>
                </a:solidFill>
              </a:rPr>
              <a:t> </a:t>
            </a:r>
            <a:r>
              <a:rPr lang="en-US" altLang="zh-TW" sz="2000" dirty="0">
                <a:solidFill>
                  <a:srgbClr val="639EF4"/>
                </a:solidFill>
              </a:rPr>
              <a:t>[</a:t>
            </a:r>
            <a:r>
              <a:rPr lang="zh-CN" altLang="zh-TW" sz="2000" dirty="0">
                <a:solidFill>
                  <a:srgbClr val="639EF4"/>
                </a:solidFill>
              </a:rPr>
              <a:t>寄存器</a:t>
            </a:r>
            <a:r>
              <a:rPr lang="en-US" altLang="zh-TW" sz="2000" dirty="0">
                <a:solidFill>
                  <a:srgbClr val="639EF4"/>
                </a:solidFill>
              </a:rPr>
              <a:t>]</a:t>
            </a:r>
            <a:r>
              <a:rPr lang="en-US" altLang="zh-TW" sz="2000" dirty="0">
                <a:solidFill>
                  <a:srgbClr val="000000"/>
                </a:solidFill>
              </a:rPr>
              <a:t> </a:t>
            </a:r>
            <a:r>
              <a:rPr lang="zh-TW" altLang="zh-CN" sz="2000" dirty="0"/>
              <a:t>寻址方式。</a:t>
            </a:r>
            <a:endParaRPr lang="zh-CN" altLang="zh-CN" sz="2000" dirty="0"/>
          </a:p>
          <a:p>
            <a:pPr lvl="0">
              <a:lnSpc>
                <a:spcPct val="150000"/>
              </a:lnSpc>
            </a:pPr>
            <a:r>
              <a:rPr lang="zh-TW" altLang="zh-CN" sz="2000" dirty="0"/>
              <a:t>操作数地址在寄存器，为</a:t>
            </a:r>
            <a:r>
              <a:rPr lang="zh-TW" altLang="en-US" sz="2000" dirty="0">
                <a:solidFill>
                  <a:srgbClr val="639EF4"/>
                </a:solidFill>
              </a:rPr>
              <a:t> </a:t>
            </a:r>
            <a:r>
              <a:rPr lang="en-US" altLang="zh-TW" sz="2000" dirty="0">
                <a:solidFill>
                  <a:srgbClr val="639EF4"/>
                </a:solidFill>
              </a:rPr>
              <a:t>[</a:t>
            </a:r>
            <a:r>
              <a:rPr lang="zh-CN" altLang="en-US" sz="2000" dirty="0">
                <a:solidFill>
                  <a:srgbClr val="639EF4"/>
                </a:solidFill>
              </a:rPr>
              <a:t>寄存器间接</a:t>
            </a:r>
            <a:r>
              <a:rPr lang="en-US" altLang="zh-TW" sz="2000" dirty="0">
                <a:solidFill>
                  <a:srgbClr val="639EF4"/>
                </a:solidFill>
              </a:rPr>
              <a:t>]</a:t>
            </a:r>
            <a:r>
              <a:rPr lang="en-US" altLang="zh-TW" sz="2000" dirty="0">
                <a:solidFill>
                  <a:srgbClr val="000000"/>
                </a:solidFill>
              </a:rPr>
              <a:t> </a:t>
            </a:r>
            <a:r>
              <a:rPr lang="zh-TW" altLang="zh-CN" sz="2000" dirty="0"/>
              <a:t>寻址方式。</a:t>
            </a:r>
            <a:endParaRPr lang="zh-CN" altLang="zh-CN" sz="2000" dirty="0"/>
          </a:p>
          <a:p>
            <a:pPr lvl="0">
              <a:lnSpc>
                <a:spcPct val="150000"/>
              </a:lnSpc>
            </a:pPr>
            <a:r>
              <a:rPr lang="zh-TW" altLang="zh-CN" sz="2000" dirty="0"/>
              <a:t>操作数在指令中，为</a:t>
            </a:r>
            <a:r>
              <a:rPr lang="zh-TW" altLang="en-US" sz="2000" dirty="0">
                <a:solidFill>
                  <a:srgbClr val="639EF4"/>
                </a:solidFill>
              </a:rPr>
              <a:t> </a:t>
            </a:r>
            <a:r>
              <a:rPr lang="en-US" altLang="zh-TW" sz="2000" dirty="0">
                <a:solidFill>
                  <a:srgbClr val="639EF4"/>
                </a:solidFill>
              </a:rPr>
              <a:t>[</a:t>
            </a:r>
            <a:r>
              <a:rPr lang="zh-CN" altLang="zh-TW" sz="2000" dirty="0">
                <a:solidFill>
                  <a:srgbClr val="639EF4"/>
                </a:solidFill>
              </a:rPr>
              <a:t>立即</a:t>
            </a:r>
            <a:r>
              <a:rPr lang="en-US" altLang="zh-TW" sz="2000" dirty="0">
                <a:solidFill>
                  <a:srgbClr val="639EF4"/>
                </a:solidFill>
              </a:rPr>
              <a:t>]</a:t>
            </a:r>
            <a:r>
              <a:rPr lang="en-US" altLang="zh-TW" sz="2000" dirty="0">
                <a:solidFill>
                  <a:srgbClr val="000000"/>
                </a:solidFill>
              </a:rPr>
              <a:t> </a:t>
            </a:r>
            <a:r>
              <a:rPr lang="zh-TW" altLang="zh-CN" sz="2000" dirty="0"/>
              <a:t>寻址方式。</a:t>
            </a:r>
            <a:endParaRPr lang="zh-CN" altLang="zh-CN" sz="2000" dirty="0"/>
          </a:p>
          <a:p>
            <a:pPr lvl="0">
              <a:lnSpc>
                <a:spcPct val="150000"/>
              </a:lnSpc>
            </a:pPr>
            <a:r>
              <a:rPr lang="zh-TW" altLang="zh-CN" sz="2000" dirty="0"/>
              <a:t>操作数地址(主存)在指令中，为</a:t>
            </a:r>
            <a:r>
              <a:rPr lang="zh-TW" altLang="en-US" sz="2000" dirty="0">
                <a:solidFill>
                  <a:srgbClr val="639EF4"/>
                </a:solidFill>
              </a:rPr>
              <a:t> </a:t>
            </a:r>
            <a:r>
              <a:rPr lang="en-US" altLang="zh-TW" sz="2000" dirty="0">
                <a:solidFill>
                  <a:srgbClr val="639EF4"/>
                </a:solidFill>
              </a:rPr>
              <a:t>[</a:t>
            </a:r>
            <a:r>
              <a:rPr lang="zh-CN" altLang="zh-TW" sz="2000" dirty="0">
                <a:solidFill>
                  <a:srgbClr val="639EF4"/>
                </a:solidFill>
              </a:rPr>
              <a:t>直接</a:t>
            </a:r>
            <a:r>
              <a:rPr lang="en-US" altLang="zh-TW" sz="2000" dirty="0">
                <a:solidFill>
                  <a:srgbClr val="639EF4"/>
                </a:solidFill>
              </a:rPr>
              <a:t>]</a:t>
            </a:r>
            <a:r>
              <a:rPr lang="en-US" altLang="zh-TW" sz="2000" dirty="0">
                <a:solidFill>
                  <a:srgbClr val="000000"/>
                </a:solidFill>
              </a:rPr>
              <a:t> </a:t>
            </a:r>
            <a:r>
              <a:rPr lang="zh-TW" altLang="zh-CN" sz="2000" dirty="0"/>
              <a:t>寻址方式。</a:t>
            </a:r>
            <a:endParaRPr lang="zh-CN" altLang="zh-CN" sz="2000" dirty="0"/>
          </a:p>
          <a:p>
            <a:pPr lvl="0">
              <a:lnSpc>
                <a:spcPct val="150000"/>
              </a:lnSpc>
            </a:pPr>
            <a:r>
              <a:rPr lang="zh-TW" altLang="zh-CN" sz="2000" dirty="0"/>
              <a:t>操作数的地址，为某一寄存器内容与位移量之和，可以是</a:t>
            </a:r>
            <a:r>
              <a:rPr lang="zh-TW" altLang="en-US" sz="2000" dirty="0">
                <a:solidFill>
                  <a:srgbClr val="639EF4"/>
                </a:solidFill>
              </a:rPr>
              <a:t> </a:t>
            </a:r>
            <a:r>
              <a:rPr lang="en-US" altLang="zh-TW" sz="2000" dirty="0">
                <a:solidFill>
                  <a:srgbClr val="639EF4"/>
                </a:solidFill>
              </a:rPr>
              <a:t>[</a:t>
            </a:r>
            <a:r>
              <a:rPr lang="zh-CN" altLang="zh-TW" sz="2000" dirty="0">
                <a:solidFill>
                  <a:srgbClr val="639EF4"/>
                </a:solidFill>
              </a:rPr>
              <a:t>基址</a:t>
            </a:r>
            <a:r>
              <a:rPr lang="en-US" altLang="zh-TW" sz="2000" dirty="0">
                <a:solidFill>
                  <a:srgbClr val="639EF4"/>
                </a:solidFill>
              </a:rPr>
              <a:t>]</a:t>
            </a:r>
            <a:r>
              <a:rPr lang="zh-TW" altLang="zh-CN" sz="2000" dirty="0"/>
              <a:t>寻址方式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639EF4"/>
                </a:solidFill>
              </a:rPr>
              <a:t> </a:t>
            </a:r>
            <a:r>
              <a:rPr lang="en-US" altLang="zh-CN" sz="2000" dirty="0">
                <a:solidFill>
                  <a:srgbClr val="639EF4"/>
                </a:solidFill>
              </a:rPr>
              <a:t>[</a:t>
            </a:r>
            <a:r>
              <a:rPr lang="zh-CN" altLang="en-US" sz="2000" dirty="0">
                <a:solidFill>
                  <a:srgbClr val="639EF4"/>
                </a:solidFill>
              </a:rPr>
              <a:t>变址</a:t>
            </a:r>
            <a:r>
              <a:rPr lang="en-US" altLang="zh-CN" sz="2000" dirty="0">
                <a:solidFill>
                  <a:srgbClr val="639EF4"/>
                </a:solidFill>
              </a:rPr>
              <a:t>]</a:t>
            </a:r>
            <a:r>
              <a:rPr lang="zh-TW" altLang="zh-CN" sz="2000" dirty="0"/>
              <a:t>寻址方式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639EF4"/>
                </a:solidFill>
              </a:rPr>
              <a:t> </a:t>
            </a:r>
            <a:r>
              <a:rPr lang="en-US" altLang="zh-CN" sz="2000" dirty="0">
                <a:solidFill>
                  <a:srgbClr val="639EF4"/>
                </a:solidFill>
              </a:rPr>
              <a:t>[</a:t>
            </a:r>
            <a:r>
              <a:rPr lang="zh-CN" altLang="en-US" sz="2000" dirty="0">
                <a:solidFill>
                  <a:srgbClr val="639EF4"/>
                </a:solidFill>
              </a:rPr>
              <a:t>相对</a:t>
            </a:r>
            <a:r>
              <a:rPr lang="en-US" altLang="zh-CN" sz="2000" dirty="0">
                <a:solidFill>
                  <a:srgbClr val="639EF4"/>
                </a:solidFill>
              </a:rPr>
              <a:t>]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TW" altLang="zh-CN" sz="2000" dirty="0"/>
              <a:t>寻址方式。</a:t>
            </a:r>
            <a:endParaRPr lang="zh-CN" altLang="zh-CN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ody"/>
</p:tagLst>
</file>

<file path=ppt/tags/tag7.xml><?xml version="1.0" encoding="utf-8"?>
<p:tagLst xmlns:p="http://schemas.openxmlformats.org/presentationml/2006/main">
  <p:tag name="RAINPROBLEM" val="ProblemBody"/>
</p:tagLst>
</file>

<file path=ppt/tags/tag8.xml><?xml version="1.0" encoding="utf-8"?>
<p:tagLst xmlns:p="http://schemas.openxmlformats.org/presentationml/2006/main">
  <p:tag name="KSO_WM_UNIT_PLACING_PICTURE_USER_VIEWPORT" val="{&quot;height&quot;:2460,&quot;width&quot;:8437.5968503937002}"/>
</p:tagLst>
</file>

<file path=ppt/tags/tag9.xml><?xml version="1.0" encoding="utf-8"?>
<p:tagLst xmlns:p="http://schemas.openxmlformats.org/presentationml/2006/main">
  <p:tag name="RAINPROBLEM" val="ProblemBody"/>
</p:tagLst>
</file>

<file path=ppt/tags/tag10.xml><?xml version="1.0" encoding="utf-8"?>
<p:tagLst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</Words>
  <Application>WPS 演示</Application>
  <PresentationFormat>全屏显示(16:10)</PresentationFormat>
  <Paragraphs>61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仿宋</vt:lpstr>
      <vt:lpstr>Arial Unicode MS</vt:lpstr>
      <vt:lpstr>Calibri</vt:lpstr>
      <vt:lpstr>PMingLiU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第四章作业</dc:title>
  <dc:creator>wxl</dc:creator>
  <cp:lastModifiedBy>admin</cp:lastModifiedBy>
  <cp:revision>21</cp:revision>
  <dcterms:created xsi:type="dcterms:W3CDTF">2021-10-18T08:36:00Z</dcterms:created>
  <dcterms:modified xsi:type="dcterms:W3CDTF">2021-12-27T09:32:53Z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150E4CDCE49C4B53A792E0ED9E0193EF</vt:lpwstr>
  </property>
  <property fmtid="{D5CDD505-2E9C-101B-9397-08002B2CF9AE}" pid="3" name="KSOProductBuildVer">
    <vt:lpwstr>2052-11.1.0.10314</vt:lpwstr>
  </property>
</Properties>
</file>