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sldIdLst>
    <p:sldId id="288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301" r:id="rId13"/>
    <p:sldId id="302" r:id="rId14"/>
    <p:sldId id="286" r:id="rId15"/>
    <p:sldId id="299" r:id="rId16"/>
    <p:sldId id="287" r:id="rId17"/>
  </p:sldIdLst>
  <p:sldSz cx="9144000" cy="6858000" type="screen4x3"/>
  <p:notesSz cx="6858000" cy="9144000"/>
  <p:custDataLst>
    <p:tags r:id="rId21"/>
  </p:custDataLst>
  <p:defaultTextStyle>
    <a:defPPr>
      <a:defRPr lang="zh-CN"/>
    </a:defPPr>
    <a:lvl1pPr marL="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1pPr>
    <a:lvl2pPr marL="35687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2pPr>
    <a:lvl3pPr marL="71310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3pPr>
    <a:lvl4pPr marL="106997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4pPr>
    <a:lvl5pPr marL="142621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6pPr>
    <a:lvl7pPr marL="2139950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7pPr>
    <a:lvl8pPr marL="249618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8pPr>
    <a:lvl9pPr marL="2853055" algn="l" defTabSz="713105" rtl="0" eaLnBrk="1" latinLnBrk="0" hangingPunct="1">
      <a:defRPr sz="1405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3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15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416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>
              <a:defRPr sz="4160"/>
            </a:lvl1pPr>
          </a:lstStyle>
          <a:p>
            <a:r>
              <a:rPr lang="zh-CN" altLang="en-US"/>
              <a:t>请填写试卷标题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617855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7855" rtl="0" eaLnBrk="1" latinLnBrk="0" hangingPunct="1">
        <a:lnSpc>
          <a:spcPct val="90000"/>
        </a:lnSpc>
        <a:spcBef>
          <a:spcPct val="135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77089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4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99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33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855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2295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l" defTabSz="617855" rtl="0" eaLnBrk="1" latinLnBrk="0" hangingPunct="1">
        <a:lnSpc>
          <a:spcPct val="90000"/>
        </a:lnSpc>
        <a:spcBef>
          <a:spcPct val="0"/>
        </a:spcBef>
        <a:buNone/>
        <a:defRPr sz="2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4305" indent="-154305" algn="l" defTabSz="617855" rtl="0" eaLnBrk="1" latinLnBrk="0" hangingPunct="1">
        <a:lnSpc>
          <a:spcPct val="90000"/>
        </a:lnSpc>
        <a:spcBef>
          <a:spcPct val="135000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2pPr>
      <a:lvl3pPr marL="77089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38874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69799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2005330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31457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623185" indent="-154305" algn="l" defTabSz="617855" rtl="0" eaLnBrk="1" latinLnBrk="0" hangingPunct="1">
        <a:lnSpc>
          <a:spcPct val="90000"/>
        </a:lnSpc>
        <a:spcBef>
          <a:spcPct val="68000"/>
        </a:spcBef>
        <a:buFont typeface="Arial" panose="020B0604020202020204" pitchFamily="34" charset="0"/>
        <a:buChar char="•"/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855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2295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61785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1.xml.rels><?xml version="1.0" encoding="UTF-8" standalone="yes"?>
<Relationships xmlns="http://schemas.openxmlformats.org/package/2006/relationships"><Relationship Id="rId99" Type="http://schemas.openxmlformats.org/officeDocument/2006/relationships/tags" Target="../tags/tag134.xml"/><Relationship Id="rId98" Type="http://schemas.openxmlformats.org/officeDocument/2006/relationships/tags" Target="../tags/tag133.xml"/><Relationship Id="rId97" Type="http://schemas.openxmlformats.org/officeDocument/2006/relationships/tags" Target="../tags/tag132.xml"/><Relationship Id="rId96" Type="http://schemas.openxmlformats.org/officeDocument/2006/relationships/tags" Target="../tags/tag131.xml"/><Relationship Id="rId95" Type="http://schemas.openxmlformats.org/officeDocument/2006/relationships/tags" Target="../tags/tag130.xml"/><Relationship Id="rId94" Type="http://schemas.openxmlformats.org/officeDocument/2006/relationships/tags" Target="../tags/tag129.xml"/><Relationship Id="rId93" Type="http://schemas.openxmlformats.org/officeDocument/2006/relationships/tags" Target="../tags/tag128.xml"/><Relationship Id="rId92" Type="http://schemas.openxmlformats.org/officeDocument/2006/relationships/tags" Target="../tags/tag127.xml"/><Relationship Id="rId91" Type="http://schemas.openxmlformats.org/officeDocument/2006/relationships/tags" Target="../tags/tag126.xml"/><Relationship Id="rId90" Type="http://schemas.openxmlformats.org/officeDocument/2006/relationships/tags" Target="../tags/tag125.xml"/><Relationship Id="rId9" Type="http://schemas.openxmlformats.org/officeDocument/2006/relationships/tags" Target="../tags/tag44.xml"/><Relationship Id="rId89" Type="http://schemas.openxmlformats.org/officeDocument/2006/relationships/tags" Target="../tags/tag124.xml"/><Relationship Id="rId88" Type="http://schemas.openxmlformats.org/officeDocument/2006/relationships/tags" Target="../tags/tag123.xml"/><Relationship Id="rId87" Type="http://schemas.openxmlformats.org/officeDocument/2006/relationships/tags" Target="../tags/tag122.xml"/><Relationship Id="rId86" Type="http://schemas.openxmlformats.org/officeDocument/2006/relationships/tags" Target="../tags/tag121.xml"/><Relationship Id="rId85" Type="http://schemas.openxmlformats.org/officeDocument/2006/relationships/tags" Target="../tags/tag120.xml"/><Relationship Id="rId84" Type="http://schemas.openxmlformats.org/officeDocument/2006/relationships/tags" Target="../tags/tag119.xml"/><Relationship Id="rId83" Type="http://schemas.openxmlformats.org/officeDocument/2006/relationships/tags" Target="../tags/tag118.xml"/><Relationship Id="rId82" Type="http://schemas.openxmlformats.org/officeDocument/2006/relationships/tags" Target="../tags/tag117.xml"/><Relationship Id="rId81" Type="http://schemas.openxmlformats.org/officeDocument/2006/relationships/tags" Target="../tags/tag116.xml"/><Relationship Id="rId80" Type="http://schemas.openxmlformats.org/officeDocument/2006/relationships/tags" Target="../tags/tag115.xml"/><Relationship Id="rId8" Type="http://schemas.openxmlformats.org/officeDocument/2006/relationships/tags" Target="../tags/tag43.xml"/><Relationship Id="rId79" Type="http://schemas.openxmlformats.org/officeDocument/2006/relationships/tags" Target="../tags/tag114.xml"/><Relationship Id="rId78" Type="http://schemas.openxmlformats.org/officeDocument/2006/relationships/tags" Target="../tags/tag113.xml"/><Relationship Id="rId77" Type="http://schemas.openxmlformats.org/officeDocument/2006/relationships/tags" Target="../tags/tag112.xml"/><Relationship Id="rId76" Type="http://schemas.openxmlformats.org/officeDocument/2006/relationships/tags" Target="../tags/tag111.xml"/><Relationship Id="rId75" Type="http://schemas.openxmlformats.org/officeDocument/2006/relationships/tags" Target="../tags/tag110.xml"/><Relationship Id="rId74" Type="http://schemas.openxmlformats.org/officeDocument/2006/relationships/tags" Target="../tags/tag109.xml"/><Relationship Id="rId73" Type="http://schemas.openxmlformats.org/officeDocument/2006/relationships/tags" Target="../tags/tag108.xml"/><Relationship Id="rId72" Type="http://schemas.openxmlformats.org/officeDocument/2006/relationships/tags" Target="../tags/tag107.xml"/><Relationship Id="rId71" Type="http://schemas.openxmlformats.org/officeDocument/2006/relationships/tags" Target="../tags/tag106.xml"/><Relationship Id="rId70" Type="http://schemas.openxmlformats.org/officeDocument/2006/relationships/tags" Target="../tags/tag105.xml"/><Relationship Id="rId7" Type="http://schemas.openxmlformats.org/officeDocument/2006/relationships/tags" Target="../tags/tag42.xml"/><Relationship Id="rId69" Type="http://schemas.openxmlformats.org/officeDocument/2006/relationships/tags" Target="../tags/tag104.xml"/><Relationship Id="rId68" Type="http://schemas.openxmlformats.org/officeDocument/2006/relationships/tags" Target="../tags/tag103.xml"/><Relationship Id="rId67" Type="http://schemas.openxmlformats.org/officeDocument/2006/relationships/tags" Target="../tags/tag102.xml"/><Relationship Id="rId66" Type="http://schemas.openxmlformats.org/officeDocument/2006/relationships/tags" Target="../tags/tag101.xml"/><Relationship Id="rId65" Type="http://schemas.openxmlformats.org/officeDocument/2006/relationships/tags" Target="../tags/tag100.xml"/><Relationship Id="rId64" Type="http://schemas.openxmlformats.org/officeDocument/2006/relationships/tags" Target="../tags/tag99.xml"/><Relationship Id="rId63" Type="http://schemas.openxmlformats.org/officeDocument/2006/relationships/tags" Target="../tags/tag98.xml"/><Relationship Id="rId62" Type="http://schemas.openxmlformats.org/officeDocument/2006/relationships/tags" Target="../tags/tag97.xml"/><Relationship Id="rId61" Type="http://schemas.openxmlformats.org/officeDocument/2006/relationships/tags" Target="../tags/tag96.xml"/><Relationship Id="rId60" Type="http://schemas.openxmlformats.org/officeDocument/2006/relationships/tags" Target="../tags/tag95.xml"/><Relationship Id="rId6" Type="http://schemas.openxmlformats.org/officeDocument/2006/relationships/tags" Target="../tags/tag41.xml"/><Relationship Id="rId59" Type="http://schemas.openxmlformats.org/officeDocument/2006/relationships/tags" Target="../tags/tag94.xml"/><Relationship Id="rId58" Type="http://schemas.openxmlformats.org/officeDocument/2006/relationships/tags" Target="../tags/tag93.xml"/><Relationship Id="rId57" Type="http://schemas.openxmlformats.org/officeDocument/2006/relationships/tags" Target="../tags/tag92.xml"/><Relationship Id="rId56" Type="http://schemas.openxmlformats.org/officeDocument/2006/relationships/tags" Target="../tags/tag91.xml"/><Relationship Id="rId55" Type="http://schemas.openxmlformats.org/officeDocument/2006/relationships/tags" Target="../tags/tag90.xml"/><Relationship Id="rId54" Type="http://schemas.openxmlformats.org/officeDocument/2006/relationships/tags" Target="../tags/tag89.xml"/><Relationship Id="rId53" Type="http://schemas.openxmlformats.org/officeDocument/2006/relationships/tags" Target="../tags/tag88.xml"/><Relationship Id="rId52" Type="http://schemas.openxmlformats.org/officeDocument/2006/relationships/tags" Target="../tags/tag87.xml"/><Relationship Id="rId51" Type="http://schemas.openxmlformats.org/officeDocument/2006/relationships/tags" Target="../tags/tag86.xml"/><Relationship Id="rId50" Type="http://schemas.openxmlformats.org/officeDocument/2006/relationships/tags" Target="../tags/tag85.xml"/><Relationship Id="rId5" Type="http://schemas.openxmlformats.org/officeDocument/2006/relationships/tags" Target="../tags/tag40.xml"/><Relationship Id="rId49" Type="http://schemas.openxmlformats.org/officeDocument/2006/relationships/tags" Target="../tags/tag84.xml"/><Relationship Id="rId48" Type="http://schemas.openxmlformats.org/officeDocument/2006/relationships/tags" Target="../tags/tag83.xml"/><Relationship Id="rId47" Type="http://schemas.openxmlformats.org/officeDocument/2006/relationships/tags" Target="../tags/tag82.xml"/><Relationship Id="rId46" Type="http://schemas.openxmlformats.org/officeDocument/2006/relationships/tags" Target="../tags/tag81.xml"/><Relationship Id="rId45" Type="http://schemas.openxmlformats.org/officeDocument/2006/relationships/tags" Target="../tags/tag80.xml"/><Relationship Id="rId44" Type="http://schemas.openxmlformats.org/officeDocument/2006/relationships/tags" Target="../tags/tag79.xml"/><Relationship Id="rId43" Type="http://schemas.openxmlformats.org/officeDocument/2006/relationships/tags" Target="../tags/tag78.xml"/><Relationship Id="rId42" Type="http://schemas.openxmlformats.org/officeDocument/2006/relationships/tags" Target="../tags/tag77.xml"/><Relationship Id="rId41" Type="http://schemas.openxmlformats.org/officeDocument/2006/relationships/tags" Target="../tags/tag76.xml"/><Relationship Id="rId40" Type="http://schemas.openxmlformats.org/officeDocument/2006/relationships/tags" Target="../tags/tag75.xml"/><Relationship Id="rId4" Type="http://schemas.openxmlformats.org/officeDocument/2006/relationships/tags" Target="../tags/tag39.xml"/><Relationship Id="rId39" Type="http://schemas.openxmlformats.org/officeDocument/2006/relationships/tags" Target="../tags/tag74.xml"/><Relationship Id="rId38" Type="http://schemas.openxmlformats.org/officeDocument/2006/relationships/tags" Target="../tags/tag73.xml"/><Relationship Id="rId37" Type="http://schemas.openxmlformats.org/officeDocument/2006/relationships/tags" Target="../tags/tag72.xml"/><Relationship Id="rId36" Type="http://schemas.openxmlformats.org/officeDocument/2006/relationships/tags" Target="../tags/tag71.xml"/><Relationship Id="rId35" Type="http://schemas.openxmlformats.org/officeDocument/2006/relationships/tags" Target="../tags/tag70.xml"/><Relationship Id="rId34" Type="http://schemas.openxmlformats.org/officeDocument/2006/relationships/tags" Target="../tags/tag69.xml"/><Relationship Id="rId33" Type="http://schemas.openxmlformats.org/officeDocument/2006/relationships/tags" Target="../tags/tag68.xml"/><Relationship Id="rId32" Type="http://schemas.openxmlformats.org/officeDocument/2006/relationships/tags" Target="../tags/tag67.xml"/><Relationship Id="rId31" Type="http://schemas.openxmlformats.org/officeDocument/2006/relationships/tags" Target="../tags/tag66.xml"/><Relationship Id="rId30" Type="http://schemas.openxmlformats.org/officeDocument/2006/relationships/tags" Target="../tags/tag65.xml"/><Relationship Id="rId3" Type="http://schemas.openxmlformats.org/officeDocument/2006/relationships/tags" Target="../tags/tag38.xml"/><Relationship Id="rId29" Type="http://schemas.openxmlformats.org/officeDocument/2006/relationships/tags" Target="../tags/tag64.xml"/><Relationship Id="rId28" Type="http://schemas.openxmlformats.org/officeDocument/2006/relationships/tags" Target="../tags/tag63.xml"/><Relationship Id="rId27" Type="http://schemas.openxmlformats.org/officeDocument/2006/relationships/tags" Target="../tags/tag62.xml"/><Relationship Id="rId26" Type="http://schemas.openxmlformats.org/officeDocument/2006/relationships/tags" Target="../tags/tag61.xml"/><Relationship Id="rId25" Type="http://schemas.openxmlformats.org/officeDocument/2006/relationships/tags" Target="../tags/tag60.xml"/><Relationship Id="rId24" Type="http://schemas.openxmlformats.org/officeDocument/2006/relationships/tags" Target="../tags/tag59.xml"/><Relationship Id="rId23" Type="http://schemas.openxmlformats.org/officeDocument/2006/relationships/tags" Target="../tags/tag58.xml"/><Relationship Id="rId22" Type="http://schemas.openxmlformats.org/officeDocument/2006/relationships/tags" Target="../tags/tag57.xml"/><Relationship Id="rId21" Type="http://schemas.openxmlformats.org/officeDocument/2006/relationships/tags" Target="../tags/tag56.xml"/><Relationship Id="rId20" Type="http://schemas.openxmlformats.org/officeDocument/2006/relationships/tags" Target="../tags/tag55.xml"/><Relationship Id="rId2" Type="http://schemas.openxmlformats.org/officeDocument/2006/relationships/tags" Target="../tags/tag37.xml"/><Relationship Id="rId19" Type="http://schemas.openxmlformats.org/officeDocument/2006/relationships/tags" Target="../tags/tag54.xml"/><Relationship Id="rId18" Type="http://schemas.openxmlformats.org/officeDocument/2006/relationships/tags" Target="../tags/tag53.xml"/><Relationship Id="rId17" Type="http://schemas.openxmlformats.org/officeDocument/2006/relationships/tags" Target="../tags/tag52.xml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5" Type="http://schemas.openxmlformats.org/officeDocument/2006/relationships/slideLayout" Target="../slideLayouts/slideLayout2.xml"/><Relationship Id="rId114" Type="http://schemas.openxmlformats.org/officeDocument/2006/relationships/tags" Target="../tags/tag149.xml"/><Relationship Id="rId113" Type="http://schemas.openxmlformats.org/officeDocument/2006/relationships/tags" Target="../tags/tag148.xml"/><Relationship Id="rId112" Type="http://schemas.openxmlformats.org/officeDocument/2006/relationships/tags" Target="../tags/tag147.xml"/><Relationship Id="rId111" Type="http://schemas.openxmlformats.org/officeDocument/2006/relationships/tags" Target="../tags/tag146.xml"/><Relationship Id="rId110" Type="http://schemas.openxmlformats.org/officeDocument/2006/relationships/tags" Target="../tags/tag145.xml"/><Relationship Id="rId11" Type="http://schemas.openxmlformats.org/officeDocument/2006/relationships/tags" Target="../tags/tag46.xml"/><Relationship Id="rId109" Type="http://schemas.openxmlformats.org/officeDocument/2006/relationships/tags" Target="../tags/tag144.xml"/><Relationship Id="rId108" Type="http://schemas.openxmlformats.org/officeDocument/2006/relationships/tags" Target="../tags/tag143.xml"/><Relationship Id="rId107" Type="http://schemas.openxmlformats.org/officeDocument/2006/relationships/tags" Target="../tags/tag142.xml"/><Relationship Id="rId106" Type="http://schemas.openxmlformats.org/officeDocument/2006/relationships/tags" Target="../tags/tag141.xml"/><Relationship Id="rId105" Type="http://schemas.openxmlformats.org/officeDocument/2006/relationships/tags" Target="../tags/tag140.xml"/><Relationship Id="rId104" Type="http://schemas.openxmlformats.org/officeDocument/2006/relationships/tags" Target="../tags/tag139.xml"/><Relationship Id="rId103" Type="http://schemas.openxmlformats.org/officeDocument/2006/relationships/tags" Target="../tags/tag138.xml"/><Relationship Id="rId102" Type="http://schemas.openxmlformats.org/officeDocument/2006/relationships/tags" Target="../tags/tag137.xml"/><Relationship Id="rId101" Type="http://schemas.openxmlformats.org/officeDocument/2006/relationships/tags" Target="../tags/tag136.xml"/><Relationship Id="rId100" Type="http://schemas.openxmlformats.org/officeDocument/2006/relationships/tags" Target="../tags/tag135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/>
        </p:nvSpPr>
        <p:spPr>
          <a:xfrm>
            <a:off x="457200" y="2857500"/>
            <a:ext cx="8229600" cy="1143000"/>
          </a:xfrm>
          <a:prstGeom prst="rect">
            <a:avLst/>
          </a:prstGeom>
        </p:spPr>
        <p:txBody>
          <a:bodyPr vert="horz" anchor="ctr" anchorCtr="1"/>
          <a:lstStyle>
            <a:lvl1pPr algn="l" defTabSz="6178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1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0"/>
              </a:spcAft>
            </a:pPr>
            <a:r>
              <a:rPr lang="zh-CN" altLang="en-US" sz="5760" b="1" dirty="0"/>
              <a:t>第三章作业解析</a:t>
            </a:r>
            <a:endParaRPr lang="zh-CN" altLang="en-US" sz="576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536575" y="914400"/>
            <a:ext cx="8305800" cy="458978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设有一个具有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位地址和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位字长的存储器，问：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）该存储器能存储【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en-US" altLang="zh-CN" sz="24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×32/8=4M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】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字节的信息。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）如果存储器由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512KX8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芯片组成，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需要 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【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4M/512K=2</a:t>
            </a:r>
            <a:r>
              <a:rPr lang="en-US" altLang="zh-CN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22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/2</a:t>
            </a:r>
            <a:r>
              <a:rPr lang="en-US" altLang="zh-CN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19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=2</a:t>
            </a:r>
            <a:r>
              <a:rPr lang="en-US" altLang="zh-CN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22-19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=2</a:t>
            </a:r>
            <a:r>
              <a:rPr lang="en-US" altLang="zh-CN" sz="2400" baseline="30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=8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】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片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进行扩展，需要 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【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】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地址作芯片选择。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10845" y="876300"/>
            <a:ext cx="8636000" cy="510476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执行一段程序时，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完成存取的次数为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2420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次，主存完成存取的次数为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次，已知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存储周期为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40ns,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主存存储周期为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240ns,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则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主存系统的命中率为：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h=2420/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（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2420+80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=96.8%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e=tc/ta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e=tc/ta=40/46.4=86.2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平均访问时间为：</a:t>
            </a:r>
            <a:endParaRPr lang="zh-CN" altLang="en-US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ta=htc+(1-h)tm=0.968</a:t>
            </a:r>
            <a:r>
              <a:rPr lang="en-US" altLang="zh-CN" sz="24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×40+0.032×240=46.4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ns</a:t>
            </a:r>
            <a:endParaRPr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955040" y="1196340"/>
            <a:ext cx="7233920" cy="386207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已知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存储周期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40ns,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主存存储周期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200ns, cache/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主存系统平均访问时间为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50ns,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求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 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的命中率是</a:t>
            </a:r>
            <a:r>
              <a:rPr lang="zh-CN" altLang="en-US" sz="2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0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endParaRPr lang="en-US" altLang="zh-CN" sz="2000" dirty="0">
              <a:solidFill>
                <a:srgbClr val="639EF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ta=htc+(1-h)tm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h=(tm-ta)/(tm-tc)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=150/160=0.9375=93.75%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34340" y="582295"/>
            <a:ext cx="7840345" cy="520890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一个组相联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由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个行组成，每组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行。主存储器包含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个块，每块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字。则内存地址格式如下图所示，则：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地址共【19】位；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4k</a:t>
            </a:r>
            <a:r>
              <a:rPr lang="en-US" altLang="zh-CN" sz="2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×128=2</a:t>
            </a:r>
            <a:r>
              <a:rPr lang="en-US" altLang="zh-CN" sz="2000" baseline="300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微软雅黑" panose="020B0503020204020204" pitchFamily="34" charset="-122"/>
              </a:rPr>
              <a:t>19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其中组号 （区号）【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=64/4=16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主存组数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=4k/16=256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=2</a:t>
            </a:r>
            <a:r>
              <a:rPr lang="en-US" altLang="zh-CN" sz="20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8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组内块号（区内块号） 【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】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位；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/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组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字号（块内地址）【7】  位 ；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每块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128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=2</a:t>
            </a:r>
            <a:r>
              <a:rPr lang="en-US" altLang="zh-CN" sz="20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7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3355" y="2216785"/>
            <a:ext cx="4057650" cy="9994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857250" y="787400"/>
            <a:ext cx="7315200" cy="87439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下列元件中存取速度最快的是：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104900" y="1839595"/>
            <a:ext cx="6299200" cy="5842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A. CACHE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04900" y="2588895"/>
            <a:ext cx="6299200" cy="5842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寄存器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04900" y="3338195"/>
            <a:ext cx="6299200" cy="5842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内存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1104900" y="4089400"/>
            <a:ext cx="6299200" cy="5842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硬盘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16000" y="1955800"/>
            <a:ext cx="6400800" cy="787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提高主存速度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016000" y="3080385"/>
            <a:ext cx="6400800" cy="787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扩充存储系统的容量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016000" y="4031615"/>
            <a:ext cx="6400800" cy="8769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解决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和主存之间的速度匹配问题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016000" y="4908550"/>
            <a:ext cx="6400800" cy="914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方便用户编程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62965" y="922020"/>
            <a:ext cx="7315200" cy="104203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在存储系统中，构建虚拟存储器的目的是：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016000" y="1955800"/>
            <a:ext cx="6400800" cy="787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提高主存速度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1016000" y="3080385"/>
            <a:ext cx="6400800" cy="787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扩充存储系统的容量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1016000" y="4031615"/>
            <a:ext cx="6400800" cy="87693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解决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和主存之间的速度匹配问题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1016000" y="4908550"/>
            <a:ext cx="6400800" cy="91440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p>
            <a:pPr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D.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方便用户编程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862965" y="922020"/>
            <a:ext cx="7315200" cy="104203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spcAft>
                <a:spcPts val="0"/>
              </a:spcAft>
            </a:pPr>
            <a:r>
              <a:rPr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在存储系统中，构建CACHE-主存层次的目的是：</a:t>
            </a:r>
            <a:r>
              <a:rPr 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</a:t>
            </a:r>
            <a:endParaRPr 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786765" y="986155"/>
            <a:ext cx="7571105" cy="51657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要求用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128K×16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芯片设计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512K ×16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位的存储器，则：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、存储器的数据寄存器有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、存储器的地址寄存器有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位；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、需要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512/128=4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片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芯片进行扩展，其中位扩展需要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4]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片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，字扩展需要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5]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片；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、若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RAM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的地址从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0000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开始，则末地址为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0DFFFFH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512K=2</a:t>
            </a:r>
            <a:r>
              <a:rPr lang="en-US" altLang="zh-CN" sz="2400" baseline="30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60000H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开始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0110 0000 0000 0000 0000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1101 1111 1111 1111 1111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17830" y="201295"/>
            <a:ext cx="8395970" cy="64084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1800"/>
              <a:t>设存储系统容量共</a:t>
            </a:r>
            <a:r>
              <a:rPr lang="en-US" altLang="zh-CN" sz="1800"/>
              <a:t>8MB</a:t>
            </a:r>
            <a:r>
              <a:rPr lang="zh-CN" altLang="en-US" sz="1800"/>
              <a:t>，其中含</a:t>
            </a:r>
            <a:r>
              <a:rPr lang="en-US" altLang="zh-CN" sz="1800"/>
              <a:t>2MB</a:t>
            </a:r>
            <a:r>
              <a:rPr lang="zh-CN" altLang="en-US" sz="1800"/>
              <a:t>的</a:t>
            </a:r>
            <a:r>
              <a:rPr lang="en-US" altLang="zh-CN" sz="1800"/>
              <a:t>ROM</a:t>
            </a:r>
            <a:r>
              <a:rPr lang="zh-CN" altLang="en-US" sz="1800"/>
              <a:t>，其余为</a:t>
            </a:r>
            <a:r>
              <a:rPr lang="en-US" altLang="zh-CN" sz="1800"/>
              <a:t>RAM</a:t>
            </a:r>
            <a:r>
              <a:rPr lang="zh-CN" altLang="en-US" sz="1800"/>
              <a:t>区，现用</a:t>
            </a:r>
            <a:r>
              <a:rPr lang="en-US" altLang="zh-CN" sz="1800"/>
              <a:t>1M*8</a:t>
            </a:r>
            <a:r>
              <a:rPr lang="zh-CN" altLang="en-US" sz="1800"/>
              <a:t>的</a:t>
            </a:r>
            <a:r>
              <a:rPr lang="en-US" altLang="zh-CN" sz="1800"/>
              <a:t>ROM</a:t>
            </a:r>
            <a:r>
              <a:rPr lang="zh-CN" altLang="en-US" sz="1800"/>
              <a:t>芯片和</a:t>
            </a:r>
            <a:r>
              <a:rPr lang="en-US" altLang="zh-CN" sz="1800"/>
              <a:t>2M*8</a:t>
            </a:r>
            <a:r>
              <a:rPr lang="zh-CN" altLang="en-US" sz="1800"/>
              <a:t>的</a:t>
            </a:r>
            <a:r>
              <a:rPr lang="en-US" altLang="zh-CN" sz="1800"/>
              <a:t>RAM</a:t>
            </a:r>
            <a:r>
              <a:rPr lang="zh-CN" altLang="en-US" sz="1800"/>
              <a:t>芯片来设计，若地址空间连续，</a:t>
            </a:r>
            <a:r>
              <a:rPr lang="en-US" altLang="zh-CN" sz="1800"/>
              <a:t>ROM</a:t>
            </a:r>
            <a:r>
              <a:rPr lang="zh-CN" altLang="en-US" sz="1800"/>
              <a:t>区占高地址区，画出该存储器构成框图？（要求有计算、分析过程）</a:t>
            </a:r>
            <a:endParaRPr lang="zh-CN" altLang="en-US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ROM</a:t>
            </a:r>
            <a:r>
              <a:rPr lang="zh-CN" altLang="en-US" sz="1800"/>
              <a:t>：</a:t>
            </a:r>
            <a:r>
              <a:rPr lang="en-US" altLang="zh-CN" sz="1800">
                <a:sym typeface="+mn-ea"/>
              </a:rPr>
              <a:t>2MB=2M*8</a:t>
            </a:r>
            <a:r>
              <a:rPr lang="zh-CN" altLang="en-US" sz="1800">
                <a:sym typeface="+mn-ea"/>
              </a:rPr>
              <a:t>，需要</a:t>
            </a:r>
            <a:r>
              <a:rPr lang="en-US" altLang="zh-CN" sz="1800">
                <a:sym typeface="+mn-ea"/>
              </a:rPr>
              <a:t>2M*8/</a:t>
            </a:r>
            <a:r>
              <a:rPr lang="en-US" altLang="zh-CN" sz="1800">
                <a:sym typeface="+mn-ea"/>
              </a:rPr>
              <a:t>1M*8=2</a:t>
            </a:r>
            <a:r>
              <a:rPr lang="zh-CN" altLang="en-US" sz="1800">
                <a:sym typeface="+mn-ea"/>
              </a:rPr>
              <a:t>片，字扩展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RAM</a:t>
            </a:r>
            <a:r>
              <a:rPr lang="zh-CN" altLang="en-US" sz="1800"/>
              <a:t>：</a:t>
            </a:r>
            <a:r>
              <a:rPr lang="en-US" altLang="zh-CN" sz="1800"/>
              <a:t>6</a:t>
            </a:r>
            <a:r>
              <a:rPr lang="en-US" altLang="zh-CN" sz="1800">
                <a:sym typeface="+mn-ea"/>
              </a:rPr>
              <a:t>MB=6M*8</a:t>
            </a:r>
            <a:r>
              <a:rPr lang="zh-CN" altLang="en-US" sz="1800">
                <a:sym typeface="+mn-ea"/>
              </a:rPr>
              <a:t>，需要</a:t>
            </a:r>
            <a:r>
              <a:rPr lang="en-US" altLang="zh-CN" sz="1800">
                <a:sym typeface="+mn-ea"/>
              </a:rPr>
              <a:t>6M*8/2M*8=3</a:t>
            </a:r>
            <a:r>
              <a:rPr lang="zh-CN" altLang="en-US" sz="1800">
                <a:sym typeface="+mn-ea"/>
              </a:rPr>
              <a:t>片，字扩展</a:t>
            </a:r>
            <a:endParaRPr lang="zh-CN" altLang="en-US" sz="1800"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>
                <a:sym typeface="+mn-ea"/>
              </a:rPr>
              <a:t>地址范围：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22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21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20    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19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18</a:t>
            </a:r>
            <a:r>
              <a:rPr lang="en-US" altLang="zh-CN" sz="1800">
                <a:sym typeface="+mn-ea"/>
              </a:rPr>
              <a:t> A</a:t>
            </a:r>
            <a:r>
              <a:rPr lang="en-US" altLang="zh-CN" sz="1800" baseline="-25000">
                <a:sym typeface="+mn-ea"/>
              </a:rPr>
              <a:t>17</a:t>
            </a:r>
            <a:r>
              <a:rPr lang="en-US" altLang="zh-CN" sz="1800">
                <a:sym typeface="+mn-ea"/>
              </a:rPr>
              <a:t>A</a:t>
            </a:r>
            <a:r>
              <a:rPr lang="en-US" altLang="zh-CN" sz="1800" baseline="-25000">
                <a:sym typeface="+mn-ea"/>
              </a:rPr>
              <a:t>16</a:t>
            </a:r>
            <a:r>
              <a:rPr lang="en-US" altLang="zh-CN" sz="1800">
                <a:sym typeface="+mn-ea"/>
              </a:rPr>
              <a:t>   A</a:t>
            </a:r>
            <a:r>
              <a:rPr lang="en-US" altLang="zh-CN" sz="1800" baseline="-25000">
                <a:sym typeface="+mn-ea"/>
              </a:rPr>
              <a:t>15-12</a:t>
            </a:r>
            <a:r>
              <a:rPr lang="en-US" altLang="zh-CN" sz="1800">
                <a:sym typeface="+mn-ea"/>
              </a:rPr>
              <a:t>   A</a:t>
            </a:r>
            <a:r>
              <a:rPr lang="en-US" altLang="zh-CN" sz="1800" baseline="-25000">
                <a:sym typeface="+mn-ea"/>
              </a:rPr>
              <a:t>11-8</a:t>
            </a:r>
            <a:r>
              <a:rPr lang="en-US" altLang="zh-CN" sz="1800">
                <a:sym typeface="+mn-ea"/>
              </a:rPr>
              <a:t>   A</a:t>
            </a:r>
            <a:r>
              <a:rPr lang="en-US" altLang="zh-CN" sz="1800" baseline="-25000">
                <a:sym typeface="+mn-ea"/>
              </a:rPr>
              <a:t>7-4</a:t>
            </a:r>
            <a:r>
              <a:rPr lang="en-US" altLang="zh-CN" sz="1800">
                <a:sym typeface="+mn-ea"/>
              </a:rPr>
              <a:t>    A</a:t>
            </a:r>
            <a:r>
              <a:rPr lang="en-US" altLang="zh-CN" sz="1800" baseline="-25000">
                <a:sym typeface="+mn-ea"/>
              </a:rPr>
              <a:t>3-0</a:t>
            </a:r>
            <a:endParaRPr lang="en-US" altLang="zh-CN" sz="1800"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>
                <a:sym typeface="+mn-ea"/>
              </a:rPr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0  0 </a:t>
            </a:r>
            <a:r>
              <a:rPr lang="en-US" altLang="zh-CN" sz="1800">
                <a:sym typeface="+mn-ea"/>
              </a:rPr>
              <a:t> 0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0   0     0  0      0-0     0-0     0-0    0-0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>
                <a:sym typeface="+mn-ea"/>
              </a:rPr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0  0 </a:t>
            </a:r>
            <a:r>
              <a:rPr lang="en-US" altLang="zh-CN" sz="1800">
                <a:sym typeface="+mn-ea"/>
              </a:rPr>
              <a:t> 1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1   1     1  1      1-1     1-1     1-1    1-1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0  1</a:t>
            </a:r>
            <a:r>
              <a:rPr lang="en-US" altLang="zh-CN" sz="1800">
                <a:sym typeface="+mn-ea"/>
              </a:rPr>
              <a:t>  0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0   0     0  0      0-0     0-0     0-0    0-0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0  1</a:t>
            </a:r>
            <a:r>
              <a:rPr lang="en-US" altLang="zh-CN" sz="1800">
                <a:sym typeface="+mn-ea"/>
              </a:rPr>
              <a:t>  1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1   1     1  1      1-1     1-1     1-1    1-1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1  0</a:t>
            </a:r>
            <a:r>
              <a:rPr lang="en-US" altLang="zh-CN" sz="1800">
                <a:sym typeface="+mn-ea"/>
              </a:rPr>
              <a:t>  0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0   0     0  0      0-0     0-0     0-0    0-0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</a:t>
            </a:r>
            <a:r>
              <a:rPr lang="en-US" altLang="zh-CN" sz="1800" b="1">
                <a:solidFill>
                  <a:srgbClr val="FF0000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1  0</a:t>
            </a:r>
            <a:r>
              <a:rPr lang="en-US" altLang="zh-CN" sz="1800">
                <a:sym typeface="+mn-ea"/>
              </a:rPr>
              <a:t>  1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1   1     1  1      1-1     1-1     1-1    1-1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</a:t>
            </a:r>
            <a:r>
              <a:rPr lang="en-US" altLang="zh-CN" sz="1800" b="1">
                <a:solidFill>
                  <a:srgbClr val="FF0000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1  1  0 </a:t>
            </a:r>
            <a:r>
              <a:rPr lang="en-US" altLang="zh-CN" sz="1800">
                <a:sym typeface="+mn-ea"/>
              </a:rPr>
              <a:t>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0   0     0  0      0-0     0-0     0-0    0-0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</a:t>
            </a:r>
            <a:r>
              <a:rPr lang="en-US" altLang="zh-CN" sz="1800" b="1">
                <a:solidFill>
                  <a:srgbClr val="FF0000"/>
                </a:solidFill>
              </a:rPr>
              <a:t>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1  1  0 </a:t>
            </a:r>
            <a:r>
              <a:rPr lang="en-US" altLang="zh-CN" sz="1800">
                <a:sym typeface="+mn-ea"/>
              </a:rPr>
              <a:t>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1   1     1  1      1-1     1-1     1-1    1-1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/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1  1  1 </a:t>
            </a:r>
            <a:r>
              <a:rPr lang="en-US" altLang="zh-CN" sz="1800">
                <a:sym typeface="+mn-ea"/>
              </a:rPr>
              <a:t>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0   0     0  0      0-0     0-0     0-0    0-0</a:t>
            </a:r>
            <a:endParaRPr lang="en-US" altLang="zh-CN" sz="1800"/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800">
                <a:sym typeface="+mn-ea"/>
              </a:rPr>
              <a:t>                    </a:t>
            </a:r>
            <a:r>
              <a:rPr lang="en-US" altLang="zh-CN" sz="1800" b="1">
                <a:solidFill>
                  <a:srgbClr val="FF0000"/>
                </a:solidFill>
                <a:sym typeface="+mn-ea"/>
              </a:rPr>
              <a:t>1  1  1</a:t>
            </a:r>
            <a:r>
              <a:rPr lang="en-US" altLang="zh-CN" sz="1800">
                <a:sym typeface="+mn-ea"/>
              </a:rPr>
              <a:t>   </a:t>
            </a:r>
            <a:r>
              <a:rPr lang="en-US" altLang="zh-CN" sz="1800" baseline="-25000">
                <a:sym typeface="+mn-ea"/>
              </a:rPr>
              <a:t>    </a:t>
            </a:r>
            <a:r>
              <a:rPr lang="en-US" altLang="zh-CN" sz="1800">
                <a:sym typeface="+mn-ea"/>
              </a:rPr>
              <a:t>1   1     1  1      1-1     1-1     1-1    1-1</a:t>
            </a:r>
            <a:endParaRPr lang="en-US" altLang="zh-CN" sz="1800">
              <a:sym typeface="+mn-ea"/>
            </a:endParaRPr>
          </a:p>
          <a:p>
            <a:pPr>
              <a:lnSpc>
                <a:spcPct val="110000"/>
              </a:lnSpc>
            </a:pPr>
            <a:endParaRPr lang="en-US" altLang="zh-CN" sz="1800"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（</a:t>
            </a:r>
            <a:r>
              <a:rPr lang="zh-CN" altLang="en-US" sz="1800">
                <a:sym typeface="+mn-ea"/>
              </a:rPr>
              <a:t>注：芯片译码部分方案不唯一，下面只是其中一种</a:t>
            </a:r>
            <a:r>
              <a:rPr lang="zh-CN" altLang="en-US" sz="1800"/>
              <a:t>）</a:t>
            </a:r>
            <a:endParaRPr lang="en-US" altLang="zh-CN" sz="180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zh-CN" altLang="en-US" sz="1800"/>
              <a:t>使用</a:t>
            </a:r>
            <a:r>
              <a:rPr lang="en-US" altLang="zh-CN" sz="1800"/>
              <a:t>3-8</a:t>
            </a:r>
            <a:r>
              <a:rPr lang="zh-CN" altLang="en-US" sz="1800"/>
              <a:t>译码器，</a:t>
            </a:r>
            <a:r>
              <a:rPr lang="en-US" altLang="zh-CN" sz="1800"/>
              <a:t>/Y</a:t>
            </a:r>
            <a:r>
              <a:rPr lang="en-US" altLang="zh-CN" sz="1800" baseline="-25000"/>
              <a:t>0</a:t>
            </a:r>
            <a:r>
              <a:rPr lang="en-US" altLang="zh-CN" sz="1800"/>
              <a:t>-/Y</a:t>
            </a:r>
            <a:r>
              <a:rPr lang="en-US" altLang="zh-CN" sz="1800" baseline="-25000"/>
              <a:t>1      </a:t>
            </a:r>
            <a:r>
              <a:rPr lang="en-US" altLang="zh-CN" sz="1800"/>
              <a:t>/Y</a:t>
            </a:r>
            <a:r>
              <a:rPr lang="en-US" altLang="zh-CN" sz="1800" baseline="-25000"/>
              <a:t>2</a:t>
            </a:r>
            <a:r>
              <a:rPr lang="en-US" altLang="zh-CN" sz="1800">
                <a:sym typeface="+mn-ea"/>
              </a:rPr>
              <a:t>-</a:t>
            </a:r>
            <a:r>
              <a:rPr lang="en-US" altLang="zh-CN" sz="1800"/>
              <a:t>/Y</a:t>
            </a:r>
            <a:r>
              <a:rPr lang="en-US" altLang="zh-CN" sz="1800" baseline="-25000"/>
              <a:t>3      </a:t>
            </a:r>
            <a:r>
              <a:rPr lang="en-US" altLang="zh-CN" sz="1800"/>
              <a:t>/Y</a:t>
            </a:r>
            <a:r>
              <a:rPr lang="en-US" altLang="zh-CN" sz="1800" baseline="-25000"/>
              <a:t>4</a:t>
            </a:r>
            <a:r>
              <a:rPr lang="en-US" altLang="zh-CN" sz="1800">
                <a:sym typeface="+mn-ea"/>
              </a:rPr>
              <a:t>-</a:t>
            </a:r>
            <a:r>
              <a:rPr lang="en-US" altLang="zh-CN" sz="1800"/>
              <a:t>/Y</a:t>
            </a:r>
            <a:r>
              <a:rPr lang="en-US" altLang="zh-CN" sz="1800" baseline="-25000"/>
              <a:t>5      </a:t>
            </a:r>
            <a:r>
              <a:rPr lang="en-US" altLang="zh-CN" sz="1800"/>
              <a:t>/Y</a:t>
            </a:r>
            <a:r>
              <a:rPr lang="en-US" altLang="zh-CN" sz="1800" baseline="-25000"/>
              <a:t>6      </a:t>
            </a:r>
            <a:r>
              <a:rPr lang="en-US" altLang="zh-CN" sz="1800"/>
              <a:t>/Y</a:t>
            </a:r>
            <a:r>
              <a:rPr lang="en-US" altLang="zh-CN" sz="1800" baseline="-25000"/>
              <a:t>7</a:t>
            </a:r>
            <a:endParaRPr lang="en-US" altLang="zh-CN" sz="1800" baseline="-25000"/>
          </a:p>
          <a:p>
            <a:pPr>
              <a:spcBef>
                <a:spcPts val="0"/>
              </a:spcBef>
            </a:pPr>
            <a:r>
              <a:rPr lang="zh-CN" altLang="en-US" sz="1800"/>
              <a:t>结构框图如下页所示：</a:t>
            </a:r>
            <a:endParaRPr lang="zh-CN" altLang="en-US" sz="1800"/>
          </a:p>
        </p:txBody>
      </p:sp>
      <p:sp>
        <p:nvSpPr>
          <p:cNvPr id="3" name="矩形 2"/>
          <p:cNvSpPr/>
          <p:nvPr/>
        </p:nvSpPr>
        <p:spPr>
          <a:xfrm>
            <a:off x="1609725" y="2079625"/>
            <a:ext cx="5072380" cy="3042920"/>
          </a:xfrm>
          <a:prstGeom prst="rect">
            <a:avLst/>
          </a:prstGeom>
          <a:noFill/>
          <a:ln w="28575"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20000"/>
                    <a:lumOff val="8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1609725" y="2673985"/>
            <a:ext cx="5076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1609725" y="3256915"/>
            <a:ext cx="5076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2"/>
            </p:custDataLst>
          </p:nvPr>
        </p:nvCxnSpPr>
        <p:spPr>
          <a:xfrm>
            <a:off x="1609725" y="3839845"/>
            <a:ext cx="5076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>
            <p:custDataLst>
              <p:tags r:id="rId3"/>
            </p:custDataLst>
          </p:nvPr>
        </p:nvCxnSpPr>
        <p:spPr>
          <a:xfrm>
            <a:off x="1609725" y="4497070"/>
            <a:ext cx="5076000" cy="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929755" y="2203450"/>
            <a:ext cx="1703705" cy="307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spcAft>
                <a:spcPts val="0"/>
              </a:spcAft>
            </a:pPr>
            <a:r>
              <a:rPr lang="en-US" altLang="zh-CN">
                <a:ln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0-1FFFFFH  RAM</a:t>
            </a:r>
            <a:endParaRPr lang="en-US" altLang="zh-CN">
              <a:ln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6929755" y="2813685"/>
            <a:ext cx="2063750" cy="307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200000-3FFFFFH  RAM</a:t>
            </a:r>
            <a:endParaRPr lang="en-US" altLang="zh-CN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933565" y="3429000"/>
            <a:ext cx="2059940" cy="307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400000-5FFFFFH  RAM</a:t>
            </a:r>
            <a:endParaRPr lang="en-US" altLang="zh-CN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6929755" y="4044315"/>
            <a:ext cx="2063750" cy="307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600000-6FFFFFH  ROM</a:t>
            </a:r>
            <a:endParaRPr lang="en-US" altLang="zh-CN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929755" y="4659630"/>
            <a:ext cx="2063115" cy="3079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>
              <a:spcAft>
                <a:spcPts val="0"/>
              </a:spcAft>
            </a:pPr>
            <a:r>
              <a:rPr lang="en-US" altLang="zh-CN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700000-7FFFFFH  RM</a:t>
            </a:r>
            <a:endParaRPr lang="en-US" altLang="zh-CN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cxnSp>
        <p:nvCxnSpPr>
          <p:cNvPr id="13" name="直接连接符 12"/>
          <p:cNvCxnSpPr/>
          <p:nvPr/>
        </p:nvCxnSpPr>
        <p:spPr>
          <a:xfrm flipV="1">
            <a:off x="2174240" y="5955030"/>
            <a:ext cx="7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8"/>
            </p:custDataLst>
          </p:nvPr>
        </p:nvCxnSpPr>
        <p:spPr>
          <a:xfrm flipV="1">
            <a:off x="3093085" y="5955030"/>
            <a:ext cx="7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 flipV="1">
            <a:off x="4064000" y="5955030"/>
            <a:ext cx="7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>
            <p:custDataLst>
              <p:tags r:id="rId10"/>
            </p:custDataLst>
          </p:nvPr>
        </p:nvCxnSpPr>
        <p:spPr>
          <a:xfrm flipV="1">
            <a:off x="4940935" y="5955030"/>
            <a:ext cx="46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>
            <p:custDataLst>
              <p:tags r:id="rId11"/>
            </p:custDataLst>
          </p:nvPr>
        </p:nvCxnSpPr>
        <p:spPr>
          <a:xfrm flipV="1">
            <a:off x="5535930" y="5955030"/>
            <a:ext cx="46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8" idx="1"/>
          </p:cNvCxnSpPr>
          <p:nvPr/>
        </p:nvCxnSpPr>
        <p:spPr>
          <a:xfrm flipV="1">
            <a:off x="2633345" y="2357755"/>
            <a:ext cx="4296410" cy="33635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endCxn id="9" idx="1"/>
          </p:cNvCxnSpPr>
          <p:nvPr>
            <p:custDataLst>
              <p:tags r:id="rId12"/>
            </p:custDataLst>
          </p:nvPr>
        </p:nvCxnSpPr>
        <p:spPr>
          <a:xfrm flipV="1">
            <a:off x="3470275" y="2967990"/>
            <a:ext cx="3459480" cy="27533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endCxn id="10" idx="1"/>
          </p:cNvCxnSpPr>
          <p:nvPr>
            <p:custDataLst>
              <p:tags r:id="rId13"/>
            </p:custDataLst>
          </p:nvPr>
        </p:nvCxnSpPr>
        <p:spPr>
          <a:xfrm flipV="1">
            <a:off x="4491355" y="3583305"/>
            <a:ext cx="2442210" cy="2138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>
            <p:custDataLst>
              <p:tags r:id="rId14"/>
            </p:custDataLst>
          </p:nvPr>
        </p:nvCxnSpPr>
        <p:spPr>
          <a:xfrm flipV="1">
            <a:off x="5186045" y="4225925"/>
            <a:ext cx="1757680" cy="14954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2" idx="1"/>
          </p:cNvCxnSpPr>
          <p:nvPr>
            <p:custDataLst>
              <p:tags r:id="rId15"/>
            </p:custDataLst>
          </p:nvPr>
        </p:nvCxnSpPr>
        <p:spPr>
          <a:xfrm flipV="1">
            <a:off x="5723890" y="4813935"/>
            <a:ext cx="1205865" cy="890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55" name="组合 154"/>
          <p:cNvGrpSpPr/>
          <p:nvPr/>
        </p:nvGrpSpPr>
        <p:grpSpPr>
          <a:xfrm>
            <a:off x="714375" y="749300"/>
            <a:ext cx="7850505" cy="5277485"/>
            <a:chOff x="495" y="385"/>
            <a:chExt cx="12363" cy="8311"/>
          </a:xfrm>
        </p:grpSpPr>
        <p:grpSp>
          <p:nvGrpSpPr>
            <p:cNvPr id="8" name="组合 7"/>
            <p:cNvGrpSpPr/>
            <p:nvPr/>
          </p:nvGrpSpPr>
          <p:grpSpPr>
            <a:xfrm>
              <a:off x="2209" y="385"/>
              <a:ext cx="2363" cy="3682"/>
              <a:chOff x="4312" y="1293"/>
              <a:chExt cx="2363" cy="3682"/>
            </a:xfrm>
          </p:grpSpPr>
          <p:grpSp>
            <p:nvGrpSpPr>
              <p:cNvPr id="72778" name="组合 72777"/>
              <p:cNvGrpSpPr/>
              <p:nvPr/>
            </p:nvGrpSpPr>
            <p:grpSpPr>
              <a:xfrm>
                <a:off x="4312" y="1293"/>
                <a:ext cx="2363" cy="3655"/>
                <a:chOff x="18" y="0"/>
                <a:chExt cx="1025" cy="1462"/>
              </a:xfrm>
            </p:grpSpPr>
            <p:sp>
              <p:nvSpPr>
                <p:cNvPr id="132168" name="Rectangle 73"/>
                <p:cNvSpPr/>
                <p:nvPr>
                  <p:custDataLst>
                    <p:tags r:id="rId1"/>
                  </p:custDataLst>
                </p:nvPr>
              </p:nvSpPr>
              <p:spPr>
                <a:xfrm>
                  <a:off x="82" y="10"/>
                  <a:ext cx="916" cy="145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marL="342900" indent="-342900" algn="ctr">
                    <a:lnSpc>
                      <a:spcPct val="80000"/>
                    </a:lnSpc>
                    <a:spcBef>
                      <a:spcPct val="20000"/>
                    </a:spcBef>
                  </a:pPr>
                  <a:r>
                    <a:rPr lang="en-US" altLang="zh-CN" sz="1800" b="1">
                      <a:solidFill>
                        <a:srgbClr val="FF0000"/>
                      </a:solidFill>
                      <a:latin typeface="Times New Roman" panose="02020603050405020304" charset="0"/>
                    </a:rPr>
                    <a:t>74LS138</a:t>
                  </a:r>
                  <a:endParaRPr lang="en-US" altLang="zh-CN" sz="1800" b="1">
                    <a:solidFill>
                      <a:srgbClr val="FF0000"/>
                    </a:solidFill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69" name="Rectangle 74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155" y="0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G</a:t>
                  </a:r>
                  <a:r>
                    <a:rPr lang="en-US" altLang="zh-CN" sz="1800" b="1" baseline="-18000">
                      <a:latin typeface="Times New Roman" panose="02020603050405020304" charset="0"/>
                    </a:rPr>
                    <a:t>1</a:t>
                  </a:r>
                  <a:endParaRPr lang="en-US" altLang="zh-CN" sz="1800" b="1" baseline="-180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0" name="Rectangle 75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155" y="146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/G</a:t>
                  </a:r>
                  <a:r>
                    <a:rPr lang="en-US" altLang="zh-CN" sz="1800" b="1" baseline="-18000">
                      <a:latin typeface="Times New Roman" panose="02020603050405020304" charset="0"/>
                    </a:rPr>
                    <a:t>2A</a:t>
                  </a:r>
                  <a:endParaRPr lang="en-US" altLang="zh-CN" sz="1800" b="1" baseline="-180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1" name="Rectangle 76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136" y="317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/G</a:t>
                  </a:r>
                  <a:r>
                    <a:rPr lang="en-US" altLang="zh-CN" sz="1800" b="1" baseline="-18000">
                      <a:latin typeface="Times New Roman" panose="02020603050405020304" charset="0"/>
                    </a:rPr>
                    <a:t>2B</a:t>
                  </a:r>
                  <a:endParaRPr lang="en-US" altLang="zh-CN" sz="1800" b="1" baseline="-180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2" name="Oval 77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991" y="267"/>
                  <a:ext cx="52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173" name="Oval 78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991" y="442"/>
                  <a:ext cx="52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174" name="Rectangle 79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76" y="917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C</a:t>
                  </a:r>
                  <a:endParaRPr lang="en-US" altLang="zh-CN" sz="1800" b="1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5" name="Rectangle 80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76" y="1090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B</a:t>
                  </a:r>
                  <a:endParaRPr lang="en-US" altLang="zh-CN" sz="1800" b="1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6" name="Rectangle 81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6" y="1234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A</a:t>
                  </a:r>
                  <a:endParaRPr lang="en-US" altLang="zh-CN" sz="1800" b="1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77" name="Oval 82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24" y="219"/>
                  <a:ext cx="52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lIns="92075" tIns="46038" rIns="92075" bIns="46038" anchor="ctr"/>
                <a:p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178" name="Oval 83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18" y="371"/>
                  <a:ext cx="52" cy="48"/>
                </a:xfrm>
                <a:prstGeom prst="ellipse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wrap="none" lIns="92075" tIns="46038" rIns="92075" bIns="46038" anchor="ctr"/>
                <a:p>
                  <a:endParaRPr lang="zh-CN" altLang="en-US" sz="1800" dirty="0">
                    <a:latin typeface="Arial" panose="020B0604020202020204" pitchFamily="34" charset="0"/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132179" name="Rectangle 84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745" y="21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/Y</a:t>
                  </a:r>
                  <a:r>
                    <a:rPr lang="en-US" altLang="zh-CN" sz="1800" b="1" baseline="-25000">
                      <a:latin typeface="Times New Roman" panose="02020603050405020304" charset="0"/>
                    </a:rPr>
                    <a:t>0</a:t>
                  </a:r>
                  <a:endParaRPr lang="en-US" altLang="zh-CN" sz="1800" b="1" baseline="-25000">
                    <a:latin typeface="Times New Roman" panose="02020603050405020304" charset="0"/>
                  </a:endParaRPr>
                </a:p>
              </p:txBody>
            </p:sp>
            <p:sp>
              <p:nvSpPr>
                <p:cNvPr id="132180" name="Rectangle 8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745" y="192"/>
                  <a:ext cx="208" cy="192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 wrap="none" anchor="ctr"/>
                <a:p>
                  <a:pPr algn="ctr"/>
                  <a:r>
                    <a:rPr lang="en-US" altLang="zh-CN" sz="1800" b="1">
                      <a:latin typeface="Times New Roman" panose="02020603050405020304" charset="0"/>
                    </a:rPr>
                    <a:t>/Y</a:t>
                  </a:r>
                  <a:r>
                    <a:rPr lang="en-US" altLang="zh-CN" sz="1800" b="1" baseline="-25000">
                      <a:latin typeface="Times New Roman" panose="02020603050405020304" charset="0"/>
                    </a:rPr>
                    <a:t>1</a:t>
                  </a:r>
                  <a:endParaRPr lang="en-US" altLang="zh-CN" sz="1800" b="1" baseline="-25000">
                    <a:latin typeface="Times New Roman" panose="02020603050405020304" charset="0"/>
                  </a:endParaRPr>
                </a:p>
              </p:txBody>
            </p:sp>
          </p:grpSp>
          <p:sp>
            <p:nvSpPr>
              <p:cNvPr id="2" name="Rectangle 85"/>
              <p:cNvSpPr/>
              <p:nvPr>
                <p:custDataLst>
                  <p:tags r:id="rId14"/>
                </p:custDataLst>
              </p:nvPr>
            </p:nvSpPr>
            <p:spPr>
              <a:xfrm>
                <a:off x="5988" y="2193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2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3" name="Rectangle 85"/>
              <p:cNvSpPr/>
              <p:nvPr>
                <p:custDataLst>
                  <p:tags r:id="rId15"/>
                </p:custDataLst>
              </p:nvPr>
            </p:nvSpPr>
            <p:spPr>
              <a:xfrm>
                <a:off x="5988" y="2618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3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4" name="Rectangle 85"/>
              <p:cNvSpPr/>
              <p:nvPr>
                <p:custDataLst>
                  <p:tags r:id="rId16"/>
                </p:custDataLst>
              </p:nvPr>
            </p:nvSpPr>
            <p:spPr>
              <a:xfrm>
                <a:off x="5988" y="3651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5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5" name="Rectangle 85"/>
              <p:cNvSpPr/>
              <p:nvPr>
                <p:custDataLst>
                  <p:tags r:id="rId17"/>
                </p:custDataLst>
              </p:nvPr>
            </p:nvSpPr>
            <p:spPr>
              <a:xfrm>
                <a:off x="5988" y="4065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6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6" name="Rectangle 85"/>
              <p:cNvSpPr/>
              <p:nvPr>
                <p:custDataLst>
                  <p:tags r:id="rId18"/>
                </p:custDataLst>
              </p:nvPr>
            </p:nvSpPr>
            <p:spPr>
              <a:xfrm>
                <a:off x="5988" y="4495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7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  <p:sp>
            <p:nvSpPr>
              <p:cNvPr id="7" name="Rectangle 85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88" y="3196"/>
                <a:ext cx="480" cy="4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anchor="ctr"/>
              <a:p>
                <a:pPr algn="ctr"/>
                <a:r>
                  <a:rPr lang="en-US" altLang="zh-CN" sz="1800" b="1">
                    <a:latin typeface="Times New Roman" panose="02020603050405020304" charset="0"/>
                  </a:rPr>
                  <a:t>/Y</a:t>
                </a:r>
                <a:r>
                  <a:rPr lang="en-US" altLang="zh-CN" sz="1800" b="1" baseline="-25000">
                    <a:latin typeface="Times New Roman" panose="02020603050405020304" charset="0"/>
                  </a:rPr>
                  <a:t>4</a:t>
                </a:r>
                <a:endParaRPr lang="en-US" altLang="zh-CN" sz="1800" b="1" baseline="-25000">
                  <a:latin typeface="Times New Roman" panose="02020603050405020304" charset="0"/>
                </a:endParaRPr>
              </a:p>
            </p:txBody>
          </p:sp>
        </p:grpSp>
        <p:cxnSp>
          <p:nvCxnSpPr>
            <p:cNvPr id="9" name="直接箭头连接符 8"/>
            <p:cNvCxnSpPr/>
            <p:nvPr/>
          </p:nvCxnSpPr>
          <p:spPr>
            <a:xfrm flipV="1">
              <a:off x="1358" y="2917"/>
              <a:ext cx="9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/>
            <p:nvPr>
              <p:custDataLst>
                <p:tags r:id="rId20"/>
              </p:custDataLst>
            </p:nvPr>
          </p:nvCxnSpPr>
          <p:spPr>
            <a:xfrm flipV="1">
              <a:off x="1380" y="3353"/>
              <a:ext cx="9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>
              <p:custDataLst>
                <p:tags r:id="rId21"/>
              </p:custDataLst>
            </p:nvPr>
          </p:nvCxnSpPr>
          <p:spPr>
            <a:xfrm flipV="1">
              <a:off x="1380" y="3789"/>
              <a:ext cx="9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>
              <p:custDataLst>
                <p:tags r:id="rId22"/>
              </p:custDataLst>
            </p:nvPr>
          </p:nvCxnSpPr>
          <p:spPr>
            <a:xfrm flipV="1">
              <a:off x="1170" y="1010"/>
              <a:ext cx="10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>
              <p:custDataLst>
                <p:tags r:id="rId23"/>
              </p:custDataLst>
            </p:nvPr>
          </p:nvCxnSpPr>
          <p:spPr>
            <a:xfrm flipV="1">
              <a:off x="1170" y="1345"/>
              <a:ext cx="107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>
              <p:custDataLst>
                <p:tags r:id="rId24"/>
              </p:custDataLst>
            </p:nvPr>
          </p:nvCxnSpPr>
          <p:spPr>
            <a:xfrm flipV="1">
              <a:off x="1345" y="610"/>
              <a:ext cx="99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5" name="文本框 14"/>
            <p:cNvSpPr txBox="1"/>
            <p:nvPr/>
          </p:nvSpPr>
          <p:spPr>
            <a:xfrm>
              <a:off x="621" y="407"/>
              <a:ext cx="882" cy="4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+5v</a:t>
              </a:r>
              <a:endParaRPr lang="en-US" altLang="zh-CN"/>
            </a:p>
          </p:txBody>
        </p:sp>
        <p:cxnSp>
          <p:nvCxnSpPr>
            <p:cNvPr id="16" name="直接连接符 15"/>
            <p:cNvCxnSpPr/>
            <p:nvPr/>
          </p:nvCxnSpPr>
          <p:spPr>
            <a:xfrm flipH="1">
              <a:off x="1161" y="999"/>
              <a:ext cx="13" cy="63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V="1">
              <a:off x="1016" y="1617"/>
              <a:ext cx="34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>
              <p:custDataLst>
                <p:tags r:id="rId25"/>
              </p:custDataLst>
            </p:nvPr>
          </p:nvCxnSpPr>
          <p:spPr>
            <a:xfrm flipV="1">
              <a:off x="1079" y="1698"/>
              <a:ext cx="227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" name="直接连接符 18"/>
            <p:cNvCxnSpPr/>
            <p:nvPr>
              <p:custDataLst>
                <p:tags r:id="rId26"/>
              </p:custDataLst>
            </p:nvPr>
          </p:nvCxnSpPr>
          <p:spPr>
            <a:xfrm flipV="1">
              <a:off x="1091" y="1785"/>
              <a:ext cx="17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529" y="2696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A</a:t>
              </a:r>
              <a:r>
                <a:rPr lang="en-US" altLang="zh-CN" baseline="-25000"/>
                <a:t>22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21" name="文本框 20"/>
            <p:cNvSpPr txBox="1"/>
            <p:nvPr>
              <p:custDataLst>
                <p:tags r:id="rId27"/>
              </p:custDataLst>
            </p:nvPr>
          </p:nvSpPr>
          <p:spPr>
            <a:xfrm>
              <a:off x="556" y="3083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A</a:t>
              </a:r>
              <a:r>
                <a:rPr lang="en-US" altLang="zh-CN" baseline="-25000"/>
                <a:t>21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22" name="文本框 21"/>
            <p:cNvSpPr txBox="1"/>
            <p:nvPr>
              <p:custDataLst>
                <p:tags r:id="rId28"/>
              </p:custDataLst>
            </p:nvPr>
          </p:nvSpPr>
          <p:spPr>
            <a:xfrm>
              <a:off x="545" y="3461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A</a:t>
              </a:r>
              <a:r>
                <a:rPr lang="en-US" altLang="zh-CN" baseline="-25000"/>
                <a:t>20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23" name="Oval 78"/>
            <p:cNvSpPr/>
            <p:nvPr>
              <p:custDataLst>
                <p:tags r:id="rId29"/>
              </p:custDataLst>
            </p:nvPr>
          </p:nvSpPr>
          <p:spPr>
            <a:xfrm>
              <a:off x="4470" y="648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Oval 78"/>
            <p:cNvSpPr/>
            <p:nvPr>
              <p:custDataLst>
                <p:tags r:id="rId30"/>
              </p:custDataLst>
            </p:nvPr>
          </p:nvSpPr>
          <p:spPr>
            <a:xfrm>
              <a:off x="4452" y="1865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Oval 78"/>
            <p:cNvSpPr/>
            <p:nvPr>
              <p:custDataLst>
                <p:tags r:id="rId31"/>
              </p:custDataLst>
            </p:nvPr>
          </p:nvSpPr>
          <p:spPr>
            <a:xfrm>
              <a:off x="4452" y="2411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Oval 78"/>
            <p:cNvSpPr/>
            <p:nvPr>
              <p:custDataLst>
                <p:tags r:id="rId32"/>
              </p:custDataLst>
            </p:nvPr>
          </p:nvSpPr>
          <p:spPr>
            <a:xfrm>
              <a:off x="4452" y="2892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Oval 78"/>
            <p:cNvSpPr/>
            <p:nvPr>
              <p:custDataLst>
                <p:tags r:id="rId33"/>
              </p:custDataLst>
            </p:nvPr>
          </p:nvSpPr>
          <p:spPr>
            <a:xfrm>
              <a:off x="4452" y="3308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Oval 78"/>
            <p:cNvSpPr/>
            <p:nvPr>
              <p:custDataLst>
                <p:tags r:id="rId34"/>
              </p:custDataLst>
            </p:nvPr>
          </p:nvSpPr>
          <p:spPr>
            <a:xfrm>
              <a:off x="4452" y="3711"/>
              <a:ext cx="120" cy="120"/>
            </a:xfrm>
            <a:prstGeom prst="ellipse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/>
            <a:p>
              <a:endParaRPr lang="zh-CN" altLang="en-US" sz="1800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cxnSp>
          <p:nvCxnSpPr>
            <p:cNvPr id="29" name="直接连接符 28"/>
            <p:cNvCxnSpPr>
              <a:stCxn id="23" idx="6"/>
            </p:cNvCxnSpPr>
            <p:nvPr/>
          </p:nvCxnSpPr>
          <p:spPr>
            <a:xfrm flipV="1">
              <a:off x="4590" y="694"/>
              <a:ext cx="8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35"/>
              </p:custDataLst>
            </p:nvPr>
          </p:nvCxnSpPr>
          <p:spPr>
            <a:xfrm flipV="1">
              <a:off x="4577" y="1089"/>
              <a:ext cx="8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36"/>
              </p:custDataLst>
            </p:nvPr>
          </p:nvCxnSpPr>
          <p:spPr>
            <a:xfrm flipV="1">
              <a:off x="4590" y="1545"/>
              <a:ext cx="8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2" name="直接连接符 31"/>
            <p:cNvCxnSpPr/>
            <p:nvPr>
              <p:custDataLst>
                <p:tags r:id="rId37"/>
              </p:custDataLst>
            </p:nvPr>
          </p:nvCxnSpPr>
          <p:spPr>
            <a:xfrm flipV="1">
              <a:off x="4590" y="1933"/>
              <a:ext cx="85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3" name="直接连接符 32"/>
            <p:cNvCxnSpPr/>
            <p:nvPr>
              <p:custDataLst>
                <p:tags r:id="rId38"/>
              </p:custDataLst>
            </p:nvPr>
          </p:nvCxnSpPr>
          <p:spPr>
            <a:xfrm flipV="1">
              <a:off x="4582" y="2447"/>
              <a:ext cx="8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9"/>
              </p:custDataLst>
            </p:nvPr>
          </p:nvCxnSpPr>
          <p:spPr>
            <a:xfrm flipV="1">
              <a:off x="4556" y="2941"/>
              <a:ext cx="90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40"/>
              </p:custDataLst>
            </p:nvPr>
          </p:nvCxnSpPr>
          <p:spPr>
            <a:xfrm flipV="1">
              <a:off x="4548" y="3362"/>
              <a:ext cx="866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6" name="直接连接符 35"/>
            <p:cNvCxnSpPr/>
            <p:nvPr>
              <p:custDataLst>
                <p:tags r:id="rId41"/>
              </p:custDataLst>
            </p:nvPr>
          </p:nvCxnSpPr>
          <p:spPr>
            <a:xfrm flipV="1">
              <a:off x="4556" y="3760"/>
              <a:ext cx="68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4" name="弦形 43"/>
            <p:cNvSpPr/>
            <p:nvPr/>
          </p:nvSpPr>
          <p:spPr>
            <a:xfrm rot="10800000">
              <a:off x="4912" y="543"/>
              <a:ext cx="1088" cy="629"/>
            </a:xfrm>
            <a:prstGeom prst="chord">
              <a:avLst>
                <a:gd name="adj1" fmla="val 5273900"/>
                <a:gd name="adj2" fmla="val 16200000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5" name="直接连接符 44"/>
            <p:cNvCxnSpPr/>
            <p:nvPr>
              <p:custDataLst>
                <p:tags r:id="rId42"/>
              </p:custDataLst>
            </p:nvPr>
          </p:nvCxnSpPr>
          <p:spPr>
            <a:xfrm flipV="1">
              <a:off x="6000" y="865"/>
              <a:ext cx="600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弦形 45"/>
            <p:cNvSpPr/>
            <p:nvPr>
              <p:custDataLst>
                <p:tags r:id="rId43"/>
              </p:custDataLst>
            </p:nvPr>
          </p:nvSpPr>
          <p:spPr>
            <a:xfrm rot="10800000">
              <a:off x="4912" y="1430"/>
              <a:ext cx="1088" cy="629"/>
            </a:xfrm>
            <a:prstGeom prst="chord">
              <a:avLst>
                <a:gd name="adj1" fmla="val 5273900"/>
                <a:gd name="adj2" fmla="val 16200000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7" name="直接连接符 46"/>
            <p:cNvCxnSpPr/>
            <p:nvPr>
              <p:custDataLst>
                <p:tags r:id="rId44"/>
              </p:custDataLst>
            </p:nvPr>
          </p:nvCxnSpPr>
          <p:spPr>
            <a:xfrm flipV="1">
              <a:off x="6000" y="1752"/>
              <a:ext cx="3798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8" name="弦形 47"/>
            <p:cNvSpPr/>
            <p:nvPr>
              <p:custDataLst>
                <p:tags r:id="rId45"/>
              </p:custDataLst>
            </p:nvPr>
          </p:nvSpPr>
          <p:spPr>
            <a:xfrm rot="10800000">
              <a:off x="4912" y="2383"/>
              <a:ext cx="1088" cy="629"/>
            </a:xfrm>
            <a:prstGeom prst="chord">
              <a:avLst>
                <a:gd name="adj1" fmla="val 5273900"/>
                <a:gd name="adj2" fmla="val 16200000"/>
              </a:avLst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49" name="直接连接符 48"/>
            <p:cNvCxnSpPr/>
            <p:nvPr>
              <p:custDataLst>
                <p:tags r:id="rId46"/>
              </p:custDataLst>
            </p:nvPr>
          </p:nvCxnSpPr>
          <p:spPr>
            <a:xfrm flipV="1">
              <a:off x="6000" y="2705"/>
              <a:ext cx="158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6" name="组合 65"/>
            <p:cNvGrpSpPr/>
            <p:nvPr/>
          </p:nvGrpSpPr>
          <p:grpSpPr>
            <a:xfrm>
              <a:off x="2219" y="5918"/>
              <a:ext cx="1387" cy="1683"/>
              <a:chOff x="2219" y="5918"/>
              <a:chExt cx="1387" cy="1683"/>
            </a:xfrm>
          </p:grpSpPr>
          <p:sp>
            <p:nvSpPr>
              <p:cNvPr id="50" name="矩形 49"/>
              <p:cNvSpPr/>
              <p:nvPr/>
            </p:nvSpPr>
            <p:spPr>
              <a:xfrm>
                <a:off x="2342" y="5918"/>
                <a:ext cx="1127" cy="16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5" name="文本框 54"/>
              <p:cNvSpPr txBox="1"/>
              <p:nvPr/>
            </p:nvSpPr>
            <p:spPr>
              <a:xfrm>
                <a:off x="2524" y="7117"/>
                <a:ext cx="793" cy="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D</a:t>
                </a:r>
                <a:r>
                  <a:rPr lang="en-US" altLang="zh-CN" baseline="-25000"/>
                  <a:t>7-0</a:t>
                </a:r>
                <a:endParaRPr lang="en-US" altLang="zh-CN" baseline="-25000"/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47"/>
                </p:custDataLst>
              </p:nvPr>
            </p:nvSpPr>
            <p:spPr>
              <a:xfrm>
                <a:off x="2960" y="5918"/>
                <a:ext cx="64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/CS</a:t>
                </a:r>
                <a:endParaRPr lang="en-US" altLang="zh-CN" sz="1000" baseline="-25000"/>
              </a:p>
            </p:txBody>
          </p:sp>
          <p:sp>
            <p:nvSpPr>
              <p:cNvPr id="65" name="文本框 64"/>
              <p:cNvSpPr txBox="1"/>
              <p:nvPr/>
            </p:nvSpPr>
            <p:spPr>
              <a:xfrm>
                <a:off x="2219" y="6219"/>
                <a:ext cx="958" cy="8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en-US" altLang="zh-CN"/>
                  <a:t>A</a:t>
                </a:r>
                <a:r>
                  <a:rPr lang="en-US" altLang="zh-CN" baseline="-25000"/>
                  <a:t>19-0</a:t>
                </a:r>
                <a:endParaRPr lang="en-US" altLang="zh-CN" baseline="-25000"/>
              </a:p>
              <a:p>
                <a:pPr>
                  <a:lnSpc>
                    <a:spcPct val="120000"/>
                  </a:lnSpc>
                </a:pPr>
                <a:r>
                  <a:rPr lang="en-US" altLang="zh-CN"/>
                  <a:t>OE</a:t>
                </a:r>
                <a:endParaRPr lang="en-US" altLang="zh-CN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4364" y="5919"/>
              <a:ext cx="1387" cy="1683"/>
              <a:chOff x="2219" y="5918"/>
              <a:chExt cx="1387" cy="1683"/>
            </a:xfrm>
          </p:grpSpPr>
          <p:sp>
            <p:nvSpPr>
              <p:cNvPr id="68" name="矩形 67"/>
              <p:cNvSpPr/>
              <p:nvPr>
                <p:custDataLst>
                  <p:tags r:id="rId48"/>
                </p:custDataLst>
              </p:nvPr>
            </p:nvSpPr>
            <p:spPr>
              <a:xfrm>
                <a:off x="2342" y="5918"/>
                <a:ext cx="1127" cy="16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49"/>
                </p:custDataLst>
              </p:nvPr>
            </p:nvSpPr>
            <p:spPr>
              <a:xfrm>
                <a:off x="2524" y="7117"/>
                <a:ext cx="793" cy="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D</a:t>
                </a:r>
                <a:r>
                  <a:rPr lang="en-US" altLang="zh-CN" baseline="-25000"/>
                  <a:t>7-0</a:t>
                </a:r>
                <a:endParaRPr lang="en-US" altLang="zh-CN" baseline="-25000"/>
              </a:p>
            </p:txBody>
          </p:sp>
          <p:sp>
            <p:nvSpPr>
              <p:cNvPr id="70" name="文本框 69"/>
              <p:cNvSpPr txBox="1"/>
              <p:nvPr>
                <p:custDataLst>
                  <p:tags r:id="rId50"/>
                </p:custDataLst>
              </p:nvPr>
            </p:nvSpPr>
            <p:spPr>
              <a:xfrm>
                <a:off x="2960" y="5918"/>
                <a:ext cx="64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/CS</a:t>
                </a:r>
                <a:endParaRPr lang="en-US" altLang="zh-CN" sz="1000" baseline="-25000"/>
              </a:p>
            </p:txBody>
          </p:sp>
          <p:sp>
            <p:nvSpPr>
              <p:cNvPr id="71" name="文本框 70"/>
              <p:cNvSpPr txBox="1"/>
              <p:nvPr>
                <p:custDataLst>
                  <p:tags r:id="rId51"/>
                </p:custDataLst>
              </p:nvPr>
            </p:nvSpPr>
            <p:spPr>
              <a:xfrm>
                <a:off x="2219" y="6219"/>
                <a:ext cx="958" cy="89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20000"/>
                  </a:lnSpc>
                </a:pPr>
                <a:r>
                  <a:rPr lang="en-US" altLang="zh-CN"/>
                  <a:t>A</a:t>
                </a:r>
                <a:r>
                  <a:rPr lang="en-US" altLang="zh-CN" baseline="-25000"/>
                  <a:t>19-0</a:t>
                </a:r>
                <a:endParaRPr lang="en-US" altLang="zh-CN" baseline="-25000"/>
              </a:p>
              <a:p>
                <a:pPr>
                  <a:lnSpc>
                    <a:spcPct val="120000"/>
                  </a:lnSpc>
                </a:pPr>
                <a:r>
                  <a:rPr lang="en-US" altLang="zh-CN"/>
                  <a:t>OE</a:t>
                </a:r>
                <a:endParaRPr lang="en-US" altLang="zh-CN"/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6507" y="5920"/>
              <a:ext cx="1387" cy="1684"/>
              <a:chOff x="2219" y="5918"/>
              <a:chExt cx="1387" cy="1684"/>
            </a:xfrm>
          </p:grpSpPr>
          <p:sp>
            <p:nvSpPr>
              <p:cNvPr id="73" name="矩形 72"/>
              <p:cNvSpPr/>
              <p:nvPr>
                <p:custDataLst>
                  <p:tags r:id="rId52"/>
                </p:custDataLst>
              </p:nvPr>
            </p:nvSpPr>
            <p:spPr>
              <a:xfrm>
                <a:off x="2342" y="5918"/>
                <a:ext cx="1127" cy="16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74" name="文本框 73"/>
              <p:cNvSpPr txBox="1"/>
              <p:nvPr>
                <p:custDataLst>
                  <p:tags r:id="rId53"/>
                </p:custDataLst>
              </p:nvPr>
            </p:nvSpPr>
            <p:spPr>
              <a:xfrm>
                <a:off x="2524" y="7117"/>
                <a:ext cx="793" cy="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D</a:t>
                </a:r>
                <a:r>
                  <a:rPr lang="en-US" altLang="zh-CN" baseline="-25000"/>
                  <a:t>7-0</a:t>
                </a:r>
                <a:endParaRPr lang="en-US" altLang="zh-CN" baseline="-25000"/>
              </a:p>
            </p:txBody>
          </p:sp>
          <p:sp>
            <p:nvSpPr>
              <p:cNvPr id="75" name="文本框 74"/>
              <p:cNvSpPr txBox="1"/>
              <p:nvPr>
                <p:custDataLst>
                  <p:tags r:id="rId54"/>
                </p:custDataLst>
              </p:nvPr>
            </p:nvSpPr>
            <p:spPr>
              <a:xfrm>
                <a:off x="2960" y="5918"/>
                <a:ext cx="64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/CS</a:t>
                </a:r>
                <a:endParaRPr lang="en-US" altLang="zh-CN" sz="1000" baseline="-25000"/>
              </a:p>
            </p:txBody>
          </p:sp>
          <p:sp>
            <p:nvSpPr>
              <p:cNvPr id="76" name="文本框 75"/>
              <p:cNvSpPr txBox="1"/>
              <p:nvPr>
                <p:custDataLst>
                  <p:tags r:id="rId55"/>
                </p:custDataLst>
              </p:nvPr>
            </p:nvSpPr>
            <p:spPr>
              <a:xfrm>
                <a:off x="2219" y="6024"/>
                <a:ext cx="958" cy="10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50000"/>
                  </a:lnSpc>
                </a:pPr>
                <a:r>
                  <a:rPr lang="en-US" altLang="zh-CN"/>
                  <a:t>A</a:t>
                </a:r>
                <a:r>
                  <a:rPr lang="en-US" altLang="zh-CN" baseline="-25000"/>
                  <a:t>20-0</a:t>
                </a:r>
                <a:endParaRPr lang="en-US" altLang="zh-CN" baseline="-25000"/>
              </a:p>
              <a:p>
                <a:pPr>
                  <a:lnSpc>
                    <a:spcPct val="150000"/>
                  </a:lnSpc>
                </a:pPr>
                <a:r>
                  <a:rPr lang="en-US" altLang="zh-CN"/>
                  <a:t>R/W</a:t>
                </a:r>
                <a:endParaRPr lang="zh-CN" altLang="en-US"/>
              </a:p>
            </p:txBody>
          </p:sp>
        </p:grpSp>
        <p:grpSp>
          <p:nvGrpSpPr>
            <p:cNvPr id="87" name="组合 86"/>
            <p:cNvGrpSpPr/>
            <p:nvPr/>
          </p:nvGrpSpPr>
          <p:grpSpPr>
            <a:xfrm>
              <a:off x="8673" y="5918"/>
              <a:ext cx="1387" cy="1684"/>
              <a:chOff x="2219" y="5918"/>
              <a:chExt cx="1387" cy="1684"/>
            </a:xfrm>
          </p:grpSpPr>
          <p:sp>
            <p:nvSpPr>
              <p:cNvPr id="88" name="矩形 87"/>
              <p:cNvSpPr/>
              <p:nvPr>
                <p:custDataLst>
                  <p:tags r:id="rId56"/>
                </p:custDataLst>
              </p:nvPr>
            </p:nvSpPr>
            <p:spPr>
              <a:xfrm>
                <a:off x="2342" y="5918"/>
                <a:ext cx="1127" cy="16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89" name="文本框 88"/>
              <p:cNvSpPr txBox="1"/>
              <p:nvPr>
                <p:custDataLst>
                  <p:tags r:id="rId57"/>
                </p:custDataLst>
              </p:nvPr>
            </p:nvSpPr>
            <p:spPr>
              <a:xfrm>
                <a:off x="2524" y="7117"/>
                <a:ext cx="793" cy="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D</a:t>
                </a:r>
                <a:r>
                  <a:rPr lang="en-US" altLang="zh-CN" baseline="-25000"/>
                  <a:t>7-0</a:t>
                </a:r>
                <a:endParaRPr lang="en-US" altLang="zh-CN" baseline="-25000"/>
              </a:p>
            </p:txBody>
          </p:sp>
          <p:sp>
            <p:nvSpPr>
              <p:cNvPr id="90" name="文本框 89"/>
              <p:cNvSpPr txBox="1"/>
              <p:nvPr>
                <p:custDataLst>
                  <p:tags r:id="rId58"/>
                </p:custDataLst>
              </p:nvPr>
            </p:nvSpPr>
            <p:spPr>
              <a:xfrm>
                <a:off x="2960" y="5918"/>
                <a:ext cx="64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/CS</a:t>
                </a:r>
                <a:endParaRPr lang="en-US" altLang="zh-CN" sz="1000" baseline="-25000"/>
              </a:p>
            </p:txBody>
          </p:sp>
          <p:sp>
            <p:nvSpPr>
              <p:cNvPr id="91" name="文本框 90"/>
              <p:cNvSpPr txBox="1"/>
              <p:nvPr>
                <p:custDataLst>
                  <p:tags r:id="rId59"/>
                </p:custDataLst>
              </p:nvPr>
            </p:nvSpPr>
            <p:spPr>
              <a:xfrm>
                <a:off x="2219" y="6024"/>
                <a:ext cx="958" cy="10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50000"/>
                  </a:lnSpc>
                </a:pPr>
                <a:r>
                  <a:rPr lang="en-US" altLang="zh-CN"/>
                  <a:t>A</a:t>
                </a:r>
                <a:r>
                  <a:rPr lang="en-US" altLang="zh-CN" baseline="-25000"/>
                  <a:t>20-0</a:t>
                </a:r>
                <a:endParaRPr lang="en-US" altLang="zh-CN" baseline="-25000"/>
              </a:p>
              <a:p>
                <a:pPr>
                  <a:lnSpc>
                    <a:spcPct val="150000"/>
                  </a:lnSpc>
                </a:pPr>
                <a:r>
                  <a:rPr lang="en-US" altLang="zh-CN"/>
                  <a:t>R/W</a:t>
                </a:r>
                <a:endParaRPr lang="zh-CN" altLang="en-US"/>
              </a:p>
            </p:txBody>
          </p:sp>
        </p:grpSp>
        <p:grpSp>
          <p:nvGrpSpPr>
            <p:cNvPr id="92" name="组合 91"/>
            <p:cNvGrpSpPr/>
            <p:nvPr/>
          </p:nvGrpSpPr>
          <p:grpSpPr>
            <a:xfrm>
              <a:off x="10901" y="5918"/>
              <a:ext cx="1387" cy="1684"/>
              <a:chOff x="2219" y="5918"/>
              <a:chExt cx="1387" cy="1684"/>
            </a:xfrm>
          </p:grpSpPr>
          <p:sp>
            <p:nvSpPr>
              <p:cNvPr id="93" name="矩形 92"/>
              <p:cNvSpPr/>
              <p:nvPr>
                <p:custDataLst>
                  <p:tags r:id="rId60"/>
                </p:custDataLst>
              </p:nvPr>
            </p:nvSpPr>
            <p:spPr>
              <a:xfrm>
                <a:off x="2342" y="5918"/>
                <a:ext cx="1127" cy="161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文本框 93"/>
              <p:cNvSpPr txBox="1"/>
              <p:nvPr>
                <p:custDataLst>
                  <p:tags r:id="rId61"/>
                </p:custDataLst>
              </p:nvPr>
            </p:nvSpPr>
            <p:spPr>
              <a:xfrm>
                <a:off x="2524" y="7117"/>
                <a:ext cx="793" cy="4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D</a:t>
                </a:r>
                <a:r>
                  <a:rPr lang="en-US" altLang="zh-CN" baseline="-25000"/>
                  <a:t>7-0</a:t>
                </a:r>
                <a:endParaRPr lang="en-US" altLang="zh-CN" baseline="-25000"/>
              </a:p>
            </p:txBody>
          </p:sp>
          <p:sp>
            <p:nvSpPr>
              <p:cNvPr id="95" name="文本框 94"/>
              <p:cNvSpPr txBox="1"/>
              <p:nvPr>
                <p:custDataLst>
                  <p:tags r:id="rId62"/>
                </p:custDataLst>
              </p:nvPr>
            </p:nvSpPr>
            <p:spPr>
              <a:xfrm>
                <a:off x="2960" y="5918"/>
                <a:ext cx="646" cy="3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000"/>
                  <a:t>/CS</a:t>
                </a:r>
                <a:endParaRPr lang="en-US" altLang="zh-CN" sz="1000" baseline="-25000"/>
              </a:p>
            </p:txBody>
          </p:sp>
          <p:sp>
            <p:nvSpPr>
              <p:cNvPr id="96" name="文本框 95"/>
              <p:cNvSpPr txBox="1"/>
              <p:nvPr>
                <p:custDataLst>
                  <p:tags r:id="rId63"/>
                </p:custDataLst>
              </p:nvPr>
            </p:nvSpPr>
            <p:spPr>
              <a:xfrm>
                <a:off x="2219" y="6024"/>
                <a:ext cx="958" cy="109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>
                  <a:lnSpc>
                    <a:spcPct val="150000"/>
                  </a:lnSpc>
                </a:pPr>
                <a:r>
                  <a:rPr lang="en-US" altLang="zh-CN"/>
                  <a:t>A</a:t>
                </a:r>
                <a:r>
                  <a:rPr lang="en-US" altLang="zh-CN" baseline="-25000"/>
                  <a:t>20-0</a:t>
                </a:r>
                <a:endParaRPr lang="en-US" altLang="zh-CN" baseline="-25000"/>
              </a:p>
              <a:p>
                <a:pPr>
                  <a:lnSpc>
                    <a:spcPct val="150000"/>
                  </a:lnSpc>
                </a:pPr>
                <a:r>
                  <a:rPr lang="en-US" altLang="zh-CN"/>
                  <a:t>R/W</a:t>
                </a:r>
                <a:endParaRPr lang="zh-CN" altLang="en-US"/>
              </a:p>
            </p:txBody>
          </p:sp>
        </p:grpSp>
        <p:cxnSp>
          <p:nvCxnSpPr>
            <p:cNvPr id="97" name="直接连接符 96"/>
            <p:cNvCxnSpPr/>
            <p:nvPr/>
          </p:nvCxnSpPr>
          <p:spPr>
            <a:xfrm flipH="1">
              <a:off x="5230" y="3762"/>
              <a:ext cx="0" cy="754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>
              <p:custDataLst>
                <p:tags r:id="rId64"/>
              </p:custDataLst>
            </p:nvPr>
          </p:nvCxnSpPr>
          <p:spPr>
            <a:xfrm flipV="1">
              <a:off x="3177" y="4516"/>
              <a:ext cx="20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>
              <p:custDataLst>
                <p:tags r:id="rId65"/>
              </p:custDataLst>
            </p:nvPr>
          </p:nvCxnSpPr>
          <p:spPr>
            <a:xfrm flipH="1">
              <a:off x="3177" y="4516"/>
              <a:ext cx="0" cy="141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66"/>
              </p:custDataLst>
            </p:nvPr>
          </p:nvCxnSpPr>
          <p:spPr>
            <a:xfrm flipH="1">
              <a:off x="5417" y="3349"/>
              <a:ext cx="0" cy="255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67"/>
              </p:custDataLst>
            </p:nvPr>
          </p:nvCxnSpPr>
          <p:spPr>
            <a:xfrm flipH="1">
              <a:off x="7605" y="2706"/>
              <a:ext cx="0" cy="323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2" name="直接连接符 101"/>
            <p:cNvCxnSpPr/>
            <p:nvPr>
              <p:custDataLst>
                <p:tags r:id="rId68"/>
              </p:custDataLst>
            </p:nvPr>
          </p:nvCxnSpPr>
          <p:spPr>
            <a:xfrm flipH="1">
              <a:off x="9771" y="1764"/>
              <a:ext cx="0" cy="4139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69"/>
              </p:custDataLst>
            </p:nvPr>
          </p:nvCxnSpPr>
          <p:spPr>
            <a:xfrm flipH="1">
              <a:off x="11986" y="834"/>
              <a:ext cx="0" cy="510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/>
            <p:nvPr>
              <p:custDataLst>
                <p:tags r:id="rId70"/>
              </p:custDataLst>
            </p:nvPr>
          </p:nvCxnSpPr>
          <p:spPr>
            <a:xfrm flipV="1">
              <a:off x="1406" y="4347"/>
              <a:ext cx="114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05" name="文本框 104"/>
            <p:cNvSpPr txBox="1"/>
            <p:nvPr>
              <p:custDataLst>
                <p:tags r:id="rId71"/>
              </p:custDataLst>
            </p:nvPr>
          </p:nvSpPr>
          <p:spPr>
            <a:xfrm>
              <a:off x="545" y="4079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A</a:t>
              </a:r>
              <a:r>
                <a:rPr lang="en-US" altLang="zh-CN" baseline="-25000"/>
                <a:t>19-0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cxnSp>
          <p:nvCxnSpPr>
            <p:cNvPr id="106" name="直接连接符 105"/>
            <p:cNvCxnSpPr/>
            <p:nvPr>
              <p:custDataLst>
                <p:tags r:id="rId72"/>
              </p:custDataLst>
            </p:nvPr>
          </p:nvCxnSpPr>
          <p:spPr>
            <a:xfrm flipH="1">
              <a:off x="1879" y="3831"/>
              <a:ext cx="0" cy="34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/>
            <p:nvPr>
              <p:custDataLst>
                <p:tags r:id="rId73"/>
              </p:custDataLst>
            </p:nvPr>
          </p:nvCxnSpPr>
          <p:spPr>
            <a:xfrm flipV="1">
              <a:off x="1879" y="4171"/>
              <a:ext cx="884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1739" y="4365"/>
              <a:ext cx="0" cy="2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9" name="直接箭头连接符 108"/>
            <p:cNvCxnSpPr/>
            <p:nvPr/>
          </p:nvCxnSpPr>
          <p:spPr>
            <a:xfrm flipV="1">
              <a:off x="1753" y="6474"/>
              <a:ext cx="5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0" name="直接箭头连接符 109"/>
            <p:cNvCxnSpPr/>
            <p:nvPr>
              <p:custDataLst>
                <p:tags r:id="rId74"/>
              </p:custDataLst>
            </p:nvPr>
          </p:nvCxnSpPr>
          <p:spPr>
            <a:xfrm flipV="1">
              <a:off x="3889" y="6474"/>
              <a:ext cx="5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1" name="直接箭头连接符 110"/>
            <p:cNvCxnSpPr/>
            <p:nvPr>
              <p:custDataLst>
                <p:tags r:id="rId75"/>
              </p:custDataLst>
            </p:nvPr>
          </p:nvCxnSpPr>
          <p:spPr>
            <a:xfrm flipV="1">
              <a:off x="6054" y="6474"/>
              <a:ext cx="5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2" name="直接箭头连接符 111"/>
            <p:cNvCxnSpPr/>
            <p:nvPr>
              <p:custDataLst>
                <p:tags r:id="rId76"/>
              </p:custDataLst>
            </p:nvPr>
          </p:nvCxnSpPr>
          <p:spPr>
            <a:xfrm flipV="1">
              <a:off x="8220" y="6516"/>
              <a:ext cx="5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/>
            <p:nvPr>
              <p:custDataLst>
                <p:tags r:id="rId77"/>
              </p:custDataLst>
            </p:nvPr>
          </p:nvCxnSpPr>
          <p:spPr>
            <a:xfrm flipV="1">
              <a:off x="10420" y="6474"/>
              <a:ext cx="57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/>
            <p:nvPr>
              <p:custDataLst>
                <p:tags r:id="rId78"/>
              </p:custDataLst>
            </p:nvPr>
          </p:nvCxnSpPr>
          <p:spPr>
            <a:xfrm>
              <a:off x="3889" y="4365"/>
              <a:ext cx="0" cy="2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连接符 114"/>
            <p:cNvCxnSpPr/>
            <p:nvPr>
              <p:custDataLst>
                <p:tags r:id="rId79"/>
              </p:custDataLst>
            </p:nvPr>
          </p:nvCxnSpPr>
          <p:spPr>
            <a:xfrm>
              <a:off x="6026" y="4365"/>
              <a:ext cx="0" cy="2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/>
            <p:nvPr>
              <p:custDataLst>
                <p:tags r:id="rId80"/>
              </p:custDataLst>
            </p:nvPr>
          </p:nvCxnSpPr>
          <p:spPr>
            <a:xfrm>
              <a:off x="8220" y="4365"/>
              <a:ext cx="0" cy="2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7" name="直接连接符 116"/>
            <p:cNvCxnSpPr/>
            <p:nvPr>
              <p:custDataLst>
                <p:tags r:id="rId81"/>
              </p:custDataLst>
            </p:nvPr>
          </p:nvCxnSpPr>
          <p:spPr>
            <a:xfrm>
              <a:off x="10420" y="4365"/>
              <a:ext cx="0" cy="215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/>
            <p:nvPr>
              <p:custDataLst>
                <p:tags r:id="rId82"/>
              </p:custDataLst>
            </p:nvPr>
          </p:nvCxnSpPr>
          <p:spPr>
            <a:xfrm flipH="1">
              <a:off x="6216" y="4171"/>
              <a:ext cx="0" cy="20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/>
            <p:nvPr>
              <p:custDataLst>
                <p:tags r:id="rId83"/>
              </p:custDataLst>
            </p:nvPr>
          </p:nvCxnSpPr>
          <p:spPr>
            <a:xfrm flipH="1">
              <a:off x="8508" y="4194"/>
              <a:ext cx="0" cy="20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0" name="直接连接符 119"/>
            <p:cNvCxnSpPr/>
            <p:nvPr>
              <p:custDataLst>
                <p:tags r:id="rId84"/>
              </p:custDataLst>
            </p:nvPr>
          </p:nvCxnSpPr>
          <p:spPr>
            <a:xfrm flipH="1">
              <a:off x="10708" y="4145"/>
              <a:ext cx="0" cy="209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/>
            <p:nvPr/>
          </p:nvCxnSpPr>
          <p:spPr>
            <a:xfrm>
              <a:off x="6220" y="6242"/>
              <a:ext cx="41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/>
            <p:nvPr>
              <p:custDataLst>
                <p:tags r:id="rId85"/>
              </p:custDataLst>
            </p:nvPr>
          </p:nvCxnSpPr>
          <p:spPr>
            <a:xfrm>
              <a:off x="8489" y="6292"/>
              <a:ext cx="28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3" name="直接箭头连接符 122"/>
            <p:cNvCxnSpPr/>
            <p:nvPr>
              <p:custDataLst>
                <p:tags r:id="rId86"/>
              </p:custDataLst>
            </p:nvPr>
          </p:nvCxnSpPr>
          <p:spPr>
            <a:xfrm>
              <a:off x="10717" y="6243"/>
              <a:ext cx="28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4" name="直接连接符 123"/>
            <p:cNvCxnSpPr/>
            <p:nvPr>
              <p:custDataLst>
                <p:tags r:id="rId87"/>
              </p:custDataLst>
            </p:nvPr>
          </p:nvCxnSpPr>
          <p:spPr>
            <a:xfrm flipV="1">
              <a:off x="1358" y="7964"/>
              <a:ext cx="9241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5" name="直接连接符 124"/>
            <p:cNvCxnSpPr/>
            <p:nvPr>
              <p:custDataLst>
                <p:tags r:id="rId88"/>
              </p:custDataLst>
            </p:nvPr>
          </p:nvCxnSpPr>
          <p:spPr>
            <a:xfrm flipV="1">
              <a:off x="6908" y="6726"/>
              <a:ext cx="2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/>
            <p:nvPr>
              <p:custDataLst>
                <p:tags r:id="rId89"/>
              </p:custDataLst>
            </p:nvPr>
          </p:nvCxnSpPr>
          <p:spPr>
            <a:xfrm flipV="1">
              <a:off x="9074" y="6726"/>
              <a:ext cx="2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7" name="直接连接符 126"/>
            <p:cNvCxnSpPr/>
            <p:nvPr>
              <p:custDataLst>
                <p:tags r:id="rId90"/>
              </p:custDataLst>
            </p:nvPr>
          </p:nvCxnSpPr>
          <p:spPr>
            <a:xfrm flipV="1">
              <a:off x="11302" y="6726"/>
              <a:ext cx="2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8" name="文本框 127"/>
            <p:cNvSpPr txBox="1"/>
            <p:nvPr>
              <p:custDataLst>
                <p:tags r:id="rId91"/>
              </p:custDataLst>
            </p:nvPr>
          </p:nvSpPr>
          <p:spPr>
            <a:xfrm>
              <a:off x="495" y="7720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R/W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cxnSp>
          <p:nvCxnSpPr>
            <p:cNvPr id="129" name="直接连接符 128"/>
            <p:cNvCxnSpPr/>
            <p:nvPr>
              <p:custDataLst>
                <p:tags r:id="rId92"/>
              </p:custDataLst>
            </p:nvPr>
          </p:nvCxnSpPr>
          <p:spPr>
            <a:xfrm flipV="1">
              <a:off x="891" y="7790"/>
              <a:ext cx="28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0" name="直接连接符 129"/>
            <p:cNvCxnSpPr/>
            <p:nvPr>
              <p:custDataLst>
                <p:tags r:id="rId93"/>
              </p:custDataLst>
            </p:nvPr>
          </p:nvCxnSpPr>
          <p:spPr>
            <a:xfrm flipH="1">
              <a:off x="1879" y="6911"/>
              <a:ext cx="0" cy="1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/>
            <p:nvPr>
              <p:custDataLst>
                <p:tags r:id="rId94"/>
              </p:custDataLst>
            </p:nvPr>
          </p:nvCxnSpPr>
          <p:spPr>
            <a:xfrm flipV="1">
              <a:off x="1893" y="6924"/>
              <a:ext cx="4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2" name="直接连接符 131"/>
            <p:cNvCxnSpPr/>
            <p:nvPr>
              <p:custDataLst>
                <p:tags r:id="rId95"/>
              </p:custDataLst>
            </p:nvPr>
          </p:nvCxnSpPr>
          <p:spPr>
            <a:xfrm flipH="1">
              <a:off x="3997" y="6911"/>
              <a:ext cx="0" cy="1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直接连接符 132"/>
            <p:cNvCxnSpPr/>
            <p:nvPr>
              <p:custDataLst>
                <p:tags r:id="rId96"/>
              </p:custDataLst>
            </p:nvPr>
          </p:nvCxnSpPr>
          <p:spPr>
            <a:xfrm flipV="1">
              <a:off x="4011" y="6924"/>
              <a:ext cx="4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/>
            <p:nvPr>
              <p:custDataLst>
                <p:tags r:id="rId97"/>
              </p:custDataLst>
            </p:nvPr>
          </p:nvCxnSpPr>
          <p:spPr>
            <a:xfrm flipH="1">
              <a:off x="6119" y="6887"/>
              <a:ext cx="0" cy="1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/>
            <p:nvPr>
              <p:custDataLst>
                <p:tags r:id="rId98"/>
              </p:custDataLst>
            </p:nvPr>
          </p:nvCxnSpPr>
          <p:spPr>
            <a:xfrm flipV="1">
              <a:off x="6133" y="6900"/>
              <a:ext cx="4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>
              <p:custDataLst>
                <p:tags r:id="rId99"/>
              </p:custDataLst>
            </p:nvPr>
          </p:nvCxnSpPr>
          <p:spPr>
            <a:xfrm flipH="1">
              <a:off x="8347" y="6887"/>
              <a:ext cx="0" cy="1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7" name="直接连接符 136"/>
            <p:cNvCxnSpPr/>
            <p:nvPr>
              <p:custDataLst>
                <p:tags r:id="rId100"/>
              </p:custDataLst>
            </p:nvPr>
          </p:nvCxnSpPr>
          <p:spPr>
            <a:xfrm flipV="1">
              <a:off x="8361" y="6900"/>
              <a:ext cx="4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>
              <p:custDataLst>
                <p:tags r:id="rId101"/>
              </p:custDataLst>
            </p:nvPr>
          </p:nvCxnSpPr>
          <p:spPr>
            <a:xfrm flipH="1">
              <a:off x="10564" y="6887"/>
              <a:ext cx="0" cy="107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9" name="直接连接符 138"/>
            <p:cNvCxnSpPr/>
            <p:nvPr>
              <p:custDataLst>
                <p:tags r:id="rId102"/>
              </p:custDataLst>
            </p:nvPr>
          </p:nvCxnSpPr>
          <p:spPr>
            <a:xfrm flipV="1">
              <a:off x="10578" y="6900"/>
              <a:ext cx="454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0" name="直接箭头连接符 139"/>
            <p:cNvCxnSpPr/>
            <p:nvPr>
              <p:custDataLst>
                <p:tags r:id="rId103"/>
              </p:custDataLst>
            </p:nvPr>
          </p:nvCxnSpPr>
          <p:spPr>
            <a:xfrm flipV="1">
              <a:off x="1406" y="8479"/>
              <a:ext cx="11452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2" name="文本框 141"/>
            <p:cNvSpPr txBox="1"/>
            <p:nvPr>
              <p:custDataLst>
                <p:tags r:id="rId104"/>
              </p:custDataLst>
            </p:nvPr>
          </p:nvSpPr>
          <p:spPr>
            <a:xfrm>
              <a:off x="556" y="8208"/>
              <a:ext cx="850" cy="48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/>
                <a:t>D</a:t>
              </a:r>
              <a:r>
                <a:rPr lang="en-US" altLang="zh-CN" baseline="-25000"/>
                <a:t>7-0</a:t>
              </a:r>
              <a:endParaRPr lang="en-US" altLang="zh-CN" baseline="-25000"/>
            </a:p>
            <a:p>
              <a:endParaRPr lang="en-US" altLang="zh-CN" baseline="-25000"/>
            </a:p>
            <a:p>
              <a:endParaRPr lang="en-US" altLang="zh-CN" baseline="-25000"/>
            </a:p>
          </p:txBody>
        </p:sp>
        <p:cxnSp>
          <p:nvCxnSpPr>
            <p:cNvPr id="143" name="直接连接符 142"/>
            <p:cNvCxnSpPr/>
            <p:nvPr>
              <p:custDataLst>
                <p:tags r:id="rId105"/>
              </p:custDataLst>
            </p:nvPr>
          </p:nvCxnSpPr>
          <p:spPr>
            <a:xfrm>
              <a:off x="2960" y="7530"/>
              <a:ext cx="0" cy="964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4" name="直接连接符 143"/>
            <p:cNvCxnSpPr/>
            <p:nvPr>
              <p:custDataLst>
                <p:tags r:id="rId106"/>
              </p:custDataLst>
            </p:nvPr>
          </p:nvCxnSpPr>
          <p:spPr>
            <a:xfrm>
              <a:off x="5010" y="7532"/>
              <a:ext cx="0" cy="964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5" name="直接连接符 144"/>
            <p:cNvCxnSpPr/>
            <p:nvPr>
              <p:custDataLst>
                <p:tags r:id="rId107"/>
              </p:custDataLst>
            </p:nvPr>
          </p:nvCxnSpPr>
          <p:spPr>
            <a:xfrm>
              <a:off x="7191" y="7530"/>
              <a:ext cx="0" cy="964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6" name="直接连接符 145"/>
            <p:cNvCxnSpPr/>
            <p:nvPr>
              <p:custDataLst>
                <p:tags r:id="rId108"/>
              </p:custDataLst>
            </p:nvPr>
          </p:nvCxnSpPr>
          <p:spPr>
            <a:xfrm>
              <a:off x="9357" y="7532"/>
              <a:ext cx="0" cy="964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7" name="直接连接符 146"/>
            <p:cNvCxnSpPr/>
            <p:nvPr>
              <p:custDataLst>
                <p:tags r:id="rId109"/>
              </p:custDataLst>
            </p:nvPr>
          </p:nvCxnSpPr>
          <p:spPr>
            <a:xfrm>
              <a:off x="11585" y="7532"/>
              <a:ext cx="0" cy="964"/>
            </a:xfrm>
            <a:prstGeom prst="line">
              <a:avLst/>
            </a:prstGeom>
            <a:ln w="38100">
              <a:solidFill>
                <a:schemeClr val="tx1"/>
              </a:solidFill>
              <a:headEnd type="arrow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48" name="文本框 147"/>
            <p:cNvSpPr txBox="1"/>
            <p:nvPr>
              <p:custDataLst>
                <p:tags r:id="rId110"/>
              </p:custDataLst>
            </p:nvPr>
          </p:nvSpPr>
          <p:spPr>
            <a:xfrm>
              <a:off x="3027" y="6454"/>
              <a:ext cx="520" cy="6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80000"/>
                </a:lnSpc>
              </a:pPr>
              <a:r>
                <a:rPr lang="en-US" altLang="zh-CN"/>
                <a:t>R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OM</a:t>
              </a:r>
              <a:endParaRPr lang="en-US" altLang="zh-CN" baseline="-25000"/>
            </a:p>
            <a:p>
              <a:pPr>
                <a:lnSpc>
                  <a:spcPct val="80000"/>
                </a:lnSpc>
              </a:pPr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151" name="文本框 150"/>
            <p:cNvSpPr txBox="1"/>
            <p:nvPr>
              <p:custDataLst>
                <p:tags r:id="rId111"/>
              </p:custDataLst>
            </p:nvPr>
          </p:nvSpPr>
          <p:spPr>
            <a:xfrm>
              <a:off x="5144" y="6462"/>
              <a:ext cx="520" cy="6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60000"/>
                </a:lnSpc>
              </a:pPr>
              <a:r>
                <a:rPr lang="en-US" altLang="zh-CN"/>
                <a:t>R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OM</a:t>
              </a:r>
              <a:endParaRPr lang="en-US" altLang="zh-CN" baseline="-25000"/>
            </a:p>
            <a:p>
              <a:pPr>
                <a:lnSpc>
                  <a:spcPct val="60000"/>
                </a:lnSpc>
              </a:pPr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152" name="文本框 151"/>
            <p:cNvSpPr txBox="1"/>
            <p:nvPr>
              <p:custDataLst>
                <p:tags r:id="rId112"/>
              </p:custDataLst>
            </p:nvPr>
          </p:nvSpPr>
          <p:spPr>
            <a:xfrm>
              <a:off x="9487" y="6454"/>
              <a:ext cx="520" cy="8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60000"/>
                </a:lnSpc>
              </a:pPr>
              <a:r>
                <a:rPr lang="en-US" altLang="zh-CN"/>
                <a:t>R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AM</a:t>
              </a:r>
              <a:endParaRPr lang="en-US" altLang="zh-CN" baseline="-25000"/>
            </a:p>
            <a:p>
              <a:pPr>
                <a:lnSpc>
                  <a:spcPct val="60000"/>
                </a:lnSpc>
              </a:pPr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153" name="文本框 152"/>
            <p:cNvSpPr txBox="1"/>
            <p:nvPr>
              <p:custDataLst>
                <p:tags r:id="rId113"/>
              </p:custDataLst>
            </p:nvPr>
          </p:nvSpPr>
          <p:spPr>
            <a:xfrm>
              <a:off x="7302" y="6410"/>
              <a:ext cx="520" cy="89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60000"/>
                </a:lnSpc>
              </a:pPr>
              <a:r>
                <a:rPr lang="en-US" altLang="zh-CN"/>
                <a:t>R</a:t>
              </a:r>
              <a:endParaRPr lang="en-US" altLang="zh-CN"/>
            </a:p>
            <a:p>
              <a:pPr>
                <a:lnSpc>
                  <a:spcPct val="80000"/>
                </a:lnSpc>
              </a:pPr>
              <a:r>
                <a:rPr lang="en-US" altLang="zh-CN"/>
                <a:t>AM</a:t>
              </a:r>
              <a:endParaRPr lang="en-US" altLang="zh-CN" baseline="-25000"/>
            </a:p>
            <a:p>
              <a:pPr>
                <a:lnSpc>
                  <a:spcPct val="60000"/>
                </a:lnSpc>
              </a:pPr>
              <a:endParaRPr lang="en-US" altLang="zh-CN" baseline="-25000"/>
            </a:p>
            <a:p>
              <a:endParaRPr lang="en-US" altLang="zh-CN" baseline="-25000"/>
            </a:p>
          </p:txBody>
        </p:sp>
        <p:sp>
          <p:nvSpPr>
            <p:cNvPr id="154" name="文本框 153"/>
            <p:cNvSpPr txBox="1"/>
            <p:nvPr>
              <p:custDataLst>
                <p:tags r:id="rId114"/>
              </p:custDataLst>
            </p:nvPr>
          </p:nvSpPr>
          <p:spPr>
            <a:xfrm>
              <a:off x="11668" y="6454"/>
              <a:ext cx="520" cy="84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>
                <a:lnSpc>
                  <a:spcPct val="90000"/>
                </a:lnSpc>
              </a:pPr>
              <a:r>
                <a:rPr lang="en-US" altLang="zh-CN"/>
                <a:t>R</a:t>
              </a:r>
              <a:endParaRPr lang="en-US" altLang="zh-CN"/>
            </a:p>
            <a:p>
              <a:pPr>
                <a:lnSpc>
                  <a:spcPct val="70000"/>
                </a:lnSpc>
              </a:pPr>
              <a:r>
                <a:rPr lang="en-US" altLang="zh-CN"/>
                <a:t>AM</a:t>
              </a:r>
              <a:endParaRPr lang="en-US" altLang="zh-CN" baseline="-25000"/>
            </a:p>
            <a:p>
              <a:pPr>
                <a:lnSpc>
                  <a:spcPct val="60000"/>
                </a:lnSpc>
              </a:pPr>
              <a:endParaRPr lang="en-US" altLang="zh-CN" baseline="-25000"/>
            </a:p>
            <a:p>
              <a:endParaRPr lang="en-US" altLang="zh-CN" baseline="-250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432435" y="393700"/>
            <a:ext cx="8342630" cy="273875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spcAft>
                <a:spcPts val="0"/>
              </a:spcAft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假定某计算机的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采用直接映射方式，和主存交换的数据块大小为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个字，按字编址，一次能存放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个字的数据。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初始为空，假设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CPU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访问内存的地址序列为：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13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48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19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22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27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6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。计算该地址序列的命中率为：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填空</a:t>
            </a:r>
            <a:r>
              <a:rPr lang="en-US" altLang="zh-CN" sz="2400" dirty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1]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2"/>
            </p:custDataLst>
          </p:nvPr>
        </p:nvGraphicFramePr>
        <p:xfrm>
          <a:off x="432308" y="3132201"/>
          <a:ext cx="8479155" cy="3014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"/>
                <a:gridCol w="65572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  <a:gridCol w="468000"/>
              </a:tblGrid>
              <a:tr h="367030">
                <a:tc rowSpan="2">
                  <a:txBody>
                    <a:bodyPr/>
                    <a:p>
                      <a:pPr algn="ctr"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spcBef>
                          <a:spcPts val="0"/>
                        </a:spcBef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M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字号</a:t>
                      </a: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64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48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19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27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72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chemeClr val="tx1"/>
                          </a:solidFill>
                        </a:rPr>
                        <a:t>块号</a:t>
                      </a: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94665">
                <a:tc row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CACHE</a:t>
                      </a:r>
                      <a:r>
                        <a:rPr lang="zh-CN" altLang="en-US" sz="1600" b="1">
                          <a:solidFill>
                            <a:schemeClr val="tx1"/>
                          </a:solidFill>
                          <a:sym typeface="+mn-ea"/>
                        </a:rPr>
                        <a:t>块号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783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0673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9339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  <a:sym typeface="+mn-ea"/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7200"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600" b="1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V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1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zh-CN" sz="1600" b="1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" name="文本框 99"/>
          <p:cNvSpPr txBox="1"/>
          <p:nvPr/>
        </p:nvSpPr>
        <p:spPr>
          <a:xfrm>
            <a:off x="335280" y="321945"/>
            <a:ext cx="8291830" cy="56311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>
              <a:spcAft>
                <a:spcPts val="0"/>
              </a:spcAft>
            </a:pP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某机的</a:t>
            </a:r>
            <a:r>
              <a:rPr lang="en-US" sz="2400" b="0">
                <a:latin typeface="Times New Roman" panose="02020603050405020304" charset="0"/>
              </a:rPr>
              <a:t>CACHE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共有</a:t>
            </a:r>
            <a:r>
              <a:rPr lang="en-US" sz="2400" b="0">
                <a:latin typeface="Times New Roman" panose="02020603050405020304" charset="0"/>
              </a:rPr>
              <a:t>32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块，每块大小为</a:t>
            </a:r>
            <a:r>
              <a:rPr lang="en-US" sz="2400" b="0">
                <a:latin typeface="Times New Roman" panose="02020603050405020304" charset="0"/>
              </a:rPr>
              <a:t>512B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，与主存之间采用</a:t>
            </a:r>
            <a:r>
              <a:rPr lang="en-US" sz="2400" b="0">
                <a:latin typeface="Times New Roman" panose="02020603050405020304" charset="0"/>
              </a:rPr>
              <a:t>4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路组相联映射，各存储器均按字节编址。</a:t>
            </a:r>
            <a:endParaRPr lang="zh-CN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问：</a:t>
            </a:r>
            <a:r>
              <a:rPr lang="en-US" sz="2400" b="0">
                <a:latin typeface="Times New Roman" panose="02020603050405020304" charset="0"/>
              </a:rPr>
              <a:t>①Cache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容量大小为多少？</a:t>
            </a:r>
            <a:endParaRPr lang="zh-CN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②写出访问</a:t>
            </a:r>
            <a:r>
              <a:rPr lang="en-US" sz="2400" b="0">
                <a:latin typeface="Times New Roman" panose="02020603050405020304" charset="0"/>
              </a:rPr>
              <a:t>CACHE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的地址格式？</a:t>
            </a:r>
            <a:r>
              <a:rPr lang="en-US" sz="2400" b="0">
                <a:latin typeface="Times New Roman" panose="02020603050405020304" charset="0"/>
              </a:rPr>
              <a:t>③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访问十进制主存地址为</a:t>
            </a:r>
            <a:r>
              <a:rPr lang="en-US" sz="2400" b="0">
                <a:latin typeface="Times New Roman" panose="02020603050405020304" charset="0"/>
              </a:rPr>
              <a:t>3580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的主存单元时，则应在</a:t>
            </a:r>
            <a:r>
              <a:rPr lang="en-US" sz="2400" b="0">
                <a:latin typeface="Times New Roman" panose="02020603050405020304" charset="0"/>
              </a:rPr>
              <a:t>CACHE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的哪一组中查找？</a:t>
            </a:r>
            <a:endParaRPr lang="zh-CN" sz="2400" b="0">
              <a:latin typeface="Times New Roman" panose="02020603050405020304" charset="0"/>
              <a:ea typeface="宋体" panose="02010600030101010101" pitchFamily="2" charset="-122"/>
            </a:endParaRPr>
          </a:p>
          <a:p>
            <a:pPr indent="0">
              <a:spcBef>
                <a:spcPts val="0"/>
              </a:spcBef>
              <a:spcAft>
                <a:spcPts val="0"/>
              </a:spcAft>
            </a:pP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解：</a:t>
            </a:r>
            <a:r>
              <a:rPr lang="en-US" sz="2400" b="0">
                <a:latin typeface="Times New Roman" panose="02020603050405020304" charset="0"/>
              </a:rPr>
              <a:t>①Cache</a:t>
            </a:r>
            <a:r>
              <a:rPr lang="zh-CN" sz="2400" b="0">
                <a:latin typeface="Times New Roman" panose="02020603050405020304" charset="0"/>
                <a:ea typeface="宋体" panose="02010600030101010101" pitchFamily="2" charset="-122"/>
              </a:rPr>
              <a:t>容量</a:t>
            </a:r>
            <a:r>
              <a:rPr lang="en-US" sz="2400" b="0">
                <a:latin typeface="Times New Roman" panose="02020603050405020304" charset="0"/>
              </a:rPr>
              <a:t>=32*512B=214=16KB②Cache</a:t>
            </a:r>
            <a:r>
              <a:rPr lang="zh-CN" altLang="en-US" sz="2400" b="0">
                <a:latin typeface="Times New Roman" panose="02020603050405020304" charset="0"/>
              </a:rPr>
              <a:t>的地址格式如下</a:t>
            </a:r>
            <a:endParaRPr lang="en-US" sz="2400" b="0">
              <a:latin typeface="Times New Roman" panose="02020603050405020304" charset="0"/>
            </a:endParaRPr>
          </a:p>
          <a:p>
            <a:pPr indent="0"/>
            <a:endParaRPr lang="en-US" sz="2400" b="0">
              <a:latin typeface="Times New Roman" panose="02020603050405020304" charset="0"/>
            </a:endParaRPr>
          </a:p>
          <a:p>
            <a:pPr indent="0"/>
            <a:endParaRPr lang="en-US" sz="2400" b="0">
              <a:latin typeface="Times New Roman" panose="02020603050405020304" charset="0"/>
            </a:endParaRPr>
          </a:p>
          <a:p>
            <a:pPr indent="0">
              <a:spcBef>
                <a:spcPts val="0"/>
              </a:spcBef>
            </a:pPr>
            <a:r>
              <a:rPr lang="en-US" sz="2400">
                <a:latin typeface="Times New Roman" panose="02020603050405020304" charset="0"/>
                <a:sym typeface="+mn-ea"/>
              </a:rPr>
              <a:t>③3580/512=6……508,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属于第</a:t>
            </a:r>
            <a:r>
              <a:rPr lang="en-US" sz="2400">
                <a:latin typeface="Times New Roman" panose="02020603050405020304" charset="0"/>
                <a:sym typeface="+mn-ea"/>
              </a:rPr>
              <a:t>6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块映射的</a:t>
            </a:r>
            <a:r>
              <a:rPr lang="en-US" sz="2400">
                <a:latin typeface="Times New Roman" panose="02020603050405020304" charset="0"/>
                <a:sym typeface="+mn-ea"/>
              </a:rPr>
              <a:t>Cache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组号</a:t>
            </a:r>
            <a:r>
              <a:rPr lang="en-US" sz="2400">
                <a:latin typeface="Times New Roman" panose="02020603050405020304" charset="0"/>
                <a:sym typeface="+mn-ea"/>
              </a:rPr>
              <a:t>=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主存块号</a:t>
            </a:r>
            <a:r>
              <a:rPr lang="en-US" sz="2400">
                <a:latin typeface="Times New Roman" panose="02020603050405020304" charset="0"/>
                <a:sym typeface="+mn-ea"/>
              </a:rPr>
              <a:t>MOD CACHE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组数</a:t>
            </a:r>
            <a:r>
              <a:rPr lang="en-US" sz="2400">
                <a:latin typeface="Times New Roman" panose="02020603050405020304" charset="0"/>
                <a:sym typeface="+mn-ea"/>
              </a:rPr>
              <a:t>=6 MOD 8 =6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则应在</a:t>
            </a:r>
            <a:r>
              <a:rPr lang="en-US" sz="2400">
                <a:latin typeface="Times New Roman" panose="02020603050405020304" charset="0"/>
                <a:sym typeface="+mn-ea"/>
              </a:rPr>
              <a:t>cache</a:t>
            </a:r>
            <a:r>
              <a:rPr lang="zh-CN" sz="2400">
                <a:latin typeface="Times New Roman" panose="02020603050405020304" charset="0"/>
                <a:ea typeface="宋体" panose="02010600030101010101" pitchFamily="2" charset="-122"/>
                <a:sym typeface="+mn-ea"/>
              </a:rPr>
              <a:t>的第六组中查找。</a:t>
            </a:r>
            <a:endParaRPr lang="zh-CN" altLang="en-US" sz="2400"/>
          </a:p>
          <a:p>
            <a:pPr indent="0"/>
            <a:endParaRPr lang="zh-CN" altLang="en-US" sz="2400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604520" y="3746500"/>
          <a:ext cx="6366510" cy="4743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22170"/>
                <a:gridCol w="2122170"/>
                <a:gridCol w="2122170"/>
              </a:tblGrid>
              <a:tr h="474345">
                <a:tc>
                  <a:txBody>
                    <a:bodyPr/>
                    <a:p>
                      <a:pPr indent="0">
                        <a:spcAft>
                          <a:spcPts val="0"/>
                        </a:spcAft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组号（3位）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行号（2位）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字节号（9位）</a:t>
                      </a:r>
                      <a:endParaRPr lang="en-US" altLang="en-US" sz="20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332740" y="310515"/>
            <a:ext cx="8478520" cy="406844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p>
            <a:pPr>
              <a:lnSpc>
                <a:spcPct val="110000"/>
              </a:lnSpc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某存储层次结构如下：一个高速缓存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2KB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，存取时间为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50ns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；主存储器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1MB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，存取时间为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400ns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；每个字块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个字，每个字有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32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位，采用四路组相联映射，命中率为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h=0.95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；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①设置高速缓存基于什么原理？程序访问的局部性原理（空间、时间局部）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②计算平均存取时间？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ta=0.95*50+0.05*400=67.5ns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③主存和高速缓存地址各多少位？主存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位，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cache11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位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④写出具体地址格式和各字段的划分？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主存：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11,5,2,2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cache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5,2,2,2</a:t>
            </a:r>
            <a:endParaRPr lang="en-US" altLang="zh-CN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⑤假设在主存第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1K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字开始连续存放长度为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的字数组，若循环访问</a:t>
            </a:r>
            <a:r>
              <a:rPr lang="en-US" altLang="zh-CN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10</a:t>
            </a:r>
            <a:r>
              <a:rPr lang="zh-CN" altLang="en-US" sz="2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次，命中率为多少？</a:t>
            </a:r>
            <a:endParaRPr lang="zh-CN" altLang="en-US" sz="2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altLang="zh-CN" sz="2000" u="sng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97.5%</a:t>
            </a:r>
            <a:endParaRPr lang="en-US" altLang="zh-CN" sz="2000" u="sng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线形标注 1 1"/>
          <p:cNvSpPr/>
          <p:nvPr/>
        </p:nvSpPr>
        <p:spPr>
          <a:xfrm>
            <a:off x="1795780" y="4222115"/>
            <a:ext cx="3854450" cy="1063625"/>
          </a:xfrm>
          <a:prstGeom prst="borderCallout1">
            <a:avLst>
              <a:gd name="adj1" fmla="val 49361"/>
              <a:gd name="adj2" fmla="val -619"/>
              <a:gd name="adj3" fmla="val 12408"/>
              <a:gd name="adj4" fmla="val -2520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>
              <a:spcAft>
                <a:spcPts val="0"/>
              </a:spcAft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主存的第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1k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字在主存的块号是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256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，长度为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100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的字数组在主存中的块号为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256-280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（假设连续存放），对应到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cache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的组号为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0-24</a:t>
            </a:r>
            <a:endParaRPr lang="en-US" altLang="zh-CN">
              <a:solidFill>
                <a:schemeClr val="tx1"/>
              </a:solidFill>
            </a:endParaRPr>
          </a:p>
          <a:p>
            <a:pPr algn="l">
              <a:spcBef>
                <a:spcPts val="0"/>
              </a:spcBef>
            </a:pPr>
            <a:r>
              <a:rPr lang="zh-CN" altLang="en-US">
                <a:solidFill>
                  <a:schemeClr val="tx1"/>
                </a:solidFill>
                <a:sym typeface="+mn-ea"/>
              </a:rPr>
              <a:t>第一次访问时有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25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次不命中，其它命中，后续循环访问均命中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Body"/>
</p:tagLst>
</file>

<file path=ppt/tags/tag4.xml><?xml version="1.0" encoding="utf-8"?>
<p:tagLst xmlns:p="http://schemas.openxmlformats.org/presentationml/2006/main">
  <p:tag name="RAINPROBLEM" val="ProblemBody"/>
</p:tagLst>
</file>

<file path=ppt/tags/tag5.xml><?xml version="1.0" encoding="utf-8"?>
<p:tagLst xmlns:p="http://schemas.openxmlformats.org/presentationml/2006/main">
  <p:tag name="RAINPROBLEM" val="ProblemBody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Item"/>
</p:tagLst>
</file>

<file path=ppt/tags/tag8.xml><?xml version="1.0" encoding="utf-8"?>
<p:tagLst xmlns:p="http://schemas.openxmlformats.org/presentationml/2006/main">
  <p:tag name="RAINPROBLEM" val="ProblemItem"/>
</p:tagLst>
</file>

<file path=ppt/tags/tag9.xml><?xml version="1.0" encoding="utf-8"?>
<p:tagLst xmlns:p="http://schemas.openxmlformats.org/presentationml/2006/main">
  <p:tag name="RAINPROBLEM" val="ProblemItem"/>
</p:tagLst>
</file>

<file path=ppt/tags/tag10.xml><?xml version="1.0" encoding="utf-8"?>
<p:tagLst xmlns:p="http://schemas.openxmlformats.org/presentationml/2006/main">
  <p:tag name="RAINPROBLEM" val="ProblemItem"/>
</p:tagLst>
</file>

<file path=ppt/tags/tag11.xml><?xml version="1.0" encoding="utf-8"?>
<p:tagLst xmlns:p="http://schemas.openxmlformats.org/presentationml/2006/main">
  <p:tag name="RAINPROBLEM" val="ProblemItem"/>
</p:tagLst>
</file>

<file path=ppt/tags/tag12.xml><?xml version="1.0" encoding="utf-8"?>
<p:tagLst xmlns:p="http://schemas.openxmlformats.org/presentationml/2006/main">
  <p:tag name="RAINPROBLEM" val="ProblemItem"/>
</p:tagLst>
</file>

<file path=ppt/tags/tag13.xml><?xml version="1.0" encoding="utf-8"?>
<p:tagLst xmlns:p="http://schemas.openxmlformats.org/presentationml/2006/main">
  <p:tag name="RAINPROBLEM" val="ProblemItem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Item"/>
</p:tagLst>
</file>

<file path=ppt/tags/tag16.xml><?xml version="1.0" encoding="utf-8"?>
<p:tagLst xmlns:p="http://schemas.openxmlformats.org/presentationml/2006/main">
  <p:tag name="RAINPROBLEM" val="ProblemItem"/>
</p:tagLst>
</file>

<file path=ppt/tags/tag17.xml><?xml version="1.0" encoding="utf-8"?>
<p:tagLst xmlns:p="http://schemas.openxmlformats.org/presentationml/2006/main">
  <p:tag name="RAINPROBLEM" val="ProblemItem"/>
</p:tagLst>
</file>

<file path=ppt/tags/tag18.xml><?xml version="1.0" encoding="utf-8"?>
<p:tagLst xmlns:p="http://schemas.openxmlformats.org/presentationml/2006/main">
  <p:tag name="RAINPROBLEM" val="ProblemItem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Body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RAINPROBLEM" val="ProblemBody"/>
</p:tagLst>
</file>

<file path=ppt/tags/tag151.xml><?xml version="1.0" encoding="utf-8"?>
<p:tagLst xmlns:p="http://schemas.openxmlformats.org/presentationml/2006/main">
  <p:tag name="KSO_WM_UNIT_TABLE_BEAUTIFY" val="smartTable{84c44aca-677f-4be2-a15e-49f09a2d102f}"/>
</p:tagLst>
</file>

<file path=ppt/tags/tag152.xml><?xml version="1.0" encoding="utf-8"?>
<p:tagLst xmlns:p="http://schemas.openxmlformats.org/presentationml/2006/main">
  <p:tag name="TABLE_ENDDRAG_ORIGIN_RECT" val="501*37"/>
  <p:tag name="TABLE_ENDDRAG_RECT" val="47*295*501*37"/>
</p:tagLst>
</file>

<file path=ppt/tags/tag153.xml><?xml version="1.0" encoding="utf-8"?>
<p:tagLst xmlns:p="http://schemas.openxmlformats.org/presentationml/2006/main">
  <p:tag name="RAINPROBLEM" val="ProblemBody"/>
</p:tagLst>
</file>

<file path=ppt/tags/tag154.xml><?xml version="1.0" encoding="utf-8"?>
<p:tagLst xmlns:p="http://schemas.openxmlformats.org/presentationml/2006/main">
  <p:tag name="commondata" val="eyJoZGlkIjoiMGU1MWNmNzkzNzZlOTYzYzIyMGI4NjQyMGNlMDgwNW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3344</Words>
  <Application>WPS 演示</Application>
  <PresentationFormat>全屏显示(16:10)</PresentationFormat>
  <Paragraphs>479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5" baseType="lpstr">
      <vt:lpstr>Arial</vt:lpstr>
      <vt:lpstr>宋体</vt:lpstr>
      <vt:lpstr>Wingdings</vt:lpstr>
      <vt:lpstr>微软雅黑</vt:lpstr>
      <vt:lpstr>Times New Roman</vt:lpstr>
      <vt:lpstr>等线 Light</vt:lpstr>
      <vt:lpstr>Arial Unicode MS</vt:lpstr>
      <vt:lpstr>Calibri</vt:lpstr>
      <vt:lpstr>等线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第三章作业</dc:title>
  <dc:creator>wxl</dc:creator>
  <cp:lastModifiedBy>Administrator</cp:lastModifiedBy>
  <cp:revision>32</cp:revision>
  <dcterms:created xsi:type="dcterms:W3CDTF">2021-12-07T07:19:00Z</dcterms:created>
  <dcterms:modified xsi:type="dcterms:W3CDTF">2023-11-13T12:14:09Z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EA213CE2721449D690DE7F3B2603C772</vt:lpwstr>
  </property>
  <property fmtid="{D5CDD505-2E9C-101B-9397-08002B2CF9AE}" pid="3" name="KSOProductBuildVer">
    <vt:lpwstr>2052-12.1.0.15712</vt:lpwstr>
  </property>
</Properties>
</file>