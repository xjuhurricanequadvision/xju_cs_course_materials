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72" r:id="rId9"/>
    <p:sldId id="282" r:id="rId10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76" y="304"/>
      </p:cViewPr>
      <p:guideLst>
        <p:guide orient="horz" pos="213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2026/1/11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 sz="3200"/>
              <a:t>第二章作业解析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727075" y="635000"/>
            <a:ext cx="10929620" cy="50920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60000"/>
              </a:lnSpc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写出下列各整数的原码、反码、补码表示(用8位二进制数)。</a:t>
            </a: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-35【10100011】 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【11011100】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【11011101】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【01111111】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原码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【01111111】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【01111111】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-127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en-US" altLang="zh-CN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11111111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【10000000】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【10000001】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【10000001】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【11111110】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【11111111】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【00000000】【10000000】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【00000000】【11111111】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lvl="0" algn="l">
              <a:lnSpc>
                <a:spcPct val="160000"/>
              </a:lnSpc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【00000000】</a:t>
            </a:r>
            <a:r>
              <a:rPr lang="zh-CN" altLang="en-US" sz="2600" baseline="-25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00050" y="635000"/>
            <a:ext cx="10572750" cy="50920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3.有一个字长为32位的浮点数，符号位1位；阶码8位，用移码表示；尾数23位.用补码表示；基 数为2。请按下面格式写出：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(1)最大数的二进制表示：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[填空1]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[填空2]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[填空3]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0     11111111  11111111111111111111111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(2)最小数的二进制表示：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[填空4]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[填空5]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24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[填空6]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1     11111111  00000000000000000000000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2159000" y="2348230"/>
          <a:ext cx="718502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符号位（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阶码（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8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尾数（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23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91490" y="635000"/>
            <a:ext cx="11413490" cy="50920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3.有一个字长为32位的浮点数，符号位1位；阶码8位，用移码表示；尾数23位，用补码表示；基数为2。请按下面格式写出：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规格化数所能表示的范围：</a:t>
            </a: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最大正数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en-US" altLang="zh-CN" sz="2400" baseline="30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-23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×2</a:t>
            </a:r>
            <a:r>
              <a:rPr lang="en-US" altLang="zh-CN" sz="2400" baseline="300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+127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[0]  [11111111]  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111111111111111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1111111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最小正数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×2</a:t>
            </a:r>
            <a:r>
              <a:rPr lang="en-US" altLang="zh-CN" sz="2400" baseline="300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-128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[0]  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00000000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0000000000000000000000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最大负数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400" baseline="30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+2</a:t>
            </a:r>
            <a:r>
              <a:rPr lang="en-US" altLang="zh-CN" sz="2400" baseline="30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-23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×2</a:t>
            </a:r>
            <a:r>
              <a:rPr lang="en-US" altLang="zh-CN" sz="2400" baseline="300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-128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00000000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  [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111111111111111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1111111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最小负数 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×2</a:t>
            </a:r>
            <a:r>
              <a:rPr lang="en-US" altLang="zh-CN" sz="2400" baseline="30000" dirty="0">
                <a:solidFill>
                  <a:srgbClr val="639EF4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+127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[1]  [11111111]  [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0000000000000000000000]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2054225" y="2233930"/>
          <a:ext cx="718502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符号位（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1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阶码（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8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尾数（</a:t>
                      </a:r>
                      <a:r>
                        <a:rPr lang="en-US" altLang="zh-CN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23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位）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54000" y="635000"/>
            <a:ext cx="11811000" cy="23101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4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和y,用变形补码计算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x-y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，同时指出结果是否溢出。（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是真值）</a:t>
            </a:r>
          </a:p>
          <a:p>
            <a:pPr lvl="0" algn="l">
              <a:lnSpc>
                <a:spcPct val="14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11011,	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=00011</a:t>
            </a:r>
          </a:p>
          <a:p>
            <a:pPr lvl="0" algn="l">
              <a:lnSpc>
                <a:spcPct val="14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=11011,	y=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10101</a:t>
            </a:r>
          </a:p>
          <a:p>
            <a:pPr lvl="0" algn="l">
              <a:lnSpc>
                <a:spcPct val="14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10110,	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00001</a:t>
            </a:r>
          </a:p>
          <a:p>
            <a:pPr lvl="0" algn="l">
              <a:lnSpc>
                <a:spcPct val="14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要求有计算步骤（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仅以第一小题为例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90525" y="2990850"/>
            <a:ext cx="7239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 11011,	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=00011</a:t>
            </a:r>
          </a:p>
          <a:p>
            <a:r>
              <a:rPr lang="en-US" altLang="zh-CN" sz="2000"/>
              <a:t>x</a:t>
            </a:r>
            <a:r>
              <a:rPr lang="en-US" altLang="zh-CN" sz="2000" baseline="-25000"/>
              <a:t>b</a:t>
            </a:r>
            <a:r>
              <a:rPr lang="en-US" altLang="zh-CN" sz="2000"/>
              <a:t>= 00 11011  </a:t>
            </a:r>
            <a:r>
              <a:rPr lang="zh-CN" altLang="en-US" sz="2000"/>
              <a:t>，</a:t>
            </a:r>
            <a:r>
              <a:rPr lang="en-US" altLang="zh-CN" sz="2000"/>
              <a:t>  y</a:t>
            </a:r>
            <a:r>
              <a:rPr lang="en-US" altLang="zh-CN" sz="2000" baseline="-25000"/>
              <a:t>b</a:t>
            </a:r>
            <a:r>
              <a:rPr lang="en-US" altLang="zh-CN" sz="2000"/>
              <a:t>=00 00011   </a:t>
            </a:r>
            <a:r>
              <a:rPr lang="zh-CN" altLang="en-US" sz="2000"/>
              <a:t>，</a:t>
            </a:r>
            <a:r>
              <a:rPr lang="en-US" altLang="zh-CN" sz="2000"/>
              <a:t>-y</a:t>
            </a:r>
            <a:r>
              <a:rPr lang="en-US" altLang="zh-CN" sz="2000" baseline="-25000"/>
              <a:t>b</a:t>
            </a:r>
            <a:r>
              <a:rPr lang="en-US" altLang="zh-CN" sz="2000"/>
              <a:t>=11 11101</a:t>
            </a:r>
          </a:p>
          <a:p>
            <a:r>
              <a:rPr lang="zh-CN" altLang="en-US" sz="2000"/>
              <a:t>【</a:t>
            </a:r>
            <a:r>
              <a:rPr lang="en-US" altLang="zh-CN" sz="2000"/>
              <a:t>x+y</a:t>
            </a:r>
            <a:r>
              <a:rPr lang="zh-CN" altLang="en-US" sz="2000"/>
              <a:t>】</a:t>
            </a:r>
            <a:r>
              <a:rPr lang="en-US" altLang="zh-CN" sz="2000"/>
              <a:t>b = x</a:t>
            </a:r>
            <a:r>
              <a:rPr lang="en-US" altLang="zh-CN" sz="2000" baseline="-25000"/>
              <a:t>b </a:t>
            </a:r>
            <a:r>
              <a:rPr lang="en-US" altLang="zh-CN" sz="2000"/>
              <a:t>+ y</a:t>
            </a:r>
            <a:r>
              <a:rPr lang="en-US" altLang="zh-CN" sz="2000" baseline="-25000"/>
              <a:t>b</a:t>
            </a:r>
            <a:endParaRPr lang="en-US" altLang="zh-CN" sz="2000"/>
          </a:p>
          <a:p>
            <a:r>
              <a:rPr lang="en-US" altLang="zh-CN" sz="2000"/>
              <a:t>                = 00 11011 + 00 00011</a:t>
            </a:r>
          </a:p>
          <a:p>
            <a:r>
              <a:rPr lang="en-US" altLang="zh-CN" sz="2000"/>
              <a:t>                = 00 11110</a:t>
            </a:r>
          </a:p>
          <a:p>
            <a:r>
              <a:rPr lang="en-US" altLang="zh-CN" sz="2000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无溢出，</a:t>
            </a:r>
            <a:r>
              <a:rPr lang="en-US" altLang="zh-CN" sz="2000">
                <a:sym typeface="+mn-ea"/>
              </a:rPr>
              <a:t>x+y = +11110</a:t>
            </a:r>
          </a:p>
          <a:p>
            <a:endParaRPr lang="en-US" altLang="zh-CN" sz="2000">
              <a:sym typeface="+mn-ea"/>
            </a:endParaRPr>
          </a:p>
          <a:p>
            <a:r>
              <a:rPr lang="zh-CN" altLang="en-US" sz="2000">
                <a:sym typeface="+mn-ea"/>
              </a:rPr>
              <a:t>【</a:t>
            </a:r>
            <a:r>
              <a:rPr lang="en-US" altLang="zh-CN" sz="2000">
                <a:sym typeface="+mn-ea"/>
              </a:rPr>
              <a:t>x-y</a:t>
            </a:r>
            <a:r>
              <a:rPr lang="zh-CN" altLang="en-US" sz="2000">
                <a:sym typeface="+mn-ea"/>
              </a:rPr>
              <a:t>】</a:t>
            </a:r>
            <a:r>
              <a:rPr lang="en-US" altLang="zh-CN" sz="2000">
                <a:sym typeface="+mn-ea"/>
              </a:rPr>
              <a:t>b =  x</a:t>
            </a:r>
            <a:r>
              <a:rPr lang="en-US" altLang="zh-CN" sz="2000" baseline="-25000">
                <a:sym typeface="+mn-ea"/>
              </a:rPr>
              <a:t>b </a:t>
            </a:r>
            <a:r>
              <a:rPr lang="en-US" altLang="zh-CN" sz="2000">
                <a:sym typeface="+mn-ea"/>
              </a:rPr>
              <a:t>+</a:t>
            </a:r>
            <a:r>
              <a:rPr lang="zh-CN" altLang="en-US" sz="2000">
                <a:sym typeface="+mn-ea"/>
              </a:rPr>
              <a:t>（</a:t>
            </a:r>
            <a:r>
              <a:rPr lang="en-US" altLang="zh-CN" sz="2000">
                <a:sym typeface="+mn-ea"/>
              </a:rPr>
              <a:t>-y</a:t>
            </a:r>
            <a:r>
              <a:rPr lang="en-US" altLang="zh-CN" sz="2000" baseline="-25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）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                = 00 11011 + 11 11101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                = 00 11000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  </a:t>
            </a:r>
            <a:r>
              <a:rPr lang="zh-CN" altLang="en-US" sz="2000">
                <a:sym typeface="+mn-ea"/>
              </a:rPr>
              <a:t>无溢出，</a:t>
            </a:r>
            <a:r>
              <a:rPr lang="en-US" altLang="zh-CN" sz="2000">
                <a:sym typeface="+mn-ea"/>
              </a:rPr>
              <a:t>x-y = +11000</a:t>
            </a:r>
          </a:p>
          <a:p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89000" y="635000"/>
            <a:ext cx="9753600" cy="15151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7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 用原码阵列乘法器计算 x 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×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</a:p>
          <a:p>
            <a:pPr>
              <a:lnSpc>
                <a:spcPct val="170000"/>
              </a:lnSpc>
              <a:buNone/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x=11011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y=-11111</a:t>
            </a:r>
          </a:p>
          <a:p>
            <a:pPr>
              <a:lnSpc>
                <a:spcPct val="17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要求有计算步骤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2286000"/>
            <a:ext cx="42964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解：</a:t>
            </a:r>
            <a:r>
              <a:rPr lang="en-US" altLang="zh-CN"/>
              <a:t>x</a:t>
            </a:r>
            <a:r>
              <a:rPr lang="zh-CN" altLang="en-US"/>
              <a:t>原</a:t>
            </a:r>
            <a:r>
              <a:rPr lang="en-US" altLang="zh-CN"/>
              <a:t>= 0 11011</a:t>
            </a:r>
          </a:p>
          <a:p>
            <a:pPr>
              <a:lnSpc>
                <a:spcPct val="150000"/>
              </a:lnSpc>
            </a:pPr>
            <a:r>
              <a:rPr lang="en-US" altLang="zh-CN"/>
              <a:t>y</a:t>
            </a:r>
            <a:r>
              <a:rPr lang="zh-CN" altLang="en-US"/>
              <a:t>原</a:t>
            </a:r>
            <a:r>
              <a:rPr lang="en-US" altLang="zh-CN"/>
              <a:t>=</a:t>
            </a:r>
            <a:r>
              <a:rPr lang="zh-CN" altLang="en-US"/>
              <a:t>   </a:t>
            </a:r>
            <a:r>
              <a:rPr lang="en-US" altLang="zh-CN"/>
              <a:t>1 11111</a:t>
            </a:r>
          </a:p>
          <a:p>
            <a:pPr>
              <a:lnSpc>
                <a:spcPct val="150000"/>
              </a:lnSpc>
            </a:pPr>
            <a:r>
              <a:rPr lang="zh-CN" altLang="en-US"/>
              <a:t>符号位</a:t>
            </a:r>
            <a:r>
              <a:rPr lang="en-US" altLang="zh-CN"/>
              <a:t>=0</a:t>
            </a:r>
            <a:r>
              <a:rPr lang="zh-CN" altLang="en-US"/>
              <a:t>异或</a:t>
            </a:r>
            <a:r>
              <a:rPr lang="en-US" altLang="zh-CN"/>
              <a:t>1</a:t>
            </a:r>
            <a:r>
              <a:rPr lang="zh-CN" altLang="en-US"/>
              <a:t>  </a:t>
            </a:r>
            <a:r>
              <a:rPr lang="en-US" altLang="zh-CN"/>
              <a:t>= 1</a:t>
            </a:r>
          </a:p>
          <a:p>
            <a:pPr>
              <a:lnSpc>
                <a:spcPct val="150000"/>
              </a:lnSpc>
            </a:pPr>
            <a:r>
              <a:rPr lang="en-US" altLang="zh-CN"/>
              <a:t>|x|</a:t>
            </a:r>
            <a:r>
              <a:rPr lang="zh-CN" altLang="en-US"/>
              <a:t> </a:t>
            </a:r>
            <a:r>
              <a:rPr lang="en-US" altLang="zh-CN"/>
              <a:t>= 1 1 0 1 1</a:t>
            </a:r>
          </a:p>
          <a:p>
            <a:pPr>
              <a:lnSpc>
                <a:spcPct val="150000"/>
              </a:lnSpc>
            </a:pPr>
            <a:r>
              <a:rPr lang="en-US" altLang="zh-CN"/>
              <a:t>|y| = 1 1 1 1 1</a:t>
            </a:r>
          </a:p>
          <a:p>
            <a:pPr>
              <a:lnSpc>
                <a:spcPct val="150000"/>
              </a:lnSpc>
            </a:pPr>
            <a:r>
              <a:rPr lang="zh-CN" altLang="en-US"/>
              <a:t>运算后 </a:t>
            </a:r>
          </a:p>
          <a:p>
            <a:pPr>
              <a:lnSpc>
                <a:spcPct val="150000"/>
              </a:lnSpc>
            </a:pPr>
            <a:r>
              <a:rPr lang="zh-CN" altLang="en-US"/>
              <a:t>     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× </a:t>
            </a:r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 = -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1101000101</a:t>
            </a:r>
            <a:r>
              <a:rPr lang="zh-CN" altLang="en-US" sz="2000"/>
              <a:t>                     </a:t>
            </a:r>
            <a:endParaRPr lang="en-US" altLang="zh-CN" sz="20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090" y="1875790"/>
            <a:ext cx="24860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04495" y="144780"/>
            <a:ext cx="7167880" cy="2095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6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9.设阶码3位，尾数6位，按浮点运算方法，完成下列取值的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[x+y]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[x-y]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运算:</a:t>
            </a:r>
          </a:p>
          <a:p>
            <a:pPr lvl="0" algn="l">
              <a:lnSpc>
                <a:spcPct val="16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0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-011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X0. 100101,	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0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-010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 (-0.011110)</a:t>
            </a:r>
          </a:p>
          <a:p>
            <a:pPr lvl="0" algn="l">
              <a:lnSpc>
                <a:spcPct val="16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20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-101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(-0.010110),	y=2</a:t>
            </a:r>
            <a:r>
              <a:rPr lang="en-US" altLang="zh-CN" sz="2000" baseline="30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(0.010110)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2675" y="2416175"/>
            <a:ext cx="5678170" cy="4117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57275" y="795655"/>
            <a:ext cx="3544570" cy="4510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53110" y="323850"/>
            <a:ext cx="9753600" cy="15405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lnSpc>
                <a:spcPct val="18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下列各数使用了 IEEE 32位浮点格式，相等的十进制是什么？</a:t>
            </a:r>
          </a:p>
          <a:p>
            <a:pPr lvl="0" algn="l">
              <a:lnSpc>
                <a:spcPct val="18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1 10000011 110 0000 0000 0000 0000 0000</a:t>
            </a:r>
          </a:p>
          <a:p>
            <a:pPr lvl="0" algn="l">
              <a:lnSpc>
                <a:spcPct val="180000"/>
              </a:lnSpc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0 01111110 101 0000 0000 0000 0000 0000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53110" y="2332355"/>
            <a:ext cx="924877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/>
              <a:t>解：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IEEE 32位浮点格式为：</a:t>
            </a:r>
          </a:p>
          <a:p>
            <a:pPr>
              <a:lnSpc>
                <a:spcPct val="110000"/>
              </a:lnSpc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E=e+127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S=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，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E=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10000011 ，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M=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110 0000 0000 0000 0000 0000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e=10000011 - 01111111 = 00000100=4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M=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110 0000 0000 0000 0000 0000 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二进制表示为：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-1.11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×2</a:t>
            </a:r>
            <a:r>
              <a:rPr lang="en-US" altLang="zh-CN" sz="2000" baseline="30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4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=11100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十进制表示为：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-11100</a:t>
            </a:r>
            <a:r>
              <a:rPr lang="en-US" altLang="zh-CN"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=-28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1296035" y="2857500"/>
          <a:ext cx="853249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1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30                  -----                  23                                                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22        -----      0                        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U1MWNmNzkzNzZlOTYzYzIyMGI4NjQyMGNlMDgwN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c4045b-eee6-4b30-ae45-590b78505b43}"/>
  <p:tag name="TABLE_ENDDRAG_ORIGIN_RECT" val="565*30"/>
  <p:tag name="TABLE_ENDDRAG_RECT" val="170*196*565*3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bc4045b-eee6-4b30-ae45-590b78505b43}"/>
  <p:tag name="TABLE_ENDDRAG_ORIGIN_RECT" val="565*30"/>
  <p:tag name="TABLE_ENDDRAG_RECT" val="170*196*565*3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770,&quot;width&quot;:4680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770,&quot;width&quot;:4680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b00248f-5c94-458b-877d-809636b9de32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832</Words>
  <Application>Microsoft Macintosh PowerPoint</Application>
  <PresentationFormat>宽屏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微软雅黑</vt:lpstr>
      <vt:lpstr>Arial</vt:lpstr>
      <vt:lpstr>Wingdings</vt:lpstr>
      <vt:lpstr>Office 主题​​</vt:lpstr>
      <vt:lpstr>第二章作业解析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耀增 黄</cp:lastModifiedBy>
  <cp:revision>164</cp:revision>
  <dcterms:created xsi:type="dcterms:W3CDTF">2019-06-19T02:08:00Z</dcterms:created>
  <dcterms:modified xsi:type="dcterms:W3CDTF">2026-01-10T16:36:15Z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6AA39BCCA6E444C6AB26293795CF5B86</vt:lpwstr>
  </property>
</Properties>
</file>