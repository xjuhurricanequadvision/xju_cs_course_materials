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6" r:id="rId3"/>
    <p:sldId id="418" r:id="rId4"/>
    <p:sldId id="409" r:id="rId5"/>
    <p:sldId id="419" r:id="rId6"/>
    <p:sldId id="413" r:id="rId7"/>
    <p:sldId id="420" r:id="rId8"/>
    <p:sldId id="414" r:id="rId9"/>
    <p:sldId id="421" r:id="rId10"/>
    <p:sldId id="410" r:id="rId11"/>
    <p:sldId id="422" r:id="rId12"/>
    <p:sldId id="41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-644" y="-64"/>
      </p:cViewPr>
      <p:guideLst>
        <p:guide orient="horz" pos="2130"/>
        <p:guide pos="38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kumimoji="0" lang="zh-CN" altLang="en-US" sz="18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sz="14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lang="zh-CN" altLang="en-US" sz="2000" b="1" i="0" u="none" strike="noStrike" kern="1200" cap="none" spc="2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87950" y="2633980"/>
            <a:ext cx="1563370" cy="460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系统概述</a:t>
            </a:r>
            <a:endParaRPr lang="zh-CN" altLang="en-US" sz="2400"/>
          </a:p>
        </p:txBody>
      </p:sp>
      <p:cxnSp>
        <p:nvCxnSpPr>
          <p:cNvPr id="5" name="直接箭头连接符 4"/>
          <p:cNvCxnSpPr>
            <a:stCxn id="4" idx="0"/>
            <a:endCxn id="6" idx="2"/>
          </p:cNvCxnSpPr>
          <p:nvPr/>
        </p:nvCxnSpPr>
        <p:spPr>
          <a:xfrm flipH="1" flipV="1">
            <a:off x="4180205" y="2248535"/>
            <a:ext cx="1789430" cy="3854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217545" y="1880235"/>
            <a:ext cx="192532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计算机系统组成</a:t>
            </a:r>
            <a:endParaRPr lang="zh-CN" altLang="zh-CN" dirty="0"/>
          </a:p>
        </p:txBody>
      </p:sp>
      <p:cxnSp>
        <p:nvCxnSpPr>
          <p:cNvPr id="7" name="直接箭头连接符 6"/>
          <p:cNvCxnSpPr>
            <a:stCxn id="6" idx="0"/>
            <a:endCxn id="9" idx="2"/>
          </p:cNvCxnSpPr>
          <p:nvPr/>
        </p:nvCxnSpPr>
        <p:spPr>
          <a:xfrm flipH="1" flipV="1">
            <a:off x="3423285" y="1504315"/>
            <a:ext cx="756920" cy="37592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6" idx="0"/>
            <a:endCxn id="13" idx="2"/>
          </p:cNvCxnSpPr>
          <p:nvPr/>
        </p:nvCxnSpPr>
        <p:spPr>
          <a:xfrm flipV="1">
            <a:off x="4180205" y="1494790"/>
            <a:ext cx="610870" cy="3854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800350" y="1136015"/>
            <a:ext cx="12452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硬件系统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180205" y="1126490"/>
            <a:ext cx="122110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软件系统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180205" y="3575050"/>
            <a:ext cx="12585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层次结构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4" idx="2"/>
            <a:endCxn id="16" idx="0"/>
          </p:cNvCxnSpPr>
          <p:nvPr/>
        </p:nvCxnSpPr>
        <p:spPr>
          <a:xfrm flipH="1">
            <a:off x="4809490" y="3094355"/>
            <a:ext cx="1160145" cy="48069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2"/>
            <a:endCxn id="19" idx="0"/>
          </p:cNvCxnSpPr>
          <p:nvPr/>
        </p:nvCxnSpPr>
        <p:spPr>
          <a:xfrm>
            <a:off x="5969635" y="3094355"/>
            <a:ext cx="907415" cy="48069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362700" y="3575050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并行性</a:t>
            </a:r>
            <a:endParaRPr lang="zh-CN" altLang="zh-CN"/>
          </a:p>
        </p:txBody>
      </p:sp>
      <p:cxnSp>
        <p:nvCxnSpPr>
          <p:cNvPr id="20" name="直接箭头连接符 19"/>
          <p:cNvCxnSpPr>
            <a:endCxn id="21" idx="2"/>
          </p:cNvCxnSpPr>
          <p:nvPr/>
        </p:nvCxnSpPr>
        <p:spPr>
          <a:xfrm flipV="1">
            <a:off x="5956935" y="2248535"/>
            <a:ext cx="1323975" cy="36576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795770" y="1880235"/>
            <a:ext cx="97028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分类</a:t>
            </a:r>
            <a:endParaRPr lang="zh-CN" altLang="zh-CN"/>
          </a:p>
        </p:txBody>
      </p:sp>
      <p:cxnSp>
        <p:nvCxnSpPr>
          <p:cNvPr id="26" name="直接箭头连接符 25"/>
          <p:cNvCxnSpPr>
            <a:stCxn id="4" idx="0"/>
            <a:endCxn id="27" idx="2"/>
          </p:cNvCxnSpPr>
          <p:nvPr/>
        </p:nvCxnSpPr>
        <p:spPr>
          <a:xfrm flipV="1">
            <a:off x="5969635" y="2248535"/>
            <a:ext cx="0" cy="3854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302250" y="1880235"/>
            <a:ext cx="13341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性能指标</a:t>
            </a:r>
            <a:endParaRPr lang="zh-CN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2122805"/>
          </a:xfrm>
        </p:spPr>
        <p:txBody>
          <a:bodyPr/>
          <a:p>
            <a:r>
              <a:rPr lang="zh-CN" altLang="en-US"/>
              <a:t>计算机系统组成</a:t>
            </a:r>
            <a:endParaRPr lang="zh-CN" altLang="en-US"/>
          </a:p>
          <a:p>
            <a:r>
              <a:rPr lang="zh-CN" altLang="en-US"/>
              <a:t>冯诺依曼工作原理</a:t>
            </a:r>
            <a:endParaRPr lang="zh-CN" altLang="en-US"/>
          </a:p>
          <a:p>
            <a:r>
              <a:rPr lang="zh-CN" altLang="en-US"/>
              <a:t>性能指标计算</a:t>
            </a:r>
            <a:endParaRPr lang="zh-CN" altLang="en-US"/>
          </a:p>
          <a:p>
            <a:r>
              <a:rPr lang="zh-CN" altLang="en-US"/>
              <a:t>计算机系统层次结构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87705" y="3756660"/>
            <a:ext cx="10105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★基本概念及性能指标计算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参考作业难度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40705" y="3761740"/>
            <a:ext cx="1563370" cy="460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/>
              <a:t>运算器</a:t>
            </a:r>
            <a:endParaRPr lang="zh-CN" altLang="zh-CN" sz="2400"/>
          </a:p>
        </p:txBody>
      </p:sp>
      <p:cxnSp>
        <p:nvCxnSpPr>
          <p:cNvPr id="5" name="直接箭头连接符 4"/>
          <p:cNvCxnSpPr>
            <a:stCxn id="4" idx="0"/>
            <a:endCxn id="6" idx="2"/>
          </p:cNvCxnSpPr>
          <p:nvPr/>
        </p:nvCxnSpPr>
        <p:spPr>
          <a:xfrm flipH="1" flipV="1">
            <a:off x="5042535" y="3235325"/>
            <a:ext cx="1379855" cy="5264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260850" y="2867025"/>
            <a:ext cx="15633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数据的表示</a:t>
            </a:r>
            <a:endParaRPr lang="zh-CN" altLang="zh-CN"/>
          </a:p>
        </p:txBody>
      </p:sp>
      <p:cxnSp>
        <p:nvCxnSpPr>
          <p:cNvPr id="7" name="直接箭头连接符 6"/>
          <p:cNvCxnSpPr>
            <a:stCxn id="6" idx="0"/>
            <a:endCxn id="9" idx="2"/>
          </p:cNvCxnSpPr>
          <p:nvPr/>
        </p:nvCxnSpPr>
        <p:spPr>
          <a:xfrm flipH="1" flipV="1">
            <a:off x="4138295" y="2531110"/>
            <a:ext cx="904240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6" idx="0"/>
            <a:endCxn id="13" idx="2"/>
          </p:cNvCxnSpPr>
          <p:nvPr/>
        </p:nvCxnSpPr>
        <p:spPr>
          <a:xfrm flipV="1">
            <a:off x="5042535" y="2531110"/>
            <a:ext cx="562610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15360" y="2162810"/>
            <a:ext cx="12452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定点数</a:t>
            </a:r>
            <a:endParaRPr lang="zh-CN" altLang="en-US"/>
          </a:p>
        </p:txBody>
      </p:sp>
      <p:cxnSp>
        <p:nvCxnSpPr>
          <p:cNvPr id="10" name="直接箭头连接符 9"/>
          <p:cNvCxnSpPr>
            <a:stCxn id="9" idx="0"/>
          </p:cNvCxnSpPr>
          <p:nvPr/>
        </p:nvCxnSpPr>
        <p:spPr>
          <a:xfrm flipH="1" flipV="1">
            <a:off x="3146425" y="1861820"/>
            <a:ext cx="991870" cy="30099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661285" y="1458595"/>
            <a:ext cx="7518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原码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92195" y="1458595"/>
            <a:ext cx="6737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反码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06975" y="2162810"/>
            <a:ext cx="11963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浮点数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931535" y="5170170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功能</a:t>
            </a:r>
            <a:endParaRPr lang="zh-CN" altLang="zh-CN"/>
          </a:p>
        </p:txBody>
      </p:sp>
      <p:cxnSp>
        <p:nvCxnSpPr>
          <p:cNvPr id="17" name="直接箭头连接符 16"/>
          <p:cNvCxnSpPr>
            <a:endCxn id="25" idx="0"/>
          </p:cNvCxnSpPr>
          <p:nvPr/>
        </p:nvCxnSpPr>
        <p:spPr>
          <a:xfrm>
            <a:off x="6422390" y="4222115"/>
            <a:ext cx="0" cy="30734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27" idx="2"/>
          </p:cNvCxnSpPr>
          <p:nvPr/>
        </p:nvCxnSpPr>
        <p:spPr>
          <a:xfrm flipV="1">
            <a:off x="7390765" y="2527935"/>
            <a:ext cx="581660" cy="31686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581775" y="2844800"/>
            <a:ext cx="144653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数据的运算</a:t>
            </a:r>
            <a:endParaRPr lang="zh-CN" altLang="zh-CN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8028305" y="3039110"/>
            <a:ext cx="434340" cy="57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500370" y="4529455"/>
            <a:ext cx="189039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运算器实现方式</a:t>
            </a:r>
            <a:endParaRPr lang="zh-CN" altLang="zh-CN"/>
          </a:p>
        </p:txBody>
      </p:sp>
      <p:cxnSp>
        <p:nvCxnSpPr>
          <p:cNvPr id="26" name="直接箭头连接符 25"/>
          <p:cNvCxnSpPr>
            <a:stCxn id="4" idx="0"/>
            <a:endCxn id="21" idx="2"/>
          </p:cNvCxnSpPr>
          <p:nvPr/>
        </p:nvCxnSpPr>
        <p:spPr>
          <a:xfrm flipV="1">
            <a:off x="6422390" y="3213100"/>
            <a:ext cx="882650" cy="54864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305040" y="2159635"/>
            <a:ext cx="13341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定点数运算</a:t>
            </a:r>
            <a:endParaRPr lang="zh-CN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417060" y="1458595"/>
            <a:ext cx="72771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补码</a:t>
            </a:r>
            <a:endParaRPr lang="zh-CN" altLang="en-US"/>
          </a:p>
        </p:txBody>
      </p:sp>
      <p:cxnSp>
        <p:nvCxnSpPr>
          <p:cNvPr id="3" name="直接箭头连接符 2"/>
          <p:cNvCxnSpPr>
            <a:stCxn id="9" idx="0"/>
            <a:endCxn id="12" idx="2"/>
          </p:cNvCxnSpPr>
          <p:nvPr/>
        </p:nvCxnSpPr>
        <p:spPr>
          <a:xfrm flipH="1" flipV="1">
            <a:off x="3929380" y="1826895"/>
            <a:ext cx="208915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9" idx="0"/>
          </p:cNvCxnSpPr>
          <p:nvPr/>
        </p:nvCxnSpPr>
        <p:spPr>
          <a:xfrm flipV="1">
            <a:off x="4138295" y="1843405"/>
            <a:ext cx="533400" cy="31940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264785" y="1458595"/>
            <a:ext cx="88582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规格化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269990" y="1475105"/>
            <a:ext cx="11328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IEEE754</a:t>
            </a:r>
            <a:endParaRPr lang="en-US" altLang="zh-CN"/>
          </a:p>
        </p:txBody>
      </p:sp>
      <p:cxnSp>
        <p:nvCxnSpPr>
          <p:cNvPr id="31" name="直接箭头连接符 30"/>
          <p:cNvCxnSpPr>
            <a:stCxn id="13" idx="0"/>
          </p:cNvCxnSpPr>
          <p:nvPr/>
        </p:nvCxnSpPr>
        <p:spPr>
          <a:xfrm flipH="1" flipV="1">
            <a:off x="5546725" y="1843405"/>
            <a:ext cx="58420" cy="31940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3" idx="0"/>
            <a:endCxn id="30" idx="2"/>
          </p:cNvCxnSpPr>
          <p:nvPr/>
        </p:nvCxnSpPr>
        <p:spPr>
          <a:xfrm flipV="1">
            <a:off x="5605145" y="1843405"/>
            <a:ext cx="1231265" cy="31940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073400" y="2867025"/>
            <a:ext cx="90868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校验</a:t>
            </a:r>
            <a:endParaRPr lang="zh-CN" altLang="en-US"/>
          </a:p>
        </p:txBody>
      </p:sp>
      <p:cxnSp>
        <p:nvCxnSpPr>
          <p:cNvPr id="34" name="直接箭头连接符 33"/>
          <p:cNvCxnSpPr>
            <a:endCxn id="33" idx="3"/>
          </p:cNvCxnSpPr>
          <p:nvPr/>
        </p:nvCxnSpPr>
        <p:spPr>
          <a:xfrm flipH="1" flipV="1">
            <a:off x="3982085" y="3051175"/>
            <a:ext cx="278765" cy="1079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462645" y="2858135"/>
            <a:ext cx="138366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浮点数运算</a:t>
            </a:r>
            <a:endParaRPr lang="zh-CN" altLang="en-US"/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7788910" y="1853565"/>
            <a:ext cx="202565" cy="31813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endCxn id="40" idx="2"/>
          </p:cNvCxnSpPr>
          <p:nvPr/>
        </p:nvCxnSpPr>
        <p:spPr>
          <a:xfrm flipV="1">
            <a:off x="7981950" y="1864995"/>
            <a:ext cx="738505" cy="30670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7458710" y="1474470"/>
            <a:ext cx="7518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加减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344535" y="1496695"/>
            <a:ext cx="7518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乘除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16605"/>
            <a:ext cx="10969200" cy="705600"/>
          </a:xfrm>
        </p:spPr>
        <p:txBody>
          <a:bodyPr/>
          <a:p>
            <a:r>
              <a:rPr lang="zh-CN" altLang="en-US"/>
              <a:t>运算子系统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922020"/>
            <a:ext cx="10968990" cy="3943985"/>
          </a:xfrm>
        </p:spPr>
        <p:txBody>
          <a:bodyPr/>
          <a:p>
            <a:r>
              <a:rPr lang="zh-CN" altLang="en-US"/>
              <a:t>数据的表示</a:t>
            </a:r>
            <a:endParaRPr lang="zh-CN" altLang="en-US"/>
          </a:p>
          <a:p>
            <a:pPr lvl="1"/>
            <a:r>
              <a:rPr lang="zh-CN" altLang="en-US" sz="1600"/>
              <a:t>定点数原码、补码、反码、移码的表示方法及转换</a:t>
            </a:r>
            <a:endParaRPr lang="zh-CN" altLang="en-US" sz="1600"/>
          </a:p>
          <a:p>
            <a:pPr lvl="1"/>
            <a:r>
              <a:rPr lang="zh-CN" altLang="en-US"/>
              <a:t>定点数的表示范围</a:t>
            </a:r>
            <a:endParaRPr lang="zh-CN" altLang="en-US"/>
          </a:p>
          <a:p>
            <a:pPr lvl="1"/>
            <a:r>
              <a:rPr lang="zh-CN" altLang="en-US"/>
              <a:t>浮点数的表示方法（规格化、</a:t>
            </a:r>
            <a:r>
              <a:rPr lang="en-US" altLang="zh-CN"/>
              <a:t>IEEE754</a:t>
            </a:r>
            <a:r>
              <a:rPr lang="zh-CN" altLang="en-US"/>
              <a:t>标准）、表示范围</a:t>
            </a:r>
            <a:endParaRPr lang="zh-CN" altLang="en-US"/>
          </a:p>
          <a:p>
            <a:r>
              <a:rPr lang="zh-CN" altLang="en-US"/>
              <a:t>数据的运算</a:t>
            </a:r>
            <a:endParaRPr lang="zh-CN" altLang="en-US"/>
          </a:p>
          <a:p>
            <a:pPr lvl="1"/>
            <a:r>
              <a:rPr lang="zh-CN" altLang="en-US" sz="1600"/>
              <a:t>定点数的加减运算、溢出判断</a:t>
            </a:r>
            <a:endParaRPr lang="zh-CN" altLang="en-US" sz="1600"/>
          </a:p>
          <a:p>
            <a:pPr lvl="1"/>
            <a:r>
              <a:rPr lang="zh-CN" altLang="en-US" sz="1600"/>
              <a:t>定点数乘除运算</a:t>
            </a:r>
            <a:endParaRPr lang="zh-CN" altLang="en-US" sz="1600"/>
          </a:p>
          <a:p>
            <a:pPr lvl="1"/>
            <a:r>
              <a:rPr lang="zh-CN" altLang="en-US" sz="1600"/>
              <a:t>浮点数加减运算</a:t>
            </a:r>
            <a:endParaRPr lang="zh-CN" altLang="en-US"/>
          </a:p>
          <a:p>
            <a:r>
              <a:rPr lang="zh-CN" altLang="en-US"/>
              <a:t>运算器功能实现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7705" y="4866005"/>
            <a:ext cx="101053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★掌握数据表示方法和范围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★掌握定点数加、减运算并判断溢出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★了解定点数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乘、除运算方法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浮点数的加、减运算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★了解浮点数乘除运算方法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49850" y="2633980"/>
            <a:ext cx="1563370" cy="460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/>
              <a:t>CPU</a:t>
            </a:r>
            <a:endParaRPr lang="en-US" altLang="zh-CN" sz="2400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4487545" y="2315845"/>
            <a:ext cx="644525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924175" y="2134235"/>
            <a:ext cx="15633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指令系统</a:t>
            </a:r>
            <a:endParaRPr lang="zh-CN" altLang="zh-CN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2779395" y="1798320"/>
            <a:ext cx="644525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168775" y="1643380"/>
            <a:ext cx="327660" cy="49085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178685" y="1430020"/>
            <a:ext cx="12452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指令格式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2625090" y="1062355"/>
            <a:ext cx="154305" cy="36766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24610" y="725805"/>
            <a:ext cx="12452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操作码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69845" y="725805"/>
            <a:ext cx="12452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地址码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15080" y="1275080"/>
            <a:ext cx="186880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CISC  </a:t>
            </a:r>
            <a:r>
              <a:rPr lang="zh-CN" altLang="en-US"/>
              <a:t>、</a:t>
            </a:r>
            <a:r>
              <a:rPr lang="en-US" altLang="zh-CN"/>
              <a:t> RISC</a:t>
            </a:r>
            <a:endParaRPr lang="en-US" altLang="zh-CN"/>
          </a:p>
        </p:txBody>
      </p:sp>
      <p:cxnSp>
        <p:nvCxnSpPr>
          <p:cNvPr id="14" name="直接箭头连接符 13"/>
          <p:cNvCxnSpPr>
            <a:endCxn id="15" idx="0"/>
          </p:cNvCxnSpPr>
          <p:nvPr/>
        </p:nvCxnSpPr>
        <p:spPr>
          <a:xfrm flipH="1">
            <a:off x="3820795" y="3112135"/>
            <a:ext cx="1322070" cy="53975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306445" y="3651885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功能</a:t>
            </a:r>
            <a:endParaRPr lang="zh-CN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302250" y="3575050"/>
            <a:ext cx="1258570" cy="119888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组成器件：控制器、运算器、</a:t>
            </a:r>
            <a:r>
              <a:rPr lang="en-US" altLang="zh-CN">
                <a:solidFill>
                  <a:srgbClr val="FF0000"/>
                </a:solidFill>
              </a:rPr>
              <a:t>Cache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stCxn id="4" idx="2"/>
            <a:endCxn id="16" idx="0"/>
          </p:cNvCxnSpPr>
          <p:nvPr/>
        </p:nvCxnSpPr>
        <p:spPr>
          <a:xfrm>
            <a:off x="5931535" y="3094355"/>
            <a:ext cx="0" cy="48069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9" idx="1"/>
          </p:cNvCxnSpPr>
          <p:nvPr/>
        </p:nvCxnSpPr>
        <p:spPr>
          <a:xfrm>
            <a:off x="6713220" y="3074035"/>
            <a:ext cx="865505" cy="4743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578725" y="3225800"/>
            <a:ext cx="1028700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主要寄存器</a:t>
            </a:r>
            <a:endParaRPr lang="zh-CN" altLang="zh-CN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6143625" y="2066290"/>
            <a:ext cx="569595" cy="58547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713220" y="1798320"/>
            <a:ext cx="128079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控制器实现方式</a:t>
            </a:r>
            <a:endParaRPr lang="zh-CN" altLang="zh-CN"/>
          </a:p>
        </p:txBody>
      </p:sp>
      <p:cxnSp>
        <p:nvCxnSpPr>
          <p:cNvPr id="22" name="直接箭头连接符 21"/>
          <p:cNvCxnSpPr/>
          <p:nvPr/>
        </p:nvCxnSpPr>
        <p:spPr>
          <a:xfrm flipV="1">
            <a:off x="7813675" y="1212850"/>
            <a:ext cx="569595" cy="58547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7994015" y="2280920"/>
            <a:ext cx="629920" cy="3492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383270" y="1061720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微程序</a:t>
            </a:r>
            <a:endParaRPr lang="zh-CN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8623935" y="2075180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硬布线</a:t>
            </a:r>
            <a:endParaRPr lang="zh-CN" altLang="zh-CN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5734685" y="1419860"/>
            <a:ext cx="489585" cy="119126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931535" y="1051560"/>
            <a:ext cx="13341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指令流水线</a:t>
            </a:r>
            <a:endParaRPr lang="zh-CN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42310"/>
            <a:ext cx="10969200" cy="705600"/>
          </a:xfrm>
        </p:spPr>
        <p:txBody>
          <a:bodyPr/>
          <a:p>
            <a:r>
              <a:rPr lang="zh-CN" altLang="en-US"/>
              <a:t>控制子系统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2125" y="847725"/>
            <a:ext cx="10968990" cy="3775075"/>
          </a:xfrm>
        </p:spPr>
        <p:txBody>
          <a:bodyPr>
            <a:normAutofit lnSpcReduction="10000"/>
          </a:bodyPr>
          <a:p>
            <a:r>
              <a:rPr lang="en-US" altLang="zh-CN"/>
              <a:t>CPU</a:t>
            </a:r>
            <a:r>
              <a:rPr lang="zh-CN" altLang="en-US"/>
              <a:t>的功能</a:t>
            </a:r>
            <a:endParaRPr lang="zh-CN" altLang="en-US"/>
          </a:p>
          <a:p>
            <a:r>
              <a:rPr lang="en-US" altLang="zh-CN"/>
              <a:t>CPU</a:t>
            </a:r>
            <a:r>
              <a:rPr lang="zh-CN" altLang="en-US"/>
              <a:t>的组成器件、内部寄存器</a:t>
            </a:r>
            <a:endParaRPr lang="zh-CN" altLang="en-US"/>
          </a:p>
          <a:p>
            <a:r>
              <a:rPr lang="zh-CN" altLang="en-US"/>
              <a:t>指令系统</a:t>
            </a:r>
            <a:endParaRPr lang="zh-CN" altLang="en-US"/>
          </a:p>
          <a:p>
            <a:pPr lvl="1"/>
            <a:r>
              <a:rPr lang="zh-CN" altLang="en-US" sz="1600"/>
              <a:t>指令系统设计方法</a:t>
            </a:r>
            <a:endParaRPr lang="zh-CN" altLang="en-US" sz="1600"/>
          </a:p>
          <a:p>
            <a:pPr lvl="1"/>
            <a:r>
              <a:rPr lang="zh-CN" altLang="en-US"/>
              <a:t>指令格式分析</a:t>
            </a:r>
            <a:endParaRPr lang="zh-CN" altLang="en-US"/>
          </a:p>
          <a:p>
            <a:pPr lvl="0"/>
            <a:r>
              <a:rPr lang="zh-CN" altLang="en-US"/>
              <a:t>控制器设计方式</a:t>
            </a:r>
            <a:endParaRPr lang="zh-CN" altLang="en-US"/>
          </a:p>
          <a:p>
            <a:pPr lvl="1"/>
            <a:r>
              <a:rPr lang="zh-CN" altLang="en-US"/>
              <a:t>微程序方式</a:t>
            </a:r>
            <a:endParaRPr lang="zh-CN" altLang="en-US"/>
          </a:p>
          <a:p>
            <a:pPr lvl="1"/>
            <a:r>
              <a:rPr lang="zh-CN" altLang="en-US"/>
              <a:t>硬布线方式</a:t>
            </a:r>
            <a:endParaRPr lang="zh-CN" altLang="en-US"/>
          </a:p>
          <a:p>
            <a:pPr lvl="0"/>
            <a:r>
              <a:rPr lang="zh-CN" altLang="en-US" sz="1800"/>
              <a:t>指令流水线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2125" y="4670425"/>
            <a:ext cx="792289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★掌握指令格式设计方法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★掌握寻址方式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★掌握控制器组成器件和功能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★分析模型机数据通路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98390" y="2588895"/>
            <a:ext cx="1648460" cy="5219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存储体系</a:t>
            </a:r>
            <a:endParaRPr lang="zh-CN" altLang="en-US" sz="2800"/>
          </a:p>
        </p:txBody>
      </p:sp>
      <p:cxnSp>
        <p:nvCxnSpPr>
          <p:cNvPr id="5" name="直接箭头连接符 4"/>
          <p:cNvCxnSpPr>
            <a:endCxn id="6" idx="2"/>
          </p:cNvCxnSpPr>
          <p:nvPr/>
        </p:nvCxnSpPr>
        <p:spPr>
          <a:xfrm flipH="1" flipV="1">
            <a:off x="3945255" y="2077720"/>
            <a:ext cx="1751330" cy="50927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369945" y="1709420"/>
            <a:ext cx="115062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概述</a:t>
            </a:r>
            <a:endParaRPr lang="zh-CN" altLang="zh-CN"/>
          </a:p>
        </p:txBody>
      </p:sp>
      <p:cxnSp>
        <p:nvCxnSpPr>
          <p:cNvPr id="7" name="直接箭头连接符 6"/>
          <p:cNvCxnSpPr>
            <a:stCxn id="6" idx="0"/>
            <a:endCxn id="2" idx="2"/>
          </p:cNvCxnSpPr>
          <p:nvPr/>
        </p:nvCxnSpPr>
        <p:spPr>
          <a:xfrm flipH="1" flipV="1">
            <a:off x="2223135" y="1373505"/>
            <a:ext cx="1722120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6" idx="0"/>
            <a:endCxn id="28" idx="2"/>
          </p:cNvCxnSpPr>
          <p:nvPr/>
        </p:nvCxnSpPr>
        <p:spPr>
          <a:xfrm flipH="1" flipV="1">
            <a:off x="3357880" y="1373505"/>
            <a:ext cx="587375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11775" y="1010285"/>
            <a:ext cx="90551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字扩展</a:t>
            </a:r>
            <a:endParaRPr lang="zh-CN" altLang="en-US"/>
          </a:p>
        </p:txBody>
      </p:sp>
      <p:cxnSp>
        <p:nvCxnSpPr>
          <p:cNvPr id="10" name="直接箭头连接符 9"/>
          <p:cNvCxnSpPr>
            <a:stCxn id="6" idx="0"/>
            <a:endCxn id="3" idx="2"/>
          </p:cNvCxnSpPr>
          <p:nvPr/>
        </p:nvCxnSpPr>
        <p:spPr>
          <a:xfrm flipV="1">
            <a:off x="3945255" y="1373505"/>
            <a:ext cx="635635" cy="3359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933065" y="4973320"/>
            <a:ext cx="111188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全</a:t>
            </a:r>
            <a:r>
              <a:rPr lang="zh-CN" altLang="en-US">
                <a:sym typeface="+mn-ea"/>
              </a:rPr>
              <a:t>相联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96385" y="4975225"/>
            <a:ext cx="108585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组相联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37300" y="1005205"/>
            <a:ext cx="89725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位扩展</a:t>
            </a:r>
            <a:endParaRPr lang="zh-CN" altLang="en-US"/>
          </a:p>
        </p:txBody>
      </p:sp>
      <p:cxnSp>
        <p:nvCxnSpPr>
          <p:cNvPr id="14" name="直接箭头连接符 13"/>
          <p:cNvCxnSpPr>
            <a:endCxn id="16" idx="0"/>
          </p:cNvCxnSpPr>
          <p:nvPr/>
        </p:nvCxnSpPr>
        <p:spPr>
          <a:xfrm flipH="1">
            <a:off x="4661535" y="3110865"/>
            <a:ext cx="1059815" cy="44958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740910" y="1704340"/>
            <a:ext cx="19304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存储容量的扩展</a:t>
            </a:r>
            <a:endParaRPr lang="zh-CN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4032250" y="3560445"/>
            <a:ext cx="12585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CACHE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endCxn id="32" idx="0"/>
          </p:cNvCxnSpPr>
          <p:nvPr/>
        </p:nvCxnSpPr>
        <p:spPr>
          <a:xfrm flipH="1">
            <a:off x="2326640" y="3957955"/>
            <a:ext cx="2301240" cy="2470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5" idx="0"/>
            <a:endCxn id="27" idx="2"/>
          </p:cNvCxnSpPr>
          <p:nvPr/>
        </p:nvCxnSpPr>
        <p:spPr>
          <a:xfrm flipV="1">
            <a:off x="5706110" y="1373505"/>
            <a:ext cx="2234565" cy="33083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991485" y="4204970"/>
            <a:ext cx="117475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地址映射</a:t>
            </a:r>
            <a:endParaRPr lang="zh-CN" altLang="zh-CN"/>
          </a:p>
        </p:txBody>
      </p:sp>
      <p:cxnSp>
        <p:nvCxnSpPr>
          <p:cNvPr id="20" name="直接箭头连接符 19"/>
          <p:cNvCxnSpPr>
            <a:stCxn id="15" idx="0"/>
            <a:endCxn id="9" idx="2"/>
          </p:cNvCxnSpPr>
          <p:nvPr/>
        </p:nvCxnSpPr>
        <p:spPr>
          <a:xfrm flipV="1">
            <a:off x="5706110" y="1378585"/>
            <a:ext cx="58420" cy="32575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927215" y="3560445"/>
            <a:ext cx="151193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虚拟存储器</a:t>
            </a:r>
            <a:endParaRPr lang="zh-CN" altLang="zh-CN"/>
          </a:p>
        </p:txBody>
      </p:sp>
      <p:cxnSp>
        <p:nvCxnSpPr>
          <p:cNvPr id="22" name="直接箭头连接符 21"/>
          <p:cNvCxnSpPr>
            <a:endCxn id="13" idx="2"/>
          </p:cNvCxnSpPr>
          <p:nvPr/>
        </p:nvCxnSpPr>
        <p:spPr>
          <a:xfrm flipV="1">
            <a:off x="5721350" y="1373505"/>
            <a:ext cx="1064895" cy="32131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9" idx="0"/>
          </p:cNvCxnSpPr>
          <p:nvPr/>
        </p:nvCxnSpPr>
        <p:spPr>
          <a:xfrm flipH="1">
            <a:off x="3578860" y="3957955"/>
            <a:ext cx="1049020" cy="24701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911975" y="1704340"/>
            <a:ext cx="136144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并行存储器</a:t>
            </a:r>
            <a:endParaRPr lang="zh-CN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863725" y="4975225"/>
            <a:ext cx="10287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直接</a:t>
            </a:r>
            <a:endParaRPr lang="zh-CN" altLang="zh-CN"/>
          </a:p>
        </p:txBody>
      </p:sp>
      <p:cxnSp>
        <p:nvCxnSpPr>
          <p:cNvPr id="26" name="直接箭头连接符 25"/>
          <p:cNvCxnSpPr>
            <a:endCxn id="15" idx="2"/>
          </p:cNvCxnSpPr>
          <p:nvPr/>
        </p:nvCxnSpPr>
        <p:spPr>
          <a:xfrm flipH="1" flipV="1">
            <a:off x="5706110" y="2072640"/>
            <a:ext cx="2540" cy="51562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354570" y="1005205"/>
            <a:ext cx="117157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字位扩展</a:t>
            </a:r>
            <a:endParaRPr lang="zh-CN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747520" y="1005205"/>
            <a:ext cx="95123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分类</a:t>
            </a:r>
            <a:endParaRPr lang="zh-CN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017010" y="1005205"/>
            <a:ext cx="112712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工作原理</a:t>
            </a:r>
            <a:endParaRPr lang="zh-CN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2766695" y="1005205"/>
            <a:ext cx="11823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性能指标</a:t>
            </a:r>
            <a:endParaRPr lang="zh-CN" altLang="zh-CN"/>
          </a:p>
        </p:txBody>
      </p:sp>
      <p:cxnSp>
        <p:nvCxnSpPr>
          <p:cNvPr id="29" name="直接箭头连接符 28"/>
          <p:cNvCxnSpPr>
            <a:endCxn id="24" idx="2"/>
          </p:cNvCxnSpPr>
          <p:nvPr/>
        </p:nvCxnSpPr>
        <p:spPr>
          <a:xfrm flipV="1">
            <a:off x="5721350" y="2072640"/>
            <a:ext cx="1871345" cy="51625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516380" y="1709420"/>
            <a:ext cx="118237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存储层次</a:t>
            </a:r>
            <a:endParaRPr lang="zh-CN" altLang="zh-CN"/>
          </a:p>
        </p:txBody>
      </p:sp>
      <p:cxnSp>
        <p:nvCxnSpPr>
          <p:cNvPr id="31" name="直接箭头连接符 30"/>
          <p:cNvCxnSpPr>
            <a:stCxn id="6" idx="1"/>
          </p:cNvCxnSpPr>
          <p:nvPr/>
        </p:nvCxnSpPr>
        <p:spPr>
          <a:xfrm flipH="1">
            <a:off x="2698750" y="1893570"/>
            <a:ext cx="671195" cy="508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62760" y="4204970"/>
            <a:ext cx="112712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基本原理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267835" y="4204970"/>
            <a:ext cx="117475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替换策略</a:t>
            </a:r>
            <a:endParaRPr lang="zh-CN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5602605" y="4204970"/>
            <a:ext cx="117475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写策略</a:t>
            </a:r>
            <a:endParaRPr lang="zh-CN" altLang="zh-CN"/>
          </a:p>
        </p:txBody>
      </p:sp>
      <p:cxnSp>
        <p:nvCxnSpPr>
          <p:cNvPr id="39" name="直接箭头连接符 38"/>
          <p:cNvCxnSpPr>
            <a:endCxn id="33" idx="0"/>
          </p:cNvCxnSpPr>
          <p:nvPr/>
        </p:nvCxnSpPr>
        <p:spPr>
          <a:xfrm>
            <a:off x="4615815" y="3933825"/>
            <a:ext cx="239395" cy="2711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4627880" y="3957955"/>
            <a:ext cx="1497965" cy="21971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2439035" y="4610100"/>
            <a:ext cx="1031875" cy="37719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11" idx="0"/>
          </p:cNvCxnSpPr>
          <p:nvPr/>
        </p:nvCxnSpPr>
        <p:spPr>
          <a:xfrm flipH="1">
            <a:off x="3489325" y="4573270"/>
            <a:ext cx="3175" cy="40005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2" idx="0"/>
          </p:cNvCxnSpPr>
          <p:nvPr/>
        </p:nvCxnSpPr>
        <p:spPr>
          <a:xfrm>
            <a:off x="3495040" y="4585335"/>
            <a:ext cx="1144270" cy="38989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21" idx="0"/>
          </p:cNvCxnSpPr>
          <p:nvPr/>
        </p:nvCxnSpPr>
        <p:spPr>
          <a:xfrm>
            <a:off x="5736590" y="3111500"/>
            <a:ext cx="1946910" cy="4489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7119620" y="4204970"/>
            <a:ext cx="112712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基本原理</a:t>
            </a:r>
            <a:endParaRPr lang="zh-CN" altLang="en-US"/>
          </a:p>
        </p:txBody>
      </p:sp>
      <p:cxnSp>
        <p:nvCxnSpPr>
          <p:cNvPr id="47" name="直接箭头连接符 46"/>
          <p:cNvCxnSpPr>
            <a:stCxn id="21" idx="2"/>
            <a:endCxn id="45" idx="0"/>
          </p:cNvCxnSpPr>
          <p:nvPr/>
        </p:nvCxnSpPr>
        <p:spPr>
          <a:xfrm>
            <a:off x="7683500" y="3928745"/>
            <a:ext cx="0" cy="27622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6" idx="3"/>
            <a:endCxn id="21" idx="1"/>
          </p:cNvCxnSpPr>
          <p:nvPr/>
        </p:nvCxnSpPr>
        <p:spPr>
          <a:xfrm>
            <a:off x="5290820" y="3744595"/>
            <a:ext cx="1636395" cy="0"/>
          </a:xfrm>
          <a:prstGeom prst="straightConnector1">
            <a:avLst/>
          </a:prstGeom>
          <a:ln w="1905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779135" y="3560445"/>
            <a:ext cx="72390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/>
              <a:t>比较</a:t>
            </a:r>
            <a:endParaRPr lang="zh-CN" alt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存储子系统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3384550" cy="4759325"/>
          </a:xfrm>
        </p:spPr>
        <p:txBody>
          <a:bodyPr>
            <a:normAutofit lnSpcReduction="10000"/>
          </a:bodyPr>
          <a:p>
            <a:r>
              <a:rPr lang="zh-CN" altLang="en-US"/>
              <a:t>存储系统概述</a:t>
            </a:r>
            <a:endParaRPr lang="zh-CN" altLang="en-US"/>
          </a:p>
          <a:p>
            <a:pPr lvl="1"/>
            <a:r>
              <a:rPr lang="zh-CN" altLang="en-US" sz="1600"/>
              <a:t>分类</a:t>
            </a:r>
            <a:endParaRPr lang="zh-CN" altLang="en-US" sz="1600"/>
          </a:p>
          <a:p>
            <a:pPr lvl="1"/>
            <a:r>
              <a:rPr lang="zh-CN" altLang="en-US" sz="1600"/>
              <a:t>性能指标</a:t>
            </a:r>
            <a:endParaRPr lang="zh-CN" altLang="en-US" sz="1600"/>
          </a:p>
          <a:p>
            <a:pPr lvl="1"/>
            <a:r>
              <a:rPr lang="zh-CN" altLang="en-US" sz="1600"/>
              <a:t>存储器件的工作原理</a:t>
            </a:r>
            <a:endParaRPr lang="zh-CN" altLang="en-US"/>
          </a:p>
          <a:p>
            <a:r>
              <a:rPr lang="zh-CN" altLang="en-US"/>
              <a:t>存储容量的扩展</a:t>
            </a:r>
            <a:endParaRPr lang="zh-CN" altLang="en-US"/>
          </a:p>
          <a:p>
            <a:r>
              <a:rPr lang="en-US" altLang="zh-CN"/>
              <a:t>CACHE</a:t>
            </a:r>
            <a:endParaRPr lang="en-US" altLang="zh-CN"/>
          </a:p>
          <a:p>
            <a:pPr lvl="1"/>
            <a:r>
              <a:rPr lang="zh-CN" altLang="en-US" sz="1600"/>
              <a:t>基本原理</a:t>
            </a:r>
            <a:endParaRPr lang="zh-CN" altLang="en-US" sz="1600"/>
          </a:p>
          <a:p>
            <a:pPr lvl="1"/>
            <a:r>
              <a:rPr lang="zh-CN" altLang="en-US" sz="1600"/>
              <a:t>地址映射和转换</a:t>
            </a:r>
            <a:endParaRPr lang="zh-CN" altLang="en-US" sz="1600"/>
          </a:p>
          <a:p>
            <a:pPr lvl="1"/>
            <a:r>
              <a:rPr lang="zh-CN" altLang="en-US" sz="1600"/>
              <a:t>替换策略、写策略</a:t>
            </a:r>
            <a:endParaRPr lang="en-US" altLang="zh-CN"/>
          </a:p>
          <a:p>
            <a:r>
              <a:rPr lang="zh-CN" altLang="en-US"/>
              <a:t>虚拟存储器</a:t>
            </a:r>
            <a:endParaRPr lang="zh-CN" altLang="en-US"/>
          </a:p>
          <a:p>
            <a:pPr lvl="1"/>
            <a:r>
              <a:rPr lang="zh-CN" altLang="en-US" sz="1600"/>
              <a:t>基本原理及构成</a:t>
            </a:r>
            <a:endParaRPr lang="zh-CN" altLang="en-US"/>
          </a:p>
          <a:p>
            <a:r>
              <a:rPr lang="zh-CN" altLang="en-US"/>
              <a:t>并行存储器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24855" y="2998470"/>
            <a:ext cx="5402580" cy="259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★掌握存储系统基本概念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★掌握存储器件基本特性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★掌握存储器容量扩展方法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cache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基本原理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cache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地址映射和转换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19880" y="2434590"/>
            <a:ext cx="2040890" cy="8299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外设子系统：接口</a:t>
            </a:r>
            <a:endParaRPr lang="zh-CN" altLang="en-US" sz="240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133975" y="3279140"/>
            <a:ext cx="0" cy="43200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36110" y="3679825"/>
            <a:ext cx="1579880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lvl="1" algn="l" fontAlgn="auto"/>
            <a:r>
              <a:rPr lang="en-US" altLang="zh-CN"/>
              <a:t>CPU</a:t>
            </a:r>
            <a:r>
              <a:rPr lang="zh-CN" altLang="en-US"/>
              <a:t>对外设的管理方式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060950" y="2068830"/>
            <a:ext cx="73025" cy="36766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95420" y="1423670"/>
            <a:ext cx="1579880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lvl="1" algn="l" fontAlgn="auto"/>
            <a:r>
              <a:rPr lang="zh-CN" altLang="en-US"/>
              <a:t>外设接口的编址方式</a:t>
            </a:r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4183380" y="1056005"/>
            <a:ext cx="73025" cy="36766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060950" y="1101725"/>
            <a:ext cx="134620" cy="32194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3444240" y="4324985"/>
            <a:ext cx="1114425" cy="36449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383915" y="410845"/>
            <a:ext cx="1200150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存储器统一编址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17415" y="410845"/>
            <a:ext cx="1200150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外设端口独立编址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53945" y="4692015"/>
            <a:ext cx="139636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程序无条件传送方式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668520" y="4324985"/>
            <a:ext cx="233045" cy="39878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074160" y="4723765"/>
            <a:ext cx="105981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程序查询方式</a:t>
            </a:r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624195" y="4324985"/>
            <a:ext cx="97790" cy="36449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237480" y="4723765"/>
            <a:ext cx="105981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程序中断方式</a:t>
            </a:r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047105" y="4096385"/>
            <a:ext cx="789305" cy="31178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515735" y="4408170"/>
            <a:ext cx="105981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DMA</a:t>
            </a:r>
            <a:r>
              <a:rPr lang="zh-CN" altLang="en-US"/>
              <a:t>方式</a:t>
            </a:r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015990" y="3679825"/>
            <a:ext cx="935990" cy="11684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951980" y="3451225"/>
            <a:ext cx="1059815" cy="6451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通道方式、</a:t>
            </a:r>
            <a:r>
              <a:rPr lang="en-US" altLang="zh-CN"/>
              <a:t>IOP</a:t>
            </a:r>
            <a:endParaRPr lang="en-US" altLang="zh-CN"/>
          </a:p>
        </p:txBody>
      </p:sp>
      <p:cxnSp>
        <p:nvCxnSpPr>
          <p:cNvPr id="23" name="直接箭头连接符 22"/>
          <p:cNvCxnSpPr>
            <a:endCxn id="24" idx="2"/>
          </p:cNvCxnSpPr>
          <p:nvPr/>
        </p:nvCxnSpPr>
        <p:spPr>
          <a:xfrm flipV="1">
            <a:off x="5133975" y="1718310"/>
            <a:ext cx="1993265" cy="70802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597015" y="1350010"/>
            <a:ext cx="105981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中断</a:t>
            </a:r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7379970" y="1007745"/>
            <a:ext cx="377190" cy="30607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379970" y="639445"/>
            <a:ext cx="142748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基本概念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124825" y="1350010"/>
            <a:ext cx="1427480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中断过程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7656830" y="1534160"/>
            <a:ext cx="467995" cy="3048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45285" y="2526665"/>
            <a:ext cx="1798955" cy="3683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lvl="1" algn="l" fontAlgn="auto"/>
            <a:r>
              <a:rPr lang="zh-CN" altLang="en-US"/>
              <a:t>外设接口的功能</a:t>
            </a:r>
            <a:endParaRPr lang="zh-CN" altLang="en-US"/>
          </a:p>
        </p:txBody>
      </p:sp>
      <p:cxnSp>
        <p:nvCxnSpPr>
          <p:cNvPr id="3" name="直接箭头连接符 2"/>
          <p:cNvCxnSpPr>
            <a:stCxn id="4" idx="1"/>
            <a:endCxn id="2" idx="3"/>
          </p:cNvCxnSpPr>
          <p:nvPr/>
        </p:nvCxnSpPr>
        <p:spPr>
          <a:xfrm flipH="1" flipV="1">
            <a:off x="3444240" y="2710815"/>
            <a:ext cx="675640" cy="139065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外设子系统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外设接口的功能</a:t>
            </a:r>
            <a:endParaRPr lang="zh-CN" altLang="en-US"/>
          </a:p>
          <a:p>
            <a:r>
              <a:rPr lang="zh-CN" altLang="en-US"/>
              <a:t>外设端口的编址方式</a:t>
            </a:r>
            <a:endParaRPr lang="zh-CN" altLang="en-US"/>
          </a:p>
          <a:p>
            <a:r>
              <a:rPr lang="zh-CN" altLang="en-US"/>
              <a:t>主机和外设之间的工作方式</a:t>
            </a:r>
            <a:endParaRPr lang="zh-CN" altLang="en-US"/>
          </a:p>
          <a:p>
            <a:pPr lvl="1"/>
            <a:r>
              <a:rPr lang="zh-CN" altLang="en-US" sz="1600"/>
              <a:t>程序查询方式</a:t>
            </a:r>
            <a:endParaRPr lang="zh-CN" altLang="en-US" sz="1600"/>
          </a:p>
          <a:p>
            <a:pPr lvl="1"/>
            <a:r>
              <a:rPr lang="zh-CN" altLang="en-US" sz="1600"/>
              <a:t>程序中断方式</a:t>
            </a:r>
            <a:endParaRPr lang="zh-CN" altLang="en-US" sz="1600"/>
          </a:p>
          <a:p>
            <a:pPr lvl="1"/>
            <a:r>
              <a:rPr lang="en-US" altLang="zh-CN" sz="1600"/>
              <a:t>DMA</a:t>
            </a:r>
            <a:endParaRPr lang="en-US" altLang="zh-CN" sz="1600"/>
          </a:p>
          <a:p>
            <a:pPr lvl="1"/>
            <a:r>
              <a:rPr lang="zh-CN" altLang="en-US" sz="1600"/>
              <a:t>通道、</a:t>
            </a:r>
            <a:r>
              <a:rPr lang="en-US" altLang="zh-CN" sz="1600"/>
              <a:t>IOP</a:t>
            </a:r>
            <a:endParaRPr lang="zh-CN" altLang="en-US"/>
          </a:p>
          <a:p>
            <a:r>
              <a:rPr lang="zh-CN" altLang="en-US"/>
              <a:t>中断系统</a:t>
            </a:r>
            <a:endParaRPr lang="zh-CN" altLang="en-US"/>
          </a:p>
          <a:p>
            <a:pPr lvl="1"/>
            <a:r>
              <a:rPr lang="zh-CN" altLang="en-US"/>
              <a:t>定义</a:t>
            </a:r>
            <a:endParaRPr lang="zh-CN" altLang="en-US"/>
          </a:p>
          <a:p>
            <a:pPr lvl="1"/>
            <a:r>
              <a:rPr lang="zh-CN" altLang="en-US"/>
              <a:t>中断流程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49470" y="4685665"/>
            <a:ext cx="550862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★掌握接口基本概念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★掌握几种工作方式的特点和使用场合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★掌握中断工作机制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参考作业难度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2546" y="424873"/>
            <a:ext cx="8636486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大概</a:t>
            </a:r>
            <a:r>
              <a:rPr lang="zh-CN" altLang="en-US" sz="2800" dirty="0" smtClean="0"/>
              <a:t>分值比例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第一章</a:t>
            </a:r>
            <a:r>
              <a:rPr lang="en-US" altLang="zh-CN" sz="2800" dirty="0" smtClean="0"/>
              <a:t>	8</a:t>
            </a:r>
            <a:r>
              <a:rPr lang="en-US" altLang="zh-CN" sz="2800" dirty="0" smtClean="0"/>
              <a:t>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第二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</a:t>
            </a:r>
            <a:r>
              <a:rPr lang="en-US" altLang="zh-CN" sz="2800" dirty="0" smtClean="0"/>
              <a:t>22%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第三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</a:t>
            </a:r>
            <a:r>
              <a:rPr lang="en-US" altLang="zh-CN" sz="2800" dirty="0" smtClean="0"/>
              <a:t>25%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第四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</a:t>
            </a:r>
            <a:r>
              <a:rPr lang="en-US" altLang="zh-CN" sz="2800" dirty="0" smtClean="0"/>
              <a:t>10%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第五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15</a:t>
            </a:r>
            <a:r>
              <a:rPr lang="en-US" altLang="zh-CN" sz="2800" dirty="0" smtClean="0"/>
              <a:t>%</a:t>
            </a:r>
            <a:r>
              <a:rPr lang="en-US" altLang="zh-CN" sz="2800" dirty="0" smtClean="0"/>
              <a:t>	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第六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3%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第八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</a:t>
            </a:r>
            <a:r>
              <a:rPr lang="en-US" altLang="zh-CN" sz="2800" dirty="0" smtClean="0"/>
              <a:t>15%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第九</a:t>
            </a:r>
            <a:r>
              <a:rPr lang="zh-CN" altLang="en-US" sz="2800" dirty="0" smtClean="0"/>
              <a:t>章</a:t>
            </a:r>
            <a:r>
              <a:rPr lang="en-US" altLang="zh-CN" sz="2800" dirty="0" smtClean="0"/>
              <a:t>	2</a:t>
            </a:r>
            <a:r>
              <a:rPr lang="en-US" altLang="zh-CN" sz="2800" dirty="0" smtClean="0"/>
              <a:t>%</a:t>
            </a:r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SLIDETAGS" val="[]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SLIDETAGS" val="[]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SLIDETAGS" val="[]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SLIDETAGS" val="[]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SLIDETAGS" val="[]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SLIDETAGS" val="[]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SLIDETAGS" val="[]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SLIDETAGS" val="[]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SLIDETAGS" val="[]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SLIDETAGS" val="[]"/>
</p:tagLst>
</file>

<file path=ppt/tags/tag83.xml><?xml version="1.0" encoding="utf-8"?>
<p:tagLst xmlns:p="http://schemas.openxmlformats.org/presentationml/2006/main">
  <p:tag name="SLIDETAGS" val="[]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WPS 演示</Application>
  <PresentationFormat>自定义</PresentationFormat>
  <Paragraphs>242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概述</vt:lpstr>
      <vt:lpstr>PowerPoint 演示文稿</vt:lpstr>
      <vt:lpstr>运算子系统</vt:lpstr>
      <vt:lpstr>PowerPoint 演示文稿</vt:lpstr>
      <vt:lpstr>控制子系统</vt:lpstr>
      <vt:lpstr>PowerPoint 演示文稿</vt:lpstr>
      <vt:lpstr>存储子系统</vt:lpstr>
      <vt:lpstr>PowerPoint 演示文稿</vt:lpstr>
      <vt:lpstr>外设子系统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WXL</dc:creator>
  <cp:lastModifiedBy>Lily</cp:lastModifiedBy>
  <cp:revision>164</cp:revision>
  <dcterms:created xsi:type="dcterms:W3CDTF">2019-06-19T02:08:00Z</dcterms:created>
  <dcterms:modified xsi:type="dcterms:W3CDTF">2025-12-27T09:41:12Z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3CE6AAF0434E42148B101DD10260D327_13</vt:lpwstr>
  </property>
</Properties>
</file>